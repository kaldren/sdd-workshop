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f873d37a1d4f41" /><Relationship Type="http://schemas.openxmlformats.org/officeDocument/2006/relationships/extended-properties" Target="/docProps/app.xml" Id="R3b75db72edc3454c" /><Relationship Type="http://schemas.openxmlformats.org/officeDocument/2006/relationships/officeDocument" Target="/ppt/presentation.xml" Id="R3952b8644fbd4a9b" /></Relationships>
</file>

<file path=ppt/presentation.xml><?xml version="1.0" encoding="utf-8"?>
<p:presentation xmlns:p="http://schemas.openxmlformats.org/presentationml/2006/main">
  <p:sldMasterIdLst>
    <p:sldMasterId xmlns:r="http://schemas.openxmlformats.org/officeDocument/2006/relationships" id="2147483648" r:id="R797df1a0b8eb4165"/>
  </p:sldMasterIdLst>
  <p:notesMasterIdLst>
    <p:notesMasterId xmlns:r="http://schemas.openxmlformats.org/officeDocument/2006/relationships" r:id="R6d15e7647b1f4e80"/>
  </p:notesMasterIdLst>
  <p:sldIdLst>
    <p:sldId xmlns:r="http://schemas.openxmlformats.org/officeDocument/2006/relationships" id="256" r:id="R925337e49ab140bc"/>
    <p:sldId xmlns:r="http://schemas.openxmlformats.org/officeDocument/2006/relationships" id="257" r:id="R9b6a888e20214e56"/>
    <p:sldId xmlns:r="http://schemas.openxmlformats.org/officeDocument/2006/relationships" id="258" r:id="R1a9141f1876340c0"/>
    <p:sldId xmlns:r="http://schemas.openxmlformats.org/officeDocument/2006/relationships" id="259" r:id="Rad9af7510ed844d2"/>
    <p:sldId xmlns:r="http://schemas.openxmlformats.org/officeDocument/2006/relationships" id="260" r:id="Rf3d3f7f0eb3a4714"/>
    <p:sldId xmlns:r="http://schemas.openxmlformats.org/officeDocument/2006/relationships" id="261" r:id="R086e3c204b614b93"/>
    <p:sldId xmlns:r="http://schemas.openxmlformats.org/officeDocument/2006/relationships" id="262" r:id="R8c8c44aa81bb43e3"/>
    <p:sldId xmlns:r="http://schemas.openxmlformats.org/officeDocument/2006/relationships" id="263" r:id="Rb8697e3eb67b42e2"/>
    <p:sldId xmlns:r="http://schemas.openxmlformats.org/officeDocument/2006/relationships" id="264" r:id="R4e4cd5702a054b41"/>
    <p:sldId xmlns:r="http://schemas.openxmlformats.org/officeDocument/2006/relationships" id="265" r:id="R85ef2a5ef64c432b"/>
    <p:sldId xmlns:r="http://schemas.openxmlformats.org/officeDocument/2006/relationships" id="266" r:id="R38682cccac09410f"/>
    <p:sldId xmlns:r="http://schemas.openxmlformats.org/officeDocument/2006/relationships" id="267" r:id="R30c7d57289a14500"/>
    <p:sldId xmlns:r="http://schemas.openxmlformats.org/officeDocument/2006/relationships" id="268" r:id="Rcfa44af2f5464c22"/>
    <p:sldId xmlns:r="http://schemas.openxmlformats.org/officeDocument/2006/relationships" id="269" r:id="R3ab83d46e6264af9"/>
    <p:sldId xmlns:r="http://schemas.openxmlformats.org/officeDocument/2006/relationships" id="270" r:id="R768a0c24d54c443b"/>
    <p:sldId xmlns:r="http://schemas.openxmlformats.org/officeDocument/2006/relationships" id="271" r:id="R17ff533c3f7b4eca"/>
    <p:sldId xmlns:r="http://schemas.openxmlformats.org/officeDocument/2006/relationships" id="272" r:id="R907d7b79c1ef4f5f"/>
    <p:sldId xmlns:r="http://schemas.openxmlformats.org/officeDocument/2006/relationships" id="273" r:id="Rf5d58790cf474eef"/>
    <p:sldId xmlns:r="http://schemas.openxmlformats.org/officeDocument/2006/relationships" id="274" r:id="R05074e0ec566421f"/>
    <p:sldId xmlns:r="http://schemas.openxmlformats.org/officeDocument/2006/relationships" id="275" r:id="Rf83d6c0fb50e4e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aa5224d53348a3" /><Relationship Type="http://schemas.openxmlformats.org/officeDocument/2006/relationships/slideMaster" Target="/ppt/slideMasters/slideMaster1.xml" Id="R797df1a0b8eb4165" /><Relationship Type="http://schemas.openxmlformats.org/officeDocument/2006/relationships/notesMaster" Target="/ppt/notesMasters/notesMaster1.xml" Id="R6d15e7647b1f4e80" /><Relationship Type="http://schemas.openxmlformats.org/officeDocument/2006/relationships/presProps" Target="/ppt/presProps.xml" Id="R98a6995675164faf" /><Relationship Type="http://schemas.openxmlformats.org/officeDocument/2006/relationships/tableStyles" Target="/ppt/tableStyles.xml" Id="R12f0c1ff24a940e3" /><Relationship Type="http://schemas.openxmlformats.org/officeDocument/2006/relationships/slide" Target="/ppt/slides/slide1.xml" Id="R925337e49ab140bc" /><Relationship Type="http://schemas.openxmlformats.org/officeDocument/2006/relationships/slide" Target="/ppt/slides/slide2.xml" Id="R9b6a888e20214e56" /><Relationship Type="http://schemas.openxmlformats.org/officeDocument/2006/relationships/slide" Target="/ppt/slides/slide3.xml" Id="R1a9141f1876340c0" /><Relationship Type="http://schemas.openxmlformats.org/officeDocument/2006/relationships/slide" Target="/ppt/slides/slide4.xml" Id="Rad9af7510ed844d2" /><Relationship Type="http://schemas.openxmlformats.org/officeDocument/2006/relationships/slide" Target="/ppt/slides/slide5.xml" Id="Rf3d3f7f0eb3a4714" /><Relationship Type="http://schemas.openxmlformats.org/officeDocument/2006/relationships/slide" Target="/ppt/slides/slide6.xml" Id="R086e3c204b614b93" /><Relationship Type="http://schemas.openxmlformats.org/officeDocument/2006/relationships/slide" Target="/ppt/slides/slide7.xml" Id="R8c8c44aa81bb43e3" /><Relationship Type="http://schemas.openxmlformats.org/officeDocument/2006/relationships/slide" Target="/ppt/slides/slide8.xml" Id="Rb8697e3eb67b42e2" /><Relationship Type="http://schemas.openxmlformats.org/officeDocument/2006/relationships/slide" Target="/ppt/slides/slide9.xml" Id="R4e4cd5702a054b41" /><Relationship Type="http://schemas.openxmlformats.org/officeDocument/2006/relationships/slide" Target="/ppt/slides/slide10.xml" Id="R85ef2a5ef64c432b" /><Relationship Type="http://schemas.openxmlformats.org/officeDocument/2006/relationships/slide" Target="/ppt/slides/slide11.xml" Id="R38682cccac09410f" /><Relationship Type="http://schemas.openxmlformats.org/officeDocument/2006/relationships/slide" Target="/ppt/slides/slide12.xml" Id="R30c7d57289a14500" /><Relationship Type="http://schemas.openxmlformats.org/officeDocument/2006/relationships/slide" Target="/ppt/slides/slide13.xml" Id="Rcfa44af2f5464c22" /><Relationship Type="http://schemas.openxmlformats.org/officeDocument/2006/relationships/slide" Target="/ppt/slides/slide14.xml" Id="R3ab83d46e6264af9" /><Relationship Type="http://schemas.openxmlformats.org/officeDocument/2006/relationships/slide" Target="/ppt/slides/slide15.xml" Id="R768a0c24d54c443b" /><Relationship Type="http://schemas.openxmlformats.org/officeDocument/2006/relationships/slide" Target="/ppt/slides/slide16.xml" Id="R17ff533c3f7b4eca" /><Relationship Type="http://schemas.openxmlformats.org/officeDocument/2006/relationships/slide" Target="/ppt/slides/slide17.xml" Id="R907d7b79c1ef4f5f" /><Relationship Type="http://schemas.openxmlformats.org/officeDocument/2006/relationships/slide" Target="/ppt/slides/slide18.xml" Id="Rf5d58790cf474eef" /><Relationship Type="http://schemas.openxmlformats.org/officeDocument/2006/relationships/slide" Target="/ppt/slides/slide19.xml" Id="R05074e0ec566421f" /><Relationship Type="http://schemas.openxmlformats.org/officeDocument/2006/relationships/slide" Target="/ppt/slides/slide20.xml" Id="Rf83d6c0fb50e4e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0e8d1c785142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21c1e3cba944e3" /><Relationship Type="http://schemas.openxmlformats.org/officeDocument/2006/relationships/notesMaster" Target="/ppt/notesMasters/notesMaster1.xml" Id="R764452df7d3a44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d311c192ef47f7" /><Relationship Type="http://schemas.openxmlformats.org/officeDocument/2006/relationships/notesMaster" Target="/ppt/notesMasters/notesMaster1.xml" Id="Re124833cf9ec44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af0a2d93994280" /><Relationship Type="http://schemas.openxmlformats.org/officeDocument/2006/relationships/notesMaster" Target="/ppt/notesMasters/notesMaster1.xml" Id="Raf790881613844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42205589a54924" /><Relationship Type="http://schemas.openxmlformats.org/officeDocument/2006/relationships/notesMaster" Target="/ppt/notesMasters/notesMaster1.xml" Id="R11d94d4a36b94b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5d6b0401a24612" /><Relationship Type="http://schemas.openxmlformats.org/officeDocument/2006/relationships/notesMaster" Target="/ppt/notesMasters/notesMaster1.xml" Id="Rd92a951ccd1146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1a1bf254004ae8" /><Relationship Type="http://schemas.openxmlformats.org/officeDocument/2006/relationships/notesMaster" Target="/ppt/notesMasters/notesMaster1.xml" Id="R1beb6dd781ed4e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4717e560b642f0" /><Relationship Type="http://schemas.openxmlformats.org/officeDocument/2006/relationships/notesMaster" Target="/ppt/notesMasters/notesMaster1.xml" Id="R7bd71b6e56fa4e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b6ecd7bc4d4b98" /><Relationship Type="http://schemas.openxmlformats.org/officeDocument/2006/relationships/notesMaster" Target="/ppt/notesMasters/notesMaster1.xml" Id="Re592bec28c494e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30707b8efa4f90" /><Relationship Type="http://schemas.openxmlformats.org/officeDocument/2006/relationships/notesMaster" Target="/ppt/notesMasters/notesMaster1.xml" Id="Rca55e41578644a5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5ca815c003485e" /><Relationship Type="http://schemas.openxmlformats.org/officeDocument/2006/relationships/notesMaster" Target="/ppt/notesMasters/notesMaster1.xml" Id="R7b7946129fa247c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a0ff321fec402d" /><Relationship Type="http://schemas.openxmlformats.org/officeDocument/2006/relationships/notesMaster" Target="/ppt/notesMasters/notesMaster1.xml" Id="R71954b765a0b42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b511787f5564b32" /><Relationship Type="http://schemas.openxmlformats.org/officeDocument/2006/relationships/notesMaster" Target="/ppt/notesMasters/notesMaster1.xml" Id="Rfb9e86e42957450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79689b32274a19" /><Relationship Type="http://schemas.openxmlformats.org/officeDocument/2006/relationships/notesMaster" Target="/ppt/notesMasters/notesMaster1.xml" Id="R0852f4cf3938454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ea7363512134ea7" /><Relationship Type="http://schemas.openxmlformats.org/officeDocument/2006/relationships/notesMaster" Target="/ppt/notesMasters/notesMaster1.xml" Id="Ra32f7d114991463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3d77fe822ad4f76" /><Relationship Type="http://schemas.openxmlformats.org/officeDocument/2006/relationships/notesMaster" Target="/ppt/notesMasters/notesMaster1.xml" Id="Ra473b300c8544f1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39ed12daeb94c08" /><Relationship Type="http://schemas.openxmlformats.org/officeDocument/2006/relationships/notesMaster" Target="/ppt/notesMasters/notesMaster1.xml" Id="R461cf2b4eede47e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93b870eb3e64343" /><Relationship Type="http://schemas.openxmlformats.org/officeDocument/2006/relationships/notesMaster" Target="/ppt/notesMasters/notesMaster1.xml" Id="Rf4bbf080fb3e406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69694bf79e74542" /><Relationship Type="http://schemas.openxmlformats.org/officeDocument/2006/relationships/notesMaster" Target="/ppt/notesMasters/notesMaster1.xml" Id="R35890344eeb4421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e7868674c134275" /><Relationship Type="http://schemas.openxmlformats.org/officeDocument/2006/relationships/notesMaster" Target="/ppt/notesMasters/notesMaster1.xml" Id="Rf80c52b9991f432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a0119e036de4b03" /><Relationship Type="http://schemas.openxmlformats.org/officeDocument/2006/relationships/notesMaster" Target="/ppt/notesMasters/notesMaster1.xml" Id="R43beadb7edc249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 Адаптация на предоставения абзац от arXiv:2602.00180. AI асистентите връщат вниманието към идеята спецификациите да са водещият артефакт в разработката. В SDD одобрената спецификация описва какво трябва да прави системата и служи като основа за създаване и проверка на кода. Кодът е реализацията на тези изисквания, която AI може да генерира или инженер да провери спрямо тях. Тестовете дават доказателства за описаните и проверени сценарии, а човекът проверява изискванията и резултата. Използваме примера със записване на отработено време в Timesheet.</a:t>
            </a:r>
          </a:p>
          <a:p xmlns:a="http://schemas.openxmlformats.org/drawingml/2006/main">
            <a:r>
              <a:t/>
            </a:r>
          </a:p>
          <a:p xmlns:a="http://schemas.openxmlformats.org/drawingml/2006/main">
            <a:r>
              <a:t>ИЗТОЧНИЦИ</a:t>
            </a:r>
          </a:p>
          <a:p xmlns:a="http://schemas.openxmlformats.org/drawingml/2006/main">
            <a:r>
              <a:t>https://arxiv.org/pdf/2602.00180</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Показваме типичния цикъл на vibe coding, а не твърдим, че това е основният метод за цялата индустрия. Човекът описва идея, AI генерира код, човекът пробва видимия резултат и подава нов промпт за поправка. Самото използване на AI за код не означава vibe coding. Рисковете идват при приемане на кода без достатъчно разбиране, изяснени изисквания и систематични проверки. Кратък пример за промпт: направи приложение, в което служителите отчитат отработеното време по проекти. Какви данни са задължителни, кой редактира и какви са ограниченията остават неизказани. Прототипът може да е полезен. При дългосрочна поддръжка тези пропуски затрудняват разбирането на решенията и проверката на следващи промени. Това е синтез на рискове, не твърдение, че всеки генериран продукт ще се провали. Изследването на Fawzy, Tahir и Blincoe анализира практики от сива литература и отчита компромис между бързото прототипиране и надеждността и поддръжката. Преход към следващия слайд: SDD прави очакванията видими преди агентът да започне.</a:t>
            </a:r>
          </a:p>
          <a:p xmlns:a="http://schemas.openxmlformats.org/drawingml/2006/main">
            <a:r>
              <a:t/>
            </a:r>
          </a:p>
          <a:p xmlns:a="http://schemas.openxmlformats.org/drawingml/2006/main">
            <a:r>
              <a:t>ИЗТОЧНИЦИ</a:t>
            </a:r>
          </a:p>
          <a:p xmlns:a="http://schemas.openxmlformats.org/drawingml/2006/main">
            <a:r>
              <a:t>https://arxiv.org/abs/2510.00328</a:t>
            </a:r>
          </a:p>
          <a:p xmlns:a="http://schemas.openxmlformats.org/drawingml/2006/main">
            <a:r>
              <a:t>https://arxiv.org/pdf/2602.00180</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Адаптация на предоставените откъси Защо SDD и The AI Catalyst от arXiv:2602.00180. AI може да предложи правдоподобен код, но не знае неизказаните решения. Примерът със снимките е отделна илюстрация, а следващият слайд представя Timesheet демото. Неясната заявка оставя отворени форматите, ограниченията, правата и съхранението. Ясният пример разрешава JPEG и PNG до 10 MB, съхранява ги в S3 с ключове, започващи с идентификатора на потребителя, позволява изтриване само от качилия снимката и ограничава най-дългата страна до 1024 px при качване. Слайдът обобщава техническите подробности за аудиторията. Спецификацията задава желаното поведение и основа за проверките, но сама по себе си не гарантира качеството на кода. Идеята за предварително изясняване на очакванията предхожда AI. TDD и BDD са свързани практики, но не са синоними на SDD. AI прави ясните задачи още по-важни, защото агентът може бързо да реализира погрешно предположение.</a:t>
            </a:r>
          </a:p>
          <a:p xmlns:a="http://schemas.openxmlformats.org/drawingml/2006/main">
            <a:r>
              <a:t/>
            </a:r>
          </a:p>
          <a:p xmlns:a="http://schemas.openxmlformats.org/drawingml/2006/main">
            <a:r>
              <a:t>ИЗТОЧНИЦИ</a:t>
            </a:r>
          </a:p>
          <a:p xmlns:a="http://schemas.openxmlformats.org/drawingml/2006/main">
            <a:r>
              <a:t>https://arxiv.org/pdf/2602.00180 — предоставени откъси</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 Timesheet е POC приложение, в което потребителят избира проект и дата, въвежда отработените часове и вижда записите си в списък. Примерът с проект Клиентски портал е илюстративен, не конкретни данни от работеща система. В следващите слайдове използваме тази функция, за да обясним спецификацията, реализацията с агент и проверката с тестове. Правилото за часове е за един запис: повече от 0 и не повече от 24.</a:t>
            </a:r>
          </a:p>
          <a:p xmlns:a="http://schemas.openxmlformats.org/drawingml/2006/main">
            <a:r>
              <a:t/>
            </a:r>
          </a:p>
          <a:p xmlns:a="http://schemas.openxmlformats.org/drawingml/2006/main">
            <a:r>
              <a:t>ИЗТОЧНИЦИ</a:t>
            </a:r>
          </a:p>
          <a:p xmlns:a="http://schemas.openxmlformats.org/drawingml/2006/main">
            <a:r>
              <a:t>https://arxiv.org/pdf/2602.00180</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Промптът вече уточнява целта на Timesheet: служителите отчитат колко часа са работили по даден проект. Това е разбираема бизнес идея, но не задава правилата. Лявата страна показва три въпроса, които агентът не трябва да разрешава сам чрез догадки. Дясната страна дава съответстващи решения за кратката спецификация: часовете за един запис са повече от 0 и не повече от 24, проектът и датата са задължителни, а невалидните данни водят до съобщение и не се записват. Лимитът е за един запис, не сбор за целия ден. Човекът уточнява и одобрява тези решения преди реализацията. Илюстрацията не е отчет от изпълнено приложение. Не всяка употреба на AI е vibe coding.</a:t>
            </a:r>
          </a:p>
          <a:p xmlns:a="http://schemas.openxmlformats.org/drawingml/2006/main">
            <a:r>
              <a:t/>
            </a:r>
          </a:p>
          <a:p xmlns:a="http://schemas.openxmlformats.org/drawingml/2006/main">
            <a:r>
              <a:t>ИЗТОЧНИЦИ</a:t>
            </a:r>
          </a:p>
          <a:p xmlns:a="http://schemas.openxmlformats.org/drawingml/2006/main">
            <a:r>
              <a:t>https://simonwillison.net/2025/Mar/19/vibe-coding/</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Адаптация на раздел III The SDD Workflow, Figure 2. В статията последният етап се нарича Validate и отговаря на въпроса Verify it. Тук използваме Verify по заявката на представящия. Specify определя функционалното поведение, изискванията, границите и критериите за приемане. Plan отделя техническия подход от бизнес поведението: архитектура, модели, интерфейси, ограничения и малки задачи. Implement реализира одобрения план на малки проверими части и включва unit тестове. Verify комбинира автоматизирани проверки с човешки review на резултата. Unit тестовете не доказват всичко и при нужда се допълват с интеграционни и други проверки. При дефект в кода поправяме кода. При грешни или непълни изисквания човекът уточнява и одобрява промяна на spec преди следваща реализация. Не пренаписваме изискванията само за да оправдаем дефект. За демото използваме един Markdown документ, наречен spec.md в презентацията. Неговите Goal, Requirements, Out of scope и Acceptance criteria описват Specify, Technical notes и Tasks подкрепят Plan и Implement, а Acceptance criteria служат за Verify. Кодът и тестовете са отделни артефакти, не съдържание, което задължително живее в spec.md. Статусът е Draft до човешки review. След одобрение става Ready for implementation и агентът може да пише код и тестове. Човекът проверява крайния резултат. Тези етапи не изискват четири отделни файла.</a:t>
            </a:r>
          </a:p>
          <a:p xmlns:a="http://schemas.openxmlformats.org/drawingml/2006/main">
            <a:r>
              <a:t/>
            </a:r>
          </a:p>
          <a:p xmlns:a="http://schemas.openxmlformats.org/drawingml/2006/main">
            <a:r>
              <a:t>ИЗТОЧНИЦИ</a:t>
            </a:r>
          </a:p>
          <a:p xmlns:a="http://schemas.openxmlformats.org/drawingml/2006/main">
            <a:r>
              <a:t>https://arxiv.org/pdf/2602.00180 — раздел III, Figure 2, стр. 3–4</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spec.md е разбираемо условно име за спецификацията на конкретната функция. В Timesheet реалните спецификации са в specs/. AGENTS.md съдържа проектните правила, одобрението и ограниченията. DESIGN.md задава дизайн системата. Кодът и тестовете показват текущата реализация и проверяваното поведение. При създаване на нова спецификация човешката заявка, тези правила и текущото поведение помагат на агента да предложи точен договор. При реализация или промяна одобреният договор води работата. Допълнителни източници са .github/instructions/ за правила по папки, .github/skills/ за работния процес и .github/agents/ за роли. Тези инструкции не са файлови permissions.</a:t>
            </a:r>
          </a:p>
          <a:p xmlns:a="http://schemas.openxmlformats.org/drawingml/2006/main">
            <a:r>
              <a:t/>
            </a:r>
          </a:p>
          <a:p xmlns:a="http://schemas.openxmlformats.org/drawingml/2006/main">
            <a:r>
              <a:t>ИЗТОЧНИЦИ</a:t>
            </a:r>
          </a:p>
          <a:p xmlns:a="http://schemas.openxmlformats.org/drawingml/2006/main">
            <a:r>
              <a:t>https://www.anthropic.com/engineering/effective-context-engineering-for-ai-agents</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Показваме кратка учебна Draft спецификация като Markdown файл. Следваме шестте секции на specs/template.md в същия ред: Goal, Requirements, Out of scope, Acceptance criteria, Technical notes, Tasks. Това не е реална нова одобрена спецификация и не е заявка за промяна на приложението. Името spec.md е условно за представянето. Не показваме вътрешни номера на спецификации или идентификатори на изисквания, които затрудняват публиката. Критериите съответстват на описаните правила. Всички задачи и критерии остават непроверени, защото примерът е Draft. Техническите бележки са съкратени.</a:t>
            </a:r>
          </a:p>
          <a:p xmlns:a="http://schemas.openxmlformats.org/drawingml/2006/main">
            <a:r>
              <a:t/>
            </a:r>
          </a:p>
          <a:p xmlns:a="http://schemas.openxmlformats.org/drawingml/2006/main">
            <a:r>
              <a:t>ИЗТОЧНИЦИ</a:t>
            </a:r>
          </a:p>
          <a:p xmlns:a="http://schemas.openxmlformats.org/drawingml/2006/main">
            <a:r>
              <a:t>https://arxiv.org/pdf/2602.00180</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По раздел II на статията: spec-first насочва първата реализация, но не изисква непрекъсната поддръжка; spec-anchored поддържа спецификацията през целия жизнен цикъл. При промяна на поведението обновяваме spec първо или едновременно с кода; spec-as-source променя спецификацията и генерира кода, без ръчни поправки в генерираната част. Примерите с Timesheet са учебни. OpenAPI примерът се отнася само за генерирани API типове, не за цялото приложение. Авторът определя spec-anchored като най-добрия баланс за повечето production системи. Това е препоръка от статията, не универсално доказана класация. Spec-as-source е най-радикалната форма на SDD: спецификацията на практика става сорс код, изразен на по-високо ниво на абстракция. Разработчиците описват изисквания и поведение, а машините ги превръщат в изпълним код. За промяна на функционалност се променя спецификацията и кодът се генерира отново. Генерираният код не се редактира директно. Тестовете проверяват описани сценарии и не откриват автоматично редакция само в документа. Генерирането с LLM не гарантира еквивалентен или правилен код.</a:t>
            </a:r>
          </a:p>
          <a:p xmlns:a="http://schemas.openxmlformats.org/drawingml/2006/main">
            <a:r>
              <a:t/>
            </a:r>
          </a:p>
          <a:p xmlns:a="http://schemas.openxmlformats.org/drawingml/2006/main">
            <a:r>
              <a:t>ИЗТОЧНИЦИ</a:t>
            </a:r>
          </a:p>
          <a:p xmlns:a="http://schemas.openxmlformats.org/drawingml/2006/main">
            <a:r>
              <a:t>https://arxiv.org/pdf/2602.00180 — раздел II, стр. 2–3</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Човекът създава спецификацията на база бизнес изискванията. Агентът може да помогне с чернова, въпроси и уточнения, но човекът проверява и одобрява договора преди имплементацията. Агентът пише и кода, и unit тестовете. Човекът преглежда крайния резултат: дали поведението отговаря на одобрената нужда, дали кодът е подходящ и дали тестовете проверяват правилните очаквания. Зелените тестове сами по себе си не са човешко приемане. При промяна на изискванията се връщаме към спецификацията.</a:t>
            </a:r>
          </a:p>
          <a:p xmlns:a="http://schemas.openxmlformats.org/drawingml/2006/main">
            <a:r>
              <a:t/>
            </a:r>
          </a:p>
          <a:p xmlns:a="http://schemas.openxmlformats.org/drawingml/2006/main">
            <a:r>
              <a:t>ИЗТОЧНИЦИ</a:t>
            </a:r>
          </a:p>
          <a:p xmlns:a="http://schemas.openxmlformats.org/drawingml/2006/main">
            <a:r>
              <a:t>https://kiro.dev/docs/specs/feature-specs/requirements-first/</a:t>
            </a:r>
          </a:p>
          <a:p xmlns:a="http://schemas.openxmlformats.org/drawingml/2006/main">
            <a:r>
              <a:t>https://code.claude.com/docs/en/best-practices</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Основната теза на предоставения текст е, че описанията могат да бъдат правдоподобни, но неверни, а кодът и автоматизираните тестове трябва да се изпълнят. Генерирането от езиков модел е недетерминистично: една и съща спецификация може да даде различни имплементации. Поправка в кода може да не бъде отразена в документацията и повторно генериране да загуби тази поправка. Тестовете запазват одобрени примери за намерението независимо от имплементацията и проверяват резултата от изпълнението. Това е Specification by Example, свързано с FIT и ATDD. Авторът поставя автоматизираните тестове в ролята на жив изпълним договор, а не обещание, че всеки unit тест доказва цялата реалност. Цикълът: тестовете описват намерението, агентът реализира кода, агентът сверява документацията с тестовете и човекът решава при разминаване. Човекът преглежда самите тестове и очаквания, а не само красивия текст. Добрият тест е разбираем за около 10 секунди според автора, покрива важно бизнес поведение, граници и грешки и изпълнява реалната логика. Прекомерните mocks могат да дадат зелени резултати без реална проверка. Изразът tests cannot lie е реторична теза с тази уговорка: тестовете могат да бъдат непълни, с грешни очаквания или изменени заедно с дефектния код. Зелено означава само, че проверените сценарии са минали. Unit тестовете се допълват с интеграционни и end-to-end проверки. Източникът говори за автоматизирани тестове като цяло. Тази презентация запазва човешки review на спецификацията преди реализацията и поставя изпълнимите проверки като доказателство за кода.</a:t>
            </a:r>
          </a:p>
          <a:p xmlns:a="http://schemas.openxmlformats.org/drawingml/2006/main">
            <a:r>
              <a:t/>
            </a:r>
          </a:p>
          <a:p xmlns:a="http://schemas.openxmlformats.org/drawingml/2006/main">
            <a:r>
              <a:t>ИЗТОЧНИЦИ</a:t>
            </a:r>
          </a:p>
          <a:p xmlns:a="http://schemas.openxmlformats.org/drawingml/2006/main">
            <a:r>
              <a:t>Предоставен от потребителя текст и последващо пояснение: Somewhere around 2000, if you worked in this industry, you met the methodology… Автор и URL не са посочени.</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Спецификацията и тестовете са допълващи се части на инженерния процес. От одобрените бизнес изисквания извеждаме и реализацията, и конкретни тестови сценарии с независими очаквания. Спецификацията казва какво трябва да прави системата. Кодът реализира поведението. Тестовете изпълняват реалната логика и сравняват резултата с очакването, основано на изискванията. Не извеждаме очакваното поведение само от генерирания код, иначе можем да повторим грешката в теста. Unit тестовете проверяват отделна логика, включително бизнес правила, граници и грешки. Интеграционните тестове проверяват взаимодействието на компонентите, а end-to-end или UI тестовете целия потребителски поток. Човекът проверява както изискванията, така и качеството на тестовете и крайния резултат. Това дава повторяеми доказателства за покритите сценарии и регресионна защита при промени. Нито unit тестовете, нито произволна крайна тестова колекция дават 100 процента гаранция за целия продукт. Непокрити сценарии, неправилни очаквания, прекомерни mocks и различия в средата могат да скрият дефекти. Тестовете са съществен механизъм за проверка, а не единственият възможен начин за осигуряване на качество.</a:t>
            </a:r>
          </a:p>
          <a:p xmlns:a="http://schemas.openxmlformats.org/drawingml/2006/main">
            <a:r>
              <a:t/>
            </a:r>
          </a:p>
          <a:p xmlns:a="http://schemas.openxmlformats.org/drawingml/2006/main">
            <a:r>
              <a:t>ИЗТОЧНИЦИ</a:t>
            </a:r>
          </a:p>
          <a:p xmlns:a="http://schemas.openxmlformats.org/drawingml/2006/main">
            <a:r>
              <a:t>https://learn.microsoft.com/en-us/dotnet/core/testing/unit-testing-best-practices</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Проверено на 8 октомври 2026 по Anthropic Engineering, Demystifying evals for AI agents, публикувано на 9 януари 2026, и актуалните официални насоки за Agent Skills. Evals са набор от реалистични задачи с предварително определени критерии за успех. Unit тестовете проверяват определено поведение на приложението, докато evals оценяват цялата работа на агента: резултат, следване на важни инструкции и правилно използване на инструменти и skills. Unit тестовете могат да бъдат част от оценяването на coding agent. Skill се оценява чрез агента, който го използва, а не само чрез четене на SKILL.md. Примерът с Draft е учебен: правилата на Timesheet забраняват имплементация преди човешко одобрение. Проверяваме дали агентът спазва това, включително при подканване да започне веднага. Включваме задачи, за които skill трябва да се включи, задачи, за които не трябва, и трудни или неясни случаи. Сравняваме еднакви задачи със и без skill, като пазим останалите условия. Повтаряме опитите, защото AI може да даде различен резултат. Оценяваме действителния резултат, а не само уверенията на агента. Използваме автоматични проверки, когато е възможно, и човешка преценка за качеството. LLM оценителите изискват сверка с човешка оценка. Повтаряме набора след промяна на модел, инструкции или skill и добавяме срещнатите проблеми като нови случаи. Това е обяснение в презентацията; в проекта не се добавя или изпълнява eval система.</a:t>
            </a:r>
          </a:p>
          <a:p xmlns:a="http://schemas.openxmlformats.org/drawingml/2006/main">
            <a:r>
              <a:t/>
            </a:r>
          </a:p>
          <a:p xmlns:a="http://schemas.openxmlformats.org/drawingml/2006/main">
            <a:r>
              <a:t>ИЗТОЧНИЦИ</a:t>
            </a:r>
          </a:p>
          <a:p xmlns:a="http://schemas.openxmlformats.org/drawingml/2006/main">
            <a:r>
              <a:t>https://www.anthropic.com/engineering/demystifying-evals-for-ai-agents</a:t>
            </a:r>
          </a:p>
          <a:p xmlns:a="http://schemas.openxmlformats.org/drawingml/2006/main">
            <a:r>
              <a:t>https://platform.claude.com/docs/en/agents-and-tools/agent-skills/enterprise</a:t>
            </a:r>
          </a:p>
          <a:p xmlns:a="http://schemas.openxmlformats.org/drawingml/2006/main">
            <a:r>
              <a:t>https://platform.claude.com/docs/en/agents-and-tools/agent-skills/best-practices</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Източник: официална публикация на Anthropic Improving skill-creator: Test, measure, and refine Agent Skills, 3 март 2026, проверена на 8 октомври 2026. Разграничаваме skills, които добавят липсващо или непостоянно умение, от skills, които кодират фирмен процес и предпочитания. Първите може да станат по-малко нужни с напредването на моделите. Ако новият модел изпълнява представителните eval задачи успешно и без skill, това е сигнал, че skill може вече да не добавя стойност. Не доказва, че конкретните инструкции са били научени от модела. Сравняваме еднакви задачи, модел, инструменти и условия със и без skill, с повторни опити. Гледаме качество, постоянство, време и разход, а не единичен успешен отговор. Ако skill помага, го запазваме или подобряваме; ако не помага, може да го опростим или премахнем след review и по-широки проверки. Това решение важи за проверения модел и сценарии. Skills с организационни правила и специфичен процес може да останат нужни, дори общите способности на модела да се подобрят. Не са представени измислени измервания.</a:t>
            </a:r>
          </a:p>
          <a:p xmlns:a="http://schemas.openxmlformats.org/drawingml/2006/main">
            <a:r>
              <a:t/>
            </a:r>
          </a:p>
          <a:p xmlns:a="http://schemas.openxmlformats.org/drawingml/2006/main">
            <a:r>
              <a:t>ИЗТОЧНИЦИ</a:t>
            </a:r>
          </a:p>
          <a:p xmlns:a="http://schemas.openxmlformats.org/drawingml/2006/main">
            <a:r>
              <a:t>https://claude.com/resources/articles/improving-skill-creator-test-measure-and-refine-agent-skills</a:t>
            </a:r>
          </a:p>
          <a:p xmlns:a="http://schemas.openxmlformats.org/drawingml/2006/main">
            <a:r>
              <a:t>https://platform.claude.com/docs/en/agents-and-tools/agent-skills/best-practices</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При всяка промяна поддържаме спецификацията, кода и тестовете съгласувани в една и съща промяна. Агентът проверява засегнатите изисквания и тестови очаквания и актуализира спецификацията според действителния одобрен обхват. Човекът преглежда трите артефакта заедно. Ако се променя желаното поведение, човекът първо одобрява новите изисквания, след което агентът променя спецификацията, кода и тестовете. При поправка на дефект или рефакторинг, които запазват правилното бизнес поведение, не пренаписваме изискванията, за да оправдаем грешен код. Проверяваме, че спецификацията остава вярна, и обновяваме технически бележки или информация за проверките при нужда. Тестовете трябва да проверяват описаното поведение, а кодът да го реализира. Актуалността е част от завършената задача, а не отделна бъдеща работа.</a:t>
            </a:r>
          </a:p>
          <a:p xmlns:a="http://schemas.openxmlformats.org/drawingml/2006/main">
            <a:r>
              <a:t/>
            </a:r>
          </a:p>
          <a:p xmlns:a="http://schemas.openxmlformats.org/drawingml/2006/main">
            <a:r>
              <a:t>ИЗТОЧНИЦИ</a:t>
            </a:r>
          </a:p>
          <a:p xmlns:a="http://schemas.openxmlformats.org/drawingml/2006/main">
            <a:r>
              <a:t>https://arxiv.org/pdf/2602.00180</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SDD е софтуерно инженерство с помощта на AI. Специалистът остава близо до домейна, разговаря за бизнес нуждата и използва професионалните си знания, за да формулира спецификацията. Агентът реализира по този договор; тестовете проверяват конкретното поведение, а човекът оценява качеството и дали резултатът решава правилния проблем. Структурата, ясните правила, малките задачи, добрите практики и човешкият преглед ограничават хаоса на vibe coding, при който лесно губим контрол над предположенията и промените. Не всяка работа с AI е vibe coding и самата спецификация не гарантира качество. Ползите са инженерни механизми, не обещание за универсално ускорение. Актуалните спецификации и тестове улесняват поддръжката и предаването на бизнес контекста. Допълнителна теоретична полза: същите спецификации могат да насочат изцяло нова реализация на друга технология, например от Python към JavaScript. Това изисква достатъчно описание на поведението и ограниченията, адаптиране на техническите бележки и тестовете и повторна проверка с човешки преглед. Генерирането не е детерминистично и не гарантира еквивалентност. Практическа първа стъпка: малка функция, кратка спецификация, одобрение, агент, тестове и човешко приемане.</a:t>
            </a:r>
          </a:p>
          <a:p xmlns:a="http://schemas.openxmlformats.org/drawingml/2006/main">
            <a:r>
              <a:t/>
            </a:r>
          </a:p>
          <a:p xmlns:a="http://schemas.openxmlformats.org/drawingml/2006/main">
            <a:r>
              <a:t>ИЗТОЧНИЦИ</a:t>
            </a:r>
          </a:p>
          <a:p xmlns:a="http://schemas.openxmlformats.org/drawingml/2006/main">
            <a:r>
              <a:t>https://github.github.com/spec-kit/concepts/sdd.html</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По раздел VII The Redefinition of Developer Work и акцентите на представящия. Човекът остава в центъра: в разговори с бизнеса изяснява целта, реалните изисквания и ограниченията. Домейн експертизата му помага да създаде добра спецификация, включително граничните случаи и критериите за приемане. Инженерната експертиза е нужна за избор на архитектура и подход, преглед на кода и тестовете и оценка на крайния продукт. Агентът помага с реализацията, но не поема човешката отговорност за решенията. Показаната схема обобщава сътрудничеството, не ограничава ролите до един човек. Поддръжката на спецификацията остава част от работата. Не твърдим, че ръчното програмиране изчезва или че AI сам гарантира качество.</a:t>
            </a:r>
          </a:p>
          <a:p xmlns:a="http://schemas.openxmlformats.org/drawingml/2006/main">
            <a:r>
              <a:t/>
            </a:r>
          </a:p>
          <a:p xmlns:a="http://schemas.openxmlformats.org/drawingml/2006/main">
            <a:r>
              <a:t>ИЗТОЧНИЦИ</a:t>
            </a:r>
          </a:p>
          <a:p xmlns:a="http://schemas.openxmlformats.org/drawingml/2006/main">
            <a:r>
              <a:t>https://arxiv.org/pdf/2602.00180 — раздел VII, стр. 6. Допълнителен акцент: експертизата и сътрудничеството с бизнеса, по заявка на представящия.</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Адаптация на статията на Owain Osborne-Walsh, Microsoft Apps on Azure Blog, 5 февруари 2026, и предоставената процесна схема. Това е примерна архитектура, не универсален стандарт и не описание на интеграции, реализирани в Timesheet. Човекът формулира бизнес изискванията. За демото показваме един spec.md, който съдържа спецификация, технически план и задачи. Това е адаптация на оригиналната схема от статията, където Spec Kit и Spec-to-Issue подготвят и възлагат GitHub задачи. Агентът пише код и тестове и отваря PR. Quality agent и разработчик или QA преглеждат резултата и връщат препоръки за промяна. Стъпка 5 е GitHub Actions CI/CD за build и внедряване. Отделна стъпка 6 Observability показва как работи системата чрез метрики, логове и traces. Стъпка 7 запазва поддръжката със SRE agent и инженер. SRE agent следи проблемите, а SRE или cloud инженер решава сложните случаи. Сигналите могат да станат нови GitHub задачи. Връщането към spec и неговото обновяване е SDD акцентът на тази презентация. Процесът включва човешки преглед и одобрение, не безусловна автономия. Azure SRE Agent събира оперативен контекст, анализира вероятни причини за инциденти и предлага или изпълнява коригиращи действия. Изпълнението зависи от конфигурираните права, политики и режим: Review или Autonomous. Официалното описание е проверено на 9 октомври 2026.</a:t>
            </a:r>
          </a:p>
          <a:p xmlns:a="http://schemas.openxmlformats.org/drawingml/2006/main">
            <a:r>
              <a:t/>
            </a:r>
          </a:p>
          <a:p xmlns:a="http://schemas.openxmlformats.org/drawingml/2006/main">
            <a:r>
              <a:t>ИЗТОЧНИЦИ</a:t>
            </a:r>
          </a:p>
          <a:p xmlns:a="http://schemas.openxmlformats.org/drawingml/2006/main">
            <a:r>
              <a:t>https://techcommunity.microsoft.com/blog/appsonazureblog/an-ai-led-sdlc-building-an-end-to-end-agentic-software-development-lifecycle-wit/4491896</a:t>
            </a:r>
          </a:p>
          <a:p xmlns:a="http://schemas.openxmlformats.org/drawingml/2006/main">
            <a:r>
              <a:t>Предоставена от потребителя схема AI Led SDLC Process Flow.</a:t>
            </a:r>
          </a:p>
          <a:p xmlns:a="http://schemas.openxmlformats.org/drawingml/2006/main">
            <a:r>
              <a:t>https://learn.microsoft.com/en-us/azure/sre-agent/overview?tabs=explore</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Финален слайд с текста, предоставен от представящия. Спецификациите описват намерението и критериите за приемане. Тестовете проверяват избрани сценарии спрямо договорените изисквания, но не доказват липса на всички дефекти. Evals измерват представянето на агента и използваните skills по предварително определени критерии. Observability използва метрики, логове и traces, за да разберем поведението и причините за проблеми в реална среда. Човекът определя посоката и носи отговорност за решенията и приемането. Източниците са подбрани и подадени от представящия.</a:t>
            </a:r>
          </a:p>
          <a:p xmlns:a="http://schemas.openxmlformats.org/drawingml/2006/main">
            <a:r>
              <a:t/>
            </a:r>
          </a:p>
          <a:p xmlns:a="http://schemas.openxmlformats.org/drawingml/2006/main">
            <a:r>
              <a:t>ИЗТОЧНИЦИ</a:t>
            </a:r>
          </a:p>
          <a:p xmlns:a="http://schemas.openxmlformats.org/drawingml/2006/main">
            <a:r>
              <a:t>Specs: https://github.com/github/spec-kit/blob/main/spec-driven.md</a:t>
            </a:r>
          </a:p>
          <a:p xmlns:a="http://schemas.openxmlformats.org/drawingml/2006/main">
            <a:r>
              <a:t>Тестове: https://istqb.org/wp-content/uploads/2024/11/ISTQB_CTFL_Syllabus_v4.0.1.pdf</a:t>
            </a:r>
          </a:p>
          <a:p xmlns:a="http://schemas.openxmlformats.org/drawingml/2006/main">
            <a:r>
              <a:t>Evals: https://www.anthropic.com/engineering/demystifying-evals-for-ai-agents</a:t>
            </a:r>
          </a:p>
          <a:p xmlns:a="http://schemas.openxmlformats.org/drawingml/2006/main">
            <a:r>
              <a:t>Observability: https://opentelemetry.io/docs/concepts/observability-primer/</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Ресурси, избрани от представящия. Името е следвано от кратко описание и кликаем линк. Заглавието на видеото е AWS re:Invent 2025 - Introducing AI driven development lifecycle (AI-DLC) (DVT214). Докладът е Spec-Driven Development: From Code to Contract in the Age of AI Coding Assistants. Статията е An AI led SDLC: Building an End-to-End Agentic Software Development Lifecycle with Azure and GitHub. OpenAI Evals е framework за оценка на LLM и LLM системи и регистър с benchmarks. DeepEval е open source framework за тестване и оценяване на LLM приложения. Описанията са проверени на 9 октомври 2026.</a:t>
            </a:r>
          </a:p>
          <a:p xmlns:a="http://schemas.openxmlformats.org/drawingml/2006/main">
            <a:r>
              <a:t/>
            </a:r>
          </a:p>
          <a:p xmlns:a="http://schemas.openxmlformats.org/drawingml/2006/main">
            <a:r>
              <a:t>ИЗТОЧНИЦИ</a:t>
            </a:r>
          </a:p>
          <a:p xmlns:a="http://schemas.openxmlformats.org/drawingml/2006/main">
            <a:r>
              <a:t>AWS re:Invent 2025: AI-DLC: https://www.youtube.com/watch?v=1HNUH6j5t4A</a:t>
            </a:r>
          </a:p>
          <a:p xmlns:a="http://schemas.openxmlformats.org/drawingml/2006/main">
            <a:r>
              <a:t>GitHub Spec Kit: https://github.com/github/spec-kit</a:t>
            </a:r>
          </a:p>
          <a:p xmlns:a="http://schemas.openxmlformats.org/drawingml/2006/main">
            <a:r>
              <a:t>Kiro: https://kiro.dev/</a:t>
            </a:r>
          </a:p>
          <a:p xmlns:a="http://schemas.openxmlformats.org/drawingml/2006/main">
            <a:r>
              <a:t>Spec-Driven Development (PDF): https://arxiv.org/pdf/2602.00180</a:t>
            </a:r>
          </a:p>
          <a:p xmlns:a="http://schemas.openxmlformats.org/drawingml/2006/main">
            <a:r>
              <a:t>An AI-led SDLC: https://techcommunity.microsoft.com/blog/appsonazureblog/an-ai-led-sdlc-building-an-end-to-end-agentic-software-development-lifecycle-wit/4491896</a:t>
            </a:r>
          </a:p>
          <a:p xmlns:a="http://schemas.openxmlformats.org/drawingml/2006/main">
            <a:r>
              <a:t>OpenAI Evals: https://github.com/openai/evals</a:t>
            </a:r>
          </a:p>
          <a:p xmlns:a="http://schemas.openxmlformats.org/drawingml/2006/main">
            <a:r>
              <a:t>DeepEval: https://deepeval.com/</a:t>
            </a:r>
          </a:p>
          <a:p xmlns:a="http://schemas.openxmlformats.org/drawingml/2006/main">
            <a:r>
              <a:t>Проект: AGENTS.md, DESIGN.md, specs/002-time-entries.md, specs/004-edit-delete-time-entries.md, tests/Timesheet.Api.Tests/TimeEntryEndpointTests.cs.</a:t>
            </a:r>
          </a:p>
          <a:p xmlns:a="http://schemas.openxmlformats.org/drawingml/2006/main">
            <a:r>
              <a:t/>
            </a:r>
          </a:p>
          <a:p xmlns:a="http://schemas.openxmlformats.org/drawingml/2006/main">
            <a:r>
              <a:t>Докладът на Deepak Babu Piskala, arXiv:2602.00180v1, 30 януари 2026, CC BY 4.0: https://creativecommons.org/licenses/by/4.0/. Български превод и адаптация. Уеб източниците са проверени на 6 октомври 2026. Проектните примери описват прочетен договор и код. Очакванията не са отчет от изпълнени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d9623d87e941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4e054a02a04b0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3276e21b1b44ee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02abf41560140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89d954800b1402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64537305134b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E63C25-E4E0-4CC0-8C61-B79E196F6C4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65783CC-4A87-49D8-BD27-3A0D32201C0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822F164-C3FF-4098-A29A-E3E80F6E323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588884-6216-4EBE-9B0C-31FD1B6F82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F6A8A15-EF99-4D89-B3AF-DB1C383F374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CDD8B47-ACDA-4435-8A92-A25445135E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C357F0-087D-49FE-9439-C60A2D4609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F1CD6B5-6620-41F8-84FD-86B9417660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42F075-8A35-42D4-9B9F-78EC35D340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AF3420-21AF-42BC-A74D-CEA0BDDC35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f68c62a4784573" /><Relationship Type="http://schemas.openxmlformats.org/officeDocument/2006/relationships/slideLayout" Target="/ppt/slideLayouts/slideLayout1.xml" Id="Rbaaac3cae8a54cc7" /><Relationship Type="http://schemas.openxmlformats.org/officeDocument/2006/relationships/slideLayout" Target="/ppt/slideLayouts/slideLayout2.xml" Id="R57613921b45e43c5" /><Relationship Type="http://schemas.openxmlformats.org/officeDocument/2006/relationships/slideLayout" Target="/ppt/slideLayouts/slideLayout3.xml" Id="R066326f85acb4099" /><Relationship Type="http://schemas.openxmlformats.org/officeDocument/2006/relationships/slideLayout" Target="/ppt/slideLayouts/slideLayout4.xml" Id="R086b7fa778bc4ae2" /><Relationship Type="http://schemas.openxmlformats.org/officeDocument/2006/relationships/slideLayout" Target="/ppt/slideLayouts/slideLayout5.xml" Id="R372d1bca707c4174" /><Relationship Type="http://schemas.openxmlformats.org/officeDocument/2006/relationships/slideLayout" Target="/ppt/slideLayouts/slideLayout6.xml" Id="Rb0ed0903b0a84e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aac3cae8a54cc7"/>
    <p:sldLayoutId xmlns:r="http://schemas.openxmlformats.org/officeDocument/2006/relationships" id="2147483650" r:id="R57613921b45e43c5"/>
    <p:sldLayoutId xmlns:r="http://schemas.openxmlformats.org/officeDocument/2006/relationships" id="2147483651" r:id="R066326f85acb4099"/>
    <p:sldLayoutId xmlns:r="http://schemas.openxmlformats.org/officeDocument/2006/relationships" id="2147483652" r:id="R086b7fa778bc4ae2"/>
    <p:sldLayoutId xmlns:r="http://schemas.openxmlformats.org/officeDocument/2006/relationships" id="2147483653" r:id="R372d1bca707c4174"/>
    <p:sldLayoutId xmlns:r="http://schemas.openxmlformats.org/officeDocument/2006/relationships" id="2147483654" r:id="Rb0ed0903b0a84e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67b3163f7954054" /><Relationship Type="http://schemas.openxmlformats.org/officeDocument/2006/relationships/notesSlide" Target="/ppt/notesSlides/notesSlide1.xml" Id="Rfcde5079bd364d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b91c5f77ca2418b" /><Relationship Type="http://schemas.openxmlformats.org/officeDocument/2006/relationships/notesSlide" Target="/ppt/notesSlides/notesSlide2.xml" Id="R60bb2544fc4b4d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05d43fc166f48d7" /><Relationship Type="http://schemas.openxmlformats.org/officeDocument/2006/relationships/notesSlide" Target="/ppt/notesSlides/notesSlide3.xml" Id="R8867c8e1fbbe44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06a49c60d0a4c4a" /><Relationship Type="http://schemas.openxmlformats.org/officeDocument/2006/relationships/notesSlide" Target="/ppt/notesSlides/notesSlide4.xml" Id="R88722b4a99e04c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034b1aaa4e0424e" /><Relationship Type="http://schemas.openxmlformats.org/officeDocument/2006/relationships/notesSlide" Target="/ppt/notesSlides/notesSlide5.xml" Id="R2d79e3f94bb64c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0ffd6a2a62b4513" /><Relationship Type="http://schemas.openxmlformats.org/officeDocument/2006/relationships/notesSlide" Target="/ppt/notesSlides/notesSlide6.xml" Id="R0295708f0bca44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15a809607424257" /><Relationship Type="http://schemas.openxmlformats.org/officeDocument/2006/relationships/notesSlide" Target="/ppt/notesSlides/notesSlide7.xml" Id="Rbb7bfa06475241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2aac1d4abde4537" /><Relationship Type="http://schemas.openxmlformats.org/officeDocument/2006/relationships/notesSlide" Target="/ppt/notesSlides/notesSlide8.xml" Id="R3fbb9ebef469437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3576b4cac204143" /><Relationship Type="http://schemas.openxmlformats.org/officeDocument/2006/relationships/notesSlide" Target="/ppt/notesSlides/notesSlide9.xml" Id="R5139a0fd443b41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bfe7e2c78a6417a" /><Relationship Type="http://schemas.openxmlformats.org/officeDocument/2006/relationships/notesSlide" Target="/ppt/notesSlides/notesSlide10.xml" Id="R3ec499d6ebad48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8b32ba7e48f4893" /><Relationship Type="http://schemas.openxmlformats.org/officeDocument/2006/relationships/notesSlide" Target="/ppt/notesSlides/notesSlide11.xml" Id="R98fe3ba08a8642b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4ddbf0275c2476b" /><Relationship Type="http://schemas.openxmlformats.org/officeDocument/2006/relationships/notesSlide" Target="/ppt/notesSlides/notesSlide12.xml" Id="R4db19cabfe304a9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719aac785fe4f04" /><Relationship Type="http://schemas.openxmlformats.org/officeDocument/2006/relationships/notesSlide" Target="/ppt/notesSlides/notesSlide13.xml" Id="R88403a775c3c43c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f508744d9b64d26" /><Relationship Type="http://schemas.openxmlformats.org/officeDocument/2006/relationships/notesSlide" Target="/ppt/notesSlides/notesSlide14.xml" Id="R2f01c284c3f34a0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87a8f6d65c74c21" /><Relationship Type="http://schemas.openxmlformats.org/officeDocument/2006/relationships/notesSlide" Target="/ppt/notesSlides/notesSlide15.xml" Id="R9c113290bd4e4e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c9e2ca7b4544a19" /><Relationship Type="http://schemas.openxmlformats.org/officeDocument/2006/relationships/notesSlide" Target="/ppt/notesSlides/notesSlide16.xml" Id="R9db4e8b7c3a54ef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b78bcccaeca4f46" /><Relationship Type="http://schemas.openxmlformats.org/officeDocument/2006/relationships/notesSlide" Target="/ppt/notesSlides/notesSlide17.xml" Id="R688693d0f6c7432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ebc0e7777b44093" /><Relationship Type="http://schemas.openxmlformats.org/officeDocument/2006/relationships/notesSlide" Target="/ppt/notesSlides/notesSlide18.xml" Id="R577d72aafc63439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f1fc9356229432e" /><Relationship Type="http://schemas.openxmlformats.org/officeDocument/2006/relationships/notesSlide" Target="/ppt/notesSlides/notesSlide19.xml" Id="R44bf3f8f6d1e451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89a20c332384205" /><Relationship Type="http://schemas.openxmlformats.org/officeDocument/2006/relationships/hyperlink" Target="https://www.youtube.com/watch?v=1HNUH6j5t4A" TargetMode="External" Id="R9bab09fd9c5a44ca" /><Relationship Type="http://schemas.openxmlformats.org/officeDocument/2006/relationships/hyperlink" Target="https://github.com/github/spec-kit" TargetMode="External" Id="R9c7b2224df8242c7" /><Relationship Type="http://schemas.openxmlformats.org/officeDocument/2006/relationships/hyperlink" Target="https://kiro.dev/" TargetMode="External" Id="R6099f8763ab44d6f" /><Relationship Type="http://schemas.openxmlformats.org/officeDocument/2006/relationships/hyperlink" Target="https://arxiv.org/pdf/2602.00180" TargetMode="External" Id="R3c4420dafbec4101" /><Relationship Type="http://schemas.openxmlformats.org/officeDocument/2006/relationships/hyperlink" Target="https://techcommunity.microsoft.com/blog/appsonazureblog/an-ai-led-sdlc-building-an-end-to-end-agentic-software-development-lifecycle-wit/4491896" TargetMode="External" Id="R326a3f611eab42fb" /><Relationship Type="http://schemas.openxmlformats.org/officeDocument/2006/relationships/hyperlink" Target="https://github.com/openai/evals" TargetMode="External" Id="Redde71437b144c15" /><Relationship Type="http://schemas.openxmlformats.org/officeDocument/2006/relationships/hyperlink" Target="https://deepeval.com/" TargetMode="External" Id="R7a844f8e104549ff" /><Relationship Type="http://schemas.openxmlformats.org/officeDocument/2006/relationships/notesSlide" Target="/ppt/notesSlides/notesSlide20.xml" Id="Rf986d564b1b545e1" /></Relationships>
</file>

<file path=ppt/slides/slide1.xml><?xml version="1.0" encoding="utf-8"?>
<p:sld xmlns:p="http://schemas.openxmlformats.org/presentationml/2006/main">
  <p:cSld>
    <p:bg>
      <p:bgPr>
        <a:gradFill xmlns:a="http://schemas.openxmlformats.org/drawingml/2006/main">
          <a:gsLst>
            <a:gs pos="0">
              <a:srgbClr val="101F52"/>
            </a:gs>
            <a:gs pos="53000">
              <a:srgbClr val="2447A6"/>
            </a:gs>
            <a:gs pos="100000">
              <a:srgbClr val="7041B9"/>
            </a:gs>
          </a:gsLst>
          <a:lin ang="1500000"/>
        </a:gra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68D071E-0C7E-4E96-9899-AC4D6886122D}"/>
              </a:ext>
            </a:extLst>
          </p:cNvPr>
          <p:cNvSpPr>
            <a:spLocks xmlns:a="http://schemas.openxmlformats.org/drawingml/2006/main" noGrp="1"/>
          </p:cNvSpPr>
          <p:nvPr/>
        </p:nvSpPr>
        <p:spPr>
          <a:xfrm xmlns:a="http://schemas.openxmlformats.org/drawingml/2006/main">
            <a:off x="11049000" y="61626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CADCFC"/>
                </a:solidFill>
                <a:latin typeface="Arial"/>
                <a:ea typeface="Arial"/>
                <a:cs typeface="Arial"/>
              </a:defRPr>
            </a:defPPr>
          </a:lstStyle>
          <a:p xmlns:a="http://schemas.openxmlformats.org/drawingml/2006/main">
            <a:pPr>
              <a:buNone/>
              <a:defRPr sz="1350" b="0">
                <a:solidFill>
                  <a:srgbClr val="CADCFC"/>
                </a:solidFill>
                <a:latin typeface="Arial"/>
                <a:ea typeface="Arial"/>
                <a:cs typeface="Arial"/>
              </a:defRPr>
            </a:pPr>
            <a:r>
              <a:rPr sz="1350" b="0">
                <a:solidFill>
                  <a:srgbClr val="CADCFC"/>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3CE952DC-1FA1-496A-8834-2D22DF6042EC}"/>
              </a:ext>
            </a:extLst>
          </p:cNvPr>
          <p:cNvSpPr>
            <a:spLocks xmlns:a="http://schemas.openxmlformats.org/drawingml/2006/main" noGrp="1"/>
          </p:cNvSpPr>
          <p:nvPr/>
        </p:nvSpPr>
        <p:spPr>
          <a:xfrm xmlns:a="http://schemas.openxmlformats.org/drawingml/2006/main">
            <a:off x="685800" y="1285875"/>
            <a:ext cx="10001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6000" b="1">
                <a:solidFill>
                  <a:srgbClr val="FFFFFF"/>
                </a:solidFill>
                <a:latin typeface="Arial"/>
                <a:ea typeface="Arial"/>
                <a:cs typeface="Arial"/>
              </a:defRPr>
            </a:defPPr>
          </a:lstStyle>
          <a:p xmlns:a="http://schemas.openxmlformats.org/drawingml/2006/main">
            <a:pPr>
              <a:buNone/>
              <a:defRPr sz="6000" b="1">
                <a:solidFill>
                  <a:srgbClr val="FFFFFF"/>
                </a:solidFill>
                <a:latin typeface="Arial"/>
                <a:ea typeface="Arial"/>
                <a:cs typeface="Arial"/>
              </a:defRPr>
            </a:pPr>
            <a:r>
              <a:rPr sz="6000" b="1">
                <a:solidFill>
                  <a:srgbClr val="FFFFFF"/>
                </a:solidFill>
                <a:latin typeface="Arial"/>
                <a:ea typeface="Arial"/>
                <a:cs typeface="Arial"/>
              </a:rPr>
              <a:t>Spec-Driven</a:t>
            </a:r>
          </a:p>
          <a:p xmlns:a="http://schemas.openxmlformats.org/drawingml/2006/main">
            <a:pPr>
              <a:buNone/>
              <a:defRPr sz="6000" b="1">
                <a:solidFill>
                  <a:srgbClr val="FFFFFF"/>
                </a:solidFill>
                <a:latin typeface="Arial"/>
                <a:ea typeface="Arial"/>
                <a:cs typeface="Arial"/>
              </a:defRPr>
            </a:pPr>
            <a:r>
              <a:rPr sz="6000" b="1">
                <a:solidFill>
                  <a:srgbClr val="FFFFFF"/>
                </a:solidFill>
                <a:latin typeface="Arial"/>
                <a:ea typeface="Arial"/>
                <a:cs typeface="Arial"/>
              </a:rPr>
              <a:t>Development</a:t>
            </a:r>
          </a:p>
        </p:txBody>
      </p:sp>
      <p:sp>
        <p:nvSpPr>
          <p:cNvPr id="3" name="">
            <a:extLst xmlns:a="http://schemas.openxmlformats.org/drawingml/2006/main">
              <a:ext uri="{FF2B5EF4-FFF2-40B4-BE49-F238E27FC236}">
                <a16:creationId xmlns:a16="http://schemas.microsoft.com/office/drawing/2014/main" id="{704A9A85-B722-4F81-9394-44532CD4E709}"/>
              </a:ext>
            </a:extLst>
          </p:cNvPr>
          <p:cNvSpPr>
            <a:spLocks xmlns:a="http://schemas.openxmlformats.org/drawingml/2006/main" noGrp="1"/>
          </p:cNvSpPr>
          <p:nvPr/>
        </p:nvSpPr>
        <p:spPr>
          <a:xfrm xmlns:a="http://schemas.openxmlformats.org/drawingml/2006/main">
            <a:off x="723900" y="36671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FFFFFF"/>
                </a:solidFill>
                <a:latin typeface="Arial"/>
                <a:ea typeface="Arial"/>
                <a:cs typeface="Arial"/>
              </a:defRPr>
            </a:defPPr>
          </a:lstStyle>
          <a:p xmlns:a="http://schemas.openxmlformats.org/drawingml/2006/main">
            <a:pPr>
              <a:buNone/>
              <a:defRPr sz="2550" b="0">
                <a:solidFill>
                  <a:srgbClr val="FFFFFF"/>
                </a:solidFill>
                <a:latin typeface="Arial"/>
                <a:ea typeface="Arial"/>
                <a:cs typeface="Arial"/>
              </a:defRPr>
            </a:pPr>
            <a:r>
              <a:rPr sz="2550" b="0">
                <a:solidFill>
                  <a:srgbClr val="FFFFFF"/>
                </a:solidFill>
                <a:latin typeface="Arial"/>
                <a:ea typeface="Arial"/>
                <a:cs typeface="Arial"/>
              </a:rPr>
              <a:t>Софтуерно инженерство с Agentic AI</a:t>
            </a:r>
          </a:p>
        </p:txBody>
      </p:sp>
      <p:sp>
        <p:nvSpPr>
          <p:cNvPr id="4" name="">
            <a:extLst xmlns:a="http://schemas.openxmlformats.org/drawingml/2006/main">
              <a:ext uri="{FF2B5EF4-FFF2-40B4-BE49-F238E27FC236}">
                <a16:creationId xmlns:a16="http://schemas.microsoft.com/office/drawing/2014/main" id="{A851A1C1-F5C1-4881-843E-91E4656FE1F5}"/>
              </a:ext>
            </a:extLst>
          </p:cNvPr>
          <p:cNvSpPr>
            <a:spLocks xmlns:a="http://schemas.openxmlformats.org/drawingml/2006/main" noGrp="1"/>
          </p:cNvSpPr>
          <p:nvPr/>
        </p:nvSpPr>
        <p:spPr>
          <a:xfrm xmlns:a="http://schemas.openxmlformats.org/drawingml/2006/main">
            <a:off x="723900" y="50482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CADCFC"/>
                </a:solidFill>
                <a:latin typeface="Arial"/>
                <a:ea typeface="Arial"/>
                <a:cs typeface="Arial"/>
              </a:defRPr>
            </a:defPPr>
          </a:lstStyle>
          <a:p xmlns:a="http://schemas.openxmlformats.org/drawingml/2006/main">
            <a:pPr>
              <a:buNone/>
              <a:defRPr sz="1875" b="0">
                <a:solidFill>
                  <a:srgbClr val="CADCFC"/>
                </a:solidFill>
                <a:latin typeface="Arial"/>
                <a:ea typeface="Arial"/>
                <a:cs typeface="Arial"/>
              </a:defRPr>
            </a:pPr>
            <a:r>
              <a:rPr sz="1875" b="0">
                <a:solidFill>
                  <a:srgbClr val="CADCFC"/>
                </a:solidFill>
                <a:latin typeface="Arial"/>
                <a:ea typeface="Arial"/>
                <a:cs typeface="Arial"/>
              </a:rPr>
              <a:t>От хаоса на vibe coding до ясни изисквания и проверен софтуер, който работи</a:t>
            </a:r>
          </a:p>
        </p:txBody>
      </p:sp>
    </p:spTree>
    <p:extLst>
      <p:ext uri="{BB962C8B-B14F-4D97-AF65-F5344CB8AC3E}">
        <p14:creationId xmlns:p14="http://schemas.microsoft.com/office/powerpoint/2010/main" val="570360462"/>
      </p:ext>
    </p:extLst>
  </p:cSld>
</p:sld>
</file>

<file path=ppt/slides/slide2.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0EEEA978-EF02-4E08-9B47-578A0980EB7D}"/>
              </a:ext>
            </a:extLst>
          </p:cNvPr>
          <p:cNvCxnSpPr>
            <a:stCxn xmlns:a="http://schemas.openxmlformats.org/drawingml/2006/main" id="7" idx="2"/>
            <a:endCxn xmlns:a="http://schemas.openxmlformats.org/drawingml/2006/main" id="5" idx="2"/>
          </p:cNvCxnSpPr>
          <p:nvPr/>
        </p:nvCxnSpPr>
        <p:spPr>
          <a:xfrm xmlns:a="http://schemas.openxmlformats.org/drawingml/2006/main" flipH="1">
            <a:off x="6096000" y="3295650"/>
            <a:ext cx="3838575" cy="0"/>
          </a:xfrm>
          <a:prstGeom xmlns:a="http://schemas.openxmlformats.org/drawingml/2006/main" prst="straightConnector1">
            <a:avLst/>
          </a:prstGeom>
          <a:ln xmlns:a="http://schemas.openxmlformats.org/drawingml/2006/main" w="28575">
            <a:solidFill>
              <a:srgbClr val="7041B9"/>
            </a:solidFill>
            <a:tailEnd type="triangle" w="med" len="med"/>
          </a:ln>
        </p:spPr>
      </p:cxnSp>
      <p:cxnSp>
        <p:nvCxnSpPr>
          <p:cNvPr id="10" name="">
            <a:extLst xmlns:a="http://schemas.openxmlformats.org/drawingml/2006/main">
              <a:ext uri="{FF2B5EF4-FFF2-40B4-BE49-F238E27FC236}">
                <a16:creationId xmlns:a16="http://schemas.microsoft.com/office/drawing/2014/main" id="{2745F706-91DE-4040-ADE8-33D4C32A99E6}"/>
              </a:ext>
            </a:extLst>
          </p:cNvPr>
          <p:cNvCxnSpPr>
            <a:stCxn xmlns:a="http://schemas.openxmlformats.org/drawingml/2006/main" id="5" idx="3"/>
            <a:endCxn xmlns:a="http://schemas.openxmlformats.org/drawingml/2006/main" id="7" idx="1"/>
          </p:cNvCxnSpPr>
          <p:nvPr/>
        </p:nvCxnSpPr>
        <p:spPr>
          <a:xfrm xmlns:a="http://schemas.openxmlformats.org/drawingml/2006/main">
            <a:off x="7667625" y="2867025"/>
            <a:ext cx="695325" cy="0"/>
          </a:xfrm>
          <a:prstGeom xmlns:a="http://schemas.openxmlformats.org/drawingml/2006/main" prst="straightConnector1">
            <a:avLst/>
          </a:prstGeom>
          <a:ln xmlns:a="http://schemas.openxmlformats.org/drawingml/2006/main" w="28575">
            <a:solidFill>
              <a:srgbClr val="2447A6"/>
            </a:solidFill>
            <a:tailEnd type="triangle" w="med" len="med"/>
          </a:ln>
        </p:spPr>
      </p:cxnSp>
      <p:cxnSp>
        <p:nvCxnSpPr>
          <p:cNvPr id="9" name="">
            <a:extLst xmlns:a="http://schemas.openxmlformats.org/drawingml/2006/main">
              <a:ext uri="{FF2B5EF4-FFF2-40B4-BE49-F238E27FC236}">
                <a16:creationId xmlns:a16="http://schemas.microsoft.com/office/drawing/2014/main" id="{E219F47C-83C3-4EAF-ACF9-EC5DB5E12D89}"/>
              </a:ext>
            </a:extLst>
          </p:cNvPr>
          <p:cNvCxnSpPr>
            <a:stCxn xmlns:a="http://schemas.openxmlformats.org/drawingml/2006/main" id="3" idx="3"/>
            <a:endCxn xmlns:a="http://schemas.openxmlformats.org/drawingml/2006/main" id="5" idx="1"/>
          </p:cNvCxnSpPr>
          <p:nvPr/>
        </p:nvCxnSpPr>
        <p:spPr>
          <a:xfrm xmlns:a="http://schemas.openxmlformats.org/drawingml/2006/main">
            <a:off x="3829050" y="2867025"/>
            <a:ext cx="695325" cy="0"/>
          </a:xfrm>
          <a:prstGeom xmlns:a="http://schemas.openxmlformats.org/drawingml/2006/main" prst="straightConnector1">
            <a:avLst/>
          </a:prstGeom>
          <a:ln xmlns:a="http://schemas.openxmlformats.org/drawingml/2006/main" w="28575">
            <a:solidFill>
              <a:srgbClr val="2447A6"/>
            </a:solidFill>
            <a:tailEnd type="triangle" w="med" len="med"/>
          </a:ln>
        </p:spPr>
      </p:cxnSp>
      <p:sp>
        <p:nvSpPr>
          <p:cNvPr id="21" name="">
            <a:extLst xmlns:a="http://schemas.openxmlformats.org/drawingml/2006/main">
              <a:ext uri="{FF2B5EF4-FFF2-40B4-BE49-F238E27FC236}">
                <a16:creationId xmlns:a16="http://schemas.microsoft.com/office/drawing/2014/main" id="{C96A2251-226E-4C66-A211-AF986A68A31A}"/>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defRPr sz="3300" b="1">
                <a:solidFill>
                  <a:srgbClr val="122442"/>
                </a:solidFill>
                <a:latin typeface="Arial"/>
                <a:ea typeface="Arial"/>
                <a:cs typeface="Arial"/>
              </a:defRPr>
            </a:pPr>
            <a:r>
              <a:rPr sz="3300" b="1">
                <a:solidFill>
                  <a:srgbClr val="122442"/>
                </a:solidFill>
                <a:latin typeface="Arial"/>
                <a:ea typeface="Arial"/>
                <a:cs typeface="Arial"/>
              </a:rPr>
              <a:t>Vibe coding: бърз старт, трудна поддръжка</a:t>
            </a:r>
          </a:p>
        </p:txBody>
      </p:sp>
      <p:sp>
        <p:nvSpPr>
          <p:cNvPr id="2" name="">
            <a:extLst xmlns:a="http://schemas.openxmlformats.org/drawingml/2006/main">
              <a:ext uri="{FF2B5EF4-FFF2-40B4-BE49-F238E27FC236}">
                <a16:creationId xmlns:a16="http://schemas.microsoft.com/office/drawing/2014/main" id="{03D1535C-26FE-41AA-9DD5-FAB3632E222E}"/>
              </a:ext>
            </a:extLst>
          </p:cNvPr>
          <p:cNvSpPr>
            <a:spLocks xmlns:a="http://schemas.openxmlformats.org/drawingml/2006/main" noGrp="1"/>
          </p:cNvSpPr>
          <p:nvPr/>
        </p:nvSpPr>
        <p:spPr>
          <a:xfrm xmlns:a="http://schemas.openxmlformats.org/drawingml/2006/main">
            <a:off x="685800" y="15430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2447A6"/>
                </a:solidFill>
                <a:latin typeface="Arial"/>
                <a:ea typeface="Arial"/>
                <a:cs typeface="Arial"/>
              </a:defRPr>
            </a:defPPr>
          </a:lstStyle>
          <a:p xmlns:a="http://schemas.openxmlformats.org/drawingml/2006/main">
            <a:pPr>
              <a:defRPr sz="2100" b="1">
                <a:solidFill>
                  <a:srgbClr val="2447A6"/>
                </a:solidFill>
                <a:latin typeface="Arial"/>
                <a:ea typeface="Arial"/>
                <a:cs typeface="Arial"/>
              </a:defRPr>
            </a:pPr>
            <a:r>
              <a:rPr sz="2100" b="1">
                <a:solidFill>
                  <a:srgbClr val="2447A6"/>
                </a:solidFill>
                <a:latin typeface="Arial"/>
                <a:ea typeface="Arial"/>
                <a:cs typeface="Arial"/>
              </a:rPr>
              <a:t>Описваме идеята. AI пише кода. Пробваме, докато изглежда, че работи.</a:t>
            </a:r>
          </a:p>
        </p:txBody>
      </p:sp>
      <p:sp>
        <p:nvSpPr>
          <p:cNvPr id="3" name="">
            <a:extLst xmlns:a="http://schemas.openxmlformats.org/drawingml/2006/main">
              <a:ext uri="{FF2B5EF4-FFF2-40B4-BE49-F238E27FC236}">
                <a16:creationId xmlns:a16="http://schemas.microsoft.com/office/drawing/2014/main" id="{3C667CDA-C891-47D3-8F46-DAE011AE36C8}"/>
              </a:ext>
            </a:extLst>
          </p:cNvPr>
          <p:cNvSpPr>
            <a:spLocks xmlns:a="http://schemas.openxmlformats.org/drawingml/2006/main" noGrp="1"/>
          </p:cNvSpPr>
          <p:nvPr/>
        </p:nvSpPr>
        <p:spPr>
          <a:xfrm xmlns:a="http://schemas.openxmlformats.org/drawingml/2006/main">
            <a:off x="685800" y="2438400"/>
            <a:ext cx="3143250" cy="857250"/>
          </a:xfrm>
          <a:prstGeom xmlns:a="http://schemas.openxmlformats.org/drawingml/2006/main" prst="roundRect">
            <a:avLst>
              <a:gd name="adj" fmla="val 17778"/>
            </a:avLst>
          </a:prstGeom>
          <a:solidFill xmlns:a="http://schemas.openxmlformats.org/drawingml/2006/main">
            <a:srgbClr val="7041B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FEAE1DB-096C-421A-9E4E-18287A317B0F}"/>
              </a:ext>
            </a:extLst>
          </p:cNvPr>
          <p:cNvSpPr>
            <a:spLocks xmlns:a="http://schemas.openxmlformats.org/drawingml/2006/main" noGrp="1"/>
          </p:cNvSpPr>
          <p:nvPr/>
        </p:nvSpPr>
        <p:spPr>
          <a:xfrm xmlns:a="http://schemas.openxmlformats.org/drawingml/2006/main">
            <a:off x="857250" y="2600325"/>
            <a:ext cx="2800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Кратък промпт</a:t>
            </a:r>
          </a:p>
        </p:txBody>
      </p:sp>
      <p:sp>
        <p:nvSpPr>
          <p:cNvPr id="5" name="">
            <a:extLst xmlns:a="http://schemas.openxmlformats.org/drawingml/2006/main">
              <a:ext uri="{FF2B5EF4-FFF2-40B4-BE49-F238E27FC236}">
                <a16:creationId xmlns:a16="http://schemas.microsoft.com/office/drawing/2014/main" id="{72280627-4A78-4B34-9586-537588EEE987}"/>
              </a:ext>
            </a:extLst>
          </p:cNvPr>
          <p:cNvSpPr>
            <a:spLocks xmlns:a="http://schemas.openxmlformats.org/drawingml/2006/main" noGrp="1"/>
          </p:cNvSpPr>
          <p:nvPr/>
        </p:nvSpPr>
        <p:spPr>
          <a:xfrm xmlns:a="http://schemas.openxmlformats.org/drawingml/2006/main">
            <a:off x="4524375" y="2438400"/>
            <a:ext cx="3143250" cy="857250"/>
          </a:xfrm>
          <a:prstGeom xmlns:a="http://schemas.openxmlformats.org/drawingml/2006/main" prst="roundRect">
            <a:avLst>
              <a:gd name="adj" fmla="val 17778"/>
            </a:avLst>
          </a:prstGeom>
          <a:solidFill xmlns:a="http://schemas.openxmlformats.org/drawingml/2006/main">
            <a:srgbClr val="2447A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BED52AC-62A4-4E3A-86FA-AB96C1D972BD}"/>
              </a:ext>
            </a:extLst>
          </p:cNvPr>
          <p:cNvSpPr>
            <a:spLocks xmlns:a="http://schemas.openxmlformats.org/drawingml/2006/main" noGrp="1"/>
          </p:cNvSpPr>
          <p:nvPr/>
        </p:nvSpPr>
        <p:spPr>
          <a:xfrm xmlns:a="http://schemas.openxmlformats.org/drawingml/2006/main">
            <a:off x="4695825" y="2600325"/>
            <a:ext cx="2800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AI генерира код</a:t>
            </a:r>
          </a:p>
        </p:txBody>
      </p:sp>
      <p:sp>
        <p:nvSpPr>
          <p:cNvPr id="7" name="">
            <a:extLst xmlns:a="http://schemas.openxmlformats.org/drawingml/2006/main">
              <a:ext uri="{FF2B5EF4-FFF2-40B4-BE49-F238E27FC236}">
                <a16:creationId xmlns:a16="http://schemas.microsoft.com/office/drawing/2014/main" id="{400D1604-1F60-4C03-8754-08FFBE3A297C}"/>
              </a:ext>
            </a:extLst>
          </p:cNvPr>
          <p:cNvSpPr>
            <a:spLocks xmlns:a="http://schemas.openxmlformats.org/drawingml/2006/main" noGrp="1"/>
          </p:cNvSpPr>
          <p:nvPr/>
        </p:nvSpPr>
        <p:spPr>
          <a:xfrm xmlns:a="http://schemas.openxmlformats.org/drawingml/2006/main">
            <a:off x="8362950" y="2438400"/>
            <a:ext cx="3143250" cy="857250"/>
          </a:xfrm>
          <a:prstGeom xmlns:a="http://schemas.openxmlformats.org/drawingml/2006/main" prst="roundRect">
            <a:avLst>
              <a:gd name="adj" fmla="val 17778"/>
            </a:avLst>
          </a:prstGeom>
          <a:solidFill xmlns:a="http://schemas.openxmlformats.org/drawingml/2006/main">
            <a:srgbClr val="067E9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9A96CE1-E3FC-4960-9B67-7859D72124D4}"/>
              </a:ext>
            </a:extLst>
          </p:cNvPr>
          <p:cNvSpPr>
            <a:spLocks xmlns:a="http://schemas.openxmlformats.org/drawingml/2006/main" noGrp="1"/>
          </p:cNvSpPr>
          <p:nvPr/>
        </p:nvSpPr>
        <p:spPr>
          <a:xfrm xmlns:a="http://schemas.openxmlformats.org/drawingml/2006/main">
            <a:off x="8534400" y="2600325"/>
            <a:ext cx="2800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Пробваме резултата</a:t>
            </a:r>
          </a:p>
        </p:txBody>
      </p:sp>
      <p:sp>
        <p:nvSpPr>
          <p:cNvPr id="12" name="">
            <a:extLst xmlns:a="http://schemas.openxmlformats.org/drawingml/2006/main">
              <a:ext uri="{FF2B5EF4-FFF2-40B4-BE49-F238E27FC236}">
                <a16:creationId xmlns:a16="http://schemas.microsoft.com/office/drawing/2014/main" id="{C6C9833C-498B-401E-962B-B9B8B65F9C00}"/>
              </a:ext>
            </a:extLst>
          </p:cNvPr>
          <p:cNvSpPr>
            <a:spLocks xmlns:a="http://schemas.openxmlformats.org/drawingml/2006/main" noGrp="1"/>
          </p:cNvSpPr>
          <p:nvPr/>
        </p:nvSpPr>
        <p:spPr>
          <a:xfrm xmlns:a="http://schemas.openxmlformats.org/drawingml/2006/main">
            <a:off x="5753100" y="35623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7041B9"/>
                </a:solidFill>
                <a:latin typeface="Arial"/>
                <a:ea typeface="Arial"/>
                <a:cs typeface="Arial"/>
              </a:defRPr>
            </a:defPPr>
          </a:lstStyle>
          <a:p xmlns:a="http://schemas.openxmlformats.org/drawingml/2006/main">
            <a:pPr>
              <a:defRPr sz="1875" b="1">
                <a:solidFill>
                  <a:srgbClr val="7041B9"/>
                </a:solidFill>
                <a:latin typeface="Arial"/>
                <a:ea typeface="Arial"/>
                <a:cs typeface="Arial"/>
              </a:defRPr>
            </a:pPr>
            <a:r>
              <a:rPr sz="1875" b="1">
                <a:solidFill>
                  <a:srgbClr val="7041B9"/>
                </a:solidFill>
                <a:latin typeface="Arial"/>
                <a:ea typeface="Arial"/>
                <a:cs typeface="Arial"/>
              </a:rPr>
              <a:t>„Поправи това…“</a:t>
            </a:r>
          </a:p>
        </p:txBody>
      </p:sp>
      <p:sp>
        <p:nvSpPr>
          <p:cNvPr id="13" name="">
            <a:extLst xmlns:a="http://schemas.openxmlformats.org/drawingml/2006/main">
              <a:ext uri="{FF2B5EF4-FFF2-40B4-BE49-F238E27FC236}">
                <a16:creationId xmlns:a16="http://schemas.microsoft.com/office/drawing/2014/main" id="{4820BA18-2376-4B65-935D-BAF6A15B6423}"/>
              </a:ext>
            </a:extLst>
          </p:cNvPr>
          <p:cNvSpPr>
            <a:spLocks xmlns:a="http://schemas.openxmlformats.org/drawingml/2006/main" noGrp="1"/>
          </p:cNvSpPr>
          <p:nvPr/>
        </p:nvSpPr>
        <p:spPr>
          <a:xfrm xmlns:a="http://schemas.openxmlformats.org/drawingml/2006/main">
            <a:off x="685800" y="42481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B54253"/>
                </a:solidFill>
                <a:latin typeface="Arial"/>
                <a:ea typeface="Arial"/>
                <a:cs typeface="Arial"/>
              </a:defRPr>
            </a:defPPr>
          </a:lstStyle>
          <a:p xmlns:a="http://schemas.openxmlformats.org/drawingml/2006/main">
            <a:pPr>
              <a:defRPr sz="2100" b="1">
                <a:solidFill>
                  <a:srgbClr val="B54253"/>
                </a:solidFill>
                <a:latin typeface="Arial"/>
                <a:ea typeface="Arial"/>
                <a:cs typeface="Arial"/>
              </a:defRPr>
            </a:pPr>
            <a:r>
              <a:rPr sz="2100" b="1">
                <a:solidFill>
                  <a:srgbClr val="B54253"/>
                </a:solidFill>
                <a:latin typeface="Arial"/>
                <a:ea typeface="Arial"/>
                <a:cs typeface="Arial"/>
              </a:rPr>
              <a:t>Скрити решения</a:t>
            </a:r>
          </a:p>
        </p:txBody>
      </p:sp>
      <p:sp>
        <p:nvSpPr>
          <p:cNvPr id="14" name="">
            <a:extLst xmlns:a="http://schemas.openxmlformats.org/drawingml/2006/main">
              <a:ext uri="{FF2B5EF4-FFF2-40B4-BE49-F238E27FC236}">
                <a16:creationId xmlns:a16="http://schemas.microsoft.com/office/drawing/2014/main" id="{9831782A-AC71-4074-9D7F-375EF31E91C9}"/>
              </a:ext>
            </a:extLst>
          </p:cNvPr>
          <p:cNvSpPr>
            <a:spLocks xmlns:a="http://schemas.openxmlformats.org/drawingml/2006/main" noGrp="1"/>
          </p:cNvSpPr>
          <p:nvPr/>
        </p:nvSpPr>
        <p:spPr>
          <a:xfrm xmlns:a="http://schemas.openxmlformats.org/drawingml/2006/main">
            <a:off x="685800" y="4733925"/>
            <a:ext cx="3143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22442"/>
                </a:solidFill>
                <a:latin typeface="Arial"/>
                <a:ea typeface="Arial"/>
                <a:cs typeface="Arial"/>
              </a:defRPr>
            </a:defPPr>
          </a:lstStyle>
          <a:p xmlns:a="http://schemas.openxmlformats.org/drawingml/2006/main">
            <a:pPr>
              <a:defRPr sz="1800" b="0">
                <a:solidFill>
                  <a:srgbClr val="122442"/>
                </a:solidFill>
                <a:latin typeface="Arial"/>
                <a:ea typeface="Arial"/>
                <a:cs typeface="Arial"/>
              </a:defRPr>
            </a:pPr>
            <a:r>
              <a:rPr sz="1800" b="0">
                <a:solidFill>
                  <a:srgbClr val="122442"/>
                </a:solidFill>
                <a:latin typeface="Arial"/>
                <a:ea typeface="Arial"/>
                <a:cs typeface="Arial"/>
              </a:rPr>
              <a:t>AI запълва пропуските.</a:t>
            </a:r>
          </a:p>
          <a:p xmlns:a="http://schemas.openxmlformats.org/drawingml/2006/main">
            <a:pPr>
              <a:defRPr sz="1800" b="0">
                <a:solidFill>
                  <a:srgbClr val="122442"/>
                </a:solidFill>
                <a:latin typeface="Arial"/>
                <a:ea typeface="Arial"/>
                <a:cs typeface="Arial"/>
              </a:defRPr>
            </a:pPr>
            <a:r>
              <a:rPr sz="1800" b="0">
                <a:solidFill>
                  <a:srgbClr val="122442"/>
                </a:solidFill>
                <a:latin typeface="Arial"/>
                <a:ea typeface="Arial"/>
                <a:cs typeface="Arial"/>
              </a:rPr>
              <a:t>Получаваме поведение,</a:t>
            </a:r>
          </a:p>
          <a:p xmlns:a="http://schemas.openxmlformats.org/drawingml/2006/main">
            <a:pPr>
              <a:defRPr sz="1800" b="0">
                <a:solidFill>
                  <a:srgbClr val="122442"/>
                </a:solidFill>
                <a:latin typeface="Arial"/>
                <a:ea typeface="Arial"/>
                <a:cs typeface="Arial"/>
              </a:defRPr>
            </a:pPr>
            <a:r>
              <a:rPr sz="1800" b="0">
                <a:solidFill>
                  <a:srgbClr val="122442"/>
                </a:solidFill>
                <a:latin typeface="Arial"/>
                <a:ea typeface="Arial"/>
                <a:cs typeface="Arial"/>
              </a:rPr>
              <a:t>което не сме обсъдили.</a:t>
            </a:r>
          </a:p>
        </p:txBody>
      </p:sp>
      <p:sp>
        <p:nvSpPr>
          <p:cNvPr id="15" name="">
            <a:extLst xmlns:a="http://schemas.openxmlformats.org/drawingml/2006/main">
              <a:ext uri="{FF2B5EF4-FFF2-40B4-BE49-F238E27FC236}">
                <a16:creationId xmlns:a16="http://schemas.microsoft.com/office/drawing/2014/main" id="{D268CC71-49FF-40B5-BE1F-AFCA4D253251}"/>
              </a:ext>
            </a:extLst>
          </p:cNvPr>
          <p:cNvSpPr>
            <a:spLocks xmlns:a="http://schemas.openxmlformats.org/drawingml/2006/main" noGrp="1"/>
          </p:cNvSpPr>
          <p:nvPr/>
        </p:nvSpPr>
        <p:spPr>
          <a:xfrm xmlns:a="http://schemas.openxmlformats.org/drawingml/2006/main">
            <a:off x="4524375" y="42481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B54253"/>
                </a:solidFill>
                <a:latin typeface="Arial"/>
                <a:ea typeface="Arial"/>
                <a:cs typeface="Arial"/>
              </a:defRPr>
            </a:defPPr>
          </a:lstStyle>
          <a:p xmlns:a="http://schemas.openxmlformats.org/drawingml/2006/main">
            <a:pPr>
              <a:defRPr sz="2100" b="1">
                <a:solidFill>
                  <a:srgbClr val="B54253"/>
                </a:solidFill>
                <a:latin typeface="Arial"/>
                <a:ea typeface="Arial"/>
                <a:cs typeface="Arial"/>
              </a:defRPr>
            </a:pPr>
            <a:r>
              <a:rPr sz="2100" b="1">
                <a:solidFill>
                  <a:srgbClr val="B54253"/>
                </a:solidFill>
                <a:latin typeface="Arial"/>
                <a:ea typeface="Arial"/>
                <a:cs typeface="Arial"/>
              </a:rPr>
              <a:t>Несигурни промени</a:t>
            </a:r>
          </a:p>
        </p:txBody>
      </p:sp>
      <p:sp>
        <p:nvSpPr>
          <p:cNvPr id="16" name="">
            <a:extLst xmlns:a="http://schemas.openxmlformats.org/drawingml/2006/main">
              <a:ext uri="{FF2B5EF4-FFF2-40B4-BE49-F238E27FC236}">
                <a16:creationId xmlns:a16="http://schemas.microsoft.com/office/drawing/2014/main" id="{13568502-8F80-406E-9E0D-CFFBA3269FC3}"/>
              </a:ext>
            </a:extLst>
          </p:cNvPr>
          <p:cNvSpPr>
            <a:spLocks xmlns:a="http://schemas.openxmlformats.org/drawingml/2006/main" noGrp="1"/>
          </p:cNvSpPr>
          <p:nvPr/>
        </p:nvSpPr>
        <p:spPr>
          <a:xfrm xmlns:a="http://schemas.openxmlformats.org/drawingml/2006/main">
            <a:off x="4524375" y="4733925"/>
            <a:ext cx="3143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22442"/>
                </a:solidFill>
                <a:latin typeface="Arial"/>
                <a:ea typeface="Arial"/>
                <a:cs typeface="Arial"/>
              </a:defRPr>
            </a:defPPr>
          </a:lstStyle>
          <a:p xmlns:a="http://schemas.openxmlformats.org/drawingml/2006/main">
            <a:pPr>
              <a:defRPr sz="1800" b="0">
                <a:solidFill>
                  <a:srgbClr val="122442"/>
                </a:solidFill>
                <a:latin typeface="Arial"/>
                <a:ea typeface="Arial"/>
                <a:cs typeface="Arial"/>
              </a:defRPr>
            </a:pPr>
            <a:r>
              <a:rPr sz="1800" b="0">
                <a:solidFill>
                  <a:srgbClr val="122442"/>
                </a:solidFill>
                <a:latin typeface="Arial"/>
                <a:ea typeface="Arial"/>
                <a:cs typeface="Arial"/>
              </a:rPr>
              <a:t>Поправката работи тук.</a:t>
            </a:r>
          </a:p>
          <a:p xmlns:a="http://schemas.openxmlformats.org/drawingml/2006/main">
            <a:pPr>
              <a:defRPr sz="1800" b="0">
                <a:solidFill>
                  <a:srgbClr val="122442"/>
                </a:solidFill>
                <a:latin typeface="Arial"/>
                <a:ea typeface="Arial"/>
                <a:cs typeface="Arial"/>
              </a:defRPr>
            </a:pPr>
            <a:r>
              <a:rPr sz="1800" b="0">
                <a:solidFill>
                  <a:srgbClr val="122442"/>
                </a:solidFill>
                <a:latin typeface="Arial"/>
                <a:ea typeface="Arial"/>
                <a:cs typeface="Arial"/>
              </a:rPr>
              <a:t>Без тестове не знаем</a:t>
            </a:r>
          </a:p>
          <a:p xmlns:a="http://schemas.openxmlformats.org/drawingml/2006/main">
            <a:pPr>
              <a:defRPr sz="1800" b="0">
                <a:solidFill>
                  <a:srgbClr val="122442"/>
                </a:solidFill>
                <a:latin typeface="Arial"/>
                <a:ea typeface="Arial"/>
                <a:cs typeface="Arial"/>
              </a:defRPr>
            </a:pPr>
            <a:r>
              <a:rPr sz="1800" b="0">
                <a:solidFill>
                  <a:srgbClr val="122442"/>
                </a:solidFill>
                <a:latin typeface="Arial"/>
                <a:ea typeface="Arial"/>
                <a:cs typeface="Arial"/>
              </a:rPr>
              <a:t>какво друго е засегнала.</a:t>
            </a:r>
          </a:p>
        </p:txBody>
      </p:sp>
      <p:sp>
        <p:nvSpPr>
          <p:cNvPr id="17" name="">
            <a:extLst xmlns:a="http://schemas.openxmlformats.org/drawingml/2006/main">
              <a:ext uri="{FF2B5EF4-FFF2-40B4-BE49-F238E27FC236}">
                <a16:creationId xmlns:a16="http://schemas.microsoft.com/office/drawing/2014/main" id="{47F34622-2AAB-4D80-A0C3-D93A48029A4B}"/>
              </a:ext>
            </a:extLst>
          </p:cNvPr>
          <p:cNvSpPr>
            <a:spLocks xmlns:a="http://schemas.openxmlformats.org/drawingml/2006/main" noGrp="1"/>
          </p:cNvSpPr>
          <p:nvPr/>
        </p:nvSpPr>
        <p:spPr>
          <a:xfrm xmlns:a="http://schemas.openxmlformats.org/drawingml/2006/main">
            <a:off x="8362950" y="42481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B54253"/>
                </a:solidFill>
                <a:latin typeface="Arial"/>
                <a:ea typeface="Arial"/>
                <a:cs typeface="Arial"/>
              </a:defRPr>
            </a:defPPr>
          </a:lstStyle>
          <a:p xmlns:a="http://schemas.openxmlformats.org/drawingml/2006/main">
            <a:pPr>
              <a:defRPr sz="2100" b="1">
                <a:solidFill>
                  <a:srgbClr val="B54253"/>
                </a:solidFill>
                <a:latin typeface="Arial"/>
                <a:ea typeface="Arial"/>
                <a:cs typeface="Arial"/>
              </a:defRPr>
            </a:pPr>
            <a:r>
              <a:rPr sz="2100" b="1">
                <a:solidFill>
                  <a:srgbClr val="B54253"/>
                </a:solidFill>
                <a:latin typeface="Arial"/>
                <a:ea typeface="Arial"/>
                <a:cs typeface="Arial"/>
              </a:rPr>
              <a:t>Трудна поддръжка</a:t>
            </a:r>
          </a:p>
        </p:txBody>
      </p:sp>
      <p:sp>
        <p:nvSpPr>
          <p:cNvPr id="18" name="">
            <a:extLst xmlns:a="http://schemas.openxmlformats.org/drawingml/2006/main">
              <a:ext uri="{FF2B5EF4-FFF2-40B4-BE49-F238E27FC236}">
                <a16:creationId xmlns:a16="http://schemas.microsoft.com/office/drawing/2014/main" id="{DE253CBE-5FD5-425C-A8F3-EA3B19364843}"/>
              </a:ext>
            </a:extLst>
          </p:cNvPr>
          <p:cNvSpPr>
            <a:spLocks xmlns:a="http://schemas.openxmlformats.org/drawingml/2006/main" noGrp="1"/>
          </p:cNvSpPr>
          <p:nvPr/>
        </p:nvSpPr>
        <p:spPr>
          <a:xfrm xmlns:a="http://schemas.openxmlformats.org/drawingml/2006/main">
            <a:off x="8362950" y="4733925"/>
            <a:ext cx="3143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22442"/>
                </a:solidFill>
                <a:latin typeface="Arial"/>
                <a:ea typeface="Arial"/>
                <a:cs typeface="Arial"/>
              </a:defRPr>
            </a:defPPr>
          </a:lstStyle>
          <a:p xmlns:a="http://schemas.openxmlformats.org/drawingml/2006/main">
            <a:pPr>
              <a:defRPr sz="1800" b="0">
                <a:solidFill>
                  <a:srgbClr val="122442"/>
                </a:solidFill>
                <a:latin typeface="Arial"/>
                <a:ea typeface="Arial"/>
                <a:cs typeface="Arial"/>
              </a:defRPr>
            </a:pPr>
            <a:r>
              <a:rPr sz="1800" b="0">
                <a:solidFill>
                  <a:srgbClr val="122442"/>
                </a:solidFill>
                <a:latin typeface="Arial"/>
                <a:ea typeface="Arial"/>
                <a:cs typeface="Arial"/>
              </a:rPr>
              <a:t>Правилата остават в чата.</a:t>
            </a:r>
          </a:p>
          <a:p xmlns:a="http://schemas.openxmlformats.org/drawingml/2006/main">
            <a:pPr>
              <a:defRPr sz="1800" b="0">
                <a:solidFill>
                  <a:srgbClr val="122442"/>
                </a:solidFill>
                <a:latin typeface="Arial"/>
                <a:ea typeface="Arial"/>
                <a:cs typeface="Arial"/>
              </a:defRPr>
            </a:pPr>
            <a:r>
              <a:rPr sz="1800" b="0">
                <a:solidFill>
                  <a:srgbClr val="122442"/>
                </a:solidFill>
                <a:latin typeface="Arial"/>
                <a:ea typeface="Arial"/>
                <a:cs typeface="Arial"/>
              </a:rPr>
              <a:t>Следващият човек трябва</a:t>
            </a:r>
          </a:p>
          <a:p xmlns:a="http://schemas.openxmlformats.org/drawingml/2006/main">
            <a:pPr>
              <a:defRPr sz="1800" b="0">
                <a:solidFill>
                  <a:srgbClr val="122442"/>
                </a:solidFill>
                <a:latin typeface="Arial"/>
                <a:ea typeface="Arial"/>
                <a:cs typeface="Arial"/>
              </a:defRPr>
            </a:pPr>
            <a:r>
              <a:rPr sz="1800" b="0">
                <a:solidFill>
                  <a:srgbClr val="122442"/>
                </a:solidFill>
                <a:latin typeface="Arial"/>
                <a:ea typeface="Arial"/>
                <a:cs typeface="Arial"/>
              </a:rPr>
              <a:t>да ги разгадава от кода.</a:t>
            </a:r>
          </a:p>
        </p:txBody>
      </p:sp>
      <p:sp>
        <p:nvSpPr>
          <p:cNvPr id="19" name="">
            <a:extLst xmlns:a="http://schemas.openxmlformats.org/drawingml/2006/main">
              <a:ext uri="{FF2B5EF4-FFF2-40B4-BE49-F238E27FC236}">
                <a16:creationId xmlns:a16="http://schemas.microsoft.com/office/drawing/2014/main" id="{FE1CF99F-F931-42A5-A531-C4591AD6469E}"/>
              </a:ext>
            </a:extLst>
          </p:cNvPr>
          <p:cNvSpPr>
            <a:spLocks xmlns:a="http://schemas.openxmlformats.org/drawingml/2006/main" noGrp="1"/>
          </p:cNvSpPr>
          <p:nvPr/>
        </p:nvSpPr>
        <p:spPr>
          <a:xfrm xmlns:a="http://schemas.openxmlformats.org/drawingml/2006/main">
            <a:off x="685800" y="59436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2447A6"/>
                </a:solidFill>
                <a:latin typeface="Arial"/>
                <a:ea typeface="Arial"/>
                <a:cs typeface="Arial"/>
              </a:defRPr>
            </a:defPPr>
          </a:lstStyle>
          <a:p xmlns:a="http://schemas.openxmlformats.org/drawingml/2006/main">
            <a:pPr>
              <a:defRPr sz="1950" b="1">
                <a:solidFill>
                  <a:srgbClr val="2447A6"/>
                </a:solidFill>
                <a:latin typeface="Arial"/>
                <a:ea typeface="Arial"/>
                <a:cs typeface="Arial"/>
              </a:defRPr>
            </a:pPr>
            <a:r>
              <a:rPr sz="1950" b="1">
                <a:solidFill>
                  <a:srgbClr val="2447A6"/>
                </a:solidFill>
                <a:latin typeface="Arial"/>
                <a:ea typeface="Arial"/>
                <a:cs typeface="Arial"/>
              </a:rPr>
              <a:t>Бързият прототип има нужда от ясни правила и проверки, за да стане устойчив продукт.</a:t>
            </a:r>
          </a:p>
        </p:txBody>
      </p:sp>
      <p:sp>
        <p:nvSpPr>
          <p:cNvPr id="20" name="">
            <a:extLst xmlns:a="http://schemas.openxmlformats.org/drawingml/2006/main">
              <a:ext uri="{FF2B5EF4-FFF2-40B4-BE49-F238E27FC236}">
                <a16:creationId xmlns:a16="http://schemas.microsoft.com/office/drawing/2014/main" id="{B7416D2F-DE78-4497-9243-3ED70AD030C3}"/>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defRPr sz="1275" b="0">
                <a:solidFill>
                  <a:srgbClr val="4D5C74"/>
                </a:solidFill>
                <a:latin typeface="Arial"/>
                <a:ea typeface="Arial"/>
                <a:cs typeface="Arial"/>
              </a:defRPr>
            </a:pPr>
            <a:r>
              <a:rPr sz="1275" b="0">
                <a:solidFill>
                  <a:srgbClr val="4D5C74"/>
                </a:solidFill>
                <a:latin typeface="Arial"/>
                <a:ea typeface="Arial"/>
                <a:cs typeface="Arial"/>
              </a:rPr>
              <a:t>02</a:t>
            </a:r>
          </a:p>
        </p:txBody>
      </p:sp>
    </p:spTree>
    <p:extLst>
      <p:ext uri="{BB962C8B-B14F-4D97-AF65-F5344CB8AC3E}">
        <p14:creationId xmlns:p14="http://schemas.microsoft.com/office/powerpoint/2010/main" val="68350393"/>
      </p:ext>
    </p:extLst>
  </p:cSld>
</p:sld>
</file>

<file path=ppt/slides/slide3.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7435D9A6-1F53-45B5-96E2-41AE0DE2511F}"/>
              </a:ext>
            </a:extLst>
          </p:cNvPr>
          <p:cNvCxnSpPr>
            <a:stCxn xmlns:a="http://schemas.openxmlformats.org/drawingml/2006/main" id="3" idx="3"/>
            <a:endCxn xmlns:a="http://schemas.openxmlformats.org/drawingml/2006/main" id="5" idx="1"/>
          </p:cNvCxnSpPr>
          <p:nvPr/>
        </p:nvCxnSpPr>
        <p:spPr>
          <a:xfrm xmlns:a="http://schemas.openxmlformats.org/drawingml/2006/main">
            <a:off x="4495800" y="3248025"/>
            <a:ext cx="2009775" cy="0"/>
          </a:xfrm>
          <a:prstGeom xmlns:a="http://schemas.openxmlformats.org/drawingml/2006/main" prst="straightConnector1">
            <a:avLst/>
          </a:prstGeom>
          <a:ln xmlns:a="http://schemas.openxmlformats.org/drawingml/2006/main" w="28575">
            <a:solidFill>
              <a:srgbClr val="2447A6"/>
            </a:solidFill>
            <a:tailEnd type="triangle" w="med" len="med"/>
          </a:ln>
        </p:spPr>
      </p:cxnSp>
      <p:sp>
        <p:nvSpPr>
          <p:cNvPr id="13" name="">
            <a:extLst xmlns:a="http://schemas.openxmlformats.org/drawingml/2006/main">
              <a:ext uri="{FF2B5EF4-FFF2-40B4-BE49-F238E27FC236}">
                <a16:creationId xmlns:a16="http://schemas.microsoft.com/office/drawing/2014/main" id="{65713748-4502-4061-BCDA-3F76A9D0119D}"/>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defRPr sz="3300" b="1">
                <a:solidFill>
                  <a:srgbClr val="122442"/>
                </a:solidFill>
                <a:latin typeface="Arial"/>
                <a:ea typeface="Arial"/>
                <a:cs typeface="Arial"/>
              </a:defRPr>
            </a:pPr>
            <a:r>
              <a:rPr sz="3300" b="1">
                <a:solidFill>
                  <a:srgbClr val="122442"/>
                </a:solidFill>
                <a:latin typeface="Arial"/>
                <a:ea typeface="Arial"/>
                <a:cs typeface="Arial"/>
              </a:rPr>
              <a:t>Защо AI се нуждае от спецификация?</a:t>
            </a:r>
          </a:p>
        </p:txBody>
      </p:sp>
      <p:sp>
        <p:nvSpPr>
          <p:cNvPr id="2" name="">
            <a:extLst xmlns:a="http://schemas.openxmlformats.org/drawingml/2006/main">
              <a:ext uri="{FF2B5EF4-FFF2-40B4-BE49-F238E27FC236}">
                <a16:creationId xmlns:a16="http://schemas.microsoft.com/office/drawing/2014/main" id="{73EACF93-D10F-45E2-8BB8-02587EFEE9F7}"/>
              </a:ext>
            </a:extLst>
          </p:cNvPr>
          <p:cNvSpPr>
            <a:spLocks xmlns:a="http://schemas.openxmlformats.org/drawingml/2006/main" noGrp="1"/>
          </p:cNvSpPr>
          <p:nvPr/>
        </p:nvSpPr>
        <p:spPr>
          <a:xfrm xmlns:a="http://schemas.openxmlformats.org/drawingml/2006/main">
            <a:off x="685800" y="153352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447A6"/>
                </a:solidFill>
                <a:latin typeface="Arial"/>
                <a:ea typeface="Arial"/>
                <a:cs typeface="Arial"/>
              </a:defRPr>
            </a:defPPr>
          </a:lstStyle>
          <a:p xmlns:a="http://schemas.openxmlformats.org/drawingml/2006/main">
            <a:pPr>
              <a:defRPr sz="2400" b="1">
                <a:solidFill>
                  <a:srgbClr val="2447A6"/>
                </a:solidFill>
                <a:latin typeface="Arial"/>
                <a:ea typeface="Arial"/>
                <a:cs typeface="Arial"/>
              </a:defRPr>
            </a:pPr>
            <a:r>
              <a:rPr sz="2400" b="1">
                <a:solidFill>
                  <a:srgbClr val="2447A6"/>
                </a:solidFill>
                <a:latin typeface="Arial"/>
                <a:ea typeface="Arial"/>
                <a:cs typeface="Arial"/>
              </a:rPr>
              <a:t>AI може да пише код. Но не знае какво не сме му казали.</a:t>
            </a:r>
          </a:p>
        </p:txBody>
      </p:sp>
      <p:sp>
        <p:nvSpPr>
          <p:cNvPr id="3" name="">
            <a:extLst xmlns:a="http://schemas.openxmlformats.org/drawingml/2006/main">
              <a:ext uri="{FF2B5EF4-FFF2-40B4-BE49-F238E27FC236}">
                <a16:creationId xmlns:a16="http://schemas.microsoft.com/office/drawing/2014/main" id="{82B0C1E9-B6AE-4158-8D86-17608B033586}"/>
              </a:ext>
            </a:extLst>
          </p:cNvPr>
          <p:cNvSpPr>
            <a:spLocks xmlns:a="http://schemas.openxmlformats.org/drawingml/2006/main" noGrp="1"/>
          </p:cNvSpPr>
          <p:nvPr/>
        </p:nvSpPr>
        <p:spPr>
          <a:xfrm xmlns:a="http://schemas.openxmlformats.org/drawingml/2006/main">
            <a:off x="685800" y="2724150"/>
            <a:ext cx="3810000" cy="1047750"/>
          </a:xfrm>
          <a:prstGeom xmlns:a="http://schemas.openxmlformats.org/drawingml/2006/main" prst="roundRect">
            <a:avLst>
              <a:gd name="adj" fmla="val 14545"/>
            </a:avLst>
          </a:prstGeom>
          <a:solidFill xmlns:a="http://schemas.openxmlformats.org/drawingml/2006/main">
            <a:srgbClr val="7041B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710CED4-FF11-4CF3-AC12-F4DD4766F0BD}"/>
              </a:ext>
            </a:extLst>
          </p:cNvPr>
          <p:cNvSpPr>
            <a:spLocks xmlns:a="http://schemas.openxmlformats.org/drawingml/2006/main" noGrp="1"/>
          </p:cNvSpPr>
          <p:nvPr/>
        </p:nvSpPr>
        <p:spPr>
          <a:xfrm xmlns:a="http://schemas.openxmlformats.org/drawingml/2006/main">
            <a:off x="857250" y="2886075"/>
            <a:ext cx="346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„Добави споделяне</a:t>
            </a:r>
          </a:p>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на снимки.“</a:t>
            </a:r>
          </a:p>
        </p:txBody>
      </p:sp>
      <p:sp>
        <p:nvSpPr>
          <p:cNvPr id="5" name="">
            <a:extLst xmlns:a="http://schemas.openxmlformats.org/drawingml/2006/main">
              <a:ext uri="{FF2B5EF4-FFF2-40B4-BE49-F238E27FC236}">
                <a16:creationId xmlns:a16="http://schemas.microsoft.com/office/drawing/2014/main" id="{700A4650-5CA0-499A-91D0-C938DCAE24A1}"/>
              </a:ext>
            </a:extLst>
          </p:cNvPr>
          <p:cNvSpPr>
            <a:spLocks xmlns:a="http://schemas.openxmlformats.org/drawingml/2006/main" noGrp="1"/>
          </p:cNvSpPr>
          <p:nvPr/>
        </p:nvSpPr>
        <p:spPr>
          <a:xfrm xmlns:a="http://schemas.openxmlformats.org/drawingml/2006/main">
            <a:off x="6505575" y="2724150"/>
            <a:ext cx="5000625" cy="1047750"/>
          </a:xfrm>
          <a:prstGeom xmlns:a="http://schemas.openxmlformats.org/drawingml/2006/main" prst="roundRect">
            <a:avLst>
              <a:gd name="adj" fmla="val 14545"/>
            </a:avLst>
          </a:prstGeom>
          <a:solidFill xmlns:a="http://schemas.openxmlformats.org/drawingml/2006/main">
            <a:srgbClr val="2447A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4235F2C-64C4-488F-A2CF-B1A263A3665D}"/>
              </a:ext>
            </a:extLst>
          </p:cNvPr>
          <p:cNvSpPr>
            <a:spLocks xmlns:a="http://schemas.openxmlformats.org/drawingml/2006/main" noGrp="1"/>
          </p:cNvSpPr>
          <p:nvPr/>
        </p:nvSpPr>
        <p:spPr>
          <a:xfrm xmlns:a="http://schemas.openxmlformats.org/drawingml/2006/main">
            <a:off x="6677025" y="2886075"/>
            <a:ext cx="46577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Ясна спецификация</a:t>
            </a:r>
          </a:p>
        </p:txBody>
      </p:sp>
      <p:sp>
        <p:nvSpPr>
          <p:cNvPr id="8" name="">
            <a:extLst xmlns:a="http://schemas.openxmlformats.org/drawingml/2006/main">
              <a:ext uri="{FF2B5EF4-FFF2-40B4-BE49-F238E27FC236}">
                <a16:creationId xmlns:a16="http://schemas.microsoft.com/office/drawing/2014/main" id="{2B1F248C-818B-4AEA-8FDF-7E6159E5F292}"/>
              </a:ext>
            </a:extLst>
          </p:cNvPr>
          <p:cNvSpPr>
            <a:spLocks xmlns:a="http://schemas.openxmlformats.org/drawingml/2006/main" noGrp="1"/>
          </p:cNvSpPr>
          <p:nvPr/>
        </p:nvSpPr>
        <p:spPr>
          <a:xfrm xmlns:a="http://schemas.openxmlformats.org/drawingml/2006/main">
            <a:off x="4695825" y="2352675"/>
            <a:ext cx="1724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447A6"/>
                </a:solidFill>
                <a:latin typeface="Arial"/>
                <a:ea typeface="Arial"/>
                <a:cs typeface="Arial"/>
              </a:defRPr>
            </a:defPPr>
          </a:lstStyle>
          <a:p xmlns:a="http://schemas.openxmlformats.org/drawingml/2006/main">
            <a:pPr>
              <a:defRPr sz="1800" b="1">
                <a:solidFill>
                  <a:srgbClr val="2447A6"/>
                </a:solidFill>
                <a:latin typeface="Arial"/>
                <a:ea typeface="Arial"/>
                <a:cs typeface="Arial"/>
              </a:defRPr>
            </a:pPr>
            <a:r>
              <a:rPr sz="1800" b="1">
                <a:solidFill>
                  <a:srgbClr val="2447A6"/>
                </a:solidFill>
                <a:latin typeface="Arial"/>
                <a:ea typeface="Arial"/>
                <a:cs typeface="Arial"/>
              </a:rPr>
              <a:t>Уточняваме</a:t>
            </a:r>
          </a:p>
        </p:txBody>
      </p:sp>
      <p:sp>
        <p:nvSpPr>
          <p:cNvPr id="9" name="">
            <a:extLst xmlns:a="http://schemas.openxmlformats.org/drawingml/2006/main">
              <a:ext uri="{FF2B5EF4-FFF2-40B4-BE49-F238E27FC236}">
                <a16:creationId xmlns:a16="http://schemas.microsoft.com/office/drawing/2014/main" id="{B4F323DA-B8D2-4980-95B5-C95729E05D29}"/>
              </a:ext>
            </a:extLst>
          </p:cNvPr>
          <p:cNvSpPr>
            <a:spLocks xmlns:a="http://schemas.openxmlformats.org/drawingml/2006/main" noGrp="1"/>
          </p:cNvSpPr>
          <p:nvPr/>
        </p:nvSpPr>
        <p:spPr>
          <a:xfrm xmlns:a="http://schemas.openxmlformats.org/drawingml/2006/main">
            <a:off x="685800" y="4076700"/>
            <a:ext cx="4524375"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22442"/>
                </a:solidFill>
                <a:latin typeface="Arial"/>
                <a:ea typeface="Arial"/>
                <a:cs typeface="Arial"/>
              </a:defRPr>
            </a:defPPr>
          </a:lstStyle>
          <a:p xmlns:a="http://schemas.openxmlformats.org/drawingml/2006/main">
            <a:pPr>
              <a:defRPr sz="2100" b="0">
                <a:solidFill>
                  <a:srgbClr val="122442"/>
                </a:solidFill>
                <a:latin typeface="Arial"/>
                <a:ea typeface="Arial"/>
                <a:cs typeface="Arial"/>
              </a:defRPr>
            </a:pPr>
            <a:r>
              <a:rPr sz="2100" b="0">
                <a:solidFill>
                  <a:srgbClr val="122442"/>
                </a:solidFill>
                <a:latin typeface="Arial"/>
                <a:ea typeface="Arial"/>
                <a:cs typeface="Arial"/>
              </a:rPr>
              <a:t>Какви формати?</a:t>
            </a:r>
          </a:p>
          <a:p xmlns:a="http://schemas.openxmlformats.org/drawingml/2006/main">
            <a:pPr>
              <a:defRPr sz="2100" b="0">
                <a:solidFill>
                  <a:srgbClr val="122442"/>
                </a:solidFill>
                <a:latin typeface="Arial"/>
                <a:ea typeface="Arial"/>
                <a:cs typeface="Arial"/>
              </a:defRPr>
            </a:pPr>
            <a:r>
              <a:rPr sz="2100" b="0">
                <a:solidFill>
                  <a:srgbClr val="122442"/>
                </a:solidFill>
                <a:latin typeface="Arial"/>
                <a:ea typeface="Arial"/>
                <a:cs typeface="Arial"/>
              </a:rPr>
              <a:t>Колко големи снимки?</a:t>
            </a:r>
          </a:p>
          <a:p xmlns:a="http://schemas.openxmlformats.org/drawingml/2006/main">
            <a:pPr>
              <a:defRPr sz="2100" b="0">
                <a:solidFill>
                  <a:srgbClr val="122442"/>
                </a:solidFill>
                <a:latin typeface="Arial"/>
                <a:ea typeface="Arial"/>
                <a:cs typeface="Arial"/>
              </a:defRPr>
            </a:pPr>
            <a:r>
              <a:rPr sz="2100" b="0">
                <a:solidFill>
                  <a:srgbClr val="122442"/>
                </a:solidFill>
                <a:latin typeface="Arial"/>
                <a:ea typeface="Arial"/>
                <a:cs typeface="Arial"/>
              </a:rPr>
              <a:t>Кой може да ги изтрива?</a:t>
            </a:r>
          </a:p>
          <a:p xmlns:a="http://schemas.openxmlformats.org/drawingml/2006/main">
            <a:pPr>
              <a:defRPr sz="2100" b="0">
                <a:solidFill>
                  <a:srgbClr val="122442"/>
                </a:solidFill>
                <a:latin typeface="Arial"/>
                <a:ea typeface="Arial"/>
                <a:cs typeface="Arial"/>
              </a:defRPr>
            </a:pPr>
            <a:r>
              <a:rPr sz="2100" b="0">
                <a:solidFill>
                  <a:srgbClr val="122442"/>
                </a:solidFill>
                <a:latin typeface="Arial"/>
                <a:ea typeface="Arial"/>
                <a:cs typeface="Arial"/>
              </a:rPr>
              <a:t>Къде се съхраняват?</a:t>
            </a:r>
          </a:p>
        </p:txBody>
      </p:sp>
      <p:sp>
        <p:nvSpPr>
          <p:cNvPr id="10" name="">
            <a:extLst xmlns:a="http://schemas.openxmlformats.org/drawingml/2006/main">
              <a:ext uri="{FF2B5EF4-FFF2-40B4-BE49-F238E27FC236}">
                <a16:creationId xmlns:a16="http://schemas.microsoft.com/office/drawing/2014/main" id="{9C53CD74-253C-493E-8DE2-40527FD43763}"/>
              </a:ext>
            </a:extLst>
          </p:cNvPr>
          <p:cNvSpPr>
            <a:spLocks xmlns:a="http://schemas.openxmlformats.org/drawingml/2006/main" noGrp="1"/>
          </p:cNvSpPr>
          <p:nvPr/>
        </p:nvSpPr>
        <p:spPr>
          <a:xfrm xmlns:a="http://schemas.openxmlformats.org/drawingml/2006/main">
            <a:off x="6505575" y="4076700"/>
            <a:ext cx="5000625"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22442"/>
                </a:solidFill>
                <a:latin typeface="Arial"/>
                <a:ea typeface="Arial"/>
                <a:cs typeface="Arial"/>
              </a:defRPr>
            </a:defPPr>
          </a:lstStyle>
          <a:p xmlns:a="http://schemas.openxmlformats.org/drawingml/2006/main">
            <a:pPr>
              <a:defRPr sz="2025" b="0">
                <a:solidFill>
                  <a:srgbClr val="122442"/>
                </a:solidFill>
                <a:latin typeface="Arial"/>
                <a:ea typeface="Arial"/>
                <a:cs typeface="Arial"/>
              </a:defRPr>
            </a:pPr>
            <a:r>
              <a:rPr sz="2025" b="0">
                <a:solidFill>
                  <a:srgbClr val="122442"/>
                </a:solidFill>
                <a:latin typeface="Arial"/>
                <a:ea typeface="Arial"/>
                <a:cs typeface="Arial"/>
              </a:rPr>
              <a:t>JPEG или PNG, до 10 MB.</a:t>
            </a:r>
          </a:p>
          <a:p xmlns:a="http://schemas.openxmlformats.org/drawingml/2006/main">
            <a:pPr>
              <a:defRPr sz="2025" b="0">
                <a:solidFill>
                  <a:srgbClr val="122442"/>
                </a:solidFill>
                <a:latin typeface="Arial"/>
                <a:ea typeface="Arial"/>
                <a:cs typeface="Arial"/>
              </a:defRPr>
            </a:pPr>
            <a:r>
              <a:rPr sz="2025" b="0">
                <a:solidFill>
                  <a:srgbClr val="122442"/>
                </a:solidFill>
                <a:latin typeface="Arial"/>
                <a:ea typeface="Arial"/>
                <a:cs typeface="Arial"/>
              </a:rPr>
              <a:t>Съхранение в S3, по потребител.</a:t>
            </a:r>
          </a:p>
          <a:p xmlns:a="http://schemas.openxmlformats.org/drawingml/2006/main">
            <a:pPr>
              <a:defRPr sz="2025" b="0">
                <a:solidFill>
                  <a:srgbClr val="122442"/>
                </a:solidFill>
                <a:latin typeface="Arial"/>
                <a:ea typeface="Arial"/>
                <a:cs typeface="Arial"/>
              </a:defRPr>
            </a:pPr>
            <a:r>
              <a:rPr sz="2025" b="0">
                <a:solidFill>
                  <a:srgbClr val="122442"/>
                </a:solidFill>
                <a:latin typeface="Arial"/>
                <a:ea typeface="Arial"/>
                <a:cs typeface="Arial"/>
              </a:rPr>
              <a:t>Изтрива само качилият снимката.</a:t>
            </a:r>
          </a:p>
          <a:p xmlns:a="http://schemas.openxmlformats.org/drawingml/2006/main">
            <a:pPr>
              <a:defRPr sz="2025" b="0">
                <a:solidFill>
                  <a:srgbClr val="122442"/>
                </a:solidFill>
                <a:latin typeface="Arial"/>
                <a:ea typeface="Arial"/>
                <a:cs typeface="Arial"/>
              </a:defRPr>
            </a:pPr>
            <a:r>
              <a:rPr sz="2025" b="0">
                <a:solidFill>
                  <a:srgbClr val="122442"/>
                </a:solidFill>
                <a:latin typeface="Arial"/>
                <a:ea typeface="Arial"/>
                <a:cs typeface="Arial"/>
              </a:rPr>
              <a:t>Най-дългата страна е до 1024 px.</a:t>
            </a:r>
          </a:p>
        </p:txBody>
      </p:sp>
      <p:sp>
        <p:nvSpPr>
          <p:cNvPr id="11" name="">
            <a:extLst xmlns:a="http://schemas.openxmlformats.org/drawingml/2006/main">
              <a:ext uri="{FF2B5EF4-FFF2-40B4-BE49-F238E27FC236}">
                <a16:creationId xmlns:a16="http://schemas.microsoft.com/office/drawing/2014/main" id="{52934E18-5202-449C-97A1-AD430EC04809}"/>
              </a:ext>
            </a:extLst>
          </p:cNvPr>
          <p:cNvSpPr>
            <a:spLocks xmlns:a="http://schemas.openxmlformats.org/drawingml/2006/main" noGrp="1"/>
          </p:cNvSpPr>
          <p:nvPr/>
        </p:nvSpPr>
        <p:spPr>
          <a:xfrm xmlns:a="http://schemas.openxmlformats.org/drawingml/2006/main">
            <a:off x="685800" y="598170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447A6"/>
                </a:solidFill>
                <a:latin typeface="Arial"/>
                <a:ea typeface="Arial"/>
                <a:cs typeface="Arial"/>
              </a:defRPr>
            </a:defPPr>
          </a:lstStyle>
          <a:p xmlns:a="http://schemas.openxmlformats.org/drawingml/2006/main">
            <a:pPr>
              <a:defRPr sz="2025" b="1">
                <a:solidFill>
                  <a:srgbClr val="2447A6"/>
                </a:solidFill>
                <a:latin typeface="Arial"/>
                <a:ea typeface="Arial"/>
                <a:cs typeface="Arial"/>
              </a:defRPr>
            </a:pPr>
            <a:r>
              <a:rPr sz="2025" b="1">
                <a:solidFill>
                  <a:srgbClr val="2447A6"/>
                </a:solidFill>
                <a:latin typeface="Arial"/>
                <a:ea typeface="Arial"/>
                <a:cs typeface="Arial"/>
              </a:rPr>
              <a:t>По-малко догадки за агента. Ясни правила, които екипът може да провери.</a:t>
            </a:r>
          </a:p>
        </p:txBody>
      </p:sp>
      <p:sp>
        <p:nvSpPr>
          <p:cNvPr id="12" name="">
            <a:extLst xmlns:a="http://schemas.openxmlformats.org/drawingml/2006/main">
              <a:ext uri="{FF2B5EF4-FFF2-40B4-BE49-F238E27FC236}">
                <a16:creationId xmlns:a16="http://schemas.microsoft.com/office/drawing/2014/main" id="{FECB38A5-F68B-4BBA-86DC-E609DE21A78C}"/>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defRPr sz="1275" b="0">
                <a:solidFill>
                  <a:srgbClr val="4D5C74"/>
                </a:solidFill>
                <a:latin typeface="Arial"/>
                <a:ea typeface="Arial"/>
                <a:cs typeface="Arial"/>
              </a:defRPr>
            </a:pPr>
            <a:r>
              <a:rPr sz="1275" b="0">
                <a:solidFill>
                  <a:srgbClr val="4D5C74"/>
                </a:solidFill>
                <a:latin typeface="Arial"/>
                <a:ea typeface="Arial"/>
                <a:cs typeface="Arial"/>
              </a:rPr>
              <a:t>03</a:t>
            </a:r>
          </a:p>
        </p:txBody>
      </p:sp>
    </p:spTree>
    <p:extLst>
      <p:ext uri="{BB962C8B-B14F-4D97-AF65-F5344CB8AC3E}">
        <p14:creationId xmlns:p14="http://schemas.microsoft.com/office/powerpoint/2010/main" val="1202031197"/>
      </p:ext>
    </p:extLst>
  </p:cSld>
</p:sld>
</file>

<file path=ppt/slides/slide4.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004B7BCD-EBF8-4524-B6C7-EECACFD5C71D}"/>
              </a:ext>
            </a:extLst>
          </p:cNvPr>
          <p:cNvCxnSpPr>
            <a:stCxn xmlns:a="http://schemas.openxmlformats.org/drawingml/2006/main" id="5" idx="3"/>
            <a:endCxn xmlns:a="http://schemas.openxmlformats.org/drawingml/2006/main" id="7" idx="1"/>
          </p:cNvCxnSpPr>
          <p:nvPr/>
        </p:nvCxnSpPr>
        <p:spPr>
          <a:xfrm xmlns:a="http://schemas.openxmlformats.org/drawingml/2006/main">
            <a:off x="7667625" y="3267075"/>
            <a:ext cx="695325" cy="0"/>
          </a:xfrm>
          <a:prstGeom xmlns:a="http://schemas.openxmlformats.org/drawingml/2006/main" prst="straightConnector1">
            <a:avLst/>
          </a:prstGeom>
          <a:ln xmlns:a="http://schemas.openxmlformats.org/drawingml/2006/main" w="28575">
            <a:solidFill>
              <a:srgbClr val="2447A6"/>
            </a:solidFill>
            <a:tailEnd type="triangle" w="med" len="med"/>
          </a:ln>
        </p:spPr>
      </p:cxnSp>
      <p:cxnSp>
        <p:nvCxnSpPr>
          <p:cNvPr id="9" name="">
            <a:extLst xmlns:a="http://schemas.openxmlformats.org/drawingml/2006/main">
              <a:ext uri="{FF2B5EF4-FFF2-40B4-BE49-F238E27FC236}">
                <a16:creationId xmlns:a16="http://schemas.microsoft.com/office/drawing/2014/main" id="{2E9FF3B1-781C-48CD-93DF-1918CA5E4C2A}"/>
              </a:ext>
            </a:extLst>
          </p:cNvPr>
          <p:cNvCxnSpPr>
            <a:stCxn xmlns:a="http://schemas.openxmlformats.org/drawingml/2006/main" id="3" idx="3"/>
            <a:endCxn xmlns:a="http://schemas.openxmlformats.org/drawingml/2006/main" id="5" idx="1"/>
          </p:cNvCxnSpPr>
          <p:nvPr/>
        </p:nvCxnSpPr>
        <p:spPr>
          <a:xfrm xmlns:a="http://schemas.openxmlformats.org/drawingml/2006/main">
            <a:off x="3829050" y="3267075"/>
            <a:ext cx="695325" cy="0"/>
          </a:xfrm>
          <a:prstGeom xmlns:a="http://schemas.openxmlformats.org/drawingml/2006/main" prst="straightConnector1">
            <a:avLst/>
          </a:prstGeom>
          <a:ln xmlns:a="http://schemas.openxmlformats.org/drawingml/2006/main" w="28575">
            <a:solidFill>
              <a:srgbClr val="2447A6"/>
            </a:solidFill>
            <a:tailEnd type="triangle" w="med" len="med"/>
          </a:ln>
        </p:spPr>
      </p:cxnSp>
      <p:sp>
        <p:nvSpPr>
          <p:cNvPr id="16" name="">
            <a:extLst xmlns:a="http://schemas.openxmlformats.org/drawingml/2006/main">
              <a:ext uri="{FF2B5EF4-FFF2-40B4-BE49-F238E27FC236}">
                <a16:creationId xmlns:a16="http://schemas.microsoft.com/office/drawing/2014/main" id="{89BDECF5-DBF4-43E8-AEA6-1093A7CBA06E}"/>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defRPr sz="3300" b="1">
                <a:solidFill>
                  <a:srgbClr val="122442"/>
                </a:solidFill>
                <a:latin typeface="Arial"/>
                <a:ea typeface="Arial"/>
                <a:cs typeface="Arial"/>
              </a:defRPr>
            </a:pPr>
            <a:r>
              <a:rPr sz="3300" b="1">
                <a:solidFill>
                  <a:srgbClr val="122442"/>
                </a:solidFill>
                <a:latin typeface="Arial"/>
                <a:ea typeface="Arial"/>
                <a:cs typeface="Arial"/>
              </a:rPr>
              <a:t>Демото: отчитане на време по проекти</a:t>
            </a:r>
          </a:p>
        </p:txBody>
      </p:sp>
      <p:sp>
        <p:nvSpPr>
          <p:cNvPr id="2" name="">
            <a:extLst xmlns:a="http://schemas.openxmlformats.org/drawingml/2006/main">
              <a:ext uri="{FF2B5EF4-FFF2-40B4-BE49-F238E27FC236}">
                <a16:creationId xmlns:a16="http://schemas.microsoft.com/office/drawing/2014/main" id="{63203CBA-B1C1-47FF-B748-299310D993F2}"/>
              </a:ext>
            </a:extLst>
          </p:cNvPr>
          <p:cNvSpPr>
            <a:spLocks xmlns:a="http://schemas.openxmlformats.org/drawingml/2006/main" noGrp="1"/>
          </p:cNvSpPr>
          <p:nvPr/>
        </p:nvSpPr>
        <p:spPr>
          <a:xfrm xmlns:a="http://schemas.openxmlformats.org/drawingml/2006/main">
            <a:off x="685800" y="1590675"/>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22442"/>
                </a:solidFill>
                <a:latin typeface="Arial"/>
                <a:ea typeface="Arial"/>
                <a:cs typeface="Arial"/>
              </a:defRPr>
            </a:defPPr>
          </a:lstStyle>
          <a:p xmlns:a="http://schemas.openxmlformats.org/drawingml/2006/main">
            <a:pPr>
              <a:defRPr sz="2400" b="0">
                <a:solidFill>
                  <a:srgbClr val="122442"/>
                </a:solidFill>
                <a:latin typeface="Arial"/>
                <a:ea typeface="Arial"/>
                <a:cs typeface="Arial"/>
              </a:defRPr>
            </a:pPr>
            <a:r>
              <a:rPr sz="2400" b="0">
                <a:solidFill>
                  <a:srgbClr val="122442"/>
                </a:solidFill>
                <a:latin typeface="Arial"/>
                <a:ea typeface="Arial"/>
                <a:cs typeface="Arial"/>
              </a:rPr>
              <a:t>Timesheet е приложение, в което служителите записват</a:t>
            </a:r>
          </a:p>
          <a:p xmlns:a="http://schemas.openxmlformats.org/drawingml/2006/main">
            <a:pPr>
              <a:defRPr sz="2400" b="0">
                <a:solidFill>
                  <a:srgbClr val="122442"/>
                </a:solidFill>
                <a:latin typeface="Arial"/>
                <a:ea typeface="Arial"/>
                <a:cs typeface="Arial"/>
              </a:defRPr>
            </a:pPr>
            <a:r>
              <a:rPr sz="2400" b="0">
                <a:solidFill>
                  <a:srgbClr val="122442"/>
                </a:solidFill>
                <a:latin typeface="Arial"/>
                <a:ea typeface="Arial"/>
                <a:cs typeface="Arial"/>
              </a:rPr>
              <a:t>колко време са работили по даден проект.</a:t>
            </a:r>
          </a:p>
        </p:txBody>
      </p:sp>
      <p:sp>
        <p:nvSpPr>
          <p:cNvPr id="3" name="">
            <a:extLst xmlns:a="http://schemas.openxmlformats.org/drawingml/2006/main">
              <a:ext uri="{FF2B5EF4-FFF2-40B4-BE49-F238E27FC236}">
                <a16:creationId xmlns:a16="http://schemas.microsoft.com/office/drawing/2014/main" id="{C7B02B2E-C5B2-4180-BC02-07CE622B6D3B}"/>
              </a:ext>
            </a:extLst>
          </p:cNvPr>
          <p:cNvSpPr>
            <a:spLocks xmlns:a="http://schemas.openxmlformats.org/drawingml/2006/main" noGrp="1"/>
          </p:cNvSpPr>
          <p:nvPr/>
        </p:nvSpPr>
        <p:spPr>
          <a:xfrm xmlns:a="http://schemas.openxmlformats.org/drawingml/2006/main">
            <a:off x="685800" y="2828925"/>
            <a:ext cx="3143250" cy="876300"/>
          </a:xfrm>
          <a:prstGeom xmlns:a="http://schemas.openxmlformats.org/drawingml/2006/main" prst="roundRect">
            <a:avLst>
              <a:gd name="adj" fmla="val 17391"/>
            </a:avLst>
          </a:prstGeom>
          <a:solidFill xmlns:a="http://schemas.openxmlformats.org/drawingml/2006/main">
            <a:srgbClr val="2447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F049611-F387-482F-B653-514F396DE2FE}"/>
              </a:ext>
            </a:extLst>
          </p:cNvPr>
          <p:cNvSpPr>
            <a:spLocks xmlns:a="http://schemas.openxmlformats.org/drawingml/2006/main" noGrp="1"/>
          </p:cNvSpPr>
          <p:nvPr/>
        </p:nvSpPr>
        <p:spPr>
          <a:xfrm xmlns:a="http://schemas.openxmlformats.org/drawingml/2006/main">
            <a:off x="857250" y="2990850"/>
            <a:ext cx="28003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Проект и дата</a:t>
            </a:r>
          </a:p>
        </p:txBody>
      </p:sp>
      <p:sp>
        <p:nvSpPr>
          <p:cNvPr id="5" name="">
            <a:extLst xmlns:a="http://schemas.openxmlformats.org/drawingml/2006/main">
              <a:ext uri="{FF2B5EF4-FFF2-40B4-BE49-F238E27FC236}">
                <a16:creationId xmlns:a16="http://schemas.microsoft.com/office/drawing/2014/main" id="{C6AB41A5-80A1-4B8E-8942-DC0F3F03B95B}"/>
              </a:ext>
            </a:extLst>
          </p:cNvPr>
          <p:cNvSpPr>
            <a:spLocks xmlns:a="http://schemas.openxmlformats.org/drawingml/2006/main" noGrp="1"/>
          </p:cNvSpPr>
          <p:nvPr/>
        </p:nvSpPr>
        <p:spPr>
          <a:xfrm xmlns:a="http://schemas.openxmlformats.org/drawingml/2006/main">
            <a:off x="4524375" y="2828925"/>
            <a:ext cx="3143250" cy="876300"/>
          </a:xfrm>
          <a:prstGeom xmlns:a="http://schemas.openxmlformats.org/drawingml/2006/main" prst="roundRect">
            <a:avLst>
              <a:gd name="adj" fmla="val 17391"/>
            </a:avLst>
          </a:prstGeom>
          <a:solidFill xmlns:a="http://schemas.openxmlformats.org/drawingml/2006/main">
            <a:srgbClr val="7041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9C8AF9F-3F09-40BE-A8F7-10A09DADAC47}"/>
              </a:ext>
            </a:extLst>
          </p:cNvPr>
          <p:cNvSpPr>
            <a:spLocks xmlns:a="http://schemas.openxmlformats.org/drawingml/2006/main" noGrp="1"/>
          </p:cNvSpPr>
          <p:nvPr/>
        </p:nvSpPr>
        <p:spPr>
          <a:xfrm xmlns:a="http://schemas.openxmlformats.org/drawingml/2006/main">
            <a:off x="4695825" y="2990850"/>
            <a:ext cx="28003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Отработени часове</a:t>
            </a:r>
          </a:p>
        </p:txBody>
      </p:sp>
      <p:sp>
        <p:nvSpPr>
          <p:cNvPr id="7" name="">
            <a:extLst xmlns:a="http://schemas.openxmlformats.org/drawingml/2006/main">
              <a:ext uri="{FF2B5EF4-FFF2-40B4-BE49-F238E27FC236}">
                <a16:creationId xmlns:a16="http://schemas.microsoft.com/office/drawing/2014/main" id="{6DBB98F9-B470-4919-9570-5F491BD3EE66}"/>
              </a:ext>
            </a:extLst>
          </p:cNvPr>
          <p:cNvSpPr>
            <a:spLocks xmlns:a="http://schemas.openxmlformats.org/drawingml/2006/main" noGrp="1"/>
          </p:cNvSpPr>
          <p:nvPr/>
        </p:nvSpPr>
        <p:spPr>
          <a:xfrm xmlns:a="http://schemas.openxmlformats.org/drawingml/2006/main">
            <a:off x="8362950" y="2828925"/>
            <a:ext cx="3143250" cy="876300"/>
          </a:xfrm>
          <a:prstGeom xmlns:a="http://schemas.openxmlformats.org/drawingml/2006/main" prst="roundRect">
            <a:avLst>
              <a:gd name="adj" fmla="val 17391"/>
            </a:avLst>
          </a:prstGeom>
          <a:solidFill xmlns:a="http://schemas.openxmlformats.org/drawingml/2006/main">
            <a:srgbClr val="2447A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6EB849F-C399-4F3E-98F8-12034D3DEFF0}"/>
              </a:ext>
            </a:extLst>
          </p:cNvPr>
          <p:cNvSpPr>
            <a:spLocks xmlns:a="http://schemas.openxmlformats.org/drawingml/2006/main" noGrp="1"/>
          </p:cNvSpPr>
          <p:nvPr/>
        </p:nvSpPr>
        <p:spPr>
          <a:xfrm xmlns:a="http://schemas.openxmlformats.org/drawingml/2006/main">
            <a:off x="8534400" y="2990850"/>
            <a:ext cx="28003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Запис в списъка</a:t>
            </a:r>
          </a:p>
        </p:txBody>
      </p:sp>
      <p:sp>
        <p:nvSpPr>
          <p:cNvPr id="11" name="">
            <a:extLst xmlns:a="http://schemas.openxmlformats.org/drawingml/2006/main">
              <a:ext uri="{FF2B5EF4-FFF2-40B4-BE49-F238E27FC236}">
                <a16:creationId xmlns:a16="http://schemas.microsoft.com/office/drawing/2014/main" id="{70923750-5B61-4424-B26D-CDF6D34B4B3B}"/>
              </a:ext>
            </a:extLst>
          </p:cNvPr>
          <p:cNvSpPr>
            <a:spLocks xmlns:a="http://schemas.openxmlformats.org/drawingml/2006/main" noGrp="1"/>
          </p:cNvSpPr>
          <p:nvPr/>
        </p:nvSpPr>
        <p:spPr>
          <a:xfrm xmlns:a="http://schemas.openxmlformats.org/drawingml/2006/main">
            <a:off x="685800" y="4038600"/>
            <a:ext cx="314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22442"/>
                </a:solidFill>
                <a:latin typeface="Arial"/>
                <a:ea typeface="Arial"/>
                <a:cs typeface="Arial"/>
              </a:defRPr>
            </a:defPPr>
          </a:lstStyle>
          <a:p xmlns:a="http://schemas.openxmlformats.org/drawingml/2006/main">
            <a:pPr>
              <a:defRPr sz="2100" b="0">
                <a:solidFill>
                  <a:srgbClr val="122442"/>
                </a:solidFill>
                <a:latin typeface="Arial"/>
                <a:ea typeface="Arial"/>
                <a:cs typeface="Arial"/>
              </a:defRPr>
            </a:pPr>
            <a:r>
              <a:rPr sz="2100" b="0">
                <a:solidFill>
                  <a:srgbClr val="122442"/>
                </a:solidFill>
                <a:latin typeface="Arial"/>
                <a:ea typeface="Arial"/>
                <a:cs typeface="Arial"/>
              </a:rPr>
              <a:t>За кой проект</a:t>
            </a:r>
          </a:p>
          <a:p xmlns:a="http://schemas.openxmlformats.org/drawingml/2006/main">
            <a:pPr>
              <a:defRPr sz="2100" b="0">
                <a:solidFill>
                  <a:srgbClr val="122442"/>
                </a:solidFill>
                <a:latin typeface="Arial"/>
                <a:ea typeface="Arial"/>
                <a:cs typeface="Arial"/>
              </a:defRPr>
            </a:pPr>
            <a:r>
              <a:rPr sz="2100" b="0">
                <a:solidFill>
                  <a:srgbClr val="122442"/>
                </a:solidFill>
                <a:latin typeface="Arial"/>
                <a:ea typeface="Arial"/>
                <a:cs typeface="Arial"/>
              </a:rPr>
              <a:t>и за коя дата?</a:t>
            </a:r>
          </a:p>
        </p:txBody>
      </p:sp>
      <p:sp>
        <p:nvSpPr>
          <p:cNvPr id="12" name="">
            <a:extLst xmlns:a="http://schemas.openxmlformats.org/drawingml/2006/main">
              <a:ext uri="{FF2B5EF4-FFF2-40B4-BE49-F238E27FC236}">
                <a16:creationId xmlns:a16="http://schemas.microsoft.com/office/drawing/2014/main" id="{0EB47F3E-54AD-47CE-9689-58A1E6A2D604}"/>
              </a:ext>
            </a:extLst>
          </p:cNvPr>
          <p:cNvSpPr>
            <a:spLocks xmlns:a="http://schemas.openxmlformats.org/drawingml/2006/main" noGrp="1"/>
          </p:cNvSpPr>
          <p:nvPr/>
        </p:nvSpPr>
        <p:spPr>
          <a:xfrm xmlns:a="http://schemas.openxmlformats.org/drawingml/2006/main">
            <a:off x="4524375" y="4038600"/>
            <a:ext cx="314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22442"/>
                </a:solidFill>
                <a:latin typeface="Arial"/>
                <a:ea typeface="Arial"/>
                <a:cs typeface="Arial"/>
              </a:defRPr>
            </a:defPPr>
          </a:lstStyle>
          <a:p xmlns:a="http://schemas.openxmlformats.org/drawingml/2006/main">
            <a:pPr>
              <a:defRPr sz="2100" b="0">
                <a:solidFill>
                  <a:srgbClr val="122442"/>
                </a:solidFill>
                <a:latin typeface="Arial"/>
                <a:ea typeface="Arial"/>
                <a:cs typeface="Arial"/>
              </a:defRPr>
            </a:pPr>
            <a:r>
              <a:rPr sz="2100" b="0">
                <a:solidFill>
                  <a:srgbClr val="122442"/>
                </a:solidFill>
                <a:latin typeface="Arial"/>
                <a:ea typeface="Arial"/>
                <a:cs typeface="Arial"/>
              </a:rPr>
              <a:t>Колко време</a:t>
            </a:r>
          </a:p>
          <a:p xmlns:a="http://schemas.openxmlformats.org/drawingml/2006/main">
            <a:pPr>
              <a:defRPr sz="2100" b="0">
                <a:solidFill>
                  <a:srgbClr val="122442"/>
                </a:solidFill>
                <a:latin typeface="Arial"/>
                <a:ea typeface="Arial"/>
                <a:cs typeface="Arial"/>
              </a:defRPr>
            </a:pPr>
            <a:r>
              <a:rPr sz="2100" b="0">
                <a:solidFill>
                  <a:srgbClr val="122442"/>
                </a:solidFill>
                <a:latin typeface="Arial"/>
                <a:ea typeface="Arial"/>
                <a:cs typeface="Arial"/>
              </a:rPr>
              <a:t>е работил служителят?</a:t>
            </a:r>
          </a:p>
        </p:txBody>
      </p:sp>
      <p:sp>
        <p:nvSpPr>
          <p:cNvPr id="13" name="">
            <a:extLst xmlns:a="http://schemas.openxmlformats.org/drawingml/2006/main">
              <a:ext uri="{FF2B5EF4-FFF2-40B4-BE49-F238E27FC236}">
                <a16:creationId xmlns:a16="http://schemas.microsoft.com/office/drawing/2014/main" id="{A96D7BB8-5CF6-4A88-A2A1-2747C08B5C3E}"/>
              </a:ext>
            </a:extLst>
          </p:cNvPr>
          <p:cNvSpPr>
            <a:spLocks xmlns:a="http://schemas.openxmlformats.org/drawingml/2006/main" noGrp="1"/>
          </p:cNvSpPr>
          <p:nvPr/>
        </p:nvSpPr>
        <p:spPr>
          <a:xfrm xmlns:a="http://schemas.openxmlformats.org/drawingml/2006/main">
            <a:off x="8362950" y="4038600"/>
            <a:ext cx="314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22442"/>
                </a:solidFill>
                <a:latin typeface="Arial"/>
                <a:ea typeface="Arial"/>
                <a:cs typeface="Arial"/>
              </a:defRPr>
            </a:defPPr>
          </a:lstStyle>
          <a:p xmlns:a="http://schemas.openxmlformats.org/drawingml/2006/main">
            <a:pPr>
              <a:defRPr sz="2100" b="0">
                <a:solidFill>
                  <a:srgbClr val="122442"/>
                </a:solidFill>
                <a:latin typeface="Arial"/>
                <a:ea typeface="Arial"/>
                <a:cs typeface="Arial"/>
              </a:defRPr>
            </a:pPr>
            <a:r>
              <a:rPr sz="2100" b="0">
                <a:solidFill>
                  <a:srgbClr val="122442"/>
                </a:solidFill>
                <a:latin typeface="Arial"/>
                <a:ea typeface="Arial"/>
                <a:cs typeface="Arial"/>
              </a:rPr>
              <a:t>Потребителят вижда</a:t>
            </a:r>
          </a:p>
          <a:p xmlns:a="http://schemas.openxmlformats.org/drawingml/2006/main">
            <a:pPr>
              <a:defRPr sz="2100" b="0">
                <a:solidFill>
                  <a:srgbClr val="122442"/>
                </a:solidFill>
                <a:latin typeface="Arial"/>
                <a:ea typeface="Arial"/>
                <a:cs typeface="Arial"/>
              </a:defRPr>
            </a:pPr>
            <a:r>
              <a:rPr sz="2100" b="0">
                <a:solidFill>
                  <a:srgbClr val="122442"/>
                </a:solidFill>
                <a:latin typeface="Arial"/>
                <a:ea typeface="Arial"/>
                <a:cs typeface="Arial"/>
              </a:rPr>
              <a:t>отчетеното време.</a:t>
            </a:r>
          </a:p>
        </p:txBody>
      </p:sp>
      <p:sp>
        <p:nvSpPr>
          <p:cNvPr id="14" name="">
            <a:extLst xmlns:a="http://schemas.openxmlformats.org/drawingml/2006/main">
              <a:ext uri="{FF2B5EF4-FFF2-40B4-BE49-F238E27FC236}">
                <a16:creationId xmlns:a16="http://schemas.microsoft.com/office/drawing/2014/main" id="{0CE087C4-6DA0-47E2-989C-6D5B7C081D64}"/>
              </a:ext>
            </a:extLst>
          </p:cNvPr>
          <p:cNvSpPr>
            <a:spLocks xmlns:a="http://schemas.openxmlformats.org/drawingml/2006/main" noGrp="1"/>
          </p:cNvSpPr>
          <p:nvPr/>
        </p:nvSpPr>
        <p:spPr>
          <a:xfrm xmlns:a="http://schemas.openxmlformats.org/drawingml/2006/main">
            <a:off x="685800" y="56483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447A6"/>
                </a:solidFill>
                <a:latin typeface="Arial"/>
                <a:ea typeface="Arial"/>
                <a:cs typeface="Arial"/>
              </a:defRPr>
            </a:defPPr>
          </a:lstStyle>
          <a:p xmlns:a="http://schemas.openxmlformats.org/drawingml/2006/main">
            <a:pPr>
              <a:defRPr sz="2025" b="1">
                <a:solidFill>
                  <a:srgbClr val="2447A6"/>
                </a:solidFill>
                <a:latin typeface="Arial"/>
                <a:ea typeface="Arial"/>
                <a:cs typeface="Arial"/>
              </a:defRPr>
            </a:pPr>
            <a:r>
              <a:rPr sz="2025" b="1">
                <a:solidFill>
                  <a:srgbClr val="2447A6"/>
                </a:solidFill>
                <a:latin typeface="Arial"/>
                <a:ea typeface="Arial"/>
                <a:cs typeface="Arial"/>
              </a:rPr>
              <a:t>Пример: 7,5 часа работа по проект „Клиентски портал“.</a:t>
            </a:r>
          </a:p>
        </p:txBody>
      </p:sp>
      <p:sp>
        <p:nvSpPr>
          <p:cNvPr id="15" name="">
            <a:extLst xmlns:a="http://schemas.openxmlformats.org/drawingml/2006/main">
              <a:ext uri="{FF2B5EF4-FFF2-40B4-BE49-F238E27FC236}">
                <a16:creationId xmlns:a16="http://schemas.microsoft.com/office/drawing/2014/main" id="{AEEA4D43-C0B1-40DA-B731-768524BD3E4D}"/>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defRPr sz="1275" b="0">
                <a:solidFill>
                  <a:srgbClr val="4D5C74"/>
                </a:solidFill>
                <a:latin typeface="Arial"/>
                <a:ea typeface="Arial"/>
                <a:cs typeface="Arial"/>
              </a:defRPr>
            </a:pPr>
            <a:r>
              <a:rPr sz="1275" b="0">
                <a:solidFill>
                  <a:srgbClr val="4D5C74"/>
                </a:solidFill>
                <a:latin typeface="Arial"/>
                <a:ea typeface="Arial"/>
                <a:cs typeface="Arial"/>
              </a:rPr>
              <a:t>04</a:t>
            </a:r>
          </a:p>
        </p:txBody>
      </p:sp>
    </p:spTree>
    <p:extLst>
      <p:ext uri="{BB962C8B-B14F-4D97-AF65-F5344CB8AC3E}">
        <p14:creationId xmlns:p14="http://schemas.microsoft.com/office/powerpoint/2010/main" val="810868711"/>
      </p:ext>
    </p:extLst>
  </p:cSld>
</p:sld>
</file>

<file path=ppt/slides/slide5.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D5B64628-07D3-4E0A-B7DA-79FB2E2C2123}"/>
              </a:ext>
            </a:extLst>
          </p:cNvPr>
          <p:cNvCxnSpPr>
            <a:stCxn xmlns:a="http://schemas.openxmlformats.org/drawingml/2006/main" id="3" idx="3"/>
            <a:endCxn xmlns:a="http://schemas.openxmlformats.org/drawingml/2006/main" id="5" idx="1"/>
          </p:cNvCxnSpPr>
          <p:nvPr/>
        </p:nvCxnSpPr>
        <p:spPr>
          <a:xfrm xmlns:a="http://schemas.openxmlformats.org/drawingml/2006/main">
            <a:off x="5257800" y="3309938"/>
            <a:ext cx="1247775" cy="0"/>
          </a:xfrm>
          <a:prstGeom xmlns:a="http://schemas.openxmlformats.org/drawingml/2006/main" prst="straightConnector1">
            <a:avLst/>
          </a:prstGeom>
          <a:ln xmlns:a="http://schemas.openxmlformats.org/drawingml/2006/main" w="28575">
            <a:solidFill>
              <a:srgbClr val="2447A6"/>
            </a:solidFill>
            <a:tailEnd type="triangle" w="med" len="med"/>
          </a:ln>
        </p:spPr>
      </p:cxnSp>
      <p:sp>
        <p:nvSpPr>
          <p:cNvPr id="12" name="">
            <a:extLst xmlns:a="http://schemas.openxmlformats.org/drawingml/2006/main">
              <a:ext uri="{FF2B5EF4-FFF2-40B4-BE49-F238E27FC236}">
                <a16:creationId xmlns:a16="http://schemas.microsoft.com/office/drawing/2014/main" id="{5F8EC20A-C8E3-49BC-9C57-33AB19D5A002}"/>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defRPr sz="3300" b="1">
                <a:solidFill>
                  <a:srgbClr val="122442"/>
                </a:solidFill>
                <a:latin typeface="Arial"/>
                <a:ea typeface="Arial"/>
                <a:cs typeface="Arial"/>
              </a:defRPr>
            </a:pPr>
            <a:r>
              <a:rPr sz="3300" b="1">
                <a:solidFill>
                  <a:srgbClr val="122442"/>
                </a:solidFill>
                <a:latin typeface="Arial"/>
                <a:ea typeface="Arial"/>
                <a:cs typeface="Arial"/>
              </a:rPr>
              <a:t>Без ясни изисквания агентът започва да гадае</a:t>
            </a:r>
          </a:p>
        </p:txBody>
      </p:sp>
      <p:sp>
        <p:nvSpPr>
          <p:cNvPr id="2" name="">
            <a:extLst xmlns:a="http://schemas.openxmlformats.org/drawingml/2006/main">
              <a:ext uri="{FF2B5EF4-FFF2-40B4-BE49-F238E27FC236}">
                <a16:creationId xmlns:a16="http://schemas.microsoft.com/office/drawing/2014/main" id="{3A84D47B-CFD8-40CC-858D-C256C45A3380}"/>
              </a:ext>
            </a:extLst>
          </p:cNvPr>
          <p:cNvSpPr>
            <a:spLocks xmlns:a="http://schemas.openxmlformats.org/drawingml/2006/main" noGrp="1"/>
          </p:cNvSpPr>
          <p:nvPr/>
        </p:nvSpPr>
        <p:spPr>
          <a:xfrm xmlns:a="http://schemas.openxmlformats.org/drawingml/2006/main">
            <a:off x="685800" y="15811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7041B9"/>
                </a:solidFill>
                <a:latin typeface="Arial"/>
                <a:ea typeface="Arial"/>
                <a:cs typeface="Arial"/>
              </a:defRPr>
            </a:defPPr>
          </a:lstStyle>
          <a:p xmlns:a="http://schemas.openxmlformats.org/drawingml/2006/main">
            <a:pPr>
              <a:defRPr sz="2475" b="1">
                <a:solidFill>
                  <a:srgbClr val="7041B9"/>
                </a:solidFill>
                <a:latin typeface="Arial"/>
                <a:ea typeface="Arial"/>
                <a:cs typeface="Arial"/>
              </a:defRPr>
            </a:pPr>
            <a:r>
              <a:rPr sz="2475" b="1">
                <a:solidFill>
                  <a:srgbClr val="7041B9"/>
                </a:solidFill>
                <a:latin typeface="Arial"/>
                <a:ea typeface="Arial"/>
                <a:cs typeface="Arial"/>
              </a:rPr>
              <a:t>„Добави функция, с която служителите отчитат</a:t>
            </a:r>
          </a:p>
          <a:p xmlns:a="http://schemas.openxmlformats.org/drawingml/2006/main">
            <a:pPr>
              <a:defRPr sz="2475" b="1">
                <a:solidFill>
                  <a:srgbClr val="7041B9"/>
                </a:solidFill>
                <a:latin typeface="Arial"/>
                <a:ea typeface="Arial"/>
                <a:cs typeface="Arial"/>
              </a:defRPr>
            </a:pPr>
            <a:r>
              <a:rPr sz="2475" b="1">
                <a:solidFill>
                  <a:srgbClr val="7041B9"/>
                </a:solidFill>
                <a:latin typeface="Arial"/>
                <a:ea typeface="Arial"/>
                <a:cs typeface="Arial"/>
              </a:rPr>
              <a:t>колко часа са работили по даден проект.“</a:t>
            </a:r>
          </a:p>
        </p:txBody>
      </p:sp>
      <p:sp>
        <p:nvSpPr>
          <p:cNvPr id="3" name="">
            <a:extLst xmlns:a="http://schemas.openxmlformats.org/drawingml/2006/main">
              <a:ext uri="{FF2B5EF4-FFF2-40B4-BE49-F238E27FC236}">
                <a16:creationId xmlns:a16="http://schemas.microsoft.com/office/drawing/2014/main" id="{A5A53F19-4031-4007-B3D3-3A5CCB81F69A}"/>
              </a:ext>
            </a:extLst>
          </p:cNvPr>
          <p:cNvSpPr>
            <a:spLocks xmlns:a="http://schemas.openxmlformats.org/drawingml/2006/main" noGrp="1"/>
          </p:cNvSpPr>
          <p:nvPr/>
        </p:nvSpPr>
        <p:spPr>
          <a:xfrm xmlns:a="http://schemas.openxmlformats.org/drawingml/2006/main">
            <a:off x="685800" y="2895600"/>
            <a:ext cx="4572000" cy="828675"/>
          </a:xfrm>
          <a:prstGeom xmlns:a="http://schemas.openxmlformats.org/drawingml/2006/main" prst="roundRect">
            <a:avLst>
              <a:gd name="adj" fmla="val 18391"/>
            </a:avLst>
          </a:prstGeom>
          <a:solidFill xmlns:a="http://schemas.openxmlformats.org/drawingml/2006/main">
            <a:srgbClr val="7041B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0FB992-E159-4D0F-BCD6-4BA548EF03F5}"/>
              </a:ext>
            </a:extLst>
          </p:cNvPr>
          <p:cNvSpPr>
            <a:spLocks xmlns:a="http://schemas.openxmlformats.org/drawingml/2006/main" noGrp="1"/>
          </p:cNvSpPr>
          <p:nvPr/>
        </p:nvSpPr>
        <p:spPr>
          <a:xfrm xmlns:a="http://schemas.openxmlformats.org/drawingml/2006/main">
            <a:off x="857250" y="3057525"/>
            <a:ext cx="4229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Какво остава неясно?</a:t>
            </a:r>
          </a:p>
        </p:txBody>
      </p:sp>
      <p:sp>
        <p:nvSpPr>
          <p:cNvPr id="5" name="">
            <a:extLst xmlns:a="http://schemas.openxmlformats.org/drawingml/2006/main">
              <a:ext uri="{FF2B5EF4-FFF2-40B4-BE49-F238E27FC236}">
                <a16:creationId xmlns:a16="http://schemas.microsoft.com/office/drawing/2014/main" id="{F02F1513-3AFC-41A1-8B8B-7AEE1AFBDD7C}"/>
              </a:ext>
            </a:extLst>
          </p:cNvPr>
          <p:cNvSpPr>
            <a:spLocks xmlns:a="http://schemas.openxmlformats.org/drawingml/2006/main" noGrp="1"/>
          </p:cNvSpPr>
          <p:nvPr/>
        </p:nvSpPr>
        <p:spPr>
          <a:xfrm xmlns:a="http://schemas.openxmlformats.org/drawingml/2006/main">
            <a:off x="6505575" y="2895600"/>
            <a:ext cx="5000625" cy="828675"/>
          </a:xfrm>
          <a:prstGeom xmlns:a="http://schemas.openxmlformats.org/drawingml/2006/main" prst="roundRect">
            <a:avLst>
              <a:gd name="adj" fmla="val 18391"/>
            </a:avLst>
          </a:prstGeom>
          <a:solidFill xmlns:a="http://schemas.openxmlformats.org/drawingml/2006/main">
            <a:srgbClr val="2447A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472D718-6B4F-4D63-BB77-63264870C755}"/>
              </a:ext>
            </a:extLst>
          </p:cNvPr>
          <p:cNvSpPr>
            <a:spLocks xmlns:a="http://schemas.openxmlformats.org/drawingml/2006/main" noGrp="1"/>
          </p:cNvSpPr>
          <p:nvPr/>
        </p:nvSpPr>
        <p:spPr>
          <a:xfrm xmlns:a="http://schemas.openxmlformats.org/drawingml/2006/main">
            <a:off x="6677025" y="3057525"/>
            <a:ext cx="4657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Уточняваме в спецификацията</a:t>
            </a:r>
          </a:p>
        </p:txBody>
      </p:sp>
      <p:sp>
        <p:nvSpPr>
          <p:cNvPr id="8" name="">
            <a:extLst xmlns:a="http://schemas.openxmlformats.org/drawingml/2006/main">
              <a:ext uri="{FF2B5EF4-FFF2-40B4-BE49-F238E27FC236}">
                <a16:creationId xmlns:a16="http://schemas.microsoft.com/office/drawing/2014/main" id="{B178C9A2-4D4E-4CA2-BC39-2B4B0449E4EF}"/>
              </a:ext>
            </a:extLst>
          </p:cNvPr>
          <p:cNvSpPr>
            <a:spLocks xmlns:a="http://schemas.openxmlformats.org/drawingml/2006/main" noGrp="1"/>
          </p:cNvSpPr>
          <p:nvPr/>
        </p:nvSpPr>
        <p:spPr>
          <a:xfrm xmlns:a="http://schemas.openxmlformats.org/drawingml/2006/main">
            <a:off x="685800" y="4067175"/>
            <a:ext cx="4572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22442"/>
                </a:solidFill>
                <a:latin typeface="Arial"/>
                <a:ea typeface="Arial"/>
                <a:cs typeface="Arial"/>
              </a:defRPr>
            </a:defPPr>
          </a:lstStyle>
          <a:p xmlns:a="http://schemas.openxmlformats.org/drawingml/2006/main">
            <a:pPr>
              <a:defRPr sz="2100" b="0">
                <a:solidFill>
                  <a:srgbClr val="122442"/>
                </a:solidFill>
                <a:latin typeface="Arial"/>
                <a:ea typeface="Arial"/>
                <a:cs typeface="Arial"/>
              </a:defRPr>
            </a:pPr>
            <a:r>
              <a:rPr sz="2100" b="0">
                <a:solidFill>
                  <a:srgbClr val="122442"/>
                </a:solidFill>
                <a:latin typeface="Arial"/>
                <a:ea typeface="Arial"/>
                <a:cs typeface="Arial"/>
              </a:rPr>
              <a:t>Какви часове са допустими?</a:t>
            </a:r>
          </a:p>
          <a:p xmlns:a="http://schemas.openxmlformats.org/drawingml/2006/main">
            <a:pPr>
              <a:defRPr sz="2100" b="0">
                <a:solidFill>
                  <a:srgbClr val="122442"/>
                </a:solidFill>
                <a:latin typeface="Arial"/>
                <a:ea typeface="Arial"/>
                <a:cs typeface="Arial"/>
              </a:defRPr>
            </a:pPr>
            <a:r>
              <a:rPr sz="2100" b="0">
                <a:solidFill>
                  <a:srgbClr val="122442"/>
                </a:solidFill>
                <a:latin typeface="Arial"/>
                <a:ea typeface="Arial"/>
                <a:cs typeface="Arial"/>
              </a:rPr>
              <a:t>Нужни ли са проект и дата?</a:t>
            </a:r>
          </a:p>
          <a:p xmlns:a="http://schemas.openxmlformats.org/drawingml/2006/main">
            <a:pPr>
              <a:defRPr sz="2100" b="0">
                <a:solidFill>
                  <a:srgbClr val="122442"/>
                </a:solidFill>
                <a:latin typeface="Arial"/>
                <a:ea typeface="Arial"/>
                <a:cs typeface="Arial"/>
              </a:defRPr>
            </a:pPr>
            <a:r>
              <a:rPr sz="2100" b="0">
                <a:solidFill>
                  <a:srgbClr val="122442"/>
                </a:solidFill>
                <a:latin typeface="Arial"/>
                <a:ea typeface="Arial"/>
                <a:cs typeface="Arial"/>
              </a:rPr>
              <a:t>Какво става при грешни данни?</a:t>
            </a:r>
          </a:p>
        </p:txBody>
      </p:sp>
      <p:sp>
        <p:nvSpPr>
          <p:cNvPr id="9" name="">
            <a:extLst xmlns:a="http://schemas.openxmlformats.org/drawingml/2006/main">
              <a:ext uri="{FF2B5EF4-FFF2-40B4-BE49-F238E27FC236}">
                <a16:creationId xmlns:a16="http://schemas.microsoft.com/office/drawing/2014/main" id="{4D2DB604-0774-44D0-B343-39A7D9297617}"/>
              </a:ext>
            </a:extLst>
          </p:cNvPr>
          <p:cNvSpPr>
            <a:spLocks xmlns:a="http://schemas.openxmlformats.org/drawingml/2006/main" noGrp="1"/>
          </p:cNvSpPr>
          <p:nvPr/>
        </p:nvSpPr>
        <p:spPr>
          <a:xfrm xmlns:a="http://schemas.openxmlformats.org/drawingml/2006/main">
            <a:off x="6505575" y="4067175"/>
            <a:ext cx="50006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22442"/>
                </a:solidFill>
                <a:latin typeface="Arial"/>
                <a:ea typeface="Arial"/>
                <a:cs typeface="Arial"/>
              </a:defRPr>
            </a:defPPr>
          </a:lstStyle>
          <a:p xmlns:a="http://schemas.openxmlformats.org/drawingml/2006/main">
            <a:pPr>
              <a:defRPr sz="2025" b="0">
                <a:solidFill>
                  <a:srgbClr val="122442"/>
                </a:solidFill>
                <a:latin typeface="Arial"/>
                <a:ea typeface="Arial"/>
                <a:cs typeface="Arial"/>
              </a:defRPr>
            </a:pPr>
            <a:r>
              <a:rPr sz="2025" b="0">
                <a:solidFill>
                  <a:srgbClr val="122442"/>
                </a:solidFill>
                <a:latin typeface="Arial"/>
                <a:ea typeface="Arial"/>
                <a:cs typeface="Arial"/>
              </a:rPr>
              <a:t>За един запис: над 0 и до 24 часа.</a:t>
            </a:r>
          </a:p>
          <a:p xmlns:a="http://schemas.openxmlformats.org/drawingml/2006/main">
            <a:pPr>
              <a:defRPr sz="2025" b="0">
                <a:solidFill>
                  <a:srgbClr val="122442"/>
                </a:solidFill>
                <a:latin typeface="Arial"/>
                <a:ea typeface="Arial"/>
                <a:cs typeface="Arial"/>
              </a:defRPr>
            </a:pPr>
            <a:r>
              <a:rPr sz="2025" b="0">
                <a:solidFill>
                  <a:srgbClr val="122442"/>
                </a:solidFill>
                <a:latin typeface="Arial"/>
                <a:ea typeface="Arial"/>
                <a:cs typeface="Arial"/>
              </a:rPr>
              <a:t>Проектът и датата са задължителни.</a:t>
            </a:r>
          </a:p>
          <a:p xmlns:a="http://schemas.openxmlformats.org/drawingml/2006/main">
            <a:pPr>
              <a:defRPr sz="2025" b="0">
                <a:solidFill>
                  <a:srgbClr val="122442"/>
                </a:solidFill>
                <a:latin typeface="Arial"/>
                <a:ea typeface="Arial"/>
                <a:cs typeface="Arial"/>
              </a:defRPr>
            </a:pPr>
            <a:r>
              <a:rPr sz="2025" b="0">
                <a:solidFill>
                  <a:srgbClr val="122442"/>
                </a:solidFill>
                <a:latin typeface="Arial"/>
                <a:ea typeface="Arial"/>
                <a:cs typeface="Arial"/>
              </a:rPr>
              <a:t>При грешни данни: съобщение,</a:t>
            </a:r>
          </a:p>
          <a:p xmlns:a="http://schemas.openxmlformats.org/drawingml/2006/main">
            <a:pPr>
              <a:defRPr sz="2025" b="0">
                <a:solidFill>
                  <a:srgbClr val="122442"/>
                </a:solidFill>
                <a:latin typeface="Arial"/>
                <a:ea typeface="Arial"/>
                <a:cs typeface="Arial"/>
              </a:defRPr>
            </a:pPr>
            <a:r>
              <a:rPr sz="2025" b="0">
                <a:solidFill>
                  <a:srgbClr val="122442"/>
                </a:solidFill>
                <a:latin typeface="Arial"/>
                <a:ea typeface="Arial"/>
                <a:cs typeface="Arial"/>
              </a:rPr>
              <a:t>без запазване на запис.</a:t>
            </a:r>
          </a:p>
        </p:txBody>
      </p:sp>
      <p:sp>
        <p:nvSpPr>
          <p:cNvPr id="10" name="">
            <a:extLst xmlns:a="http://schemas.openxmlformats.org/drawingml/2006/main">
              <a:ext uri="{FF2B5EF4-FFF2-40B4-BE49-F238E27FC236}">
                <a16:creationId xmlns:a16="http://schemas.microsoft.com/office/drawing/2014/main" id="{EFB4418F-B8A4-4D17-930F-A3ADFC040F8A}"/>
              </a:ext>
            </a:extLst>
          </p:cNvPr>
          <p:cNvSpPr>
            <a:spLocks xmlns:a="http://schemas.openxmlformats.org/drawingml/2006/main" noGrp="1"/>
          </p:cNvSpPr>
          <p:nvPr/>
        </p:nvSpPr>
        <p:spPr>
          <a:xfrm xmlns:a="http://schemas.openxmlformats.org/drawingml/2006/main">
            <a:off x="685800" y="595312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2447A6"/>
                </a:solidFill>
                <a:latin typeface="Arial"/>
                <a:ea typeface="Arial"/>
                <a:cs typeface="Arial"/>
              </a:defRPr>
            </a:defPPr>
          </a:lstStyle>
          <a:p xmlns:a="http://schemas.openxmlformats.org/drawingml/2006/main">
            <a:pPr>
              <a:defRPr sz="2100" b="1">
                <a:solidFill>
                  <a:srgbClr val="2447A6"/>
                </a:solidFill>
                <a:latin typeface="Arial"/>
                <a:ea typeface="Arial"/>
                <a:cs typeface="Arial"/>
              </a:defRPr>
            </a:pPr>
            <a:r>
              <a:rPr sz="2100" b="1">
                <a:solidFill>
                  <a:srgbClr val="2447A6"/>
                </a:solidFill>
                <a:latin typeface="Arial"/>
                <a:ea typeface="Arial"/>
                <a:cs typeface="Arial"/>
              </a:rPr>
              <a:t>Промптът задава идеята. Спецификацията уточнява правилата.</a:t>
            </a:r>
          </a:p>
        </p:txBody>
      </p:sp>
      <p:sp>
        <p:nvSpPr>
          <p:cNvPr id="11" name="">
            <a:extLst xmlns:a="http://schemas.openxmlformats.org/drawingml/2006/main">
              <a:ext uri="{FF2B5EF4-FFF2-40B4-BE49-F238E27FC236}">
                <a16:creationId xmlns:a16="http://schemas.microsoft.com/office/drawing/2014/main" id="{B33FDD14-1D5A-4FB0-8281-8509519F7C3A}"/>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defRPr sz="1275" b="0">
                <a:solidFill>
                  <a:srgbClr val="4D5C74"/>
                </a:solidFill>
                <a:latin typeface="Arial"/>
                <a:ea typeface="Arial"/>
                <a:cs typeface="Arial"/>
              </a:defRPr>
            </a:pPr>
            <a:r>
              <a:rPr sz="1275" b="0">
                <a:solidFill>
                  <a:srgbClr val="4D5C74"/>
                </a:solidFill>
                <a:latin typeface="Arial"/>
                <a:ea typeface="Arial"/>
                <a:cs typeface="Arial"/>
              </a:rPr>
              <a:t>05</a:t>
            </a:r>
          </a:p>
        </p:txBody>
      </p:sp>
    </p:spTree>
    <p:extLst>
      <p:ext uri="{BB962C8B-B14F-4D97-AF65-F5344CB8AC3E}">
        <p14:creationId xmlns:p14="http://schemas.microsoft.com/office/powerpoint/2010/main" val="1317058418"/>
      </p:ext>
    </p:extLst>
  </p:cSld>
</p:sld>
</file>

<file path=ppt/slides/slide6.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D98951CB-47E4-4B53-9F81-77DFA574ED6D}"/>
              </a:ext>
            </a:extLst>
          </p:cNvPr>
          <p:cNvCxnSpPr>
            <a:stCxn xmlns:a="http://schemas.openxmlformats.org/drawingml/2006/main" id="16" idx="2"/>
            <a:endCxn xmlns:a="http://schemas.openxmlformats.org/drawingml/2006/main" id="4" idx="2"/>
          </p:cNvCxnSpPr>
          <p:nvPr/>
        </p:nvCxnSpPr>
        <p:spPr>
          <a:xfrm xmlns:a="http://schemas.openxmlformats.org/drawingml/2006/main" flipH="1">
            <a:off x="1866900" y="3305175"/>
            <a:ext cx="8458200" cy="0"/>
          </a:xfrm>
          <a:prstGeom xmlns:a="http://schemas.openxmlformats.org/drawingml/2006/main" prst="straightConnector1">
            <a:avLst/>
          </a:prstGeom>
          <a:ln xmlns:a="http://schemas.openxmlformats.org/drawingml/2006/main" w="28575">
            <a:solidFill>
              <a:srgbClr val="4D5C74"/>
            </a:solidFill>
            <a:tailEnd type="triangle" w="med" len="med"/>
          </a:ln>
        </p:spPr>
      </p:cxnSp>
      <p:cxnSp>
        <p:nvCxnSpPr>
          <p:cNvPr id="21" name="">
            <a:extLst xmlns:a="http://schemas.openxmlformats.org/drawingml/2006/main">
              <a:ext uri="{FF2B5EF4-FFF2-40B4-BE49-F238E27FC236}">
                <a16:creationId xmlns:a16="http://schemas.microsoft.com/office/drawing/2014/main" id="{4618379B-C79A-4F84-AC29-2545738699FA}"/>
              </a:ext>
            </a:extLst>
          </p:cNvPr>
          <p:cNvCxnSpPr>
            <a:stCxn xmlns:a="http://schemas.openxmlformats.org/drawingml/2006/main" id="12" idx="3"/>
            <a:endCxn xmlns:a="http://schemas.openxmlformats.org/drawingml/2006/main" id="16" idx="1"/>
          </p:cNvCxnSpPr>
          <p:nvPr/>
        </p:nvCxnSpPr>
        <p:spPr>
          <a:xfrm xmlns:a="http://schemas.openxmlformats.org/drawingml/2006/main">
            <a:off x="8686800" y="2933700"/>
            <a:ext cx="457200" cy="0"/>
          </a:xfrm>
          <a:prstGeom xmlns:a="http://schemas.openxmlformats.org/drawingml/2006/main" prst="straightConnector1">
            <a:avLst/>
          </a:prstGeom>
          <a:ln xmlns:a="http://schemas.openxmlformats.org/drawingml/2006/main" w="28575">
            <a:solidFill>
              <a:srgbClr val="2447A6"/>
            </a:solidFill>
            <a:tailEnd type="triangle" w="med" len="med"/>
          </a:ln>
        </p:spPr>
      </p:cxnSp>
      <p:cxnSp>
        <p:nvCxnSpPr>
          <p:cNvPr id="20" name="">
            <a:extLst xmlns:a="http://schemas.openxmlformats.org/drawingml/2006/main">
              <a:ext uri="{FF2B5EF4-FFF2-40B4-BE49-F238E27FC236}">
                <a16:creationId xmlns:a16="http://schemas.microsoft.com/office/drawing/2014/main" id="{2F762B9F-9BD1-46BF-B2E0-608981358E0B}"/>
              </a:ext>
            </a:extLst>
          </p:cNvPr>
          <p:cNvCxnSpPr>
            <a:stCxn xmlns:a="http://schemas.openxmlformats.org/drawingml/2006/main" id="8" idx="3"/>
            <a:endCxn xmlns:a="http://schemas.openxmlformats.org/drawingml/2006/main" id="12" idx="1"/>
          </p:cNvCxnSpPr>
          <p:nvPr/>
        </p:nvCxnSpPr>
        <p:spPr>
          <a:xfrm xmlns:a="http://schemas.openxmlformats.org/drawingml/2006/main">
            <a:off x="5867400" y="2933700"/>
            <a:ext cx="457200" cy="0"/>
          </a:xfrm>
          <a:prstGeom xmlns:a="http://schemas.openxmlformats.org/drawingml/2006/main" prst="straightConnector1">
            <a:avLst/>
          </a:prstGeom>
          <a:ln xmlns:a="http://schemas.openxmlformats.org/drawingml/2006/main" w="28575">
            <a:solidFill>
              <a:srgbClr val="2447A6"/>
            </a:solidFill>
            <a:tailEnd type="triangle" w="med" len="med"/>
          </a:ln>
        </p:spPr>
      </p:cxnSp>
      <p:cxnSp>
        <p:nvCxnSpPr>
          <p:cNvPr id="19" name="">
            <a:extLst xmlns:a="http://schemas.openxmlformats.org/drawingml/2006/main">
              <a:ext uri="{FF2B5EF4-FFF2-40B4-BE49-F238E27FC236}">
                <a16:creationId xmlns:a16="http://schemas.microsoft.com/office/drawing/2014/main" id="{DA41AA88-1E5B-44E1-9A5B-9CBFA0891B86}"/>
              </a:ext>
            </a:extLst>
          </p:cNvPr>
          <p:cNvCxnSpPr>
            <a:stCxn xmlns:a="http://schemas.openxmlformats.org/drawingml/2006/main" id="4" idx="3"/>
            <a:endCxn xmlns:a="http://schemas.openxmlformats.org/drawingml/2006/main" id="8" idx="1"/>
          </p:cNvCxnSpPr>
          <p:nvPr/>
        </p:nvCxnSpPr>
        <p:spPr>
          <a:xfrm xmlns:a="http://schemas.openxmlformats.org/drawingml/2006/main">
            <a:off x="3048000" y="2933700"/>
            <a:ext cx="457200" cy="0"/>
          </a:xfrm>
          <a:prstGeom xmlns:a="http://schemas.openxmlformats.org/drawingml/2006/main" prst="straightConnector1">
            <a:avLst/>
          </a:prstGeom>
          <a:ln xmlns:a="http://schemas.openxmlformats.org/drawingml/2006/main" w="28575">
            <a:solidFill>
              <a:srgbClr val="2447A6"/>
            </a:solidFill>
            <a:tailEnd type="triangle" w="med" len="med"/>
          </a:ln>
        </p:spPr>
      </p:cxnSp>
      <p:sp>
        <p:nvSpPr>
          <p:cNvPr id="28" name="">
            <a:extLst xmlns:a="http://schemas.openxmlformats.org/drawingml/2006/main">
              <a:ext uri="{FF2B5EF4-FFF2-40B4-BE49-F238E27FC236}">
                <a16:creationId xmlns:a16="http://schemas.microsoft.com/office/drawing/2014/main" id="{3905A7DE-922A-465A-8B37-28F18BD29035}"/>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defRPr sz="3300" b="1">
                <a:solidFill>
                  <a:srgbClr val="122442"/>
                </a:solidFill>
                <a:latin typeface="Arial"/>
                <a:ea typeface="Arial"/>
                <a:cs typeface="Arial"/>
              </a:defRPr>
            </a:pPr>
            <a:r>
              <a:rPr sz="3300" b="1">
                <a:solidFill>
                  <a:srgbClr val="122442"/>
                </a:solidFill>
                <a:latin typeface="Arial"/>
                <a:ea typeface="Arial"/>
                <a:cs typeface="Arial"/>
              </a:rPr>
              <a:t>SDD: Specify, Plan, Implement, Verify</a:t>
            </a:r>
          </a:p>
        </p:txBody>
      </p:sp>
      <p:sp>
        <p:nvSpPr>
          <p:cNvPr id="2" name="">
            <a:extLst xmlns:a="http://schemas.openxmlformats.org/drawingml/2006/main">
              <a:ext uri="{FF2B5EF4-FFF2-40B4-BE49-F238E27FC236}">
                <a16:creationId xmlns:a16="http://schemas.microsoft.com/office/drawing/2014/main" id="{E599B1CC-3DD3-4AC5-8451-EEECC0FC1225}"/>
              </a:ext>
            </a:extLst>
          </p:cNvPr>
          <p:cNvSpPr>
            <a:spLocks xmlns:a="http://schemas.openxmlformats.org/drawingml/2006/main" noGrp="1"/>
          </p:cNvSpPr>
          <p:nvPr/>
        </p:nvSpPr>
        <p:spPr>
          <a:xfrm xmlns:a="http://schemas.openxmlformats.org/drawingml/2006/main">
            <a:off x="685800" y="15049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2447A6"/>
                </a:solidFill>
                <a:latin typeface="Arial"/>
                <a:ea typeface="Arial"/>
                <a:cs typeface="Arial"/>
              </a:defRPr>
            </a:defPPr>
          </a:lstStyle>
          <a:p xmlns:a="http://schemas.openxmlformats.org/drawingml/2006/main">
            <a:pPr>
              <a:defRPr sz="2100" b="1">
                <a:solidFill>
                  <a:srgbClr val="2447A6"/>
                </a:solidFill>
                <a:latin typeface="Arial"/>
                <a:ea typeface="Arial"/>
                <a:cs typeface="Arial"/>
              </a:defRPr>
            </a:pPr>
            <a:r>
              <a:rPr sz="2100" b="1">
                <a:solidFill>
                  <a:srgbClr val="2447A6"/>
                </a:solidFill>
                <a:latin typeface="Arial"/>
                <a:ea typeface="Arial"/>
                <a:cs typeface="Arial"/>
              </a:rPr>
              <a:t>Четири етапа, които свързват бизнес нуждата с проверения резултат.</a:t>
            </a:r>
          </a:p>
        </p:txBody>
      </p:sp>
      <p:sp>
        <p:nvSpPr>
          <p:cNvPr id="3" name="">
            <a:extLst xmlns:a="http://schemas.openxmlformats.org/drawingml/2006/main">
              <a:ext uri="{FF2B5EF4-FFF2-40B4-BE49-F238E27FC236}">
                <a16:creationId xmlns:a16="http://schemas.microsoft.com/office/drawing/2014/main" id="{1CB44DFB-4247-48B2-B91C-7489E4A61FD1}"/>
              </a:ext>
            </a:extLst>
          </p:cNvPr>
          <p:cNvSpPr>
            <a:spLocks xmlns:a="http://schemas.openxmlformats.org/drawingml/2006/main" noGrp="1"/>
          </p:cNvSpPr>
          <p:nvPr/>
        </p:nvSpPr>
        <p:spPr>
          <a:xfrm xmlns:a="http://schemas.openxmlformats.org/drawingml/2006/main">
            <a:off x="685800" y="2133600"/>
            <a:ext cx="2362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2447A6"/>
                </a:solidFill>
                <a:latin typeface="Arial"/>
                <a:ea typeface="Arial"/>
                <a:cs typeface="Arial"/>
              </a:defRPr>
            </a:defPPr>
          </a:lstStyle>
          <a:p xmlns:a="http://schemas.openxmlformats.org/drawingml/2006/main">
            <a:pPr>
              <a:defRPr sz="1425" b="1">
                <a:solidFill>
                  <a:srgbClr val="2447A6"/>
                </a:solidFill>
                <a:latin typeface="Arial"/>
                <a:ea typeface="Arial"/>
                <a:cs typeface="Arial"/>
              </a:defRPr>
            </a:pPr>
            <a:r>
              <a:rPr sz="1425" b="1">
                <a:solidFill>
                  <a:srgbClr val="2447A6"/>
                </a:solidFill>
                <a:latin typeface="Arial"/>
                <a:ea typeface="Arial"/>
                <a:cs typeface="Arial"/>
              </a:rPr>
              <a:t>Човешки преглед</a:t>
            </a:r>
          </a:p>
        </p:txBody>
      </p:sp>
      <p:sp>
        <p:nvSpPr>
          <p:cNvPr id="4" name="">
            <a:extLst xmlns:a="http://schemas.openxmlformats.org/drawingml/2006/main">
              <a:ext uri="{FF2B5EF4-FFF2-40B4-BE49-F238E27FC236}">
                <a16:creationId xmlns:a16="http://schemas.microsoft.com/office/drawing/2014/main" id="{1552B6AC-2CA2-47CA-AEBB-6025CFD99430}"/>
              </a:ext>
            </a:extLst>
          </p:cNvPr>
          <p:cNvSpPr>
            <a:spLocks xmlns:a="http://schemas.openxmlformats.org/drawingml/2006/main" noGrp="1"/>
          </p:cNvSpPr>
          <p:nvPr/>
        </p:nvSpPr>
        <p:spPr>
          <a:xfrm xmlns:a="http://schemas.openxmlformats.org/drawingml/2006/main">
            <a:off x="685800" y="2562225"/>
            <a:ext cx="2362200" cy="742950"/>
          </a:xfrm>
          <a:prstGeom xmlns:a="http://schemas.openxmlformats.org/drawingml/2006/main" prst="roundRect">
            <a:avLst>
              <a:gd name="adj" fmla="val 20513"/>
            </a:avLst>
          </a:prstGeom>
          <a:solidFill xmlns:a="http://schemas.openxmlformats.org/drawingml/2006/main">
            <a:srgbClr val="2447A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337889-A703-4CDE-815C-C1F112AE9425}"/>
              </a:ext>
            </a:extLst>
          </p:cNvPr>
          <p:cNvSpPr>
            <a:spLocks xmlns:a="http://schemas.openxmlformats.org/drawingml/2006/main" noGrp="1"/>
          </p:cNvSpPr>
          <p:nvPr/>
        </p:nvSpPr>
        <p:spPr>
          <a:xfrm xmlns:a="http://schemas.openxmlformats.org/drawingml/2006/main">
            <a:off x="857250" y="2724150"/>
            <a:ext cx="2019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Specify</a:t>
            </a:r>
          </a:p>
        </p:txBody>
      </p:sp>
      <p:sp>
        <p:nvSpPr>
          <p:cNvPr id="6" name="">
            <a:extLst xmlns:a="http://schemas.openxmlformats.org/drawingml/2006/main">
              <a:ext uri="{FF2B5EF4-FFF2-40B4-BE49-F238E27FC236}">
                <a16:creationId xmlns:a16="http://schemas.microsoft.com/office/drawing/2014/main" id="{4C5A6890-BE6D-42E7-AE3A-8006BEAE279C}"/>
              </a:ext>
            </a:extLst>
          </p:cNvPr>
          <p:cNvSpPr>
            <a:spLocks xmlns:a="http://schemas.openxmlformats.org/drawingml/2006/main" noGrp="1"/>
          </p:cNvSpPr>
          <p:nvPr/>
        </p:nvSpPr>
        <p:spPr>
          <a:xfrm xmlns:a="http://schemas.openxmlformats.org/drawingml/2006/main">
            <a:off x="685800" y="3924300"/>
            <a:ext cx="23622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22442"/>
                </a:solidFill>
                <a:latin typeface="Arial"/>
                <a:ea typeface="Arial"/>
                <a:cs typeface="Arial"/>
              </a:defRPr>
            </a:defPPr>
          </a:lstStyle>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Какво трябва да прави?</a:t>
            </a:r>
          </a:p>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Изисквания, правила</a:t>
            </a:r>
          </a:p>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и критерии за приемане.</a:t>
            </a:r>
          </a:p>
        </p:txBody>
      </p:sp>
      <p:sp>
        <p:nvSpPr>
          <p:cNvPr id="7" name="">
            <a:extLst xmlns:a="http://schemas.openxmlformats.org/drawingml/2006/main">
              <a:ext uri="{FF2B5EF4-FFF2-40B4-BE49-F238E27FC236}">
                <a16:creationId xmlns:a16="http://schemas.microsoft.com/office/drawing/2014/main" id="{937098A5-3609-4148-9866-11639B7D7000}"/>
              </a:ext>
            </a:extLst>
          </p:cNvPr>
          <p:cNvSpPr>
            <a:spLocks xmlns:a="http://schemas.openxmlformats.org/drawingml/2006/main" noGrp="1"/>
          </p:cNvSpPr>
          <p:nvPr/>
        </p:nvSpPr>
        <p:spPr>
          <a:xfrm xmlns:a="http://schemas.openxmlformats.org/drawingml/2006/main">
            <a:off x="3505200" y="2133600"/>
            <a:ext cx="2362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7041B9"/>
                </a:solidFill>
                <a:latin typeface="Arial"/>
                <a:ea typeface="Arial"/>
                <a:cs typeface="Arial"/>
              </a:defRPr>
            </a:defPPr>
          </a:lstStyle>
          <a:p xmlns:a="http://schemas.openxmlformats.org/drawingml/2006/main">
            <a:pPr>
              <a:defRPr sz="1425" b="1">
                <a:solidFill>
                  <a:srgbClr val="7041B9"/>
                </a:solidFill>
                <a:latin typeface="Arial"/>
                <a:ea typeface="Arial"/>
                <a:cs typeface="Arial"/>
              </a:defRPr>
            </a:pPr>
            <a:r>
              <a:rPr sz="1425" b="1">
                <a:solidFill>
                  <a:srgbClr val="7041B9"/>
                </a:solidFill>
                <a:latin typeface="Arial"/>
                <a:ea typeface="Arial"/>
                <a:cs typeface="Arial"/>
              </a:rPr>
              <a:t>Човешки преглед</a:t>
            </a:r>
          </a:p>
        </p:txBody>
      </p:sp>
      <p:sp>
        <p:nvSpPr>
          <p:cNvPr id="8" name="">
            <a:extLst xmlns:a="http://schemas.openxmlformats.org/drawingml/2006/main">
              <a:ext uri="{FF2B5EF4-FFF2-40B4-BE49-F238E27FC236}">
                <a16:creationId xmlns:a16="http://schemas.microsoft.com/office/drawing/2014/main" id="{88C196BA-62B0-4F07-BEB1-D1156C23D5DC}"/>
              </a:ext>
            </a:extLst>
          </p:cNvPr>
          <p:cNvSpPr>
            <a:spLocks xmlns:a="http://schemas.openxmlformats.org/drawingml/2006/main" noGrp="1"/>
          </p:cNvSpPr>
          <p:nvPr/>
        </p:nvSpPr>
        <p:spPr>
          <a:xfrm xmlns:a="http://schemas.openxmlformats.org/drawingml/2006/main">
            <a:off x="3505200" y="2562225"/>
            <a:ext cx="2362200" cy="742950"/>
          </a:xfrm>
          <a:prstGeom xmlns:a="http://schemas.openxmlformats.org/drawingml/2006/main" prst="roundRect">
            <a:avLst>
              <a:gd name="adj" fmla="val 20513"/>
            </a:avLst>
          </a:prstGeom>
          <a:solidFill xmlns:a="http://schemas.openxmlformats.org/drawingml/2006/main">
            <a:srgbClr val="7041B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A62F212-F1FF-4B06-A8DA-7704537FB964}"/>
              </a:ext>
            </a:extLst>
          </p:cNvPr>
          <p:cNvSpPr>
            <a:spLocks xmlns:a="http://schemas.openxmlformats.org/drawingml/2006/main" noGrp="1"/>
          </p:cNvSpPr>
          <p:nvPr/>
        </p:nvSpPr>
        <p:spPr>
          <a:xfrm xmlns:a="http://schemas.openxmlformats.org/drawingml/2006/main">
            <a:off x="3676650" y="2724150"/>
            <a:ext cx="2019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Plan</a:t>
            </a:r>
          </a:p>
        </p:txBody>
      </p:sp>
      <p:sp>
        <p:nvSpPr>
          <p:cNvPr id="10" name="">
            <a:extLst xmlns:a="http://schemas.openxmlformats.org/drawingml/2006/main">
              <a:ext uri="{FF2B5EF4-FFF2-40B4-BE49-F238E27FC236}">
                <a16:creationId xmlns:a16="http://schemas.microsoft.com/office/drawing/2014/main" id="{E8E1CD87-DEEA-4CCD-A04A-83376280BCC9}"/>
              </a:ext>
            </a:extLst>
          </p:cNvPr>
          <p:cNvSpPr>
            <a:spLocks xmlns:a="http://schemas.openxmlformats.org/drawingml/2006/main" noGrp="1"/>
          </p:cNvSpPr>
          <p:nvPr/>
        </p:nvSpPr>
        <p:spPr>
          <a:xfrm xmlns:a="http://schemas.openxmlformats.org/drawingml/2006/main">
            <a:off x="3505200" y="3924300"/>
            <a:ext cx="23622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22442"/>
                </a:solidFill>
                <a:latin typeface="Arial"/>
                <a:ea typeface="Arial"/>
                <a:cs typeface="Arial"/>
              </a:defRPr>
            </a:defPPr>
          </a:lstStyle>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Как ще го направим?</a:t>
            </a:r>
          </a:p>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Технически решения</a:t>
            </a:r>
          </a:p>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и малки задачи.</a:t>
            </a:r>
          </a:p>
        </p:txBody>
      </p:sp>
      <p:sp>
        <p:nvSpPr>
          <p:cNvPr id="11" name="">
            <a:extLst xmlns:a="http://schemas.openxmlformats.org/drawingml/2006/main">
              <a:ext uri="{FF2B5EF4-FFF2-40B4-BE49-F238E27FC236}">
                <a16:creationId xmlns:a16="http://schemas.microsoft.com/office/drawing/2014/main" id="{2707B06B-ECBD-4543-B268-12452437648F}"/>
              </a:ext>
            </a:extLst>
          </p:cNvPr>
          <p:cNvSpPr>
            <a:spLocks xmlns:a="http://schemas.openxmlformats.org/drawingml/2006/main" noGrp="1"/>
          </p:cNvSpPr>
          <p:nvPr/>
        </p:nvSpPr>
        <p:spPr>
          <a:xfrm xmlns:a="http://schemas.openxmlformats.org/drawingml/2006/main">
            <a:off x="6324600" y="2133600"/>
            <a:ext cx="2362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37957"/>
                </a:solidFill>
                <a:latin typeface="Arial"/>
                <a:ea typeface="Arial"/>
                <a:cs typeface="Arial"/>
              </a:defRPr>
            </a:defPPr>
          </a:lstStyle>
          <a:p xmlns:a="http://schemas.openxmlformats.org/drawingml/2006/main">
            <a:pPr>
              <a:defRPr sz="1425" b="1">
                <a:solidFill>
                  <a:srgbClr val="137957"/>
                </a:solidFill>
                <a:latin typeface="Arial"/>
                <a:ea typeface="Arial"/>
                <a:cs typeface="Arial"/>
              </a:defRPr>
            </a:pPr>
            <a:r>
              <a:rPr sz="1425" b="1">
                <a:solidFill>
                  <a:srgbClr val="137957"/>
                </a:solidFill>
                <a:latin typeface="Arial"/>
                <a:ea typeface="Arial"/>
                <a:cs typeface="Arial"/>
              </a:rPr>
              <a:t>Човешки преглед</a:t>
            </a:r>
          </a:p>
        </p:txBody>
      </p:sp>
      <p:sp>
        <p:nvSpPr>
          <p:cNvPr id="12" name="">
            <a:extLst xmlns:a="http://schemas.openxmlformats.org/drawingml/2006/main">
              <a:ext uri="{FF2B5EF4-FFF2-40B4-BE49-F238E27FC236}">
                <a16:creationId xmlns:a16="http://schemas.microsoft.com/office/drawing/2014/main" id="{07B8751A-335B-4F75-9279-CF40FACDFED5}"/>
              </a:ext>
            </a:extLst>
          </p:cNvPr>
          <p:cNvSpPr>
            <a:spLocks xmlns:a="http://schemas.openxmlformats.org/drawingml/2006/main" noGrp="1"/>
          </p:cNvSpPr>
          <p:nvPr/>
        </p:nvSpPr>
        <p:spPr>
          <a:xfrm xmlns:a="http://schemas.openxmlformats.org/drawingml/2006/main">
            <a:off x="6324600" y="2562225"/>
            <a:ext cx="2362200" cy="742950"/>
          </a:xfrm>
          <a:prstGeom xmlns:a="http://schemas.openxmlformats.org/drawingml/2006/main" prst="roundRect">
            <a:avLst>
              <a:gd name="adj" fmla="val 20513"/>
            </a:avLst>
          </a:prstGeom>
          <a:solidFill xmlns:a="http://schemas.openxmlformats.org/drawingml/2006/main">
            <a:srgbClr val="13795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294D2D0-0346-4703-88E5-1ED6239803F0}"/>
              </a:ext>
            </a:extLst>
          </p:cNvPr>
          <p:cNvSpPr>
            <a:spLocks xmlns:a="http://schemas.openxmlformats.org/drawingml/2006/main" noGrp="1"/>
          </p:cNvSpPr>
          <p:nvPr/>
        </p:nvSpPr>
        <p:spPr>
          <a:xfrm xmlns:a="http://schemas.openxmlformats.org/drawingml/2006/main">
            <a:off x="6496050" y="2724150"/>
            <a:ext cx="2019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Implement</a:t>
            </a:r>
          </a:p>
        </p:txBody>
      </p:sp>
      <p:sp>
        <p:nvSpPr>
          <p:cNvPr id="14" name="">
            <a:extLst xmlns:a="http://schemas.openxmlformats.org/drawingml/2006/main">
              <a:ext uri="{FF2B5EF4-FFF2-40B4-BE49-F238E27FC236}">
                <a16:creationId xmlns:a16="http://schemas.microsoft.com/office/drawing/2014/main" id="{0E0CF038-F5A8-4236-9519-23574D4F6269}"/>
              </a:ext>
            </a:extLst>
          </p:cNvPr>
          <p:cNvSpPr>
            <a:spLocks xmlns:a="http://schemas.openxmlformats.org/drawingml/2006/main" noGrp="1"/>
          </p:cNvSpPr>
          <p:nvPr/>
        </p:nvSpPr>
        <p:spPr>
          <a:xfrm xmlns:a="http://schemas.openxmlformats.org/drawingml/2006/main">
            <a:off x="6324600" y="3924300"/>
            <a:ext cx="23622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22442"/>
                </a:solidFill>
                <a:latin typeface="Arial"/>
                <a:ea typeface="Arial"/>
                <a:cs typeface="Arial"/>
              </a:defRPr>
            </a:defPPr>
          </a:lstStyle>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Агентът реализира</a:t>
            </a:r>
          </a:p>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задачите и пише</a:t>
            </a:r>
          </a:p>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unit тестове.</a:t>
            </a:r>
          </a:p>
        </p:txBody>
      </p:sp>
      <p:sp>
        <p:nvSpPr>
          <p:cNvPr id="15" name="">
            <a:extLst xmlns:a="http://schemas.openxmlformats.org/drawingml/2006/main">
              <a:ext uri="{FF2B5EF4-FFF2-40B4-BE49-F238E27FC236}">
                <a16:creationId xmlns:a16="http://schemas.microsoft.com/office/drawing/2014/main" id="{5BB6AFA9-E1B7-4F31-BF9A-3593C5BEEE59}"/>
              </a:ext>
            </a:extLst>
          </p:cNvPr>
          <p:cNvSpPr>
            <a:spLocks xmlns:a="http://schemas.openxmlformats.org/drawingml/2006/main" noGrp="1"/>
          </p:cNvSpPr>
          <p:nvPr/>
        </p:nvSpPr>
        <p:spPr>
          <a:xfrm xmlns:a="http://schemas.openxmlformats.org/drawingml/2006/main">
            <a:off x="9144000" y="2133600"/>
            <a:ext cx="2362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67E96"/>
                </a:solidFill>
                <a:latin typeface="Arial"/>
                <a:ea typeface="Arial"/>
                <a:cs typeface="Arial"/>
              </a:defRPr>
            </a:defPPr>
          </a:lstStyle>
          <a:p xmlns:a="http://schemas.openxmlformats.org/drawingml/2006/main">
            <a:pPr>
              <a:defRPr sz="1425" b="1">
                <a:solidFill>
                  <a:srgbClr val="067E96"/>
                </a:solidFill>
                <a:latin typeface="Arial"/>
                <a:ea typeface="Arial"/>
                <a:cs typeface="Arial"/>
              </a:defRPr>
            </a:pPr>
            <a:r>
              <a:rPr sz="1425" b="1">
                <a:solidFill>
                  <a:srgbClr val="067E96"/>
                </a:solidFill>
                <a:latin typeface="Arial"/>
                <a:ea typeface="Arial"/>
                <a:cs typeface="Arial"/>
              </a:rPr>
              <a:t>Автоматично + човек</a:t>
            </a:r>
          </a:p>
        </p:txBody>
      </p:sp>
      <p:sp>
        <p:nvSpPr>
          <p:cNvPr id="16" name="">
            <a:extLst xmlns:a="http://schemas.openxmlformats.org/drawingml/2006/main">
              <a:ext uri="{FF2B5EF4-FFF2-40B4-BE49-F238E27FC236}">
                <a16:creationId xmlns:a16="http://schemas.microsoft.com/office/drawing/2014/main" id="{7840C6B5-6111-4E04-9431-7F720608AB3F}"/>
              </a:ext>
            </a:extLst>
          </p:cNvPr>
          <p:cNvSpPr>
            <a:spLocks xmlns:a="http://schemas.openxmlformats.org/drawingml/2006/main" noGrp="1"/>
          </p:cNvSpPr>
          <p:nvPr/>
        </p:nvSpPr>
        <p:spPr>
          <a:xfrm xmlns:a="http://schemas.openxmlformats.org/drawingml/2006/main">
            <a:off x="9144000" y="2562225"/>
            <a:ext cx="2362200" cy="742950"/>
          </a:xfrm>
          <a:prstGeom xmlns:a="http://schemas.openxmlformats.org/drawingml/2006/main" prst="roundRect">
            <a:avLst>
              <a:gd name="adj" fmla="val 20513"/>
            </a:avLst>
          </a:prstGeom>
          <a:solidFill xmlns:a="http://schemas.openxmlformats.org/drawingml/2006/main">
            <a:srgbClr val="067E9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A5B2357-AB60-4851-8B97-0E409009D76C}"/>
              </a:ext>
            </a:extLst>
          </p:cNvPr>
          <p:cNvSpPr>
            <a:spLocks xmlns:a="http://schemas.openxmlformats.org/drawingml/2006/main" noGrp="1"/>
          </p:cNvSpPr>
          <p:nvPr/>
        </p:nvSpPr>
        <p:spPr>
          <a:xfrm xmlns:a="http://schemas.openxmlformats.org/drawingml/2006/main">
            <a:off x="9315450" y="2724150"/>
            <a:ext cx="2019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Verify</a:t>
            </a:r>
          </a:p>
        </p:txBody>
      </p:sp>
      <p:sp>
        <p:nvSpPr>
          <p:cNvPr id="18" name="">
            <a:extLst xmlns:a="http://schemas.openxmlformats.org/drawingml/2006/main">
              <a:ext uri="{FF2B5EF4-FFF2-40B4-BE49-F238E27FC236}">
                <a16:creationId xmlns:a16="http://schemas.microsoft.com/office/drawing/2014/main" id="{596E06E4-CFE9-4210-BF11-72DEA8125994}"/>
              </a:ext>
            </a:extLst>
          </p:cNvPr>
          <p:cNvSpPr>
            <a:spLocks xmlns:a="http://schemas.openxmlformats.org/drawingml/2006/main" noGrp="1"/>
          </p:cNvSpPr>
          <p:nvPr/>
        </p:nvSpPr>
        <p:spPr>
          <a:xfrm xmlns:a="http://schemas.openxmlformats.org/drawingml/2006/main">
            <a:off x="9144000" y="3924300"/>
            <a:ext cx="23622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22442"/>
                </a:solidFill>
                <a:latin typeface="Arial"/>
                <a:ea typeface="Arial"/>
                <a:cs typeface="Arial"/>
              </a:defRPr>
            </a:defPPr>
          </a:lstStyle>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Тестове + човек:</a:t>
            </a:r>
          </a:p>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проверяваме резултата</a:t>
            </a:r>
          </a:p>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спрямо изискванията.</a:t>
            </a:r>
          </a:p>
        </p:txBody>
      </p:sp>
      <p:sp>
        <p:nvSpPr>
          <p:cNvPr id="23" name="">
            <a:extLst xmlns:a="http://schemas.openxmlformats.org/drawingml/2006/main">
              <a:ext uri="{FF2B5EF4-FFF2-40B4-BE49-F238E27FC236}">
                <a16:creationId xmlns:a16="http://schemas.microsoft.com/office/drawing/2014/main" id="{5F29045F-786A-4054-A1BB-E4A9449E9649}"/>
              </a:ext>
            </a:extLst>
          </p:cNvPr>
          <p:cNvSpPr>
            <a:spLocks xmlns:a="http://schemas.openxmlformats.org/drawingml/2006/main" noGrp="1"/>
          </p:cNvSpPr>
          <p:nvPr/>
        </p:nvSpPr>
        <p:spPr>
          <a:xfrm xmlns:a="http://schemas.openxmlformats.org/drawingml/2006/main">
            <a:off x="3105150" y="346710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4D5C74"/>
                </a:solidFill>
                <a:latin typeface="Arial"/>
                <a:ea typeface="Arial"/>
                <a:cs typeface="Arial"/>
              </a:defRPr>
            </a:defPPr>
          </a:lstStyle>
          <a:p xmlns:a="http://schemas.openxmlformats.org/drawingml/2006/main">
            <a:pPr>
              <a:defRPr sz="1725" b="1">
                <a:solidFill>
                  <a:srgbClr val="4D5C74"/>
                </a:solidFill>
                <a:latin typeface="Arial"/>
                <a:ea typeface="Arial"/>
                <a:cs typeface="Arial"/>
              </a:defRPr>
            </a:pPr>
            <a:r>
              <a:rPr sz="1725" b="1">
                <a:solidFill>
                  <a:srgbClr val="4D5C74"/>
                </a:solidFill>
                <a:latin typeface="Arial"/>
                <a:ea typeface="Arial"/>
                <a:cs typeface="Arial"/>
              </a:rPr>
              <a:t>При нужда се връщаме към спецификацията</a:t>
            </a:r>
          </a:p>
        </p:txBody>
      </p:sp>
      <p:sp>
        <p:nvSpPr>
          <p:cNvPr id="24" name="">
            <a:extLst xmlns:a="http://schemas.openxmlformats.org/drawingml/2006/main">
              <a:ext uri="{FF2B5EF4-FFF2-40B4-BE49-F238E27FC236}">
                <a16:creationId xmlns:a16="http://schemas.microsoft.com/office/drawing/2014/main" id="{26E10D2D-6096-4D26-A425-E27A13CC7DE9}"/>
              </a:ext>
            </a:extLst>
          </p:cNvPr>
          <p:cNvSpPr>
            <a:spLocks xmlns:a="http://schemas.openxmlformats.org/drawingml/2006/main" noGrp="1"/>
          </p:cNvSpPr>
          <p:nvPr/>
        </p:nvSpPr>
        <p:spPr>
          <a:xfrm xmlns:a="http://schemas.openxmlformats.org/drawingml/2006/main">
            <a:off x="685800" y="54387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2447A6"/>
                </a:solidFill>
                <a:latin typeface="Arial"/>
                <a:ea typeface="Arial"/>
                <a:cs typeface="Arial"/>
              </a:defRPr>
            </a:defPPr>
          </a:lstStyle>
          <a:p xmlns:a="http://schemas.openxmlformats.org/drawingml/2006/main">
            <a:pPr>
              <a:defRPr sz="2325" b="1">
                <a:solidFill>
                  <a:srgbClr val="2447A6"/>
                </a:solidFill>
                <a:latin typeface="Arial"/>
                <a:ea typeface="Arial"/>
                <a:cs typeface="Arial"/>
              </a:defRPr>
            </a:pPr>
            <a:r>
              <a:rPr sz="2325" b="1">
                <a:solidFill>
                  <a:srgbClr val="2447A6"/>
                </a:solidFill>
                <a:latin typeface="Arial"/>
                <a:ea typeface="Arial"/>
                <a:cs typeface="Arial"/>
              </a:rPr>
              <a:t>В демото: един spec.md за целия процес</a:t>
            </a:r>
          </a:p>
        </p:txBody>
      </p:sp>
      <p:sp>
        <p:nvSpPr>
          <p:cNvPr id="25" name="">
            <a:extLst xmlns:a="http://schemas.openxmlformats.org/drawingml/2006/main">
              <a:ext uri="{FF2B5EF4-FFF2-40B4-BE49-F238E27FC236}">
                <a16:creationId xmlns:a16="http://schemas.microsoft.com/office/drawing/2014/main" id="{F5E5A1F3-787E-49EE-9CCB-6367BA449956}"/>
              </a:ext>
            </a:extLst>
          </p:cNvPr>
          <p:cNvSpPr>
            <a:spLocks xmlns:a="http://schemas.openxmlformats.org/drawingml/2006/main" noGrp="1"/>
          </p:cNvSpPr>
          <p:nvPr/>
        </p:nvSpPr>
        <p:spPr>
          <a:xfrm xmlns:a="http://schemas.openxmlformats.org/drawingml/2006/main">
            <a:off x="685800" y="592455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22442"/>
                </a:solidFill>
                <a:latin typeface="Arial"/>
                <a:ea typeface="Arial"/>
                <a:cs typeface="Arial"/>
              </a:defRPr>
            </a:defPPr>
          </a:lstStyle>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Изисквания и критерии, технически бележки и задачи в един документ.</a:t>
            </a:r>
          </a:p>
        </p:txBody>
      </p:sp>
      <p:sp>
        <p:nvSpPr>
          <p:cNvPr id="26" name="">
            <a:extLst xmlns:a="http://schemas.openxmlformats.org/drawingml/2006/main">
              <a:ext uri="{FF2B5EF4-FFF2-40B4-BE49-F238E27FC236}">
                <a16:creationId xmlns:a16="http://schemas.microsoft.com/office/drawing/2014/main" id="{B869A4C4-BE06-4FC1-99F5-53A54793FF28}"/>
              </a:ext>
            </a:extLst>
          </p:cNvPr>
          <p:cNvSpPr>
            <a:spLocks xmlns:a="http://schemas.openxmlformats.org/drawingml/2006/main" noGrp="1"/>
          </p:cNvSpPr>
          <p:nvPr/>
        </p:nvSpPr>
        <p:spPr>
          <a:xfrm xmlns:a="http://schemas.openxmlformats.org/drawingml/2006/main">
            <a:off x="685800" y="63436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4D5C74"/>
                </a:solidFill>
                <a:latin typeface="Arial"/>
                <a:ea typeface="Arial"/>
                <a:cs typeface="Arial"/>
              </a:defRPr>
            </a:defPPr>
          </a:lstStyle>
          <a:p xmlns:a="http://schemas.openxmlformats.org/drawingml/2006/main">
            <a:pPr>
              <a:defRPr sz="1425" b="0">
                <a:solidFill>
                  <a:srgbClr val="4D5C74"/>
                </a:solidFill>
                <a:latin typeface="Arial"/>
                <a:ea typeface="Arial"/>
                <a:cs typeface="Arial"/>
              </a:defRPr>
            </a:pPr>
            <a:r>
              <a:rPr sz="1425" b="0">
                <a:solidFill>
                  <a:srgbClr val="4D5C74"/>
                </a:solidFill>
                <a:latin typeface="Arial"/>
                <a:ea typeface="Arial"/>
                <a:cs typeface="Arial"/>
              </a:rPr>
              <a:t>Draft до човешко одобрение. След това: Ready for implementation.</a:t>
            </a:r>
          </a:p>
        </p:txBody>
      </p:sp>
      <p:sp>
        <p:nvSpPr>
          <p:cNvPr id="27" name="">
            <a:extLst xmlns:a="http://schemas.openxmlformats.org/drawingml/2006/main">
              <a:ext uri="{FF2B5EF4-FFF2-40B4-BE49-F238E27FC236}">
                <a16:creationId xmlns:a16="http://schemas.microsoft.com/office/drawing/2014/main" id="{ED22CD75-8CF3-4C26-93D0-87FB9A4F6BCA}"/>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defRPr sz="1275" b="0">
                <a:solidFill>
                  <a:srgbClr val="4D5C74"/>
                </a:solidFill>
                <a:latin typeface="Arial"/>
                <a:ea typeface="Arial"/>
                <a:cs typeface="Arial"/>
              </a:defRPr>
            </a:pPr>
            <a:r>
              <a:rPr sz="1275" b="0">
                <a:solidFill>
                  <a:srgbClr val="4D5C74"/>
                </a:solidFill>
                <a:latin typeface="Arial"/>
                <a:ea typeface="Arial"/>
                <a:cs typeface="Arial"/>
              </a:rPr>
              <a:t>06</a:t>
            </a:r>
          </a:p>
        </p:txBody>
      </p:sp>
    </p:spTree>
    <p:extLst>
      <p:ext uri="{BB962C8B-B14F-4D97-AF65-F5344CB8AC3E}">
        <p14:creationId xmlns:p14="http://schemas.microsoft.com/office/powerpoint/2010/main" val="282994395"/>
      </p:ext>
    </p:extLst>
  </p:cSld>
</p:sld>
</file>

<file path=ppt/slides/slide7.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4ED6AA46-D8EF-47DD-BE7B-CA695569D368}"/>
              </a:ext>
            </a:extLst>
          </p:cNvPr>
          <p:cNvCxnSpPr>
            <a:stCxn xmlns:a="http://schemas.openxmlformats.org/drawingml/2006/main" id="14" idx="3"/>
            <a:endCxn xmlns:a="http://schemas.openxmlformats.org/drawingml/2006/main" id="17" idx="2"/>
          </p:cNvCxnSpPr>
          <p:nvPr/>
        </p:nvCxnSpPr>
        <p:spPr>
          <a:xfrm xmlns:a="http://schemas.openxmlformats.org/drawingml/2006/main" flipV="1">
            <a:off x="5781675" y="4095750"/>
            <a:ext cx="4276725" cy="1557338"/>
          </a:xfrm>
          <a:prstGeom xmlns:a="http://schemas.openxmlformats.org/drawingml/2006/main" prst="bentConnector4">
            <a:avLst>
              <a:gd name="adj1" fmla="val 5345"/>
              <a:gd name="adj2" fmla="val 85321"/>
            </a:avLst>
          </a:prstGeom>
          <a:ln xmlns:a="http://schemas.openxmlformats.org/drawingml/2006/main" w="28575">
            <a:solidFill>
              <a:srgbClr val="067E96"/>
            </a:solidFill>
            <a:tailEnd type="triangle" w="med" len="med"/>
          </a:ln>
        </p:spPr>
      </p:cxnSp>
      <p:cxnSp>
        <p:nvCxnSpPr>
          <p:cNvPr id="22" name="">
            <a:extLst xmlns:a="http://schemas.openxmlformats.org/drawingml/2006/main">
              <a:ext uri="{FF2B5EF4-FFF2-40B4-BE49-F238E27FC236}">
                <a16:creationId xmlns:a16="http://schemas.microsoft.com/office/drawing/2014/main" id="{0371EE76-27C0-41B8-B197-8540B3DB0437}"/>
              </a:ext>
            </a:extLst>
          </p:cNvPr>
          <p:cNvCxnSpPr>
            <a:stCxn xmlns:a="http://schemas.openxmlformats.org/drawingml/2006/main" id="11" idx="3"/>
            <a:endCxn xmlns:a="http://schemas.openxmlformats.org/drawingml/2006/main" id="17" idx="1"/>
          </p:cNvCxnSpPr>
          <p:nvPr/>
        </p:nvCxnSpPr>
        <p:spPr>
          <a:xfrm xmlns:a="http://schemas.openxmlformats.org/drawingml/2006/main" flipV="1">
            <a:off x="5781675" y="3562350"/>
            <a:ext cx="2828925" cy="1157288"/>
          </a:xfrm>
          <a:prstGeom xmlns:a="http://schemas.openxmlformats.org/drawingml/2006/main" prst="bentConnector3">
            <a:avLst>
              <a:gd name="adj1" fmla="val 50000"/>
            </a:avLst>
          </a:prstGeom>
          <a:ln xmlns:a="http://schemas.openxmlformats.org/drawingml/2006/main" w="28575">
            <a:solidFill>
              <a:srgbClr val="067E96"/>
            </a:solidFill>
            <a:tailEnd type="triangle" w="med" len="med"/>
          </a:ln>
        </p:spPr>
      </p:cxnSp>
      <p:cxnSp>
        <p:nvCxnSpPr>
          <p:cNvPr id="21" name="">
            <a:extLst xmlns:a="http://schemas.openxmlformats.org/drawingml/2006/main">
              <a:ext uri="{FF2B5EF4-FFF2-40B4-BE49-F238E27FC236}">
                <a16:creationId xmlns:a16="http://schemas.microsoft.com/office/drawing/2014/main" id="{73160F96-9662-4519-BA01-4DA502CDAC62}"/>
              </a:ext>
            </a:extLst>
          </p:cNvPr>
          <p:cNvCxnSpPr>
            <a:stCxn xmlns:a="http://schemas.openxmlformats.org/drawingml/2006/main" id="8" idx="3"/>
            <a:endCxn xmlns:a="http://schemas.openxmlformats.org/drawingml/2006/main" id="17" idx="1"/>
          </p:cNvCxnSpPr>
          <p:nvPr/>
        </p:nvCxnSpPr>
        <p:spPr>
          <a:xfrm xmlns:a="http://schemas.openxmlformats.org/drawingml/2006/main" flipV="1">
            <a:off x="5781675" y="3562350"/>
            <a:ext cx="2828925" cy="223838"/>
          </a:xfrm>
          <a:prstGeom xmlns:a="http://schemas.openxmlformats.org/drawingml/2006/main" prst="bentConnector3">
            <a:avLst>
              <a:gd name="adj1" fmla="val 50000"/>
            </a:avLst>
          </a:prstGeom>
          <a:ln xmlns:a="http://schemas.openxmlformats.org/drawingml/2006/main" w="28575">
            <a:solidFill>
              <a:srgbClr val="7041B9"/>
            </a:solidFill>
            <a:tailEnd type="triangle" w="med" len="med"/>
          </a:ln>
        </p:spPr>
      </p:cxnSp>
      <p:cxnSp>
        <p:nvCxnSpPr>
          <p:cNvPr id="20" name="">
            <a:extLst xmlns:a="http://schemas.openxmlformats.org/drawingml/2006/main">
              <a:ext uri="{FF2B5EF4-FFF2-40B4-BE49-F238E27FC236}">
                <a16:creationId xmlns:a16="http://schemas.microsoft.com/office/drawing/2014/main" id="{9F33DD20-7C70-4D34-80DD-5B0B8EED3B5C}"/>
              </a:ext>
            </a:extLst>
          </p:cNvPr>
          <p:cNvCxnSpPr>
            <a:stCxn xmlns:a="http://schemas.openxmlformats.org/drawingml/2006/main" id="5" idx="3"/>
            <a:endCxn xmlns:a="http://schemas.openxmlformats.org/drawingml/2006/main" id="17" idx="1"/>
          </p:cNvCxnSpPr>
          <p:nvPr/>
        </p:nvCxnSpPr>
        <p:spPr>
          <a:xfrm xmlns:a="http://schemas.openxmlformats.org/drawingml/2006/main">
            <a:off x="5781675" y="2852738"/>
            <a:ext cx="2828925" cy="709613"/>
          </a:xfrm>
          <a:prstGeom xmlns:a="http://schemas.openxmlformats.org/drawingml/2006/main" prst="bentConnector3">
            <a:avLst>
              <a:gd name="adj1" fmla="val 50000"/>
            </a:avLst>
          </a:prstGeom>
          <a:ln xmlns:a="http://schemas.openxmlformats.org/drawingml/2006/main" w="28575">
            <a:solidFill>
              <a:srgbClr val="7041B9"/>
            </a:solidFill>
            <a:tailEnd type="triangle" w="med" len="med"/>
          </a:ln>
        </p:spPr>
      </p:cxnSp>
      <p:cxnSp>
        <p:nvCxnSpPr>
          <p:cNvPr id="19" name="">
            <a:extLst xmlns:a="http://schemas.openxmlformats.org/drawingml/2006/main">
              <a:ext uri="{FF2B5EF4-FFF2-40B4-BE49-F238E27FC236}">
                <a16:creationId xmlns:a16="http://schemas.microsoft.com/office/drawing/2014/main" id="{E87EF697-0B4D-4B17-8643-1C56145B226B}"/>
              </a:ext>
            </a:extLst>
          </p:cNvPr>
          <p:cNvCxnSpPr>
            <a:stCxn xmlns:a="http://schemas.openxmlformats.org/drawingml/2006/main" id="2" idx="3"/>
            <a:endCxn xmlns:a="http://schemas.openxmlformats.org/drawingml/2006/main" id="17" idx="0"/>
          </p:cNvCxnSpPr>
          <p:nvPr/>
        </p:nvCxnSpPr>
        <p:spPr>
          <a:xfrm xmlns:a="http://schemas.openxmlformats.org/drawingml/2006/main">
            <a:off x="5781675" y="1919288"/>
            <a:ext cx="4276725" cy="1109663"/>
          </a:xfrm>
          <a:prstGeom xmlns:a="http://schemas.openxmlformats.org/drawingml/2006/main" prst="bentConnector2">
            <a:avLst/>
          </a:prstGeom>
          <a:ln xmlns:a="http://schemas.openxmlformats.org/drawingml/2006/main" w="28575">
            <a:solidFill>
              <a:srgbClr val="2447A6"/>
            </a:solidFill>
            <a:tailEnd type="triangle" w="med" len="med"/>
          </a:ln>
        </p:spPr>
      </p:cxnSp>
      <p:sp>
        <p:nvSpPr>
          <p:cNvPr id="26" name="">
            <a:extLst xmlns:a="http://schemas.openxmlformats.org/drawingml/2006/main">
              <a:ext uri="{FF2B5EF4-FFF2-40B4-BE49-F238E27FC236}">
                <a16:creationId xmlns:a16="http://schemas.microsoft.com/office/drawing/2014/main" id="{6EBCFB49-1B06-47FF-969F-AFA940EE2207}"/>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defRPr sz="3300" b="1">
                <a:solidFill>
                  <a:srgbClr val="122442"/>
                </a:solidFill>
                <a:latin typeface="Arial"/>
                <a:ea typeface="Arial"/>
                <a:cs typeface="Arial"/>
              </a:defRPr>
            </a:pPr>
            <a:r>
              <a:rPr sz="3300" b="1">
                <a:solidFill>
                  <a:srgbClr val="122442"/>
                </a:solidFill>
                <a:latin typeface="Arial"/>
                <a:ea typeface="Arial"/>
                <a:cs typeface="Arial"/>
              </a:rPr>
              <a:t>Откъде агентът черпи контекст</a:t>
            </a:r>
          </a:p>
        </p:txBody>
      </p:sp>
      <p:sp>
        <p:nvSpPr>
          <p:cNvPr id="2" name="">
            <a:extLst xmlns:a="http://schemas.openxmlformats.org/drawingml/2006/main">
              <a:ext uri="{FF2B5EF4-FFF2-40B4-BE49-F238E27FC236}">
                <a16:creationId xmlns:a16="http://schemas.microsoft.com/office/drawing/2014/main" id="{6D89582A-BF73-450F-BAAB-A83EE7547138}"/>
              </a:ext>
            </a:extLst>
          </p:cNvPr>
          <p:cNvSpPr>
            <a:spLocks xmlns:a="http://schemas.openxmlformats.org/drawingml/2006/main" noGrp="1"/>
          </p:cNvSpPr>
          <p:nvPr/>
        </p:nvSpPr>
        <p:spPr>
          <a:xfrm xmlns:a="http://schemas.openxmlformats.org/drawingml/2006/main">
            <a:off x="685800" y="1504950"/>
            <a:ext cx="5095875" cy="828675"/>
          </a:xfrm>
          <a:prstGeom xmlns:a="http://schemas.openxmlformats.org/drawingml/2006/main" prst="roundRect">
            <a:avLst>
              <a:gd name="adj" fmla="val 18391"/>
            </a:avLst>
          </a:prstGeom>
          <a:solidFill xmlns:a="http://schemas.openxmlformats.org/drawingml/2006/main">
            <a:srgbClr val="2447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2D31B0-0D54-42E5-B2A8-935B90E9A849}"/>
              </a:ext>
            </a:extLst>
          </p:cNvPr>
          <p:cNvSpPr>
            <a:spLocks xmlns:a="http://schemas.openxmlformats.org/drawingml/2006/main" noGrp="1"/>
          </p:cNvSpPr>
          <p:nvPr/>
        </p:nvSpPr>
        <p:spPr>
          <a:xfrm xmlns:a="http://schemas.openxmlformats.org/drawingml/2006/main">
            <a:off x="876300" y="1600200"/>
            <a:ext cx="471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spec.md</a:t>
            </a:r>
          </a:p>
        </p:txBody>
      </p:sp>
      <p:sp>
        <p:nvSpPr>
          <p:cNvPr id="4" name="">
            <a:extLst xmlns:a="http://schemas.openxmlformats.org/drawingml/2006/main">
              <a:ext uri="{FF2B5EF4-FFF2-40B4-BE49-F238E27FC236}">
                <a16:creationId xmlns:a16="http://schemas.microsoft.com/office/drawing/2014/main" id="{682BAD3F-6626-47BA-ABD4-9DE7C0FBC720}"/>
              </a:ext>
            </a:extLst>
          </p:cNvPr>
          <p:cNvSpPr>
            <a:spLocks xmlns:a="http://schemas.openxmlformats.org/drawingml/2006/main" noGrp="1"/>
          </p:cNvSpPr>
          <p:nvPr/>
        </p:nvSpPr>
        <p:spPr>
          <a:xfrm xmlns:a="http://schemas.openxmlformats.org/drawingml/2006/main">
            <a:off x="876300" y="1952625"/>
            <a:ext cx="4714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Какво правим и какво е извън задачата</a:t>
            </a:r>
          </a:p>
        </p:txBody>
      </p:sp>
      <p:sp>
        <p:nvSpPr>
          <p:cNvPr id="5" name="">
            <a:extLst xmlns:a="http://schemas.openxmlformats.org/drawingml/2006/main">
              <a:ext uri="{FF2B5EF4-FFF2-40B4-BE49-F238E27FC236}">
                <a16:creationId xmlns:a16="http://schemas.microsoft.com/office/drawing/2014/main" id="{FD4DAC27-C8FA-426A-BED3-F61C42D6EBBE}"/>
              </a:ext>
            </a:extLst>
          </p:cNvPr>
          <p:cNvSpPr>
            <a:spLocks xmlns:a="http://schemas.openxmlformats.org/drawingml/2006/main" noGrp="1"/>
          </p:cNvSpPr>
          <p:nvPr/>
        </p:nvSpPr>
        <p:spPr>
          <a:xfrm xmlns:a="http://schemas.openxmlformats.org/drawingml/2006/main">
            <a:off x="685800" y="2438400"/>
            <a:ext cx="5095875" cy="828675"/>
          </a:xfrm>
          <a:prstGeom xmlns:a="http://schemas.openxmlformats.org/drawingml/2006/main" prst="roundRect">
            <a:avLst>
              <a:gd name="adj" fmla="val 18391"/>
            </a:avLst>
          </a:prstGeom>
          <a:solidFill xmlns:a="http://schemas.openxmlformats.org/drawingml/2006/main">
            <a:srgbClr val="7041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F9EFCB5-338E-4EA2-B776-7E344C037106}"/>
              </a:ext>
            </a:extLst>
          </p:cNvPr>
          <p:cNvSpPr>
            <a:spLocks xmlns:a="http://schemas.openxmlformats.org/drawingml/2006/main" noGrp="1"/>
          </p:cNvSpPr>
          <p:nvPr/>
        </p:nvSpPr>
        <p:spPr>
          <a:xfrm xmlns:a="http://schemas.openxmlformats.org/drawingml/2006/main">
            <a:off x="876300" y="2533650"/>
            <a:ext cx="471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AGENTS.md</a:t>
            </a:r>
          </a:p>
        </p:txBody>
      </p:sp>
      <p:sp>
        <p:nvSpPr>
          <p:cNvPr id="7" name="">
            <a:extLst xmlns:a="http://schemas.openxmlformats.org/drawingml/2006/main">
              <a:ext uri="{FF2B5EF4-FFF2-40B4-BE49-F238E27FC236}">
                <a16:creationId xmlns:a16="http://schemas.microsoft.com/office/drawing/2014/main" id="{4AE93FE3-4829-45EE-A4A3-EDF62989550F}"/>
              </a:ext>
            </a:extLst>
          </p:cNvPr>
          <p:cNvSpPr>
            <a:spLocks xmlns:a="http://schemas.openxmlformats.org/drawingml/2006/main" noGrp="1"/>
          </p:cNvSpPr>
          <p:nvPr/>
        </p:nvSpPr>
        <p:spPr>
          <a:xfrm xmlns:a="http://schemas.openxmlformats.org/drawingml/2006/main">
            <a:off x="876300" y="2886075"/>
            <a:ext cx="4714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Правилата, които агентът следва</a:t>
            </a:r>
          </a:p>
        </p:txBody>
      </p:sp>
      <p:sp>
        <p:nvSpPr>
          <p:cNvPr id="8" name="">
            <a:extLst xmlns:a="http://schemas.openxmlformats.org/drawingml/2006/main">
              <a:ext uri="{FF2B5EF4-FFF2-40B4-BE49-F238E27FC236}">
                <a16:creationId xmlns:a16="http://schemas.microsoft.com/office/drawing/2014/main" id="{C68106E2-4617-4B38-847D-DEAD8FC58580}"/>
              </a:ext>
            </a:extLst>
          </p:cNvPr>
          <p:cNvSpPr>
            <a:spLocks xmlns:a="http://schemas.openxmlformats.org/drawingml/2006/main" noGrp="1"/>
          </p:cNvSpPr>
          <p:nvPr/>
        </p:nvSpPr>
        <p:spPr>
          <a:xfrm xmlns:a="http://schemas.openxmlformats.org/drawingml/2006/main">
            <a:off x="685800" y="3371850"/>
            <a:ext cx="5095875" cy="828675"/>
          </a:xfrm>
          <a:prstGeom xmlns:a="http://schemas.openxmlformats.org/drawingml/2006/main" prst="roundRect">
            <a:avLst>
              <a:gd name="adj" fmla="val 18391"/>
            </a:avLst>
          </a:prstGeom>
          <a:solidFill xmlns:a="http://schemas.openxmlformats.org/drawingml/2006/main">
            <a:srgbClr val="7041B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33C99D0-B269-4924-813D-55B56C154E51}"/>
              </a:ext>
            </a:extLst>
          </p:cNvPr>
          <p:cNvSpPr>
            <a:spLocks xmlns:a="http://schemas.openxmlformats.org/drawingml/2006/main" noGrp="1"/>
          </p:cNvSpPr>
          <p:nvPr/>
        </p:nvSpPr>
        <p:spPr>
          <a:xfrm xmlns:a="http://schemas.openxmlformats.org/drawingml/2006/main">
            <a:off x="876300" y="3467100"/>
            <a:ext cx="471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DESIGN.md</a:t>
            </a:r>
          </a:p>
        </p:txBody>
      </p:sp>
      <p:sp>
        <p:nvSpPr>
          <p:cNvPr id="10" name="">
            <a:extLst xmlns:a="http://schemas.openxmlformats.org/drawingml/2006/main">
              <a:ext uri="{FF2B5EF4-FFF2-40B4-BE49-F238E27FC236}">
                <a16:creationId xmlns:a16="http://schemas.microsoft.com/office/drawing/2014/main" id="{1C239210-2B07-4272-A2F5-2ACD5B4D8A2A}"/>
              </a:ext>
            </a:extLst>
          </p:cNvPr>
          <p:cNvSpPr>
            <a:spLocks xmlns:a="http://schemas.openxmlformats.org/drawingml/2006/main" noGrp="1"/>
          </p:cNvSpPr>
          <p:nvPr/>
        </p:nvSpPr>
        <p:spPr>
          <a:xfrm xmlns:a="http://schemas.openxmlformats.org/drawingml/2006/main">
            <a:off x="876300" y="3819525"/>
            <a:ext cx="4714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Как трябва да изглежда приложението</a:t>
            </a:r>
          </a:p>
        </p:txBody>
      </p:sp>
      <p:sp>
        <p:nvSpPr>
          <p:cNvPr id="11" name="">
            <a:extLst xmlns:a="http://schemas.openxmlformats.org/drawingml/2006/main">
              <a:ext uri="{FF2B5EF4-FFF2-40B4-BE49-F238E27FC236}">
                <a16:creationId xmlns:a16="http://schemas.microsoft.com/office/drawing/2014/main" id="{961557D2-AB0D-428D-ABCA-C6A8CA78ED66}"/>
              </a:ext>
            </a:extLst>
          </p:cNvPr>
          <p:cNvSpPr>
            <a:spLocks xmlns:a="http://schemas.openxmlformats.org/drawingml/2006/main" noGrp="1"/>
          </p:cNvSpPr>
          <p:nvPr/>
        </p:nvSpPr>
        <p:spPr>
          <a:xfrm xmlns:a="http://schemas.openxmlformats.org/drawingml/2006/main">
            <a:off x="685800" y="4305300"/>
            <a:ext cx="5095875" cy="828675"/>
          </a:xfrm>
          <a:prstGeom xmlns:a="http://schemas.openxmlformats.org/drawingml/2006/main" prst="roundRect">
            <a:avLst>
              <a:gd name="adj" fmla="val 18391"/>
            </a:avLst>
          </a:prstGeom>
          <a:solidFill xmlns:a="http://schemas.openxmlformats.org/drawingml/2006/main">
            <a:srgbClr val="067E9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0D1396B-28D5-4550-9DFA-8F277ECA3E91}"/>
              </a:ext>
            </a:extLst>
          </p:cNvPr>
          <p:cNvSpPr>
            <a:spLocks xmlns:a="http://schemas.openxmlformats.org/drawingml/2006/main" noGrp="1"/>
          </p:cNvSpPr>
          <p:nvPr/>
        </p:nvSpPr>
        <p:spPr>
          <a:xfrm xmlns:a="http://schemas.openxmlformats.org/drawingml/2006/main">
            <a:off x="876300" y="4400550"/>
            <a:ext cx="471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Skills</a:t>
            </a:r>
          </a:p>
        </p:txBody>
      </p:sp>
      <p:sp>
        <p:nvSpPr>
          <p:cNvPr id="13" name="">
            <a:extLst xmlns:a="http://schemas.openxmlformats.org/drawingml/2006/main">
              <a:ext uri="{FF2B5EF4-FFF2-40B4-BE49-F238E27FC236}">
                <a16:creationId xmlns:a16="http://schemas.microsoft.com/office/drawing/2014/main" id="{F57A7B71-B878-4DA0-A679-3A0EB4F1B76F}"/>
              </a:ext>
            </a:extLst>
          </p:cNvPr>
          <p:cNvSpPr>
            <a:spLocks xmlns:a="http://schemas.openxmlformats.org/drawingml/2006/main" noGrp="1"/>
          </p:cNvSpPr>
          <p:nvPr/>
        </p:nvSpPr>
        <p:spPr>
          <a:xfrm xmlns:a="http://schemas.openxmlformats.org/drawingml/2006/main">
            <a:off x="876300" y="4752975"/>
            <a:ext cx="4714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Стъпки за изпълнение на задачата</a:t>
            </a:r>
          </a:p>
        </p:txBody>
      </p:sp>
      <p:sp>
        <p:nvSpPr>
          <p:cNvPr id="14" name="">
            <a:extLst xmlns:a="http://schemas.openxmlformats.org/drawingml/2006/main">
              <a:ext uri="{FF2B5EF4-FFF2-40B4-BE49-F238E27FC236}">
                <a16:creationId xmlns:a16="http://schemas.microsoft.com/office/drawing/2014/main" id="{DD2DEA1B-1F1E-4040-9CFA-24BA9FA37625}"/>
              </a:ext>
            </a:extLst>
          </p:cNvPr>
          <p:cNvSpPr>
            <a:spLocks xmlns:a="http://schemas.openxmlformats.org/drawingml/2006/main" noGrp="1"/>
          </p:cNvSpPr>
          <p:nvPr/>
        </p:nvSpPr>
        <p:spPr>
          <a:xfrm xmlns:a="http://schemas.openxmlformats.org/drawingml/2006/main">
            <a:off x="685800" y="5238750"/>
            <a:ext cx="5095875" cy="828675"/>
          </a:xfrm>
          <a:prstGeom xmlns:a="http://schemas.openxmlformats.org/drawingml/2006/main" prst="roundRect">
            <a:avLst>
              <a:gd name="adj" fmla="val 18391"/>
            </a:avLst>
          </a:prstGeom>
          <a:solidFill xmlns:a="http://schemas.openxmlformats.org/drawingml/2006/main">
            <a:srgbClr val="067E9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D57AD71-C5A2-47E1-8B19-F5CC31C387EF}"/>
              </a:ext>
            </a:extLst>
          </p:cNvPr>
          <p:cNvSpPr>
            <a:spLocks xmlns:a="http://schemas.openxmlformats.org/drawingml/2006/main" noGrp="1"/>
          </p:cNvSpPr>
          <p:nvPr/>
        </p:nvSpPr>
        <p:spPr>
          <a:xfrm xmlns:a="http://schemas.openxmlformats.org/drawingml/2006/main">
            <a:off x="876300" y="5334000"/>
            <a:ext cx="471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Код и съществуващи тестове</a:t>
            </a:r>
          </a:p>
        </p:txBody>
      </p:sp>
      <p:sp>
        <p:nvSpPr>
          <p:cNvPr id="16" name="">
            <a:extLst xmlns:a="http://schemas.openxmlformats.org/drawingml/2006/main">
              <a:ext uri="{FF2B5EF4-FFF2-40B4-BE49-F238E27FC236}">
                <a16:creationId xmlns:a16="http://schemas.microsoft.com/office/drawing/2014/main" id="{0AFABEBD-67CD-45D1-976E-6F556F5666DB}"/>
              </a:ext>
            </a:extLst>
          </p:cNvPr>
          <p:cNvSpPr>
            <a:spLocks xmlns:a="http://schemas.openxmlformats.org/drawingml/2006/main" noGrp="1"/>
          </p:cNvSpPr>
          <p:nvPr/>
        </p:nvSpPr>
        <p:spPr>
          <a:xfrm xmlns:a="http://schemas.openxmlformats.org/drawingml/2006/main">
            <a:off x="876300" y="5686425"/>
            <a:ext cx="4714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Какво вече работи и как се проверява</a:t>
            </a:r>
          </a:p>
        </p:txBody>
      </p:sp>
      <p:sp>
        <p:nvSpPr>
          <p:cNvPr id="17" name="">
            <a:extLst xmlns:a="http://schemas.openxmlformats.org/drawingml/2006/main">
              <a:ext uri="{FF2B5EF4-FFF2-40B4-BE49-F238E27FC236}">
                <a16:creationId xmlns:a16="http://schemas.microsoft.com/office/drawing/2014/main" id="{FB5A9537-13D5-467A-AD2F-48DDE7C4C95F}"/>
              </a:ext>
            </a:extLst>
          </p:cNvPr>
          <p:cNvSpPr>
            <a:spLocks xmlns:a="http://schemas.openxmlformats.org/drawingml/2006/main" noGrp="1"/>
          </p:cNvSpPr>
          <p:nvPr/>
        </p:nvSpPr>
        <p:spPr>
          <a:xfrm xmlns:a="http://schemas.openxmlformats.org/drawingml/2006/main">
            <a:off x="8610600" y="3028950"/>
            <a:ext cx="2895600" cy="1066800"/>
          </a:xfrm>
          <a:prstGeom xmlns:a="http://schemas.openxmlformats.org/drawingml/2006/main" prst="roundRect">
            <a:avLst>
              <a:gd name="adj" fmla="val 14286"/>
            </a:avLst>
          </a:prstGeom>
          <a:solidFill xmlns:a="http://schemas.openxmlformats.org/drawingml/2006/main">
            <a:srgbClr val="2447A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F15C26D-6D8D-411F-8A3A-D88735113493}"/>
              </a:ext>
            </a:extLst>
          </p:cNvPr>
          <p:cNvSpPr>
            <a:spLocks xmlns:a="http://schemas.openxmlformats.org/drawingml/2006/main" noGrp="1"/>
          </p:cNvSpPr>
          <p:nvPr/>
        </p:nvSpPr>
        <p:spPr>
          <a:xfrm xmlns:a="http://schemas.openxmlformats.org/drawingml/2006/main">
            <a:off x="8782050" y="3190875"/>
            <a:ext cx="2552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AI агент</a:t>
            </a:r>
          </a:p>
        </p:txBody>
      </p:sp>
      <p:sp>
        <p:nvSpPr>
          <p:cNvPr id="24" name="">
            <a:extLst xmlns:a="http://schemas.openxmlformats.org/drawingml/2006/main">
              <a:ext uri="{FF2B5EF4-FFF2-40B4-BE49-F238E27FC236}">
                <a16:creationId xmlns:a16="http://schemas.microsoft.com/office/drawing/2014/main" id="{E0A4078B-FEF9-4702-A355-68D258F6D008}"/>
              </a:ext>
            </a:extLst>
          </p:cNvPr>
          <p:cNvSpPr>
            <a:spLocks xmlns:a="http://schemas.openxmlformats.org/drawingml/2006/main" noGrp="1"/>
          </p:cNvSpPr>
          <p:nvPr/>
        </p:nvSpPr>
        <p:spPr>
          <a:xfrm xmlns:a="http://schemas.openxmlformats.org/drawingml/2006/main">
            <a:off x="8524875" y="4438650"/>
            <a:ext cx="29813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2447A6"/>
                </a:solidFill>
                <a:latin typeface="Arial"/>
                <a:ea typeface="Arial"/>
                <a:cs typeface="Arial"/>
              </a:defRPr>
            </a:defPPr>
          </a:lstStyle>
          <a:p xmlns:a="http://schemas.openxmlformats.org/drawingml/2006/main">
            <a:pPr>
              <a:defRPr sz="1950" b="1">
                <a:solidFill>
                  <a:srgbClr val="2447A6"/>
                </a:solidFill>
                <a:latin typeface="Arial"/>
                <a:ea typeface="Arial"/>
                <a:cs typeface="Arial"/>
              </a:defRPr>
            </a:pPr>
            <a:r>
              <a:rPr sz="1950" b="1">
                <a:solidFill>
                  <a:srgbClr val="2447A6"/>
                </a:solidFill>
                <a:latin typeface="Arial"/>
                <a:ea typeface="Arial"/>
                <a:cs typeface="Arial"/>
              </a:rPr>
              <a:t>Човекът задава целта.</a:t>
            </a:r>
          </a:p>
          <a:p xmlns:a="http://schemas.openxmlformats.org/drawingml/2006/main">
            <a:pPr>
              <a:defRPr sz="1950" b="1">
                <a:solidFill>
                  <a:srgbClr val="2447A6"/>
                </a:solidFill>
                <a:latin typeface="Arial"/>
                <a:ea typeface="Arial"/>
                <a:cs typeface="Arial"/>
              </a:defRPr>
            </a:pPr>
            <a:r>
              <a:rPr sz="1950" b="1">
                <a:solidFill>
                  <a:srgbClr val="2447A6"/>
                </a:solidFill>
                <a:latin typeface="Arial"/>
                <a:ea typeface="Arial"/>
                <a:cs typeface="Arial"/>
              </a:rPr>
              <a:t>Файловете дават</a:t>
            </a:r>
          </a:p>
          <a:p xmlns:a="http://schemas.openxmlformats.org/drawingml/2006/main">
            <a:pPr>
              <a:defRPr sz="1950" b="1">
                <a:solidFill>
                  <a:srgbClr val="2447A6"/>
                </a:solidFill>
                <a:latin typeface="Arial"/>
                <a:ea typeface="Arial"/>
                <a:cs typeface="Arial"/>
              </a:defRPr>
            </a:pPr>
            <a:r>
              <a:rPr sz="1950" b="1">
                <a:solidFill>
                  <a:srgbClr val="2447A6"/>
                </a:solidFill>
                <a:latin typeface="Arial"/>
                <a:ea typeface="Arial"/>
                <a:cs typeface="Arial"/>
              </a:rPr>
              <a:t>нужните подробности.</a:t>
            </a:r>
          </a:p>
        </p:txBody>
      </p:sp>
      <p:sp>
        <p:nvSpPr>
          <p:cNvPr id="25" name="">
            <a:extLst xmlns:a="http://schemas.openxmlformats.org/drawingml/2006/main">
              <a:ext uri="{FF2B5EF4-FFF2-40B4-BE49-F238E27FC236}">
                <a16:creationId xmlns:a16="http://schemas.microsoft.com/office/drawing/2014/main" id="{812B67DF-8AE2-42D4-9CDB-7075E58101A3}"/>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defRPr sz="1275" b="0">
                <a:solidFill>
                  <a:srgbClr val="4D5C74"/>
                </a:solidFill>
                <a:latin typeface="Arial"/>
                <a:ea typeface="Arial"/>
                <a:cs typeface="Arial"/>
              </a:defRPr>
            </a:pPr>
            <a:r>
              <a:rPr sz="1275" b="0">
                <a:solidFill>
                  <a:srgbClr val="4D5C74"/>
                </a:solidFill>
                <a:latin typeface="Arial"/>
                <a:ea typeface="Arial"/>
                <a:cs typeface="Arial"/>
              </a:rPr>
              <a:t>07</a:t>
            </a:r>
          </a:p>
        </p:txBody>
      </p:sp>
    </p:spTree>
    <p:extLst>
      <p:ext uri="{BB962C8B-B14F-4D97-AF65-F5344CB8AC3E}">
        <p14:creationId xmlns:p14="http://schemas.microsoft.com/office/powerpoint/2010/main" val="1161417526"/>
      </p:ext>
    </p:extLst>
  </p:cSld>
</p:sld>
</file>

<file path=ppt/slides/slide8.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C65F535E-6E38-4ACF-974B-71E247D745E0}"/>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defRPr sz="3300" b="1">
                <a:solidFill>
                  <a:srgbClr val="122442"/>
                </a:solidFill>
                <a:latin typeface="Arial"/>
                <a:ea typeface="Arial"/>
                <a:cs typeface="Arial"/>
              </a:defRPr>
            </a:pPr>
            <a:r>
              <a:rPr sz="3300" b="1">
                <a:solidFill>
                  <a:srgbClr val="122442"/>
                </a:solidFill>
                <a:latin typeface="Arial"/>
                <a:ea typeface="Arial"/>
                <a:cs typeface="Arial"/>
              </a:rPr>
              <a:t>Пример: spec.md за демото</a:t>
            </a:r>
          </a:p>
        </p:txBody>
      </p:sp>
      <p:sp>
        <p:nvSpPr>
          <p:cNvPr id="2" name="">
            <a:extLst xmlns:a="http://schemas.openxmlformats.org/drawingml/2006/main">
              <a:ext uri="{FF2B5EF4-FFF2-40B4-BE49-F238E27FC236}">
                <a16:creationId xmlns:a16="http://schemas.microsoft.com/office/drawing/2014/main" id="{625C5ED9-BDE4-44BD-A0D1-B8904CB11010}"/>
              </a:ext>
            </a:extLst>
          </p:cNvPr>
          <p:cNvSpPr>
            <a:spLocks xmlns:a="http://schemas.openxmlformats.org/drawingml/2006/main" noGrp="1"/>
          </p:cNvSpPr>
          <p:nvPr/>
        </p:nvSpPr>
        <p:spPr>
          <a:xfrm xmlns:a="http://schemas.openxmlformats.org/drawingml/2006/main">
            <a:off x="685800" y="1457325"/>
            <a:ext cx="10820400" cy="4914900"/>
          </a:xfrm>
          <a:prstGeom xmlns:a="http://schemas.openxmlformats.org/drawingml/2006/main" prst="roundRect">
            <a:avLst>
              <a:gd name="adj" fmla="val 2713"/>
            </a:avLst>
          </a:prstGeom>
          <a:solidFill xmlns:a="http://schemas.openxmlformats.org/drawingml/2006/main">
            <a:srgbClr val="17223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B77787-13B4-40E5-B8C9-BDE6594D1F29}"/>
              </a:ext>
            </a:extLst>
          </p:cNvPr>
          <p:cNvSpPr>
            <a:spLocks xmlns:a="http://schemas.openxmlformats.org/drawingml/2006/main" noGrp="1"/>
          </p:cNvSpPr>
          <p:nvPr/>
        </p:nvSpPr>
        <p:spPr>
          <a:xfrm xmlns:a="http://schemas.openxmlformats.org/drawingml/2006/main">
            <a:off x="685800" y="1457325"/>
            <a:ext cx="10820400" cy="419100"/>
          </a:xfrm>
          <a:prstGeom xmlns:a="http://schemas.openxmlformats.org/drawingml/2006/main" prst="rect">
            <a:avLst/>
          </a:prstGeom>
          <a:solidFill xmlns:a="http://schemas.openxmlformats.org/drawingml/2006/main">
            <a:srgbClr val="26334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233485-1003-42B8-9971-3290E46AF2FB}"/>
              </a:ext>
            </a:extLst>
          </p:cNvPr>
          <p:cNvSpPr>
            <a:spLocks xmlns:a="http://schemas.openxmlformats.org/drawingml/2006/main" noGrp="1"/>
          </p:cNvSpPr>
          <p:nvPr/>
        </p:nvSpPr>
        <p:spPr>
          <a:xfrm xmlns:a="http://schemas.openxmlformats.org/drawingml/2006/main">
            <a:off x="904875" y="1552575"/>
            <a:ext cx="3810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FFFFFF"/>
                </a:solidFill>
                <a:latin typeface="Courier New"/>
                <a:ea typeface="Courier New"/>
                <a:cs typeface="Courier New"/>
              </a:defRPr>
            </a:defPPr>
          </a:lstStyle>
          <a:p xmlns:a="http://schemas.openxmlformats.org/drawingml/2006/main">
            <a:pPr>
              <a:defRPr sz="1650" b="1">
                <a:solidFill>
                  <a:srgbClr val="FFFFFF"/>
                </a:solidFill>
                <a:latin typeface="Courier New"/>
                <a:ea typeface="Courier New"/>
                <a:cs typeface="Courier New"/>
              </a:defRPr>
            </a:pPr>
            <a:r>
              <a:rPr sz="1650" b="1">
                <a:solidFill>
                  <a:srgbClr val="FFFFFF"/>
                </a:solidFill>
                <a:latin typeface="Courier New"/>
                <a:ea typeface="Courier New"/>
                <a:cs typeface="Courier New"/>
              </a:rPr>
              <a:t>spec.md</a:t>
            </a:r>
          </a:p>
        </p:txBody>
      </p:sp>
      <p:sp>
        <p:nvSpPr>
          <p:cNvPr id="5" name="">
            <a:extLst xmlns:a="http://schemas.openxmlformats.org/drawingml/2006/main">
              <a:ext uri="{FF2B5EF4-FFF2-40B4-BE49-F238E27FC236}">
                <a16:creationId xmlns:a16="http://schemas.microsoft.com/office/drawing/2014/main" id="{66659D99-0F14-43A8-9EB6-0ED86E3D32C1}"/>
              </a:ext>
            </a:extLst>
          </p:cNvPr>
          <p:cNvSpPr>
            <a:spLocks xmlns:a="http://schemas.openxmlformats.org/drawingml/2006/main" noGrp="1"/>
          </p:cNvSpPr>
          <p:nvPr/>
        </p:nvSpPr>
        <p:spPr>
          <a:xfrm xmlns:a="http://schemas.openxmlformats.org/drawingml/2006/main">
            <a:off x="8524875" y="1552575"/>
            <a:ext cx="2714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C8D5EC"/>
                </a:solidFill>
                <a:latin typeface="Arial"/>
                <a:ea typeface="Arial"/>
                <a:cs typeface="Arial"/>
              </a:defRPr>
            </a:defPPr>
          </a:lstStyle>
          <a:p xmlns:a="http://schemas.openxmlformats.org/drawingml/2006/main">
            <a:pPr>
              <a:defRPr sz="1425" b="0">
                <a:solidFill>
                  <a:srgbClr val="C8D5EC"/>
                </a:solidFill>
                <a:latin typeface="Arial"/>
                <a:ea typeface="Arial"/>
                <a:cs typeface="Arial"/>
              </a:defRPr>
            </a:pPr>
            <a:r>
              <a:rPr sz="1425" b="0">
                <a:solidFill>
                  <a:srgbClr val="C8D5EC"/>
                </a:solidFill>
                <a:latin typeface="Arial"/>
                <a:ea typeface="Arial"/>
                <a:cs typeface="Arial"/>
              </a:rPr>
              <a:t>Кратък учебен пример</a:t>
            </a:r>
          </a:p>
        </p:txBody>
      </p:sp>
      <p:sp>
        <p:nvSpPr>
          <p:cNvPr id="6" name="">
            <a:extLst xmlns:a="http://schemas.openxmlformats.org/drawingml/2006/main">
              <a:ext uri="{FF2B5EF4-FFF2-40B4-BE49-F238E27FC236}">
                <a16:creationId xmlns:a16="http://schemas.microsoft.com/office/drawing/2014/main" id="{80AD8C93-F709-4D4D-892E-248DB908CCB3}"/>
              </a:ext>
            </a:extLst>
          </p:cNvPr>
          <p:cNvSpPr>
            <a:spLocks xmlns:a="http://schemas.openxmlformats.org/drawingml/2006/main" noGrp="1"/>
          </p:cNvSpPr>
          <p:nvPr/>
        </p:nvSpPr>
        <p:spPr>
          <a:xfrm xmlns:a="http://schemas.openxmlformats.org/drawingml/2006/main">
            <a:off x="819150" y="19812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a:t>
            </a:r>
          </a:p>
        </p:txBody>
      </p:sp>
      <p:sp>
        <p:nvSpPr>
          <p:cNvPr id="7" name="">
            <a:extLst xmlns:a="http://schemas.openxmlformats.org/drawingml/2006/main">
              <a:ext uri="{FF2B5EF4-FFF2-40B4-BE49-F238E27FC236}">
                <a16:creationId xmlns:a16="http://schemas.microsoft.com/office/drawing/2014/main" id="{ABF0116B-CEF8-4503-B669-F5A1BC156D4C}"/>
              </a:ext>
            </a:extLst>
          </p:cNvPr>
          <p:cNvSpPr>
            <a:spLocks xmlns:a="http://schemas.openxmlformats.org/drawingml/2006/main" noGrp="1"/>
          </p:cNvSpPr>
          <p:nvPr/>
        </p:nvSpPr>
        <p:spPr>
          <a:xfrm xmlns:a="http://schemas.openxmlformats.org/drawingml/2006/main">
            <a:off x="1362075" y="1981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93DCEF"/>
                </a:solidFill>
                <a:latin typeface="Courier New"/>
                <a:ea typeface="Courier New"/>
                <a:cs typeface="Courier New"/>
              </a:defRPr>
            </a:defPPr>
          </a:lstStyle>
          <a:p xmlns:a="http://schemas.openxmlformats.org/drawingml/2006/main">
            <a:pPr>
              <a:defRPr sz="1500" b="1">
                <a:solidFill>
                  <a:srgbClr val="93DCEF"/>
                </a:solidFill>
                <a:latin typeface="Courier New"/>
                <a:ea typeface="Courier New"/>
                <a:cs typeface="Courier New"/>
              </a:defRPr>
            </a:pPr>
            <a:r>
              <a:rPr sz="1500" b="1">
                <a:solidFill>
                  <a:srgbClr val="93DCEF"/>
                </a:solidFill>
                <a:latin typeface="Courier New"/>
                <a:ea typeface="Courier New"/>
                <a:cs typeface="Courier New"/>
              </a:rPr>
              <a:t># Записване на часове</a:t>
            </a:r>
          </a:p>
        </p:txBody>
      </p:sp>
      <p:sp>
        <p:nvSpPr>
          <p:cNvPr id="8" name="">
            <a:extLst xmlns:a="http://schemas.openxmlformats.org/drawingml/2006/main">
              <a:ext uri="{FF2B5EF4-FFF2-40B4-BE49-F238E27FC236}">
                <a16:creationId xmlns:a16="http://schemas.microsoft.com/office/drawing/2014/main" id="{FD4B9538-CDFF-4055-88B8-00008597E234}"/>
              </a:ext>
            </a:extLst>
          </p:cNvPr>
          <p:cNvSpPr>
            <a:spLocks xmlns:a="http://schemas.openxmlformats.org/drawingml/2006/main" noGrp="1"/>
          </p:cNvSpPr>
          <p:nvPr/>
        </p:nvSpPr>
        <p:spPr>
          <a:xfrm xmlns:a="http://schemas.openxmlformats.org/drawingml/2006/main">
            <a:off x="819150" y="2200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2</a:t>
            </a:r>
          </a:p>
        </p:txBody>
      </p:sp>
      <p:sp>
        <p:nvSpPr>
          <p:cNvPr id="9" name="">
            <a:extLst xmlns:a="http://schemas.openxmlformats.org/drawingml/2006/main">
              <a:ext uri="{FF2B5EF4-FFF2-40B4-BE49-F238E27FC236}">
                <a16:creationId xmlns:a16="http://schemas.microsoft.com/office/drawing/2014/main" id="{A4B578DD-A034-4201-BD45-7B175F5B0508}"/>
              </a:ext>
            </a:extLst>
          </p:cNvPr>
          <p:cNvSpPr>
            <a:spLocks xmlns:a="http://schemas.openxmlformats.org/drawingml/2006/main" noGrp="1"/>
          </p:cNvSpPr>
          <p:nvPr/>
        </p:nvSpPr>
        <p:spPr>
          <a:xfrm xmlns:a="http://schemas.openxmlformats.org/drawingml/2006/main">
            <a:off x="1362075" y="220027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D9B8FF"/>
                </a:solidFill>
                <a:latin typeface="Courier New"/>
                <a:ea typeface="Courier New"/>
                <a:cs typeface="Courier New"/>
              </a:defRPr>
            </a:defPPr>
          </a:lstStyle>
          <a:p xmlns:a="http://schemas.openxmlformats.org/drawingml/2006/main">
            <a:pPr>
              <a:defRPr sz="1500" b="0">
                <a:solidFill>
                  <a:srgbClr val="D9B8FF"/>
                </a:solidFill>
                <a:latin typeface="Courier New"/>
                <a:ea typeface="Courier New"/>
                <a:cs typeface="Courier New"/>
              </a:defRPr>
            </a:pPr>
            <a:r>
              <a:rPr sz="1500" b="0">
                <a:solidFill>
                  <a:srgbClr val="D9B8FF"/>
                </a:solidFill>
                <a:latin typeface="Courier New"/>
                <a:ea typeface="Courier New"/>
                <a:cs typeface="Courier New"/>
              </a:rPr>
              <a:t>**Status:** Draft</a:t>
            </a:r>
          </a:p>
        </p:txBody>
      </p:sp>
      <p:sp>
        <p:nvSpPr>
          <p:cNvPr id="10" name="">
            <a:extLst xmlns:a="http://schemas.openxmlformats.org/drawingml/2006/main">
              <a:ext uri="{FF2B5EF4-FFF2-40B4-BE49-F238E27FC236}">
                <a16:creationId xmlns:a16="http://schemas.microsoft.com/office/drawing/2014/main" id="{4CB3788F-8A55-4B1D-82C3-9975D21E8D39}"/>
              </a:ext>
            </a:extLst>
          </p:cNvPr>
          <p:cNvSpPr>
            <a:spLocks xmlns:a="http://schemas.openxmlformats.org/drawingml/2006/main" noGrp="1"/>
          </p:cNvSpPr>
          <p:nvPr/>
        </p:nvSpPr>
        <p:spPr>
          <a:xfrm xmlns:a="http://schemas.openxmlformats.org/drawingml/2006/main">
            <a:off x="819150" y="24193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3</a:t>
            </a:r>
          </a:p>
        </p:txBody>
      </p:sp>
      <p:sp>
        <p:nvSpPr>
          <p:cNvPr id="11" name="">
            <a:extLst xmlns:a="http://schemas.openxmlformats.org/drawingml/2006/main">
              <a:ext uri="{FF2B5EF4-FFF2-40B4-BE49-F238E27FC236}">
                <a16:creationId xmlns:a16="http://schemas.microsoft.com/office/drawing/2014/main" id="{B4572FAB-8496-4E07-A5B3-3D210B564D11}"/>
              </a:ext>
            </a:extLst>
          </p:cNvPr>
          <p:cNvSpPr>
            <a:spLocks xmlns:a="http://schemas.openxmlformats.org/drawingml/2006/main" noGrp="1"/>
          </p:cNvSpPr>
          <p:nvPr/>
        </p:nvSpPr>
        <p:spPr>
          <a:xfrm xmlns:a="http://schemas.openxmlformats.org/drawingml/2006/main">
            <a:off x="1362075" y="24193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r>
              <a:t/>
            </a:r>
          </a:p>
        </p:txBody>
      </p:sp>
      <p:sp>
        <p:nvSpPr>
          <p:cNvPr id="12" name="">
            <a:extLst xmlns:a="http://schemas.openxmlformats.org/drawingml/2006/main">
              <a:ext uri="{FF2B5EF4-FFF2-40B4-BE49-F238E27FC236}">
                <a16:creationId xmlns:a16="http://schemas.microsoft.com/office/drawing/2014/main" id="{08C6F0AB-AAD7-4AA6-9667-0A4428BFA57D}"/>
              </a:ext>
            </a:extLst>
          </p:cNvPr>
          <p:cNvSpPr>
            <a:spLocks xmlns:a="http://schemas.openxmlformats.org/drawingml/2006/main" noGrp="1"/>
          </p:cNvSpPr>
          <p:nvPr/>
        </p:nvSpPr>
        <p:spPr>
          <a:xfrm xmlns:a="http://schemas.openxmlformats.org/drawingml/2006/main">
            <a:off x="819150" y="263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4</a:t>
            </a:r>
          </a:p>
        </p:txBody>
      </p:sp>
      <p:sp>
        <p:nvSpPr>
          <p:cNvPr id="13" name="">
            <a:extLst xmlns:a="http://schemas.openxmlformats.org/drawingml/2006/main">
              <a:ext uri="{FF2B5EF4-FFF2-40B4-BE49-F238E27FC236}">
                <a16:creationId xmlns:a16="http://schemas.microsoft.com/office/drawing/2014/main" id="{7E6BCEEF-4A3F-4DDA-90FB-F93ADD241C8A}"/>
              </a:ext>
            </a:extLst>
          </p:cNvPr>
          <p:cNvSpPr>
            <a:spLocks xmlns:a="http://schemas.openxmlformats.org/drawingml/2006/main" noGrp="1"/>
          </p:cNvSpPr>
          <p:nvPr/>
        </p:nvSpPr>
        <p:spPr>
          <a:xfrm xmlns:a="http://schemas.openxmlformats.org/drawingml/2006/main">
            <a:off x="1362075" y="263842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93DCEF"/>
                </a:solidFill>
                <a:latin typeface="Courier New"/>
                <a:ea typeface="Courier New"/>
                <a:cs typeface="Courier New"/>
              </a:defRPr>
            </a:defPPr>
          </a:lstStyle>
          <a:p xmlns:a="http://schemas.openxmlformats.org/drawingml/2006/main">
            <a:pPr>
              <a:defRPr sz="1500" b="1">
                <a:solidFill>
                  <a:srgbClr val="93DCEF"/>
                </a:solidFill>
                <a:latin typeface="Courier New"/>
                <a:ea typeface="Courier New"/>
                <a:cs typeface="Courier New"/>
              </a:defRPr>
            </a:pPr>
            <a:r>
              <a:rPr sz="1500" b="1">
                <a:solidFill>
                  <a:srgbClr val="93DCEF"/>
                </a:solidFill>
                <a:latin typeface="Courier New"/>
                <a:ea typeface="Courier New"/>
                <a:cs typeface="Courier New"/>
              </a:rPr>
              <a:t>## Goal</a:t>
            </a:r>
          </a:p>
        </p:txBody>
      </p:sp>
      <p:sp>
        <p:nvSpPr>
          <p:cNvPr id="14" name="">
            <a:extLst xmlns:a="http://schemas.openxmlformats.org/drawingml/2006/main">
              <a:ext uri="{FF2B5EF4-FFF2-40B4-BE49-F238E27FC236}">
                <a16:creationId xmlns:a16="http://schemas.microsoft.com/office/drawing/2014/main" id="{0F36A100-3E52-4C57-80C9-EC7DCF64E3A6}"/>
              </a:ext>
            </a:extLst>
          </p:cNvPr>
          <p:cNvSpPr>
            <a:spLocks xmlns:a="http://schemas.openxmlformats.org/drawingml/2006/main" noGrp="1"/>
          </p:cNvSpPr>
          <p:nvPr/>
        </p:nvSpPr>
        <p:spPr>
          <a:xfrm xmlns:a="http://schemas.openxmlformats.org/drawingml/2006/main">
            <a:off x="819150" y="28575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5</a:t>
            </a:r>
          </a:p>
        </p:txBody>
      </p:sp>
      <p:sp>
        <p:nvSpPr>
          <p:cNvPr id="15" name="">
            <a:extLst xmlns:a="http://schemas.openxmlformats.org/drawingml/2006/main">
              <a:ext uri="{FF2B5EF4-FFF2-40B4-BE49-F238E27FC236}">
                <a16:creationId xmlns:a16="http://schemas.microsoft.com/office/drawing/2014/main" id="{B5573A2C-1E56-4372-A2F6-F53FEFB3C711}"/>
              </a:ext>
            </a:extLst>
          </p:cNvPr>
          <p:cNvSpPr>
            <a:spLocks xmlns:a="http://schemas.openxmlformats.org/drawingml/2006/main" noGrp="1"/>
          </p:cNvSpPr>
          <p:nvPr/>
        </p:nvSpPr>
        <p:spPr>
          <a:xfrm xmlns:a="http://schemas.openxmlformats.org/drawingml/2006/main">
            <a:off x="1362075" y="28575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Потребителят отчита време по проект и вижда записите си.</a:t>
            </a:r>
          </a:p>
        </p:txBody>
      </p:sp>
      <p:sp>
        <p:nvSpPr>
          <p:cNvPr id="16" name="">
            <a:extLst xmlns:a="http://schemas.openxmlformats.org/drawingml/2006/main">
              <a:ext uri="{FF2B5EF4-FFF2-40B4-BE49-F238E27FC236}">
                <a16:creationId xmlns:a16="http://schemas.microsoft.com/office/drawing/2014/main" id="{477D1134-E317-4297-9BCB-4D243EFE7F28}"/>
              </a:ext>
            </a:extLst>
          </p:cNvPr>
          <p:cNvSpPr>
            <a:spLocks xmlns:a="http://schemas.openxmlformats.org/drawingml/2006/main" noGrp="1"/>
          </p:cNvSpPr>
          <p:nvPr/>
        </p:nvSpPr>
        <p:spPr>
          <a:xfrm xmlns:a="http://schemas.openxmlformats.org/drawingml/2006/main">
            <a:off x="819150" y="30765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6</a:t>
            </a:r>
          </a:p>
        </p:txBody>
      </p:sp>
      <p:sp>
        <p:nvSpPr>
          <p:cNvPr id="17" name="">
            <a:extLst xmlns:a="http://schemas.openxmlformats.org/drawingml/2006/main">
              <a:ext uri="{FF2B5EF4-FFF2-40B4-BE49-F238E27FC236}">
                <a16:creationId xmlns:a16="http://schemas.microsoft.com/office/drawing/2014/main" id="{511556E3-5699-440C-9312-515735304459}"/>
              </a:ext>
            </a:extLst>
          </p:cNvPr>
          <p:cNvSpPr>
            <a:spLocks xmlns:a="http://schemas.openxmlformats.org/drawingml/2006/main" noGrp="1"/>
          </p:cNvSpPr>
          <p:nvPr/>
        </p:nvSpPr>
        <p:spPr>
          <a:xfrm xmlns:a="http://schemas.openxmlformats.org/drawingml/2006/main">
            <a:off x="1362075" y="307657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93DCEF"/>
                </a:solidFill>
                <a:latin typeface="Courier New"/>
                <a:ea typeface="Courier New"/>
                <a:cs typeface="Courier New"/>
              </a:defRPr>
            </a:defPPr>
          </a:lstStyle>
          <a:p xmlns:a="http://schemas.openxmlformats.org/drawingml/2006/main">
            <a:pPr>
              <a:defRPr sz="1500" b="1">
                <a:solidFill>
                  <a:srgbClr val="93DCEF"/>
                </a:solidFill>
                <a:latin typeface="Courier New"/>
                <a:ea typeface="Courier New"/>
                <a:cs typeface="Courier New"/>
              </a:defRPr>
            </a:pPr>
            <a:r>
              <a:rPr sz="1500" b="1">
                <a:solidFill>
                  <a:srgbClr val="93DCEF"/>
                </a:solidFill>
                <a:latin typeface="Courier New"/>
                <a:ea typeface="Courier New"/>
                <a:cs typeface="Courier New"/>
              </a:rPr>
              <a:t>## Requirements</a:t>
            </a:r>
          </a:p>
        </p:txBody>
      </p:sp>
      <p:sp>
        <p:nvSpPr>
          <p:cNvPr id="18" name="">
            <a:extLst xmlns:a="http://schemas.openxmlformats.org/drawingml/2006/main">
              <a:ext uri="{FF2B5EF4-FFF2-40B4-BE49-F238E27FC236}">
                <a16:creationId xmlns:a16="http://schemas.microsoft.com/office/drawing/2014/main" id="{0145C4E7-DD6B-463E-B99D-B62A8F6FB69D}"/>
              </a:ext>
            </a:extLst>
          </p:cNvPr>
          <p:cNvSpPr>
            <a:spLocks xmlns:a="http://schemas.openxmlformats.org/drawingml/2006/main" noGrp="1"/>
          </p:cNvSpPr>
          <p:nvPr/>
        </p:nvSpPr>
        <p:spPr>
          <a:xfrm xmlns:a="http://schemas.openxmlformats.org/drawingml/2006/main">
            <a:off x="819150" y="3295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7</a:t>
            </a:r>
          </a:p>
        </p:txBody>
      </p:sp>
      <p:sp>
        <p:nvSpPr>
          <p:cNvPr id="19" name="">
            <a:extLst xmlns:a="http://schemas.openxmlformats.org/drawingml/2006/main">
              <a:ext uri="{FF2B5EF4-FFF2-40B4-BE49-F238E27FC236}">
                <a16:creationId xmlns:a16="http://schemas.microsoft.com/office/drawing/2014/main" id="{CB4D550E-C47C-4081-A5D4-79A7C056C308}"/>
              </a:ext>
            </a:extLst>
          </p:cNvPr>
          <p:cNvSpPr>
            <a:spLocks xmlns:a="http://schemas.openxmlformats.org/drawingml/2006/main" noGrp="1"/>
          </p:cNvSpPr>
          <p:nvPr/>
        </p:nvSpPr>
        <p:spPr>
          <a:xfrm xmlns:a="http://schemas.openxmlformats.org/drawingml/2006/main">
            <a:off x="1362075" y="32956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1. Дата и проект са задължителни; описание по избор.</a:t>
            </a:r>
          </a:p>
        </p:txBody>
      </p:sp>
      <p:sp>
        <p:nvSpPr>
          <p:cNvPr id="20" name="">
            <a:extLst xmlns:a="http://schemas.openxmlformats.org/drawingml/2006/main">
              <a:ext uri="{FF2B5EF4-FFF2-40B4-BE49-F238E27FC236}">
                <a16:creationId xmlns:a16="http://schemas.microsoft.com/office/drawing/2014/main" id="{3AE5F32E-05E0-467C-A3D9-13D43C8DB4EF}"/>
              </a:ext>
            </a:extLst>
          </p:cNvPr>
          <p:cNvSpPr>
            <a:spLocks xmlns:a="http://schemas.openxmlformats.org/drawingml/2006/main" noGrp="1"/>
          </p:cNvSpPr>
          <p:nvPr/>
        </p:nvSpPr>
        <p:spPr>
          <a:xfrm xmlns:a="http://schemas.openxmlformats.org/drawingml/2006/main">
            <a:off x="819150" y="35147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8</a:t>
            </a:r>
          </a:p>
        </p:txBody>
      </p:sp>
      <p:sp>
        <p:nvSpPr>
          <p:cNvPr id="21" name="">
            <a:extLst xmlns:a="http://schemas.openxmlformats.org/drawingml/2006/main">
              <a:ext uri="{FF2B5EF4-FFF2-40B4-BE49-F238E27FC236}">
                <a16:creationId xmlns:a16="http://schemas.microsoft.com/office/drawing/2014/main" id="{01033412-0F6B-4816-AC21-3C1A3D7C9BF0}"/>
              </a:ext>
            </a:extLst>
          </p:cNvPr>
          <p:cNvSpPr>
            <a:spLocks xmlns:a="http://schemas.openxmlformats.org/drawingml/2006/main" noGrp="1"/>
          </p:cNvSpPr>
          <p:nvPr/>
        </p:nvSpPr>
        <p:spPr>
          <a:xfrm xmlns:a="http://schemas.openxmlformats.org/drawingml/2006/main">
            <a:off x="1362075" y="351472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2. Часове &gt; 0 и &lt;= 24; невалидните данни не се записват.</a:t>
            </a:r>
          </a:p>
        </p:txBody>
      </p:sp>
      <p:sp>
        <p:nvSpPr>
          <p:cNvPr id="22" name="">
            <a:extLst xmlns:a="http://schemas.openxmlformats.org/drawingml/2006/main">
              <a:ext uri="{FF2B5EF4-FFF2-40B4-BE49-F238E27FC236}">
                <a16:creationId xmlns:a16="http://schemas.microsoft.com/office/drawing/2014/main" id="{C0EFFE40-F88B-4FB6-9D1B-FBC2CA5C6FEC}"/>
              </a:ext>
            </a:extLst>
          </p:cNvPr>
          <p:cNvSpPr>
            <a:spLocks xmlns:a="http://schemas.openxmlformats.org/drawingml/2006/main" noGrp="1"/>
          </p:cNvSpPr>
          <p:nvPr/>
        </p:nvSpPr>
        <p:spPr>
          <a:xfrm xmlns:a="http://schemas.openxmlformats.org/drawingml/2006/main">
            <a:off x="819150" y="3733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9</a:t>
            </a:r>
          </a:p>
        </p:txBody>
      </p:sp>
      <p:sp>
        <p:nvSpPr>
          <p:cNvPr id="23" name="">
            <a:extLst xmlns:a="http://schemas.openxmlformats.org/drawingml/2006/main">
              <a:ext uri="{FF2B5EF4-FFF2-40B4-BE49-F238E27FC236}">
                <a16:creationId xmlns:a16="http://schemas.microsoft.com/office/drawing/2014/main" id="{0B8CFD65-DA5A-40D0-BDE1-E6F5201BCC67}"/>
              </a:ext>
            </a:extLst>
          </p:cNvPr>
          <p:cNvSpPr>
            <a:spLocks xmlns:a="http://schemas.openxmlformats.org/drawingml/2006/main" noGrp="1"/>
          </p:cNvSpPr>
          <p:nvPr/>
        </p:nvSpPr>
        <p:spPr>
          <a:xfrm xmlns:a="http://schemas.openxmlformats.org/drawingml/2006/main">
            <a:off x="1362075" y="37338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3. Списък със записи и съобщения при зареждане, празен списък и грешка.</a:t>
            </a:r>
          </a:p>
        </p:txBody>
      </p:sp>
      <p:sp>
        <p:nvSpPr>
          <p:cNvPr id="24" name="">
            <a:extLst xmlns:a="http://schemas.openxmlformats.org/drawingml/2006/main">
              <a:ext uri="{FF2B5EF4-FFF2-40B4-BE49-F238E27FC236}">
                <a16:creationId xmlns:a16="http://schemas.microsoft.com/office/drawing/2014/main" id="{6172BBBA-6C03-4DFB-A3C8-3C217B54E064}"/>
              </a:ext>
            </a:extLst>
          </p:cNvPr>
          <p:cNvSpPr>
            <a:spLocks xmlns:a="http://schemas.openxmlformats.org/drawingml/2006/main" noGrp="1"/>
          </p:cNvSpPr>
          <p:nvPr/>
        </p:nvSpPr>
        <p:spPr>
          <a:xfrm xmlns:a="http://schemas.openxmlformats.org/drawingml/2006/main">
            <a:off x="819150" y="39528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10</a:t>
            </a:r>
          </a:p>
        </p:txBody>
      </p:sp>
      <p:sp>
        <p:nvSpPr>
          <p:cNvPr id="25" name="">
            <a:extLst xmlns:a="http://schemas.openxmlformats.org/drawingml/2006/main">
              <a:ext uri="{FF2B5EF4-FFF2-40B4-BE49-F238E27FC236}">
                <a16:creationId xmlns:a16="http://schemas.microsoft.com/office/drawing/2014/main" id="{323DBF8E-1C84-4616-8FE2-1944CE0C2C4C}"/>
              </a:ext>
            </a:extLst>
          </p:cNvPr>
          <p:cNvSpPr>
            <a:spLocks xmlns:a="http://schemas.openxmlformats.org/drawingml/2006/main" noGrp="1"/>
          </p:cNvSpPr>
          <p:nvPr/>
        </p:nvSpPr>
        <p:spPr>
          <a:xfrm xmlns:a="http://schemas.openxmlformats.org/drawingml/2006/main">
            <a:off x="1362075" y="395287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93DCEF"/>
                </a:solidFill>
                <a:latin typeface="Courier New"/>
                <a:ea typeface="Courier New"/>
                <a:cs typeface="Courier New"/>
              </a:defRPr>
            </a:defPPr>
          </a:lstStyle>
          <a:p xmlns:a="http://schemas.openxmlformats.org/drawingml/2006/main">
            <a:pPr>
              <a:defRPr sz="1500" b="1">
                <a:solidFill>
                  <a:srgbClr val="93DCEF"/>
                </a:solidFill>
                <a:latin typeface="Courier New"/>
                <a:ea typeface="Courier New"/>
                <a:cs typeface="Courier New"/>
              </a:defRPr>
            </a:pPr>
            <a:r>
              <a:rPr sz="1500" b="1">
                <a:solidFill>
                  <a:srgbClr val="93DCEF"/>
                </a:solidFill>
                <a:latin typeface="Courier New"/>
                <a:ea typeface="Courier New"/>
                <a:cs typeface="Courier New"/>
              </a:rPr>
              <a:t>## Out of scope</a:t>
            </a:r>
          </a:p>
        </p:txBody>
      </p:sp>
      <p:sp>
        <p:nvSpPr>
          <p:cNvPr id="26" name="">
            <a:extLst xmlns:a="http://schemas.openxmlformats.org/drawingml/2006/main">
              <a:ext uri="{FF2B5EF4-FFF2-40B4-BE49-F238E27FC236}">
                <a16:creationId xmlns:a16="http://schemas.microsoft.com/office/drawing/2014/main" id="{0283AD37-A960-4687-BE3C-EEF339927EDE}"/>
              </a:ext>
            </a:extLst>
          </p:cNvPr>
          <p:cNvSpPr>
            <a:spLocks xmlns:a="http://schemas.openxmlformats.org/drawingml/2006/main" noGrp="1"/>
          </p:cNvSpPr>
          <p:nvPr/>
        </p:nvSpPr>
        <p:spPr>
          <a:xfrm xmlns:a="http://schemas.openxmlformats.org/drawingml/2006/main">
            <a:off x="819150" y="4171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11</a:t>
            </a:r>
          </a:p>
        </p:txBody>
      </p:sp>
      <p:sp>
        <p:nvSpPr>
          <p:cNvPr id="27" name="">
            <a:extLst xmlns:a="http://schemas.openxmlformats.org/drawingml/2006/main">
              <a:ext uri="{FF2B5EF4-FFF2-40B4-BE49-F238E27FC236}">
                <a16:creationId xmlns:a16="http://schemas.microsoft.com/office/drawing/2014/main" id="{C7DE5E0E-33B4-46CB-A2F5-D9A953F1C73D}"/>
              </a:ext>
            </a:extLst>
          </p:cNvPr>
          <p:cNvSpPr>
            <a:spLocks xmlns:a="http://schemas.openxmlformats.org/drawingml/2006/main" noGrp="1"/>
          </p:cNvSpPr>
          <p:nvPr/>
        </p:nvSpPr>
        <p:spPr>
          <a:xfrm xmlns:a="http://schemas.openxmlformats.org/drawingml/2006/main">
            <a:off x="1362075" y="41719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 Редакция, изтриване и отчети.</a:t>
            </a:r>
          </a:p>
        </p:txBody>
      </p:sp>
      <p:sp>
        <p:nvSpPr>
          <p:cNvPr id="28" name="">
            <a:extLst xmlns:a="http://schemas.openxmlformats.org/drawingml/2006/main">
              <a:ext uri="{FF2B5EF4-FFF2-40B4-BE49-F238E27FC236}">
                <a16:creationId xmlns:a16="http://schemas.microsoft.com/office/drawing/2014/main" id="{97B4A083-2320-474F-9FEA-BE0C42DF6130}"/>
              </a:ext>
            </a:extLst>
          </p:cNvPr>
          <p:cNvSpPr>
            <a:spLocks xmlns:a="http://schemas.openxmlformats.org/drawingml/2006/main" noGrp="1"/>
          </p:cNvSpPr>
          <p:nvPr/>
        </p:nvSpPr>
        <p:spPr>
          <a:xfrm xmlns:a="http://schemas.openxmlformats.org/drawingml/2006/main">
            <a:off x="819150" y="43910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12</a:t>
            </a:r>
          </a:p>
        </p:txBody>
      </p:sp>
      <p:sp>
        <p:nvSpPr>
          <p:cNvPr id="29" name="">
            <a:extLst xmlns:a="http://schemas.openxmlformats.org/drawingml/2006/main">
              <a:ext uri="{FF2B5EF4-FFF2-40B4-BE49-F238E27FC236}">
                <a16:creationId xmlns:a16="http://schemas.microsoft.com/office/drawing/2014/main" id="{9F44DC82-F12B-4EC9-B868-312B61C52904}"/>
              </a:ext>
            </a:extLst>
          </p:cNvPr>
          <p:cNvSpPr>
            <a:spLocks xmlns:a="http://schemas.openxmlformats.org/drawingml/2006/main" noGrp="1"/>
          </p:cNvSpPr>
          <p:nvPr/>
        </p:nvSpPr>
        <p:spPr>
          <a:xfrm xmlns:a="http://schemas.openxmlformats.org/drawingml/2006/main">
            <a:off x="1362075" y="439102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93DCEF"/>
                </a:solidFill>
                <a:latin typeface="Courier New"/>
                <a:ea typeface="Courier New"/>
                <a:cs typeface="Courier New"/>
              </a:defRPr>
            </a:defPPr>
          </a:lstStyle>
          <a:p xmlns:a="http://schemas.openxmlformats.org/drawingml/2006/main">
            <a:pPr>
              <a:defRPr sz="1500" b="1">
                <a:solidFill>
                  <a:srgbClr val="93DCEF"/>
                </a:solidFill>
                <a:latin typeface="Courier New"/>
                <a:ea typeface="Courier New"/>
                <a:cs typeface="Courier New"/>
              </a:defRPr>
            </a:pPr>
            <a:r>
              <a:rPr sz="1500" b="1">
                <a:solidFill>
                  <a:srgbClr val="93DCEF"/>
                </a:solidFill>
                <a:latin typeface="Courier New"/>
                <a:ea typeface="Courier New"/>
                <a:cs typeface="Courier New"/>
              </a:rPr>
              <a:t>## Acceptance criteria</a:t>
            </a:r>
          </a:p>
        </p:txBody>
      </p:sp>
      <p:sp>
        <p:nvSpPr>
          <p:cNvPr id="30" name="">
            <a:extLst xmlns:a="http://schemas.openxmlformats.org/drawingml/2006/main">
              <a:ext uri="{FF2B5EF4-FFF2-40B4-BE49-F238E27FC236}">
                <a16:creationId xmlns:a16="http://schemas.microsoft.com/office/drawing/2014/main" id="{B00985C2-CCC0-4F40-A5D7-11F5ABF7DC49}"/>
              </a:ext>
            </a:extLst>
          </p:cNvPr>
          <p:cNvSpPr>
            <a:spLocks xmlns:a="http://schemas.openxmlformats.org/drawingml/2006/main" noGrp="1"/>
          </p:cNvSpPr>
          <p:nvPr/>
        </p:nvSpPr>
        <p:spPr>
          <a:xfrm xmlns:a="http://schemas.openxmlformats.org/drawingml/2006/main">
            <a:off x="819150" y="46101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13</a:t>
            </a:r>
          </a:p>
        </p:txBody>
      </p:sp>
      <p:sp>
        <p:nvSpPr>
          <p:cNvPr id="31" name="">
            <a:extLst xmlns:a="http://schemas.openxmlformats.org/drawingml/2006/main">
              <a:ext uri="{FF2B5EF4-FFF2-40B4-BE49-F238E27FC236}">
                <a16:creationId xmlns:a16="http://schemas.microsoft.com/office/drawing/2014/main" id="{499DE037-9EE4-4985-BE03-71A17644CEA6}"/>
              </a:ext>
            </a:extLst>
          </p:cNvPr>
          <p:cNvSpPr>
            <a:spLocks xmlns:a="http://schemas.openxmlformats.org/drawingml/2006/main" noGrp="1"/>
          </p:cNvSpPr>
          <p:nvPr/>
        </p:nvSpPr>
        <p:spPr>
          <a:xfrm xmlns:a="http://schemas.openxmlformats.org/drawingml/2006/main">
            <a:off x="1362075" y="46101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 [ ] При 7,5 или 24 часа: новият запис се вижда в списъка.</a:t>
            </a:r>
          </a:p>
        </p:txBody>
      </p:sp>
      <p:sp>
        <p:nvSpPr>
          <p:cNvPr id="32" name="">
            <a:extLst xmlns:a="http://schemas.openxmlformats.org/drawingml/2006/main">
              <a:ext uri="{FF2B5EF4-FFF2-40B4-BE49-F238E27FC236}">
                <a16:creationId xmlns:a16="http://schemas.microsoft.com/office/drawing/2014/main" id="{8F031DC1-FBAD-47FE-B1F7-C2BFC28CB6B8}"/>
              </a:ext>
            </a:extLst>
          </p:cNvPr>
          <p:cNvSpPr>
            <a:spLocks xmlns:a="http://schemas.openxmlformats.org/drawingml/2006/main" noGrp="1"/>
          </p:cNvSpPr>
          <p:nvPr/>
        </p:nvSpPr>
        <p:spPr>
          <a:xfrm xmlns:a="http://schemas.openxmlformats.org/drawingml/2006/main">
            <a:off x="819150" y="48291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14</a:t>
            </a:r>
          </a:p>
        </p:txBody>
      </p:sp>
      <p:sp>
        <p:nvSpPr>
          <p:cNvPr id="33" name="">
            <a:extLst xmlns:a="http://schemas.openxmlformats.org/drawingml/2006/main">
              <a:ext uri="{FF2B5EF4-FFF2-40B4-BE49-F238E27FC236}">
                <a16:creationId xmlns:a16="http://schemas.microsoft.com/office/drawing/2014/main" id="{FF3DC246-939E-454D-BB2F-0B12113A772F}"/>
              </a:ext>
            </a:extLst>
          </p:cNvPr>
          <p:cNvSpPr>
            <a:spLocks xmlns:a="http://schemas.openxmlformats.org/drawingml/2006/main" noGrp="1"/>
          </p:cNvSpPr>
          <p:nvPr/>
        </p:nvSpPr>
        <p:spPr>
          <a:xfrm xmlns:a="http://schemas.openxmlformats.org/drawingml/2006/main">
            <a:off x="1362075" y="482917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 [ ] При 0 или 24,01 часа: грешка, без нов запис.</a:t>
            </a:r>
          </a:p>
        </p:txBody>
      </p:sp>
      <p:sp>
        <p:nvSpPr>
          <p:cNvPr id="34" name="">
            <a:extLst xmlns:a="http://schemas.openxmlformats.org/drawingml/2006/main">
              <a:ext uri="{FF2B5EF4-FFF2-40B4-BE49-F238E27FC236}">
                <a16:creationId xmlns:a16="http://schemas.microsoft.com/office/drawing/2014/main" id="{1F38AC92-B615-4642-B1C8-B435AD534320}"/>
              </a:ext>
            </a:extLst>
          </p:cNvPr>
          <p:cNvSpPr>
            <a:spLocks xmlns:a="http://schemas.openxmlformats.org/drawingml/2006/main" noGrp="1"/>
          </p:cNvSpPr>
          <p:nvPr/>
        </p:nvSpPr>
        <p:spPr>
          <a:xfrm xmlns:a="http://schemas.openxmlformats.org/drawingml/2006/main">
            <a:off x="819150" y="50482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15</a:t>
            </a:r>
          </a:p>
        </p:txBody>
      </p:sp>
      <p:sp>
        <p:nvSpPr>
          <p:cNvPr id="35" name="">
            <a:extLst xmlns:a="http://schemas.openxmlformats.org/drawingml/2006/main">
              <a:ext uri="{FF2B5EF4-FFF2-40B4-BE49-F238E27FC236}">
                <a16:creationId xmlns:a16="http://schemas.microsoft.com/office/drawing/2014/main" id="{F54E52B9-A879-4691-9892-473E49622856}"/>
              </a:ext>
            </a:extLst>
          </p:cNvPr>
          <p:cNvSpPr>
            <a:spLocks xmlns:a="http://schemas.openxmlformats.org/drawingml/2006/main" noGrp="1"/>
          </p:cNvSpPr>
          <p:nvPr/>
        </p:nvSpPr>
        <p:spPr>
          <a:xfrm xmlns:a="http://schemas.openxmlformats.org/drawingml/2006/main">
            <a:off x="1362075" y="50482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 [ ] Списъкът показва зареждане, липса на записи и грешка.</a:t>
            </a:r>
          </a:p>
        </p:txBody>
      </p:sp>
      <p:sp>
        <p:nvSpPr>
          <p:cNvPr id="36" name="">
            <a:extLst xmlns:a="http://schemas.openxmlformats.org/drawingml/2006/main">
              <a:ext uri="{FF2B5EF4-FFF2-40B4-BE49-F238E27FC236}">
                <a16:creationId xmlns:a16="http://schemas.microsoft.com/office/drawing/2014/main" id="{2F6477ED-9825-457C-99C7-D954CEAC9EB9}"/>
              </a:ext>
            </a:extLst>
          </p:cNvPr>
          <p:cNvSpPr>
            <a:spLocks xmlns:a="http://schemas.openxmlformats.org/drawingml/2006/main" noGrp="1"/>
          </p:cNvSpPr>
          <p:nvPr/>
        </p:nvSpPr>
        <p:spPr>
          <a:xfrm xmlns:a="http://schemas.openxmlformats.org/drawingml/2006/main">
            <a:off x="819150" y="52673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16</a:t>
            </a:r>
          </a:p>
        </p:txBody>
      </p:sp>
      <p:sp>
        <p:nvSpPr>
          <p:cNvPr id="37" name="">
            <a:extLst xmlns:a="http://schemas.openxmlformats.org/drawingml/2006/main">
              <a:ext uri="{FF2B5EF4-FFF2-40B4-BE49-F238E27FC236}">
                <a16:creationId xmlns:a16="http://schemas.microsoft.com/office/drawing/2014/main" id="{4B227258-F748-4CD9-9385-2F881773E868}"/>
              </a:ext>
            </a:extLst>
          </p:cNvPr>
          <p:cNvSpPr>
            <a:spLocks xmlns:a="http://schemas.openxmlformats.org/drawingml/2006/main" noGrp="1"/>
          </p:cNvSpPr>
          <p:nvPr/>
        </p:nvSpPr>
        <p:spPr>
          <a:xfrm xmlns:a="http://schemas.openxmlformats.org/drawingml/2006/main">
            <a:off x="1362075" y="526732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93DCEF"/>
                </a:solidFill>
                <a:latin typeface="Courier New"/>
                <a:ea typeface="Courier New"/>
                <a:cs typeface="Courier New"/>
              </a:defRPr>
            </a:defPPr>
          </a:lstStyle>
          <a:p xmlns:a="http://schemas.openxmlformats.org/drawingml/2006/main">
            <a:pPr>
              <a:defRPr sz="1500" b="1">
                <a:solidFill>
                  <a:srgbClr val="93DCEF"/>
                </a:solidFill>
                <a:latin typeface="Courier New"/>
                <a:ea typeface="Courier New"/>
                <a:cs typeface="Courier New"/>
              </a:defRPr>
            </a:pPr>
            <a:r>
              <a:rPr sz="1500" b="1">
                <a:solidFill>
                  <a:srgbClr val="93DCEF"/>
                </a:solidFill>
                <a:latin typeface="Courier New"/>
                <a:ea typeface="Courier New"/>
                <a:cs typeface="Courier New"/>
              </a:rPr>
              <a:t>## Technical notes</a:t>
            </a:r>
          </a:p>
        </p:txBody>
      </p:sp>
      <p:sp>
        <p:nvSpPr>
          <p:cNvPr id="38" name="">
            <a:extLst xmlns:a="http://schemas.openxmlformats.org/drawingml/2006/main">
              <a:ext uri="{FF2B5EF4-FFF2-40B4-BE49-F238E27FC236}">
                <a16:creationId xmlns:a16="http://schemas.microsoft.com/office/drawing/2014/main" id="{281C6066-37C5-4D02-9350-E33F1BEE4888}"/>
              </a:ext>
            </a:extLst>
          </p:cNvPr>
          <p:cNvSpPr>
            <a:spLocks xmlns:a="http://schemas.openxmlformats.org/drawingml/2006/main" noGrp="1"/>
          </p:cNvSpPr>
          <p:nvPr/>
        </p:nvSpPr>
        <p:spPr>
          <a:xfrm xmlns:a="http://schemas.openxmlformats.org/drawingml/2006/main">
            <a:off x="819150" y="54864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17</a:t>
            </a:r>
          </a:p>
        </p:txBody>
      </p:sp>
      <p:sp>
        <p:nvSpPr>
          <p:cNvPr id="39" name="">
            <a:extLst xmlns:a="http://schemas.openxmlformats.org/drawingml/2006/main">
              <a:ext uri="{FF2B5EF4-FFF2-40B4-BE49-F238E27FC236}">
                <a16:creationId xmlns:a16="http://schemas.microsoft.com/office/drawing/2014/main" id="{0E5C0238-098A-463B-9BDE-0BBCCA77D39C}"/>
              </a:ext>
            </a:extLst>
          </p:cNvPr>
          <p:cNvSpPr>
            <a:spLocks xmlns:a="http://schemas.openxmlformats.org/drawingml/2006/main" noGrp="1"/>
          </p:cNvSpPr>
          <p:nvPr/>
        </p:nvSpPr>
        <p:spPr>
          <a:xfrm xmlns:a="http://schemas.openxmlformats.org/drawingml/2006/main">
            <a:off x="1362075" y="54864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 Minimal API + Blazor; общи DTO; интерфейс по DESIGN.md.</a:t>
            </a:r>
          </a:p>
        </p:txBody>
      </p:sp>
      <p:sp>
        <p:nvSpPr>
          <p:cNvPr id="40" name="">
            <a:extLst xmlns:a="http://schemas.openxmlformats.org/drawingml/2006/main">
              <a:ext uri="{FF2B5EF4-FFF2-40B4-BE49-F238E27FC236}">
                <a16:creationId xmlns:a16="http://schemas.microsoft.com/office/drawing/2014/main" id="{73F746F7-4C01-4782-AA25-66A71D71CB0D}"/>
              </a:ext>
            </a:extLst>
          </p:cNvPr>
          <p:cNvSpPr>
            <a:spLocks xmlns:a="http://schemas.openxmlformats.org/drawingml/2006/main" noGrp="1"/>
          </p:cNvSpPr>
          <p:nvPr/>
        </p:nvSpPr>
        <p:spPr>
          <a:xfrm xmlns:a="http://schemas.openxmlformats.org/drawingml/2006/main">
            <a:off x="819150" y="5705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18</a:t>
            </a:r>
          </a:p>
        </p:txBody>
      </p:sp>
      <p:sp>
        <p:nvSpPr>
          <p:cNvPr id="41" name="">
            <a:extLst xmlns:a="http://schemas.openxmlformats.org/drawingml/2006/main">
              <a:ext uri="{FF2B5EF4-FFF2-40B4-BE49-F238E27FC236}">
                <a16:creationId xmlns:a16="http://schemas.microsoft.com/office/drawing/2014/main" id="{CFD05742-DB57-46F8-8ECF-1230D4B2557A}"/>
              </a:ext>
            </a:extLst>
          </p:cNvPr>
          <p:cNvSpPr>
            <a:spLocks xmlns:a="http://schemas.openxmlformats.org/drawingml/2006/main" noGrp="1"/>
          </p:cNvSpPr>
          <p:nvPr/>
        </p:nvSpPr>
        <p:spPr>
          <a:xfrm xmlns:a="http://schemas.openxmlformats.org/drawingml/2006/main">
            <a:off x="1362075" y="570547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93DCEF"/>
                </a:solidFill>
                <a:latin typeface="Courier New"/>
                <a:ea typeface="Courier New"/>
                <a:cs typeface="Courier New"/>
              </a:defRPr>
            </a:defPPr>
          </a:lstStyle>
          <a:p xmlns:a="http://schemas.openxmlformats.org/drawingml/2006/main">
            <a:pPr>
              <a:defRPr sz="1500" b="1">
                <a:solidFill>
                  <a:srgbClr val="93DCEF"/>
                </a:solidFill>
                <a:latin typeface="Courier New"/>
                <a:ea typeface="Courier New"/>
                <a:cs typeface="Courier New"/>
              </a:defRPr>
            </a:pPr>
            <a:r>
              <a:rPr sz="1500" b="1">
                <a:solidFill>
                  <a:srgbClr val="93DCEF"/>
                </a:solidFill>
                <a:latin typeface="Courier New"/>
                <a:ea typeface="Courier New"/>
                <a:cs typeface="Courier New"/>
              </a:rPr>
              <a:t>## Tasks</a:t>
            </a:r>
          </a:p>
        </p:txBody>
      </p:sp>
      <p:sp>
        <p:nvSpPr>
          <p:cNvPr id="42" name="">
            <a:extLst xmlns:a="http://schemas.openxmlformats.org/drawingml/2006/main">
              <a:ext uri="{FF2B5EF4-FFF2-40B4-BE49-F238E27FC236}">
                <a16:creationId xmlns:a16="http://schemas.microsoft.com/office/drawing/2014/main" id="{CEF63D97-82D4-44D3-AC63-9BD5945A738E}"/>
              </a:ext>
            </a:extLst>
          </p:cNvPr>
          <p:cNvSpPr>
            <a:spLocks xmlns:a="http://schemas.openxmlformats.org/drawingml/2006/main" noGrp="1"/>
          </p:cNvSpPr>
          <p:nvPr/>
        </p:nvSpPr>
        <p:spPr>
          <a:xfrm xmlns:a="http://schemas.openxmlformats.org/drawingml/2006/main">
            <a:off x="819150" y="5924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19</a:t>
            </a:r>
          </a:p>
        </p:txBody>
      </p:sp>
      <p:sp>
        <p:nvSpPr>
          <p:cNvPr id="43" name="">
            <a:extLst xmlns:a="http://schemas.openxmlformats.org/drawingml/2006/main">
              <a:ext uri="{FF2B5EF4-FFF2-40B4-BE49-F238E27FC236}">
                <a16:creationId xmlns:a16="http://schemas.microsoft.com/office/drawing/2014/main" id="{F7801A1F-F66F-4BB2-ACB8-23D8E56ABDAF}"/>
              </a:ext>
            </a:extLst>
          </p:cNvPr>
          <p:cNvSpPr>
            <a:spLocks xmlns:a="http://schemas.openxmlformats.org/drawingml/2006/main" noGrp="1"/>
          </p:cNvSpPr>
          <p:nvPr/>
        </p:nvSpPr>
        <p:spPr>
          <a:xfrm xmlns:a="http://schemas.openxmlformats.org/drawingml/2006/main">
            <a:off x="1362075" y="59245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 [ ] API + unit тестове; форма + списък; човешки преглед.</a:t>
            </a:r>
          </a:p>
        </p:txBody>
      </p:sp>
      <p:sp>
        <p:nvSpPr>
          <p:cNvPr id="44" name="">
            <a:extLst xmlns:a="http://schemas.openxmlformats.org/drawingml/2006/main">
              <a:ext uri="{FF2B5EF4-FFF2-40B4-BE49-F238E27FC236}">
                <a16:creationId xmlns:a16="http://schemas.microsoft.com/office/drawing/2014/main" id="{124D4FB5-B34D-4322-B85C-6731D8E2BA6F}"/>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defRPr sz="1275" b="0">
                <a:solidFill>
                  <a:srgbClr val="4D5C74"/>
                </a:solidFill>
                <a:latin typeface="Arial"/>
                <a:ea typeface="Arial"/>
                <a:cs typeface="Arial"/>
              </a:defRPr>
            </a:pPr>
            <a:r>
              <a:rPr sz="1275" b="0">
                <a:solidFill>
                  <a:srgbClr val="4D5C74"/>
                </a:solidFill>
                <a:latin typeface="Arial"/>
                <a:ea typeface="Arial"/>
                <a:cs typeface="Arial"/>
              </a:rPr>
              <a:t>08</a:t>
            </a:r>
          </a:p>
        </p:txBody>
      </p:sp>
    </p:spTree>
    <p:extLst>
      <p:ext uri="{BB962C8B-B14F-4D97-AF65-F5344CB8AC3E}">
        <p14:creationId xmlns:p14="http://schemas.microsoft.com/office/powerpoint/2010/main" val="742038515"/>
      </p:ext>
    </p:extLst>
  </p:cSld>
</p:sld>
</file>

<file path=ppt/slides/slide9.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31103CEB-11CE-48E2-8A54-48B389E129C5}"/>
              </a:ext>
            </a:extLst>
          </p:cNvPr>
          <p:cNvCxnSpPr>
            <a:stCxn xmlns:a="http://schemas.openxmlformats.org/drawingml/2006/main" id="19" idx="3"/>
            <a:endCxn xmlns:a="http://schemas.openxmlformats.org/drawingml/2006/main" id="21" idx="1"/>
          </p:cNvCxnSpPr>
          <p:nvPr/>
        </p:nvCxnSpPr>
        <p:spPr>
          <a:xfrm xmlns:a="http://schemas.openxmlformats.org/drawingml/2006/main" flipV="1">
            <a:off x="5800725" y="5229225"/>
            <a:ext cx="704850" cy="38100"/>
          </a:xfrm>
          <a:prstGeom xmlns:a="http://schemas.openxmlformats.org/drawingml/2006/main" prst="straightConnector1">
            <a:avLst/>
          </a:prstGeom>
          <a:ln xmlns:a="http://schemas.openxmlformats.org/drawingml/2006/main" w="28575">
            <a:solidFill>
              <a:srgbClr val="7041B9"/>
            </a:solidFill>
            <a:tailEnd type="triangle" w="med" len="med"/>
          </a:ln>
        </p:spPr>
      </p:cxnSp>
      <p:cxnSp>
        <p:nvCxnSpPr>
          <p:cNvPr id="17" name="">
            <a:extLst xmlns:a="http://schemas.openxmlformats.org/drawingml/2006/main">
              <a:ext uri="{FF2B5EF4-FFF2-40B4-BE49-F238E27FC236}">
                <a16:creationId xmlns:a16="http://schemas.microsoft.com/office/drawing/2014/main" id="{C1FFD1C3-83E6-4C3F-B247-C6DB9C0C5BB3}"/>
              </a:ext>
            </a:extLst>
          </p:cNvPr>
          <p:cNvCxnSpPr>
            <a:stCxn xmlns:a="http://schemas.openxmlformats.org/drawingml/2006/main" id="13" idx="3"/>
            <a:endCxn xmlns:a="http://schemas.openxmlformats.org/drawingml/2006/main" id="15" idx="1"/>
          </p:cNvCxnSpPr>
          <p:nvPr/>
        </p:nvCxnSpPr>
        <p:spPr>
          <a:xfrm xmlns:a="http://schemas.openxmlformats.org/drawingml/2006/main">
            <a:off x="5800725" y="3724275"/>
            <a:ext cx="704850" cy="0"/>
          </a:xfrm>
          <a:prstGeom xmlns:a="http://schemas.openxmlformats.org/drawingml/2006/main" prst="straightConnector1">
            <a:avLst/>
          </a:prstGeom>
          <a:ln xmlns:a="http://schemas.openxmlformats.org/drawingml/2006/main" w="28575">
            <a:solidFill>
              <a:srgbClr val="137957"/>
            </a:solidFill>
            <a:headEnd type="triangle" w="med" len="med"/>
            <a:tailEnd type="triangle" w="med" len="med"/>
          </a:ln>
        </p:spPr>
      </p:cxnSp>
      <p:cxnSp>
        <p:nvCxnSpPr>
          <p:cNvPr id="12" name="">
            <a:extLst xmlns:a="http://schemas.openxmlformats.org/drawingml/2006/main">
              <a:ext uri="{FF2B5EF4-FFF2-40B4-BE49-F238E27FC236}">
                <a16:creationId xmlns:a16="http://schemas.microsoft.com/office/drawing/2014/main" id="{7FC6B002-27A0-40AC-9663-1C654B318ED7}"/>
              </a:ext>
            </a:extLst>
          </p:cNvPr>
          <p:cNvCxnSpPr>
            <a:stCxn xmlns:a="http://schemas.openxmlformats.org/drawingml/2006/main" id="8" idx="3"/>
            <a:endCxn xmlns:a="http://schemas.openxmlformats.org/drawingml/2006/main" id="10" idx="1"/>
          </p:cNvCxnSpPr>
          <p:nvPr/>
        </p:nvCxnSpPr>
        <p:spPr>
          <a:xfrm xmlns:a="http://schemas.openxmlformats.org/drawingml/2006/main">
            <a:off x="5800725" y="2219325"/>
            <a:ext cx="704850" cy="0"/>
          </a:xfrm>
          <a:prstGeom xmlns:a="http://schemas.openxmlformats.org/drawingml/2006/main" prst="straightConnector1">
            <a:avLst/>
          </a:prstGeom>
          <a:ln xmlns:a="http://schemas.openxmlformats.org/drawingml/2006/main" w="28575">
            <a:solidFill>
              <a:srgbClr val="2447A6"/>
            </a:solidFill>
            <a:tailEnd type="triangle" w="med" len="med"/>
          </a:ln>
        </p:spPr>
      </p:cxnSp>
      <p:sp>
        <p:nvSpPr>
          <p:cNvPr id="30" name="">
            <a:extLst xmlns:a="http://schemas.openxmlformats.org/drawingml/2006/main">
              <a:ext uri="{FF2B5EF4-FFF2-40B4-BE49-F238E27FC236}">
                <a16:creationId xmlns:a16="http://schemas.microsoft.com/office/drawing/2014/main" id="{0998837A-8CEB-41E6-993B-79C3FBF81D39}"/>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defRPr sz="3300" b="1">
                <a:solidFill>
                  <a:srgbClr val="122442"/>
                </a:solidFill>
                <a:latin typeface="Arial"/>
                <a:ea typeface="Arial"/>
                <a:cs typeface="Arial"/>
              </a:defRPr>
            </a:pPr>
            <a:r>
              <a:rPr sz="3300" b="1">
                <a:solidFill>
                  <a:srgbClr val="122442"/>
                </a:solidFill>
                <a:latin typeface="Arial"/>
                <a:ea typeface="Arial"/>
                <a:cs typeface="Arial"/>
              </a:rPr>
              <a:t>Три подхода към спецификацията</a:t>
            </a:r>
          </a:p>
        </p:txBody>
      </p:sp>
      <p:sp>
        <p:nvSpPr>
          <p:cNvPr id="2" name="">
            <a:extLst xmlns:a="http://schemas.openxmlformats.org/drawingml/2006/main">
              <a:ext uri="{FF2B5EF4-FFF2-40B4-BE49-F238E27FC236}">
                <a16:creationId xmlns:a16="http://schemas.microsoft.com/office/drawing/2014/main" id="{47F66157-3255-48F3-93E1-0D291C78AB84}"/>
              </a:ext>
            </a:extLst>
          </p:cNvPr>
          <p:cNvSpPr>
            <a:spLocks xmlns:a="http://schemas.openxmlformats.org/drawingml/2006/main" noGrp="1"/>
          </p:cNvSpPr>
          <p:nvPr/>
        </p:nvSpPr>
        <p:spPr>
          <a:xfrm xmlns:a="http://schemas.openxmlformats.org/drawingml/2006/main">
            <a:off x="685800" y="165735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447A6"/>
                </a:solidFill>
                <a:latin typeface="Arial"/>
                <a:ea typeface="Arial"/>
                <a:cs typeface="Arial"/>
              </a:defRPr>
            </a:defPPr>
          </a:lstStyle>
          <a:p xmlns:a="http://schemas.openxmlformats.org/drawingml/2006/main">
            <a:pPr>
              <a:defRPr sz="2250" b="1">
                <a:solidFill>
                  <a:srgbClr val="2447A6"/>
                </a:solidFill>
                <a:latin typeface="Arial"/>
                <a:ea typeface="Arial"/>
                <a:cs typeface="Arial"/>
              </a:defRPr>
            </a:pPr>
            <a:r>
              <a:rPr sz="2250" b="1">
                <a:solidFill>
                  <a:srgbClr val="2447A6"/>
                </a:solidFill>
                <a:latin typeface="Arial"/>
                <a:ea typeface="Arial"/>
                <a:cs typeface="Arial"/>
              </a:rPr>
              <a:t>Spec-first</a:t>
            </a:r>
          </a:p>
        </p:txBody>
      </p:sp>
      <p:sp>
        <p:nvSpPr>
          <p:cNvPr id="3" name="">
            <a:extLst xmlns:a="http://schemas.openxmlformats.org/drawingml/2006/main">
              <a:ext uri="{FF2B5EF4-FFF2-40B4-BE49-F238E27FC236}">
                <a16:creationId xmlns:a16="http://schemas.microsoft.com/office/drawing/2014/main" id="{C72C4EE9-D26F-48D4-9B97-81501B46E762}"/>
              </a:ext>
            </a:extLst>
          </p:cNvPr>
          <p:cNvSpPr>
            <a:spLocks xmlns:a="http://schemas.openxmlformats.org/drawingml/2006/main" noGrp="1"/>
          </p:cNvSpPr>
          <p:nvPr/>
        </p:nvSpPr>
        <p:spPr>
          <a:xfrm xmlns:a="http://schemas.openxmlformats.org/drawingml/2006/main">
            <a:off x="685800" y="21621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22442"/>
                </a:solidFill>
                <a:latin typeface="Arial"/>
                <a:ea typeface="Arial"/>
                <a:cs typeface="Arial"/>
              </a:defRPr>
            </a:defPPr>
          </a:lstStyle>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Първо spec,</a:t>
            </a:r>
          </a:p>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после код.</a:t>
            </a:r>
          </a:p>
        </p:txBody>
      </p:sp>
      <p:sp>
        <p:nvSpPr>
          <p:cNvPr id="4" name="">
            <a:extLst xmlns:a="http://schemas.openxmlformats.org/drawingml/2006/main">
              <a:ext uri="{FF2B5EF4-FFF2-40B4-BE49-F238E27FC236}">
                <a16:creationId xmlns:a16="http://schemas.microsoft.com/office/drawing/2014/main" id="{BD5928FB-259C-4350-8387-E0C48625FD90}"/>
              </a:ext>
            </a:extLst>
          </p:cNvPr>
          <p:cNvSpPr>
            <a:spLocks xmlns:a="http://schemas.openxmlformats.org/drawingml/2006/main" noGrp="1"/>
          </p:cNvSpPr>
          <p:nvPr/>
        </p:nvSpPr>
        <p:spPr>
          <a:xfrm xmlns:a="http://schemas.openxmlformats.org/drawingml/2006/main">
            <a:off x="685800" y="316230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37957"/>
                </a:solidFill>
                <a:latin typeface="Arial"/>
                <a:ea typeface="Arial"/>
                <a:cs typeface="Arial"/>
              </a:defRPr>
            </a:defPPr>
          </a:lstStyle>
          <a:p xmlns:a="http://schemas.openxmlformats.org/drawingml/2006/main">
            <a:pPr>
              <a:defRPr sz="2250" b="1">
                <a:solidFill>
                  <a:srgbClr val="137957"/>
                </a:solidFill>
                <a:latin typeface="Arial"/>
                <a:ea typeface="Arial"/>
                <a:cs typeface="Arial"/>
              </a:defRPr>
            </a:pPr>
            <a:r>
              <a:rPr sz="2250" b="1">
                <a:solidFill>
                  <a:srgbClr val="137957"/>
                </a:solidFill>
                <a:latin typeface="Arial"/>
                <a:ea typeface="Arial"/>
                <a:cs typeface="Arial"/>
              </a:rPr>
              <a:t>Spec-anchored</a:t>
            </a:r>
          </a:p>
        </p:txBody>
      </p:sp>
      <p:sp>
        <p:nvSpPr>
          <p:cNvPr id="5" name="">
            <a:extLst xmlns:a="http://schemas.openxmlformats.org/drawingml/2006/main">
              <a:ext uri="{FF2B5EF4-FFF2-40B4-BE49-F238E27FC236}">
                <a16:creationId xmlns:a16="http://schemas.microsoft.com/office/drawing/2014/main" id="{CB1D88AB-ABEF-49A0-A5B0-8FF00B2FAB92}"/>
              </a:ext>
            </a:extLst>
          </p:cNvPr>
          <p:cNvSpPr>
            <a:spLocks xmlns:a="http://schemas.openxmlformats.org/drawingml/2006/main" noGrp="1"/>
          </p:cNvSpPr>
          <p:nvPr/>
        </p:nvSpPr>
        <p:spPr>
          <a:xfrm xmlns:a="http://schemas.openxmlformats.org/drawingml/2006/main">
            <a:off x="685800" y="366712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22442"/>
                </a:solidFill>
                <a:latin typeface="Arial"/>
                <a:ea typeface="Arial"/>
                <a:cs typeface="Arial"/>
              </a:defRPr>
            </a:defPPr>
          </a:lstStyle>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Жива документация</a:t>
            </a:r>
          </a:p>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през целия живот</a:t>
            </a:r>
          </a:p>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на приложението.</a:t>
            </a:r>
          </a:p>
        </p:txBody>
      </p:sp>
      <p:sp>
        <p:nvSpPr>
          <p:cNvPr id="6" name="">
            <a:extLst xmlns:a="http://schemas.openxmlformats.org/drawingml/2006/main">
              <a:ext uri="{FF2B5EF4-FFF2-40B4-BE49-F238E27FC236}">
                <a16:creationId xmlns:a16="http://schemas.microsoft.com/office/drawing/2014/main" id="{7686640C-AB74-4251-BA7B-EE9875D6B129}"/>
              </a:ext>
            </a:extLst>
          </p:cNvPr>
          <p:cNvSpPr>
            <a:spLocks xmlns:a="http://schemas.openxmlformats.org/drawingml/2006/main" noGrp="1"/>
          </p:cNvSpPr>
          <p:nvPr/>
        </p:nvSpPr>
        <p:spPr>
          <a:xfrm xmlns:a="http://schemas.openxmlformats.org/drawingml/2006/main">
            <a:off x="685800" y="466725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7041B9"/>
                </a:solidFill>
                <a:latin typeface="Arial"/>
                <a:ea typeface="Arial"/>
                <a:cs typeface="Arial"/>
              </a:defRPr>
            </a:defPPr>
          </a:lstStyle>
          <a:p xmlns:a="http://schemas.openxmlformats.org/drawingml/2006/main">
            <a:pPr>
              <a:defRPr sz="2250" b="1">
                <a:solidFill>
                  <a:srgbClr val="7041B9"/>
                </a:solidFill>
                <a:latin typeface="Arial"/>
                <a:ea typeface="Arial"/>
                <a:cs typeface="Arial"/>
              </a:defRPr>
            </a:pPr>
            <a:r>
              <a:rPr sz="2250" b="1">
                <a:solidFill>
                  <a:srgbClr val="7041B9"/>
                </a:solidFill>
                <a:latin typeface="Arial"/>
                <a:ea typeface="Arial"/>
                <a:cs typeface="Arial"/>
              </a:rPr>
              <a:t>Spec-as-source</a:t>
            </a:r>
          </a:p>
        </p:txBody>
      </p:sp>
      <p:sp>
        <p:nvSpPr>
          <p:cNvPr id="7" name="">
            <a:extLst xmlns:a="http://schemas.openxmlformats.org/drawingml/2006/main">
              <a:ext uri="{FF2B5EF4-FFF2-40B4-BE49-F238E27FC236}">
                <a16:creationId xmlns:a16="http://schemas.microsoft.com/office/drawing/2014/main" id="{CCBBD4A0-E05A-43D3-BA4C-233DBF13C510}"/>
              </a:ext>
            </a:extLst>
          </p:cNvPr>
          <p:cNvSpPr>
            <a:spLocks xmlns:a="http://schemas.openxmlformats.org/drawingml/2006/main" noGrp="1"/>
          </p:cNvSpPr>
          <p:nvPr/>
        </p:nvSpPr>
        <p:spPr>
          <a:xfrm xmlns:a="http://schemas.openxmlformats.org/drawingml/2006/main">
            <a:off x="685800" y="51720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22442"/>
                </a:solidFill>
                <a:latin typeface="Arial"/>
                <a:ea typeface="Arial"/>
                <a:cs typeface="Arial"/>
              </a:defRPr>
            </a:defPPr>
          </a:lstStyle>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Най-радикалният SDD.</a:t>
            </a:r>
          </a:p>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Spec е код на</a:t>
            </a:r>
          </a:p>
          <a:p xmlns:a="http://schemas.openxmlformats.org/drawingml/2006/main">
            <a:pPr>
              <a:defRPr sz="1725" b="0">
                <a:solidFill>
                  <a:srgbClr val="122442"/>
                </a:solidFill>
                <a:latin typeface="Arial"/>
                <a:ea typeface="Arial"/>
                <a:cs typeface="Arial"/>
              </a:defRPr>
            </a:pPr>
            <a:r>
              <a:rPr sz="1725" b="0">
                <a:solidFill>
                  <a:srgbClr val="122442"/>
                </a:solidFill>
                <a:latin typeface="Arial"/>
                <a:ea typeface="Arial"/>
                <a:cs typeface="Arial"/>
              </a:rPr>
              <a:t>по-високо ниво.</a:t>
            </a:r>
          </a:p>
        </p:txBody>
      </p:sp>
      <p:sp>
        <p:nvSpPr>
          <p:cNvPr id="8" name="">
            <a:extLst xmlns:a="http://schemas.openxmlformats.org/drawingml/2006/main">
              <a:ext uri="{FF2B5EF4-FFF2-40B4-BE49-F238E27FC236}">
                <a16:creationId xmlns:a16="http://schemas.microsoft.com/office/drawing/2014/main" id="{7E7B36EC-2A93-4552-A92B-81318E9802D4}"/>
              </a:ext>
            </a:extLst>
          </p:cNvPr>
          <p:cNvSpPr>
            <a:spLocks xmlns:a="http://schemas.openxmlformats.org/drawingml/2006/main" noGrp="1"/>
          </p:cNvSpPr>
          <p:nvPr/>
        </p:nvSpPr>
        <p:spPr>
          <a:xfrm xmlns:a="http://schemas.openxmlformats.org/drawingml/2006/main">
            <a:off x="4162425" y="1809750"/>
            <a:ext cx="1638300" cy="819150"/>
          </a:xfrm>
          <a:prstGeom xmlns:a="http://schemas.openxmlformats.org/drawingml/2006/main" prst="roundRect">
            <a:avLst>
              <a:gd name="adj" fmla="val 18605"/>
            </a:avLst>
          </a:prstGeom>
          <a:solidFill xmlns:a="http://schemas.openxmlformats.org/drawingml/2006/main">
            <a:srgbClr val="2447A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13D21D3-70B2-4D0C-9243-CF5883B4E731}"/>
              </a:ext>
            </a:extLst>
          </p:cNvPr>
          <p:cNvSpPr>
            <a:spLocks xmlns:a="http://schemas.openxmlformats.org/drawingml/2006/main" noGrp="1"/>
          </p:cNvSpPr>
          <p:nvPr/>
        </p:nvSpPr>
        <p:spPr>
          <a:xfrm xmlns:a="http://schemas.openxmlformats.org/drawingml/2006/main">
            <a:off x="4333875" y="1971675"/>
            <a:ext cx="1295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Spec</a:t>
            </a:r>
          </a:p>
        </p:txBody>
      </p:sp>
      <p:sp>
        <p:nvSpPr>
          <p:cNvPr id="10" name="">
            <a:extLst xmlns:a="http://schemas.openxmlformats.org/drawingml/2006/main">
              <a:ext uri="{FF2B5EF4-FFF2-40B4-BE49-F238E27FC236}">
                <a16:creationId xmlns:a16="http://schemas.microsoft.com/office/drawing/2014/main" id="{304035EE-5E1C-4DF5-99F7-328454E305DC}"/>
              </a:ext>
            </a:extLst>
          </p:cNvPr>
          <p:cNvSpPr>
            <a:spLocks xmlns:a="http://schemas.openxmlformats.org/drawingml/2006/main" noGrp="1"/>
          </p:cNvSpPr>
          <p:nvPr/>
        </p:nvSpPr>
        <p:spPr>
          <a:xfrm xmlns:a="http://schemas.openxmlformats.org/drawingml/2006/main">
            <a:off x="6505575" y="1809750"/>
            <a:ext cx="1638300" cy="819150"/>
          </a:xfrm>
          <a:prstGeom xmlns:a="http://schemas.openxmlformats.org/drawingml/2006/main" prst="roundRect">
            <a:avLst>
              <a:gd name="adj" fmla="val 18605"/>
            </a:avLst>
          </a:prstGeom>
          <a:solidFill xmlns:a="http://schemas.openxmlformats.org/drawingml/2006/main">
            <a:srgbClr val="2447A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D7D1D3C-FC53-40C9-B9BE-D3DD4A9CE246}"/>
              </a:ext>
            </a:extLst>
          </p:cNvPr>
          <p:cNvSpPr>
            <a:spLocks xmlns:a="http://schemas.openxmlformats.org/drawingml/2006/main" noGrp="1"/>
          </p:cNvSpPr>
          <p:nvPr/>
        </p:nvSpPr>
        <p:spPr>
          <a:xfrm xmlns:a="http://schemas.openxmlformats.org/drawingml/2006/main">
            <a:off x="6677025" y="1971675"/>
            <a:ext cx="1295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Код</a:t>
            </a:r>
          </a:p>
        </p:txBody>
      </p:sp>
      <p:sp>
        <p:nvSpPr>
          <p:cNvPr id="13" name="">
            <a:extLst xmlns:a="http://schemas.openxmlformats.org/drawingml/2006/main">
              <a:ext uri="{FF2B5EF4-FFF2-40B4-BE49-F238E27FC236}">
                <a16:creationId xmlns:a16="http://schemas.microsoft.com/office/drawing/2014/main" id="{D4AF346A-8C1A-4338-87E3-6650A25CA5FC}"/>
              </a:ext>
            </a:extLst>
          </p:cNvPr>
          <p:cNvSpPr>
            <a:spLocks xmlns:a="http://schemas.openxmlformats.org/drawingml/2006/main" noGrp="1"/>
          </p:cNvSpPr>
          <p:nvPr/>
        </p:nvSpPr>
        <p:spPr>
          <a:xfrm xmlns:a="http://schemas.openxmlformats.org/drawingml/2006/main">
            <a:off x="4162425" y="3314700"/>
            <a:ext cx="1638300" cy="819150"/>
          </a:xfrm>
          <a:prstGeom xmlns:a="http://schemas.openxmlformats.org/drawingml/2006/main" prst="roundRect">
            <a:avLst>
              <a:gd name="adj" fmla="val 18605"/>
            </a:avLst>
          </a:prstGeom>
          <a:solidFill xmlns:a="http://schemas.openxmlformats.org/drawingml/2006/main">
            <a:srgbClr val="13795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E9C5493-32CE-4B4A-8735-3F22C945DC0A}"/>
              </a:ext>
            </a:extLst>
          </p:cNvPr>
          <p:cNvSpPr>
            <a:spLocks xmlns:a="http://schemas.openxmlformats.org/drawingml/2006/main" noGrp="1"/>
          </p:cNvSpPr>
          <p:nvPr/>
        </p:nvSpPr>
        <p:spPr>
          <a:xfrm xmlns:a="http://schemas.openxmlformats.org/drawingml/2006/main">
            <a:off x="4333875" y="3476625"/>
            <a:ext cx="1295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Spec</a:t>
            </a:r>
          </a:p>
        </p:txBody>
      </p:sp>
      <p:sp>
        <p:nvSpPr>
          <p:cNvPr id="15" name="">
            <a:extLst xmlns:a="http://schemas.openxmlformats.org/drawingml/2006/main">
              <a:ext uri="{FF2B5EF4-FFF2-40B4-BE49-F238E27FC236}">
                <a16:creationId xmlns:a16="http://schemas.microsoft.com/office/drawing/2014/main" id="{92328078-159F-4B3C-A082-0A23B36ADC2A}"/>
              </a:ext>
            </a:extLst>
          </p:cNvPr>
          <p:cNvSpPr>
            <a:spLocks xmlns:a="http://schemas.openxmlformats.org/drawingml/2006/main" noGrp="1"/>
          </p:cNvSpPr>
          <p:nvPr/>
        </p:nvSpPr>
        <p:spPr>
          <a:xfrm xmlns:a="http://schemas.openxmlformats.org/drawingml/2006/main">
            <a:off x="6505575" y="3314700"/>
            <a:ext cx="1638300" cy="819150"/>
          </a:xfrm>
          <a:prstGeom xmlns:a="http://schemas.openxmlformats.org/drawingml/2006/main" prst="roundRect">
            <a:avLst>
              <a:gd name="adj" fmla="val 18605"/>
            </a:avLst>
          </a:prstGeom>
          <a:solidFill xmlns:a="http://schemas.openxmlformats.org/drawingml/2006/main">
            <a:srgbClr val="13795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C1FA2E6-B67B-48CD-B551-246699D7CE5C}"/>
              </a:ext>
            </a:extLst>
          </p:cNvPr>
          <p:cNvSpPr>
            <a:spLocks xmlns:a="http://schemas.openxmlformats.org/drawingml/2006/main" noGrp="1"/>
          </p:cNvSpPr>
          <p:nvPr/>
        </p:nvSpPr>
        <p:spPr>
          <a:xfrm xmlns:a="http://schemas.openxmlformats.org/drawingml/2006/main">
            <a:off x="6677025" y="3476625"/>
            <a:ext cx="1295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Код</a:t>
            </a:r>
          </a:p>
        </p:txBody>
      </p:sp>
      <p:sp>
        <p:nvSpPr>
          <p:cNvPr id="18" name="">
            <a:extLst xmlns:a="http://schemas.openxmlformats.org/drawingml/2006/main">
              <a:ext uri="{FF2B5EF4-FFF2-40B4-BE49-F238E27FC236}">
                <a16:creationId xmlns:a16="http://schemas.microsoft.com/office/drawing/2014/main" id="{8220F22B-0D03-4B37-ACB1-D27F980C107F}"/>
              </a:ext>
            </a:extLst>
          </p:cNvPr>
          <p:cNvSpPr>
            <a:spLocks xmlns:a="http://schemas.openxmlformats.org/drawingml/2006/main" noGrp="1"/>
          </p:cNvSpPr>
          <p:nvPr/>
        </p:nvSpPr>
        <p:spPr>
          <a:xfrm xmlns:a="http://schemas.openxmlformats.org/drawingml/2006/main">
            <a:off x="4162425" y="4229100"/>
            <a:ext cx="3981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37957"/>
                </a:solidFill>
                <a:latin typeface="Arial"/>
                <a:ea typeface="Arial"/>
                <a:cs typeface="Arial"/>
              </a:defRPr>
            </a:defPPr>
          </a:lstStyle>
          <a:p xmlns:a="http://schemas.openxmlformats.org/drawingml/2006/main">
            <a:pPr>
              <a:defRPr sz="1650" b="1">
                <a:solidFill>
                  <a:srgbClr val="137957"/>
                </a:solidFill>
                <a:latin typeface="Arial"/>
                <a:ea typeface="Arial"/>
                <a:cs typeface="Arial"/>
              </a:defRPr>
            </a:pPr>
            <a:r>
              <a:rPr sz="1650" b="1">
                <a:solidFill>
                  <a:srgbClr val="137957"/>
                </a:solidFill>
                <a:latin typeface="Arial"/>
                <a:ea typeface="Arial"/>
                <a:cs typeface="Arial"/>
              </a:rPr>
              <a:t>Обновяваме заедно</a:t>
            </a:r>
          </a:p>
        </p:txBody>
      </p:sp>
      <p:sp>
        <p:nvSpPr>
          <p:cNvPr id="19" name="">
            <a:extLst xmlns:a="http://schemas.openxmlformats.org/drawingml/2006/main">
              <a:ext uri="{FF2B5EF4-FFF2-40B4-BE49-F238E27FC236}">
                <a16:creationId xmlns:a16="http://schemas.microsoft.com/office/drawing/2014/main" id="{2E2F3D78-B2BF-47B3-9083-F740ECBE031C}"/>
              </a:ext>
            </a:extLst>
          </p:cNvPr>
          <p:cNvSpPr>
            <a:spLocks xmlns:a="http://schemas.openxmlformats.org/drawingml/2006/main" noGrp="1"/>
          </p:cNvSpPr>
          <p:nvPr/>
        </p:nvSpPr>
        <p:spPr>
          <a:xfrm xmlns:a="http://schemas.openxmlformats.org/drawingml/2006/main">
            <a:off x="4162425" y="4819650"/>
            <a:ext cx="1638300" cy="895350"/>
          </a:xfrm>
          <a:prstGeom xmlns:a="http://schemas.openxmlformats.org/drawingml/2006/main" prst="roundRect">
            <a:avLst>
              <a:gd name="adj" fmla="val 17021"/>
            </a:avLst>
          </a:prstGeom>
          <a:solidFill xmlns:a="http://schemas.openxmlformats.org/drawingml/2006/main">
            <a:srgbClr val="7041B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22B2950-8033-49A7-8FCF-E1B5BC43BA85}"/>
              </a:ext>
            </a:extLst>
          </p:cNvPr>
          <p:cNvSpPr>
            <a:spLocks xmlns:a="http://schemas.openxmlformats.org/drawingml/2006/main" noGrp="1"/>
          </p:cNvSpPr>
          <p:nvPr/>
        </p:nvSpPr>
        <p:spPr>
          <a:xfrm xmlns:a="http://schemas.openxmlformats.org/drawingml/2006/main">
            <a:off x="4333875" y="4981575"/>
            <a:ext cx="1295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Spec</a:t>
            </a:r>
          </a:p>
        </p:txBody>
      </p:sp>
      <p:sp>
        <p:nvSpPr>
          <p:cNvPr id="21" name="">
            <a:extLst xmlns:a="http://schemas.openxmlformats.org/drawingml/2006/main">
              <a:ext uri="{FF2B5EF4-FFF2-40B4-BE49-F238E27FC236}">
                <a16:creationId xmlns:a16="http://schemas.microsoft.com/office/drawing/2014/main" id="{7C38CE8E-45EF-4A1B-AA71-6EBF44CB4E09}"/>
              </a:ext>
            </a:extLst>
          </p:cNvPr>
          <p:cNvSpPr>
            <a:spLocks xmlns:a="http://schemas.openxmlformats.org/drawingml/2006/main" noGrp="1"/>
          </p:cNvSpPr>
          <p:nvPr/>
        </p:nvSpPr>
        <p:spPr>
          <a:xfrm xmlns:a="http://schemas.openxmlformats.org/drawingml/2006/main">
            <a:off x="6505575" y="4819650"/>
            <a:ext cx="1638300" cy="819150"/>
          </a:xfrm>
          <a:prstGeom xmlns:a="http://schemas.openxmlformats.org/drawingml/2006/main" prst="roundRect">
            <a:avLst>
              <a:gd name="adj" fmla="val 18605"/>
            </a:avLst>
          </a:prstGeom>
          <a:solidFill xmlns:a="http://schemas.openxmlformats.org/drawingml/2006/main">
            <a:srgbClr val="7041B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F173F34-C89D-4FDD-96D1-D0B5D8871645}"/>
              </a:ext>
            </a:extLst>
          </p:cNvPr>
          <p:cNvSpPr>
            <a:spLocks xmlns:a="http://schemas.openxmlformats.org/drawingml/2006/main" noGrp="1"/>
          </p:cNvSpPr>
          <p:nvPr/>
        </p:nvSpPr>
        <p:spPr>
          <a:xfrm xmlns:a="http://schemas.openxmlformats.org/drawingml/2006/main">
            <a:off x="6677025" y="4981575"/>
            <a:ext cx="1295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Код</a:t>
            </a:r>
          </a:p>
        </p:txBody>
      </p:sp>
      <p:sp>
        <p:nvSpPr>
          <p:cNvPr id="24" name="">
            <a:extLst xmlns:a="http://schemas.openxmlformats.org/drawingml/2006/main">
              <a:ext uri="{FF2B5EF4-FFF2-40B4-BE49-F238E27FC236}">
                <a16:creationId xmlns:a16="http://schemas.microsoft.com/office/drawing/2014/main" id="{ED5706B6-3F63-4019-A385-C2EB6F94B7B0}"/>
              </a:ext>
            </a:extLst>
          </p:cNvPr>
          <p:cNvSpPr>
            <a:spLocks xmlns:a="http://schemas.openxmlformats.org/drawingml/2006/main" noGrp="1"/>
          </p:cNvSpPr>
          <p:nvPr/>
        </p:nvSpPr>
        <p:spPr>
          <a:xfrm xmlns:a="http://schemas.openxmlformats.org/drawingml/2006/main">
            <a:off x="4162425" y="5753100"/>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7041B9"/>
                </a:solidFill>
                <a:latin typeface="Arial"/>
                <a:ea typeface="Arial"/>
                <a:cs typeface="Arial"/>
              </a:defRPr>
            </a:defPPr>
          </a:lstStyle>
          <a:p xmlns:a="http://schemas.openxmlformats.org/drawingml/2006/main">
            <a:pPr>
              <a:defRPr sz="1650" b="1">
                <a:solidFill>
                  <a:srgbClr val="7041B9"/>
                </a:solidFill>
                <a:latin typeface="Arial"/>
                <a:ea typeface="Arial"/>
                <a:cs typeface="Arial"/>
              </a:defRPr>
            </a:pPr>
            <a:r>
              <a:rPr sz="1650" b="1">
                <a:solidFill>
                  <a:srgbClr val="7041B9"/>
                </a:solidFill>
                <a:latin typeface="Arial"/>
                <a:ea typeface="Arial"/>
                <a:cs typeface="Arial"/>
              </a:rPr>
              <a:t>Генерираме от spec</a:t>
            </a:r>
          </a:p>
        </p:txBody>
      </p:sp>
      <p:sp>
        <p:nvSpPr>
          <p:cNvPr id="25" name="">
            <a:extLst xmlns:a="http://schemas.openxmlformats.org/drawingml/2006/main">
              <a:ext uri="{FF2B5EF4-FFF2-40B4-BE49-F238E27FC236}">
                <a16:creationId xmlns:a16="http://schemas.microsoft.com/office/drawing/2014/main" id="{C3335505-C364-4018-8236-7D29A395BE1C}"/>
              </a:ext>
            </a:extLst>
          </p:cNvPr>
          <p:cNvSpPr>
            <a:spLocks xmlns:a="http://schemas.openxmlformats.org/drawingml/2006/main" noGrp="1"/>
          </p:cNvSpPr>
          <p:nvPr/>
        </p:nvSpPr>
        <p:spPr>
          <a:xfrm xmlns:a="http://schemas.openxmlformats.org/drawingml/2006/main">
            <a:off x="8524875" y="1657350"/>
            <a:ext cx="29813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22442"/>
                </a:solidFill>
                <a:latin typeface="Arial"/>
                <a:ea typeface="Arial"/>
                <a:cs typeface="Arial"/>
              </a:defRPr>
            </a:defPPr>
          </a:lstStyle>
          <a:p xmlns:a="http://schemas.openxmlformats.org/drawingml/2006/main">
            <a:pPr>
              <a:defRPr sz="1650" b="0">
                <a:solidFill>
                  <a:srgbClr val="122442"/>
                </a:solidFill>
                <a:latin typeface="Arial"/>
                <a:ea typeface="Arial"/>
                <a:cs typeface="Arial"/>
              </a:defRPr>
            </a:pPr>
            <a:r>
              <a:rPr sz="1650" b="0">
                <a:solidFill>
                  <a:srgbClr val="122442"/>
                </a:solidFill>
                <a:latin typeface="Arial"/>
                <a:ea typeface="Arial"/>
                <a:cs typeface="Arial"/>
              </a:rPr>
              <a:t>Форма за отчитане на време.</a:t>
            </a:r>
          </a:p>
          <a:p xmlns:a="http://schemas.openxmlformats.org/drawingml/2006/main">
            <a:pPr>
              <a:defRPr sz="1650" b="0">
                <a:solidFill>
                  <a:srgbClr val="122442"/>
                </a:solidFill>
                <a:latin typeface="Arial"/>
                <a:ea typeface="Arial"/>
                <a:cs typeface="Arial"/>
              </a:defRPr>
            </a:pPr>
            <a:r>
              <a:rPr sz="1650" b="0">
                <a:solidFill>
                  <a:srgbClr val="122442"/>
                </a:solidFill>
                <a:latin typeface="Arial"/>
                <a:ea typeface="Arial"/>
                <a:cs typeface="Arial"/>
              </a:rPr>
              <a:t>Spec води първата версия.</a:t>
            </a:r>
          </a:p>
          <a:p xmlns:a="http://schemas.openxmlformats.org/drawingml/2006/main">
            <a:pPr>
              <a:defRPr sz="1650" b="0">
                <a:solidFill>
                  <a:srgbClr val="122442"/>
                </a:solidFill>
                <a:latin typeface="Arial"/>
                <a:ea typeface="Arial"/>
                <a:cs typeface="Arial"/>
              </a:defRPr>
            </a:pPr>
            <a:r>
              <a:rPr sz="1650" b="0">
                <a:solidFill>
                  <a:srgbClr val="122442"/>
                </a:solidFill>
                <a:latin typeface="Arial"/>
                <a:ea typeface="Arial"/>
                <a:cs typeface="Arial"/>
              </a:rPr>
              <a:t>После може да остарее.</a:t>
            </a:r>
          </a:p>
        </p:txBody>
      </p:sp>
      <p:sp>
        <p:nvSpPr>
          <p:cNvPr id="26" name="">
            <a:extLst xmlns:a="http://schemas.openxmlformats.org/drawingml/2006/main">
              <a:ext uri="{FF2B5EF4-FFF2-40B4-BE49-F238E27FC236}">
                <a16:creationId xmlns:a16="http://schemas.microsoft.com/office/drawing/2014/main" id="{F4F2D05B-40FD-4ED4-9512-F5DE7E61E161}"/>
              </a:ext>
            </a:extLst>
          </p:cNvPr>
          <p:cNvSpPr>
            <a:spLocks xmlns:a="http://schemas.openxmlformats.org/drawingml/2006/main" noGrp="1"/>
          </p:cNvSpPr>
          <p:nvPr/>
        </p:nvSpPr>
        <p:spPr>
          <a:xfrm xmlns:a="http://schemas.openxmlformats.org/drawingml/2006/main">
            <a:off x="8524875" y="3162300"/>
            <a:ext cx="29813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22442"/>
                </a:solidFill>
                <a:latin typeface="Arial"/>
                <a:ea typeface="Arial"/>
                <a:cs typeface="Arial"/>
              </a:defRPr>
            </a:defPPr>
          </a:lstStyle>
          <a:p xmlns:a="http://schemas.openxmlformats.org/drawingml/2006/main">
            <a:pPr>
              <a:defRPr sz="1650" b="0">
                <a:solidFill>
                  <a:srgbClr val="122442"/>
                </a:solidFill>
                <a:latin typeface="Arial"/>
                <a:ea typeface="Arial"/>
                <a:cs typeface="Arial"/>
              </a:defRPr>
            </a:pPr>
            <a:r>
              <a:rPr sz="1650" b="0">
                <a:solidFill>
                  <a:srgbClr val="122442"/>
                </a:solidFill>
                <a:latin typeface="Arial"/>
                <a:ea typeface="Arial"/>
                <a:cs typeface="Arial"/>
              </a:rPr>
              <a:t>Добавяме редакция на запис.</a:t>
            </a:r>
          </a:p>
          <a:p xmlns:a="http://schemas.openxmlformats.org/drawingml/2006/main">
            <a:pPr>
              <a:defRPr sz="1650" b="0">
                <a:solidFill>
                  <a:srgbClr val="122442"/>
                </a:solidFill>
                <a:latin typeface="Arial"/>
                <a:ea typeface="Arial"/>
                <a:cs typeface="Arial"/>
              </a:defRPr>
            </a:pPr>
            <a:r>
              <a:rPr sz="1650" b="0">
                <a:solidFill>
                  <a:srgbClr val="122442"/>
                </a:solidFill>
                <a:latin typeface="Arial"/>
                <a:ea typeface="Arial"/>
                <a:cs typeface="Arial"/>
              </a:rPr>
              <a:t>Обновяваме spec, кода</a:t>
            </a:r>
          </a:p>
          <a:p xmlns:a="http://schemas.openxmlformats.org/drawingml/2006/main">
            <a:pPr>
              <a:defRPr sz="1650" b="0">
                <a:solidFill>
                  <a:srgbClr val="122442"/>
                </a:solidFill>
                <a:latin typeface="Arial"/>
                <a:ea typeface="Arial"/>
                <a:cs typeface="Arial"/>
              </a:defRPr>
            </a:pPr>
            <a:r>
              <a:rPr sz="1650" b="0">
                <a:solidFill>
                  <a:srgbClr val="122442"/>
                </a:solidFill>
                <a:latin typeface="Arial"/>
                <a:ea typeface="Arial"/>
                <a:cs typeface="Arial"/>
              </a:rPr>
              <a:t>и тестовете заедно.</a:t>
            </a:r>
          </a:p>
        </p:txBody>
      </p:sp>
      <p:sp>
        <p:nvSpPr>
          <p:cNvPr id="27" name="">
            <a:extLst xmlns:a="http://schemas.openxmlformats.org/drawingml/2006/main">
              <a:ext uri="{FF2B5EF4-FFF2-40B4-BE49-F238E27FC236}">
                <a16:creationId xmlns:a16="http://schemas.microsoft.com/office/drawing/2014/main" id="{076D4202-BC7F-42B0-9062-9F8139F9B7AC}"/>
              </a:ext>
            </a:extLst>
          </p:cNvPr>
          <p:cNvSpPr>
            <a:spLocks xmlns:a="http://schemas.openxmlformats.org/drawingml/2006/main" noGrp="1"/>
          </p:cNvSpPr>
          <p:nvPr/>
        </p:nvSpPr>
        <p:spPr>
          <a:xfrm xmlns:a="http://schemas.openxmlformats.org/drawingml/2006/main">
            <a:off x="8524875" y="4667250"/>
            <a:ext cx="29813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22442"/>
                </a:solidFill>
                <a:latin typeface="Arial"/>
                <a:ea typeface="Arial"/>
                <a:cs typeface="Arial"/>
              </a:defRPr>
            </a:defPPr>
          </a:lstStyle>
          <a:p xmlns:a="http://schemas.openxmlformats.org/drawingml/2006/main">
            <a:pPr>
              <a:defRPr sz="1500" b="0">
                <a:solidFill>
                  <a:srgbClr val="122442"/>
                </a:solidFill>
                <a:latin typeface="Arial"/>
                <a:ea typeface="Arial"/>
                <a:cs typeface="Arial"/>
              </a:defRPr>
            </a:pPr>
            <a:r>
              <a:rPr sz="1500" b="0">
                <a:solidFill>
                  <a:srgbClr val="122442"/>
                </a:solidFill>
                <a:latin typeface="Arial"/>
                <a:ea typeface="Arial"/>
                <a:cs typeface="Arial"/>
              </a:rPr>
              <a:t>Описваме поведението.</a:t>
            </a:r>
          </a:p>
          <a:p xmlns:a="http://schemas.openxmlformats.org/drawingml/2006/main">
            <a:pPr>
              <a:defRPr sz="1500" b="0">
                <a:solidFill>
                  <a:srgbClr val="122442"/>
                </a:solidFill>
                <a:latin typeface="Arial"/>
                <a:ea typeface="Arial"/>
                <a:cs typeface="Arial"/>
              </a:defRPr>
            </a:pPr>
            <a:r>
              <a:rPr sz="1500" b="0">
                <a:solidFill>
                  <a:srgbClr val="122442"/>
                </a:solidFill>
                <a:latin typeface="Arial"/>
                <a:ea typeface="Arial"/>
                <a:cs typeface="Arial"/>
              </a:rPr>
              <a:t>Машината генерира кода.</a:t>
            </a:r>
          </a:p>
          <a:p xmlns:a="http://schemas.openxmlformats.org/drawingml/2006/main">
            <a:pPr>
              <a:defRPr sz="1500" b="0">
                <a:solidFill>
                  <a:srgbClr val="122442"/>
                </a:solidFill>
                <a:latin typeface="Arial"/>
                <a:ea typeface="Arial"/>
                <a:cs typeface="Arial"/>
              </a:defRPr>
            </a:pPr>
            <a:r>
              <a:rPr sz="1500" b="0">
                <a:solidFill>
                  <a:srgbClr val="122442"/>
                </a:solidFill>
                <a:latin typeface="Arial"/>
                <a:ea typeface="Arial"/>
                <a:cs typeface="Arial"/>
              </a:rPr>
              <a:t>Промяна? Обновяваме spec</a:t>
            </a:r>
          </a:p>
          <a:p xmlns:a="http://schemas.openxmlformats.org/drawingml/2006/main">
            <a:pPr>
              <a:defRPr sz="1500" b="0">
                <a:solidFill>
                  <a:srgbClr val="122442"/>
                </a:solidFill>
                <a:latin typeface="Arial"/>
                <a:ea typeface="Arial"/>
                <a:cs typeface="Arial"/>
              </a:defRPr>
            </a:pPr>
            <a:r>
              <a:rPr sz="1500" b="0">
                <a:solidFill>
                  <a:srgbClr val="122442"/>
                </a:solidFill>
                <a:latin typeface="Arial"/>
                <a:ea typeface="Arial"/>
                <a:cs typeface="Arial"/>
              </a:rPr>
              <a:t>и генерираме отново.</a:t>
            </a:r>
          </a:p>
          <a:p xmlns:a="http://schemas.openxmlformats.org/drawingml/2006/main">
            <a:pPr>
              <a:defRPr sz="1500" b="0">
                <a:solidFill>
                  <a:srgbClr val="122442"/>
                </a:solidFill>
                <a:latin typeface="Arial"/>
                <a:ea typeface="Arial"/>
                <a:cs typeface="Arial"/>
              </a:defRPr>
            </a:pPr>
            <a:r>
              <a:rPr sz="1500" b="0">
                <a:solidFill>
                  <a:srgbClr val="122442"/>
                </a:solidFill>
                <a:latin typeface="Arial"/>
                <a:ea typeface="Arial"/>
                <a:cs typeface="Arial"/>
              </a:rPr>
              <a:t>Без ръчни промени в кода.</a:t>
            </a:r>
          </a:p>
        </p:txBody>
      </p:sp>
      <p:sp>
        <p:nvSpPr>
          <p:cNvPr id="28" name="">
            <a:extLst xmlns:a="http://schemas.openxmlformats.org/drawingml/2006/main">
              <a:ext uri="{FF2B5EF4-FFF2-40B4-BE49-F238E27FC236}">
                <a16:creationId xmlns:a16="http://schemas.microsoft.com/office/drawing/2014/main" id="{5DCA6AF4-50FA-47D1-9EB8-73587624E54D}"/>
              </a:ext>
            </a:extLst>
          </p:cNvPr>
          <p:cNvSpPr>
            <a:spLocks xmlns:a="http://schemas.openxmlformats.org/drawingml/2006/main" noGrp="1"/>
          </p:cNvSpPr>
          <p:nvPr/>
        </p:nvSpPr>
        <p:spPr>
          <a:xfrm xmlns:a="http://schemas.openxmlformats.org/drawingml/2006/main">
            <a:off x="685800" y="62007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37957"/>
                </a:solidFill>
                <a:latin typeface="Arial"/>
                <a:ea typeface="Arial"/>
                <a:cs typeface="Arial"/>
              </a:defRPr>
            </a:defPPr>
          </a:lstStyle>
          <a:p xmlns:a="http://schemas.openxmlformats.org/drawingml/2006/main">
            <a:pPr>
              <a:defRPr sz="1875" b="1">
                <a:solidFill>
                  <a:srgbClr val="137957"/>
                </a:solidFill>
                <a:latin typeface="Arial"/>
                <a:ea typeface="Arial"/>
                <a:cs typeface="Arial"/>
              </a:defRPr>
            </a:pPr>
            <a:r>
              <a:rPr sz="1875" b="1">
                <a:solidFill>
                  <a:srgbClr val="137957"/>
                </a:solidFill>
                <a:latin typeface="Arial"/>
                <a:ea typeface="Arial"/>
                <a:cs typeface="Arial"/>
              </a:rPr>
              <a:t>Spec-anchored: най-добрият баланс за повечето production системи.</a:t>
            </a:r>
          </a:p>
        </p:txBody>
      </p:sp>
      <p:sp>
        <p:nvSpPr>
          <p:cNvPr id="29" name="">
            <a:extLst xmlns:a="http://schemas.openxmlformats.org/drawingml/2006/main">
              <a:ext uri="{FF2B5EF4-FFF2-40B4-BE49-F238E27FC236}">
                <a16:creationId xmlns:a16="http://schemas.microsoft.com/office/drawing/2014/main" id="{83AE46A6-756F-49FB-8CCA-5A1EEC9F8CBB}"/>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defRPr sz="1275" b="0">
                <a:solidFill>
                  <a:srgbClr val="4D5C74"/>
                </a:solidFill>
                <a:latin typeface="Arial"/>
                <a:ea typeface="Arial"/>
                <a:cs typeface="Arial"/>
              </a:defRPr>
            </a:pPr>
            <a:r>
              <a:rPr sz="1275" b="0">
                <a:solidFill>
                  <a:srgbClr val="4D5C74"/>
                </a:solidFill>
                <a:latin typeface="Arial"/>
                <a:ea typeface="Arial"/>
                <a:cs typeface="Arial"/>
              </a:rPr>
              <a:t>09</a:t>
            </a:r>
          </a:p>
        </p:txBody>
      </p:sp>
    </p:spTree>
    <p:extLst>
      <p:ext uri="{BB962C8B-B14F-4D97-AF65-F5344CB8AC3E}">
        <p14:creationId xmlns:p14="http://schemas.microsoft.com/office/powerpoint/2010/main" val="755553671"/>
      </p:ext>
    </p:extLst>
  </p:cSld>
</p:sld>
</file>

<file path=ppt/slides/slide10.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55E028C4-7338-41B8-9AA7-FF8A8B171A01}"/>
              </a:ext>
            </a:extLst>
          </p:cNvPr>
          <p:cNvCxnSpPr>
            <a:stCxn xmlns:a="http://schemas.openxmlformats.org/drawingml/2006/main" id="4" idx="3"/>
            <a:endCxn xmlns:a="http://schemas.openxmlformats.org/drawingml/2006/main" id="6" idx="1"/>
          </p:cNvCxnSpPr>
          <p:nvPr/>
        </p:nvCxnSpPr>
        <p:spPr>
          <a:xfrm xmlns:a="http://schemas.openxmlformats.org/drawingml/2006/main">
            <a:off x="7667625" y="2543175"/>
            <a:ext cx="695325" cy="0"/>
          </a:xfrm>
          <a:prstGeom xmlns:a="http://schemas.openxmlformats.org/drawingml/2006/main" prst="straightConnector1">
            <a:avLst/>
          </a:prstGeom>
          <a:ln xmlns:a="http://schemas.openxmlformats.org/drawingml/2006/main" w="28575">
            <a:solidFill>
              <a:srgbClr val="2447A6"/>
            </a:solidFill>
            <a:tailEnd type="triangle" w="med" len="med"/>
          </a:ln>
        </p:spPr>
      </p:cxnSp>
      <p:cxnSp>
        <p:nvCxnSpPr>
          <p:cNvPr id="8" name="">
            <a:extLst xmlns:a="http://schemas.openxmlformats.org/drawingml/2006/main">
              <a:ext uri="{FF2B5EF4-FFF2-40B4-BE49-F238E27FC236}">
                <a16:creationId xmlns:a16="http://schemas.microsoft.com/office/drawing/2014/main" id="{277B3C57-DD60-4087-92FB-A32EF0982FFD}"/>
              </a:ext>
            </a:extLst>
          </p:cNvPr>
          <p:cNvCxnSpPr>
            <a:stCxn xmlns:a="http://schemas.openxmlformats.org/drawingml/2006/main" id="2" idx="3"/>
            <a:endCxn xmlns:a="http://schemas.openxmlformats.org/drawingml/2006/main" id="4" idx="1"/>
          </p:cNvCxnSpPr>
          <p:nvPr/>
        </p:nvCxnSpPr>
        <p:spPr>
          <a:xfrm xmlns:a="http://schemas.openxmlformats.org/drawingml/2006/main">
            <a:off x="3829050" y="2543175"/>
            <a:ext cx="695325" cy="0"/>
          </a:xfrm>
          <a:prstGeom xmlns:a="http://schemas.openxmlformats.org/drawingml/2006/main" prst="straightConnector1">
            <a:avLst/>
          </a:prstGeom>
          <a:ln xmlns:a="http://schemas.openxmlformats.org/drawingml/2006/main" w="28575">
            <a:solidFill>
              <a:srgbClr val="2447A6"/>
            </a:solidFill>
            <a:tailEnd type="triangle" w="med" len="med"/>
          </a:ln>
        </p:spPr>
      </p:cxnSp>
      <p:sp>
        <p:nvSpPr>
          <p:cNvPr id="18" name="">
            <a:extLst xmlns:a="http://schemas.openxmlformats.org/drawingml/2006/main">
              <a:ext uri="{FF2B5EF4-FFF2-40B4-BE49-F238E27FC236}">
                <a16:creationId xmlns:a16="http://schemas.microsoft.com/office/drawing/2014/main" id="{39F91F50-CFD8-4119-81C7-4C08C23BAB49}"/>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defRPr sz="3300" b="1">
                <a:solidFill>
                  <a:srgbClr val="122442"/>
                </a:solidFill>
                <a:latin typeface="Arial"/>
                <a:ea typeface="Arial"/>
                <a:cs typeface="Arial"/>
              </a:defRPr>
            </a:pPr>
            <a:r>
              <a:rPr sz="3300" b="1">
                <a:solidFill>
                  <a:srgbClr val="122442"/>
                </a:solidFill>
                <a:latin typeface="Arial"/>
                <a:ea typeface="Arial"/>
                <a:cs typeface="Arial"/>
              </a:rPr>
              <a:t>Човекът държи контрола</a:t>
            </a:r>
          </a:p>
        </p:txBody>
      </p:sp>
      <p:sp>
        <p:nvSpPr>
          <p:cNvPr id="2" name="">
            <a:extLst xmlns:a="http://schemas.openxmlformats.org/drawingml/2006/main">
              <a:ext uri="{FF2B5EF4-FFF2-40B4-BE49-F238E27FC236}">
                <a16:creationId xmlns:a16="http://schemas.microsoft.com/office/drawing/2014/main" id="{86211894-9483-4F53-BB14-5C947F31490E}"/>
              </a:ext>
            </a:extLst>
          </p:cNvPr>
          <p:cNvSpPr>
            <a:spLocks xmlns:a="http://schemas.openxmlformats.org/drawingml/2006/main" noGrp="1"/>
          </p:cNvSpPr>
          <p:nvPr/>
        </p:nvSpPr>
        <p:spPr>
          <a:xfrm xmlns:a="http://schemas.openxmlformats.org/drawingml/2006/main">
            <a:off x="685800" y="2133600"/>
            <a:ext cx="3143250" cy="819150"/>
          </a:xfrm>
          <a:prstGeom xmlns:a="http://schemas.openxmlformats.org/drawingml/2006/main" prst="roundRect">
            <a:avLst>
              <a:gd name="adj" fmla="val 18605"/>
            </a:avLst>
          </a:prstGeom>
          <a:solidFill xmlns:a="http://schemas.openxmlformats.org/drawingml/2006/main">
            <a:srgbClr val="2447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A60F87A-FEBC-48F1-975D-48AC4637092B}"/>
              </a:ext>
            </a:extLst>
          </p:cNvPr>
          <p:cNvSpPr>
            <a:spLocks xmlns:a="http://schemas.openxmlformats.org/drawingml/2006/main" noGrp="1"/>
          </p:cNvSpPr>
          <p:nvPr/>
        </p:nvSpPr>
        <p:spPr>
          <a:xfrm xmlns:a="http://schemas.openxmlformats.org/drawingml/2006/main">
            <a:off x="857250" y="2295525"/>
            <a:ext cx="2800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Човекът</a:t>
            </a:r>
          </a:p>
        </p:txBody>
      </p:sp>
      <p:sp>
        <p:nvSpPr>
          <p:cNvPr id="4" name="">
            <a:extLst xmlns:a="http://schemas.openxmlformats.org/drawingml/2006/main">
              <a:ext uri="{FF2B5EF4-FFF2-40B4-BE49-F238E27FC236}">
                <a16:creationId xmlns:a16="http://schemas.microsoft.com/office/drawing/2014/main" id="{FDFE29C3-31B3-474D-B29A-CD5F0E8658D4}"/>
              </a:ext>
            </a:extLst>
          </p:cNvPr>
          <p:cNvSpPr>
            <a:spLocks xmlns:a="http://schemas.openxmlformats.org/drawingml/2006/main" noGrp="1"/>
          </p:cNvSpPr>
          <p:nvPr/>
        </p:nvSpPr>
        <p:spPr>
          <a:xfrm xmlns:a="http://schemas.openxmlformats.org/drawingml/2006/main">
            <a:off x="4524375" y="2133600"/>
            <a:ext cx="3143250" cy="819150"/>
          </a:xfrm>
          <a:prstGeom xmlns:a="http://schemas.openxmlformats.org/drawingml/2006/main" prst="roundRect">
            <a:avLst>
              <a:gd name="adj" fmla="val 18605"/>
            </a:avLst>
          </a:prstGeom>
          <a:solidFill xmlns:a="http://schemas.openxmlformats.org/drawingml/2006/main">
            <a:srgbClr val="7041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CEC766D-4019-4C49-9369-E1B1EF1A3878}"/>
              </a:ext>
            </a:extLst>
          </p:cNvPr>
          <p:cNvSpPr>
            <a:spLocks xmlns:a="http://schemas.openxmlformats.org/drawingml/2006/main" noGrp="1"/>
          </p:cNvSpPr>
          <p:nvPr/>
        </p:nvSpPr>
        <p:spPr>
          <a:xfrm xmlns:a="http://schemas.openxmlformats.org/drawingml/2006/main">
            <a:off x="4695825" y="2295525"/>
            <a:ext cx="2800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Агентът</a:t>
            </a:r>
          </a:p>
        </p:txBody>
      </p:sp>
      <p:sp>
        <p:nvSpPr>
          <p:cNvPr id="6" name="">
            <a:extLst xmlns:a="http://schemas.openxmlformats.org/drawingml/2006/main">
              <a:ext uri="{FF2B5EF4-FFF2-40B4-BE49-F238E27FC236}">
                <a16:creationId xmlns:a16="http://schemas.microsoft.com/office/drawing/2014/main" id="{F565EB09-0BDF-47C4-9404-3F75871954EC}"/>
              </a:ext>
            </a:extLst>
          </p:cNvPr>
          <p:cNvSpPr>
            <a:spLocks xmlns:a="http://schemas.openxmlformats.org/drawingml/2006/main" noGrp="1"/>
          </p:cNvSpPr>
          <p:nvPr/>
        </p:nvSpPr>
        <p:spPr>
          <a:xfrm xmlns:a="http://schemas.openxmlformats.org/drawingml/2006/main">
            <a:off x="8362950" y="2133600"/>
            <a:ext cx="3143250" cy="819150"/>
          </a:xfrm>
          <a:prstGeom xmlns:a="http://schemas.openxmlformats.org/drawingml/2006/main" prst="roundRect">
            <a:avLst>
              <a:gd name="adj" fmla="val 18605"/>
            </a:avLst>
          </a:prstGeom>
          <a:solidFill xmlns:a="http://schemas.openxmlformats.org/drawingml/2006/main">
            <a:srgbClr val="2447A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964160F-C323-47CE-90E5-6085450963A0}"/>
              </a:ext>
            </a:extLst>
          </p:cNvPr>
          <p:cNvSpPr>
            <a:spLocks xmlns:a="http://schemas.openxmlformats.org/drawingml/2006/main" noGrp="1"/>
          </p:cNvSpPr>
          <p:nvPr/>
        </p:nvSpPr>
        <p:spPr>
          <a:xfrm xmlns:a="http://schemas.openxmlformats.org/drawingml/2006/main">
            <a:off x="8534400" y="2295525"/>
            <a:ext cx="2800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Човекът</a:t>
            </a:r>
          </a:p>
        </p:txBody>
      </p:sp>
      <p:sp>
        <p:nvSpPr>
          <p:cNvPr id="10" name="">
            <a:extLst xmlns:a="http://schemas.openxmlformats.org/drawingml/2006/main">
              <a:ext uri="{FF2B5EF4-FFF2-40B4-BE49-F238E27FC236}">
                <a16:creationId xmlns:a16="http://schemas.microsoft.com/office/drawing/2014/main" id="{96DDBE0B-73D7-406F-9BD2-3A21683E95D7}"/>
              </a:ext>
            </a:extLst>
          </p:cNvPr>
          <p:cNvSpPr>
            <a:spLocks xmlns:a="http://schemas.openxmlformats.org/drawingml/2006/main" noGrp="1"/>
          </p:cNvSpPr>
          <p:nvPr/>
        </p:nvSpPr>
        <p:spPr>
          <a:xfrm xmlns:a="http://schemas.openxmlformats.org/drawingml/2006/main">
            <a:off x="685800" y="3286125"/>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447A6"/>
                </a:solidFill>
                <a:latin typeface="Arial"/>
                <a:ea typeface="Arial"/>
                <a:cs typeface="Arial"/>
              </a:defRPr>
            </a:defPPr>
          </a:lstStyle>
          <a:p xmlns:a="http://schemas.openxmlformats.org/drawingml/2006/main">
            <a:pPr>
              <a:defRPr sz="2250" b="1">
                <a:solidFill>
                  <a:srgbClr val="2447A6"/>
                </a:solidFill>
                <a:latin typeface="Arial"/>
                <a:ea typeface="Arial"/>
                <a:cs typeface="Arial"/>
              </a:defRPr>
            </a:pPr>
            <a:r>
              <a:rPr sz="2250" b="1">
                <a:solidFill>
                  <a:srgbClr val="2447A6"/>
                </a:solidFill>
                <a:latin typeface="Arial"/>
                <a:ea typeface="Arial"/>
                <a:cs typeface="Arial"/>
              </a:rPr>
              <a:t>Създава и одобрява</a:t>
            </a:r>
          </a:p>
        </p:txBody>
      </p:sp>
      <p:sp>
        <p:nvSpPr>
          <p:cNvPr id="11" name="">
            <a:extLst xmlns:a="http://schemas.openxmlformats.org/drawingml/2006/main">
              <a:ext uri="{FF2B5EF4-FFF2-40B4-BE49-F238E27FC236}">
                <a16:creationId xmlns:a16="http://schemas.microsoft.com/office/drawing/2014/main" id="{58A8E302-208A-4378-A180-2B1B33285A6C}"/>
              </a:ext>
            </a:extLst>
          </p:cNvPr>
          <p:cNvSpPr>
            <a:spLocks xmlns:a="http://schemas.openxmlformats.org/drawingml/2006/main" noGrp="1"/>
          </p:cNvSpPr>
          <p:nvPr/>
        </p:nvSpPr>
        <p:spPr>
          <a:xfrm xmlns:a="http://schemas.openxmlformats.org/drawingml/2006/main">
            <a:off x="685800" y="4029075"/>
            <a:ext cx="314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22442"/>
                </a:solidFill>
                <a:latin typeface="Arial"/>
                <a:ea typeface="Arial"/>
                <a:cs typeface="Arial"/>
              </a:defRPr>
            </a:defPPr>
          </a:lstStyle>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Създава спецификация</a:t>
            </a:r>
          </a:p>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от бизнес изискванията.</a:t>
            </a:r>
          </a:p>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Преглежда и коригира</a:t>
            </a:r>
          </a:p>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преди реализацията.</a:t>
            </a:r>
          </a:p>
        </p:txBody>
      </p:sp>
      <p:sp>
        <p:nvSpPr>
          <p:cNvPr id="12" name="">
            <a:extLst xmlns:a="http://schemas.openxmlformats.org/drawingml/2006/main">
              <a:ext uri="{FF2B5EF4-FFF2-40B4-BE49-F238E27FC236}">
                <a16:creationId xmlns:a16="http://schemas.microsoft.com/office/drawing/2014/main" id="{3C9F91D1-A87E-4CEB-9DF9-416A50A33FB5}"/>
              </a:ext>
            </a:extLst>
          </p:cNvPr>
          <p:cNvSpPr>
            <a:spLocks xmlns:a="http://schemas.openxmlformats.org/drawingml/2006/main" noGrp="1"/>
          </p:cNvSpPr>
          <p:nvPr/>
        </p:nvSpPr>
        <p:spPr>
          <a:xfrm xmlns:a="http://schemas.openxmlformats.org/drawingml/2006/main">
            <a:off x="4524375" y="3286125"/>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7041B9"/>
                </a:solidFill>
                <a:latin typeface="Arial"/>
                <a:ea typeface="Arial"/>
                <a:cs typeface="Arial"/>
              </a:defRPr>
            </a:defPPr>
          </a:lstStyle>
          <a:p xmlns:a="http://schemas.openxmlformats.org/drawingml/2006/main">
            <a:pPr>
              <a:defRPr sz="2250" b="1">
                <a:solidFill>
                  <a:srgbClr val="7041B9"/>
                </a:solidFill>
                <a:latin typeface="Arial"/>
                <a:ea typeface="Arial"/>
                <a:cs typeface="Arial"/>
              </a:defRPr>
            </a:pPr>
            <a:r>
              <a:rPr sz="2250" b="1">
                <a:solidFill>
                  <a:srgbClr val="7041B9"/>
                </a:solidFill>
                <a:latin typeface="Arial"/>
                <a:ea typeface="Arial"/>
                <a:cs typeface="Arial"/>
              </a:rPr>
              <a:t>Пише код и тестове</a:t>
            </a:r>
          </a:p>
        </p:txBody>
      </p:sp>
      <p:sp>
        <p:nvSpPr>
          <p:cNvPr id="13" name="">
            <a:extLst xmlns:a="http://schemas.openxmlformats.org/drawingml/2006/main">
              <a:ext uri="{FF2B5EF4-FFF2-40B4-BE49-F238E27FC236}">
                <a16:creationId xmlns:a16="http://schemas.microsoft.com/office/drawing/2014/main" id="{3ECEB89C-8D03-4813-9717-B511FCFC4FA3}"/>
              </a:ext>
            </a:extLst>
          </p:cNvPr>
          <p:cNvSpPr>
            <a:spLocks xmlns:a="http://schemas.openxmlformats.org/drawingml/2006/main" noGrp="1"/>
          </p:cNvSpPr>
          <p:nvPr/>
        </p:nvSpPr>
        <p:spPr>
          <a:xfrm xmlns:a="http://schemas.openxmlformats.org/drawingml/2006/main">
            <a:off x="4524375" y="4029075"/>
            <a:ext cx="314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22442"/>
                </a:solidFill>
                <a:latin typeface="Arial"/>
                <a:ea typeface="Arial"/>
                <a:cs typeface="Arial"/>
              </a:defRPr>
            </a:defPPr>
          </a:lstStyle>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Пише кода според</a:t>
            </a:r>
          </a:p>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одобрената спецификация.</a:t>
            </a:r>
          </a:p>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Добавя unit тестове</a:t>
            </a:r>
          </a:p>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за важните правила.</a:t>
            </a:r>
          </a:p>
        </p:txBody>
      </p:sp>
      <p:sp>
        <p:nvSpPr>
          <p:cNvPr id="14" name="">
            <a:extLst xmlns:a="http://schemas.openxmlformats.org/drawingml/2006/main">
              <a:ext uri="{FF2B5EF4-FFF2-40B4-BE49-F238E27FC236}">
                <a16:creationId xmlns:a16="http://schemas.microsoft.com/office/drawing/2014/main" id="{D0406239-5CB4-4B6E-8554-E8DD30C644EA}"/>
              </a:ext>
            </a:extLst>
          </p:cNvPr>
          <p:cNvSpPr>
            <a:spLocks xmlns:a="http://schemas.openxmlformats.org/drawingml/2006/main" noGrp="1"/>
          </p:cNvSpPr>
          <p:nvPr/>
        </p:nvSpPr>
        <p:spPr>
          <a:xfrm xmlns:a="http://schemas.openxmlformats.org/drawingml/2006/main">
            <a:off x="8362950" y="3286125"/>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447A6"/>
                </a:solidFill>
                <a:latin typeface="Arial"/>
                <a:ea typeface="Arial"/>
                <a:cs typeface="Arial"/>
              </a:defRPr>
            </a:defPPr>
          </a:lstStyle>
          <a:p xmlns:a="http://schemas.openxmlformats.org/drawingml/2006/main">
            <a:pPr>
              <a:defRPr sz="2250" b="1">
                <a:solidFill>
                  <a:srgbClr val="2447A6"/>
                </a:solidFill>
                <a:latin typeface="Arial"/>
                <a:ea typeface="Arial"/>
                <a:cs typeface="Arial"/>
              </a:defRPr>
            </a:pPr>
            <a:r>
              <a:rPr sz="2250" b="1">
                <a:solidFill>
                  <a:srgbClr val="2447A6"/>
                </a:solidFill>
                <a:latin typeface="Arial"/>
                <a:ea typeface="Arial"/>
                <a:cs typeface="Arial"/>
              </a:rPr>
              <a:t>Проверява и приема</a:t>
            </a:r>
          </a:p>
        </p:txBody>
      </p:sp>
      <p:sp>
        <p:nvSpPr>
          <p:cNvPr id="15" name="">
            <a:extLst xmlns:a="http://schemas.openxmlformats.org/drawingml/2006/main">
              <a:ext uri="{FF2B5EF4-FFF2-40B4-BE49-F238E27FC236}">
                <a16:creationId xmlns:a16="http://schemas.microsoft.com/office/drawing/2014/main" id="{1CB481E9-F2EE-4BAD-B6A8-C1CD32FF3F3E}"/>
              </a:ext>
            </a:extLst>
          </p:cNvPr>
          <p:cNvSpPr>
            <a:spLocks xmlns:a="http://schemas.openxmlformats.org/drawingml/2006/main" noGrp="1"/>
          </p:cNvSpPr>
          <p:nvPr/>
        </p:nvSpPr>
        <p:spPr>
          <a:xfrm xmlns:a="http://schemas.openxmlformats.org/drawingml/2006/main">
            <a:off x="8362950" y="4029075"/>
            <a:ext cx="314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22442"/>
                </a:solidFill>
                <a:latin typeface="Arial"/>
                <a:ea typeface="Arial"/>
                <a:cs typeface="Arial"/>
              </a:defRPr>
            </a:defPPr>
          </a:lstStyle>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Проверява крайния</a:t>
            </a:r>
          </a:p>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резултат, кода и тестовете.</a:t>
            </a:r>
          </a:p>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Решава дали задачата</a:t>
            </a:r>
          </a:p>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е изпълнена правилно.</a:t>
            </a:r>
          </a:p>
        </p:txBody>
      </p:sp>
      <p:sp>
        <p:nvSpPr>
          <p:cNvPr id="16" name="">
            <a:extLst xmlns:a="http://schemas.openxmlformats.org/drawingml/2006/main">
              <a:ext uri="{FF2B5EF4-FFF2-40B4-BE49-F238E27FC236}">
                <a16:creationId xmlns:a16="http://schemas.microsoft.com/office/drawing/2014/main" id="{D845CB98-E129-44A6-8C63-ED135CC43AA9}"/>
              </a:ext>
            </a:extLst>
          </p:cNvPr>
          <p:cNvSpPr>
            <a:spLocks xmlns:a="http://schemas.openxmlformats.org/drawingml/2006/main" noGrp="1"/>
          </p:cNvSpPr>
          <p:nvPr/>
        </p:nvSpPr>
        <p:spPr>
          <a:xfrm xmlns:a="http://schemas.openxmlformats.org/drawingml/2006/main">
            <a:off x="685800" y="56483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447A6"/>
                </a:solidFill>
                <a:latin typeface="Arial"/>
                <a:ea typeface="Arial"/>
                <a:cs typeface="Arial"/>
              </a:defRPr>
            </a:defPPr>
          </a:lstStyle>
          <a:p xmlns:a="http://schemas.openxmlformats.org/drawingml/2006/main">
            <a:pPr>
              <a:defRPr sz="2025" b="1">
                <a:solidFill>
                  <a:srgbClr val="2447A6"/>
                </a:solidFill>
                <a:latin typeface="Arial"/>
                <a:ea typeface="Arial"/>
                <a:cs typeface="Arial"/>
              </a:defRPr>
            </a:pPr>
            <a:r>
              <a:rPr sz="2025" b="1">
                <a:solidFill>
                  <a:srgbClr val="2447A6"/>
                </a:solidFill>
                <a:latin typeface="Arial"/>
                <a:ea typeface="Arial"/>
                <a:cs typeface="Arial"/>
              </a:rPr>
              <a:t>Човекът решава дали приложението върши работата, за която е създадено.</a:t>
            </a:r>
          </a:p>
        </p:txBody>
      </p:sp>
      <p:sp>
        <p:nvSpPr>
          <p:cNvPr id="17" name="">
            <a:extLst xmlns:a="http://schemas.openxmlformats.org/drawingml/2006/main">
              <a:ext uri="{FF2B5EF4-FFF2-40B4-BE49-F238E27FC236}">
                <a16:creationId xmlns:a16="http://schemas.microsoft.com/office/drawing/2014/main" id="{1ACB9EF1-83D6-41C1-95A3-3EB02C7A92C1}"/>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defRPr sz="1275" b="0">
                <a:solidFill>
                  <a:srgbClr val="4D5C74"/>
                </a:solidFill>
                <a:latin typeface="Arial"/>
                <a:ea typeface="Arial"/>
                <a:cs typeface="Arial"/>
              </a:defRPr>
            </a:pPr>
            <a:r>
              <a:rPr sz="1275" b="0">
                <a:solidFill>
                  <a:srgbClr val="4D5C74"/>
                </a:solidFill>
                <a:latin typeface="Arial"/>
                <a:ea typeface="Arial"/>
                <a:cs typeface="Arial"/>
              </a:rPr>
              <a:t>10</a:t>
            </a:r>
          </a:p>
        </p:txBody>
      </p:sp>
    </p:spTree>
    <p:extLst>
      <p:ext uri="{BB962C8B-B14F-4D97-AF65-F5344CB8AC3E}">
        <p14:creationId xmlns:p14="http://schemas.microsoft.com/office/powerpoint/2010/main" val="172843798"/>
      </p:ext>
    </p:extLst>
  </p:cSld>
</p:sld>
</file>

<file path=ppt/slides/slide11.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40D9BBCF-9468-42A3-975D-D4B0BC2B38B5}"/>
              </a:ext>
            </a:extLst>
          </p:cNvPr>
          <p:cNvCxnSpPr>
            <a:stCxn xmlns:a="http://schemas.openxmlformats.org/drawingml/2006/main" id="8" idx="3"/>
            <a:endCxn xmlns:a="http://schemas.openxmlformats.org/drawingml/2006/main" id="10" idx="1"/>
          </p:cNvCxnSpPr>
          <p:nvPr/>
        </p:nvCxnSpPr>
        <p:spPr>
          <a:xfrm xmlns:a="http://schemas.openxmlformats.org/drawingml/2006/main">
            <a:off x="8667750" y="3614738"/>
            <a:ext cx="533400" cy="0"/>
          </a:xfrm>
          <a:prstGeom xmlns:a="http://schemas.openxmlformats.org/drawingml/2006/main" prst="straightConnector1">
            <a:avLst/>
          </a:prstGeom>
          <a:ln xmlns:a="http://schemas.openxmlformats.org/drawingml/2006/main" w="28575">
            <a:solidFill>
              <a:srgbClr val="2447A6"/>
            </a:solidFill>
            <a:tailEnd type="triangle" w="med" len="med"/>
          </a:ln>
        </p:spPr>
      </p:cxnSp>
      <p:cxnSp>
        <p:nvCxnSpPr>
          <p:cNvPr id="13" name="">
            <a:extLst xmlns:a="http://schemas.openxmlformats.org/drawingml/2006/main">
              <a:ext uri="{FF2B5EF4-FFF2-40B4-BE49-F238E27FC236}">
                <a16:creationId xmlns:a16="http://schemas.microsoft.com/office/drawing/2014/main" id="{92E1A12B-15CA-480B-9C08-1EEAB81D018D}"/>
              </a:ext>
            </a:extLst>
          </p:cNvPr>
          <p:cNvCxnSpPr>
            <a:stCxn xmlns:a="http://schemas.openxmlformats.org/drawingml/2006/main" id="6" idx="3"/>
            <a:endCxn xmlns:a="http://schemas.openxmlformats.org/drawingml/2006/main" id="8" idx="1"/>
          </p:cNvCxnSpPr>
          <p:nvPr/>
        </p:nvCxnSpPr>
        <p:spPr>
          <a:xfrm xmlns:a="http://schemas.openxmlformats.org/drawingml/2006/main">
            <a:off x="5829300" y="3614738"/>
            <a:ext cx="533400" cy="0"/>
          </a:xfrm>
          <a:prstGeom xmlns:a="http://schemas.openxmlformats.org/drawingml/2006/main" prst="straightConnector1">
            <a:avLst/>
          </a:prstGeom>
          <a:ln xmlns:a="http://schemas.openxmlformats.org/drawingml/2006/main" w="28575">
            <a:solidFill>
              <a:srgbClr val="2447A6"/>
            </a:solidFill>
            <a:tailEnd type="triangle" w="med" len="med"/>
          </a:ln>
        </p:spPr>
      </p:cxnSp>
      <p:cxnSp>
        <p:nvCxnSpPr>
          <p:cNvPr id="12" name="">
            <a:extLst xmlns:a="http://schemas.openxmlformats.org/drawingml/2006/main">
              <a:ext uri="{FF2B5EF4-FFF2-40B4-BE49-F238E27FC236}">
                <a16:creationId xmlns:a16="http://schemas.microsoft.com/office/drawing/2014/main" id="{48305307-971C-4F1D-9193-7DEA884BC937}"/>
              </a:ext>
            </a:extLst>
          </p:cNvPr>
          <p:cNvCxnSpPr>
            <a:stCxn xmlns:a="http://schemas.openxmlformats.org/drawingml/2006/main" id="4" idx="3"/>
            <a:endCxn xmlns:a="http://schemas.openxmlformats.org/drawingml/2006/main" id="6" idx="1"/>
          </p:cNvCxnSpPr>
          <p:nvPr/>
        </p:nvCxnSpPr>
        <p:spPr>
          <a:xfrm xmlns:a="http://schemas.openxmlformats.org/drawingml/2006/main">
            <a:off x="2990850" y="3614738"/>
            <a:ext cx="533400" cy="0"/>
          </a:xfrm>
          <a:prstGeom xmlns:a="http://schemas.openxmlformats.org/drawingml/2006/main" prst="straightConnector1">
            <a:avLst/>
          </a:prstGeom>
          <a:ln xmlns:a="http://schemas.openxmlformats.org/drawingml/2006/main" w="28575">
            <a:solidFill>
              <a:srgbClr val="2447A6"/>
            </a:solidFill>
            <a:tailEnd type="triangle" w="med" len="med"/>
          </a:ln>
        </p:spPr>
      </p:cxnSp>
      <p:sp>
        <p:nvSpPr>
          <p:cNvPr id="22" name="">
            <a:extLst xmlns:a="http://schemas.openxmlformats.org/drawingml/2006/main">
              <a:ext uri="{FF2B5EF4-FFF2-40B4-BE49-F238E27FC236}">
                <a16:creationId xmlns:a16="http://schemas.microsoft.com/office/drawing/2014/main" id="{A09182D1-D6B1-4327-96D6-97A724EB16D2}"/>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defRPr sz="3300" b="1">
                <a:solidFill>
                  <a:srgbClr val="122442"/>
                </a:solidFill>
                <a:latin typeface="Arial"/>
                <a:ea typeface="Arial"/>
                <a:cs typeface="Arial"/>
              </a:defRPr>
            </a:pPr>
            <a:r>
              <a:rPr sz="3300" b="1">
                <a:solidFill>
                  <a:srgbClr val="122442"/>
                </a:solidFill>
                <a:latin typeface="Arial"/>
                <a:ea typeface="Arial"/>
                <a:cs typeface="Arial"/>
              </a:rPr>
              <a:t>Добрите тестове пазят изискванията</a:t>
            </a:r>
          </a:p>
        </p:txBody>
      </p:sp>
      <p:sp>
        <p:nvSpPr>
          <p:cNvPr id="2" name="">
            <a:extLst xmlns:a="http://schemas.openxmlformats.org/drawingml/2006/main">
              <a:ext uri="{FF2B5EF4-FFF2-40B4-BE49-F238E27FC236}">
                <a16:creationId xmlns:a16="http://schemas.microsoft.com/office/drawing/2014/main" id="{8D51E895-51B9-426A-BD79-6FD68A43887D}"/>
              </a:ext>
            </a:extLst>
          </p:cNvPr>
          <p:cNvSpPr>
            <a:spLocks xmlns:a="http://schemas.openxmlformats.org/drawingml/2006/main" noGrp="1"/>
          </p:cNvSpPr>
          <p:nvPr/>
        </p:nvSpPr>
        <p:spPr>
          <a:xfrm xmlns:a="http://schemas.openxmlformats.org/drawingml/2006/main">
            <a:off x="685800" y="1571625"/>
            <a:ext cx="108204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22442"/>
                </a:solidFill>
                <a:latin typeface="Arial"/>
                <a:ea typeface="Arial"/>
                <a:cs typeface="Arial"/>
              </a:defRPr>
            </a:defPPr>
          </a:lstStyle>
          <a:p xmlns:a="http://schemas.openxmlformats.org/drawingml/2006/main">
            <a:pPr>
              <a:defRPr sz="2175" b="0">
                <a:solidFill>
                  <a:srgbClr val="122442"/>
                </a:solidFill>
                <a:latin typeface="Arial"/>
                <a:ea typeface="Arial"/>
                <a:cs typeface="Arial"/>
              </a:defRPr>
            </a:pPr>
            <a:r>
              <a:rPr sz="2175" b="0">
                <a:solidFill>
                  <a:srgbClr val="122442"/>
                </a:solidFill>
                <a:latin typeface="Arial"/>
                <a:ea typeface="Arial"/>
                <a:cs typeface="Arial"/>
              </a:rPr>
              <a:t>Документът може да остарее.</a:t>
            </a:r>
          </a:p>
          <a:p xmlns:a="http://schemas.openxmlformats.org/drawingml/2006/main">
            <a:pPr>
              <a:defRPr sz="2175" b="0">
                <a:solidFill>
                  <a:srgbClr val="122442"/>
                </a:solidFill>
                <a:latin typeface="Arial"/>
                <a:ea typeface="Arial"/>
                <a:cs typeface="Arial"/>
              </a:defRPr>
            </a:pPr>
            <a:r>
              <a:rPr sz="2175" b="0">
                <a:solidFill>
                  <a:srgbClr val="122442"/>
                </a:solidFill>
                <a:latin typeface="Arial"/>
                <a:ea typeface="Arial"/>
                <a:cs typeface="Arial"/>
              </a:rPr>
              <a:t>Тестът проверява дали важните правила още се спазват.</a:t>
            </a:r>
          </a:p>
        </p:txBody>
      </p:sp>
      <p:sp>
        <p:nvSpPr>
          <p:cNvPr id="3" name="">
            <a:extLst xmlns:a="http://schemas.openxmlformats.org/drawingml/2006/main">
              <a:ext uri="{FF2B5EF4-FFF2-40B4-BE49-F238E27FC236}">
                <a16:creationId xmlns:a16="http://schemas.microsoft.com/office/drawing/2014/main" id="{D6E6257C-6B1E-40C0-ADAC-F86B4CE8FDB6}"/>
              </a:ext>
            </a:extLst>
          </p:cNvPr>
          <p:cNvSpPr>
            <a:spLocks xmlns:a="http://schemas.openxmlformats.org/drawingml/2006/main" noGrp="1"/>
          </p:cNvSpPr>
          <p:nvPr/>
        </p:nvSpPr>
        <p:spPr>
          <a:xfrm xmlns:a="http://schemas.openxmlformats.org/drawingml/2006/main">
            <a:off x="685800" y="23907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447A6"/>
                </a:solidFill>
                <a:latin typeface="Arial"/>
                <a:ea typeface="Arial"/>
                <a:cs typeface="Arial"/>
              </a:defRPr>
            </a:defPPr>
          </a:lstStyle>
          <a:p xmlns:a="http://schemas.openxmlformats.org/drawingml/2006/main">
            <a:pPr>
              <a:defRPr sz="2025" b="1">
                <a:solidFill>
                  <a:srgbClr val="2447A6"/>
                </a:solidFill>
                <a:latin typeface="Arial"/>
                <a:ea typeface="Arial"/>
                <a:cs typeface="Arial"/>
              </a:defRPr>
            </a:pPr>
            <a:r>
              <a:rPr sz="2025" b="1">
                <a:solidFill>
                  <a:srgbClr val="2447A6"/>
                </a:solidFill>
                <a:latin typeface="Arial"/>
                <a:ea typeface="Arial"/>
                <a:cs typeface="Arial"/>
              </a:rPr>
              <a:t>Specification by Example: показваме с примери какво трябва да се случи.</a:t>
            </a:r>
          </a:p>
        </p:txBody>
      </p:sp>
      <p:sp>
        <p:nvSpPr>
          <p:cNvPr id="4" name="">
            <a:extLst xmlns:a="http://schemas.openxmlformats.org/drawingml/2006/main">
              <a:ext uri="{FF2B5EF4-FFF2-40B4-BE49-F238E27FC236}">
                <a16:creationId xmlns:a16="http://schemas.microsoft.com/office/drawing/2014/main" id="{4793ACB6-EB11-4824-9FB6-53144B8E2AB9}"/>
              </a:ext>
            </a:extLst>
          </p:cNvPr>
          <p:cNvSpPr>
            <a:spLocks xmlns:a="http://schemas.openxmlformats.org/drawingml/2006/main" noGrp="1"/>
          </p:cNvSpPr>
          <p:nvPr/>
        </p:nvSpPr>
        <p:spPr>
          <a:xfrm xmlns:a="http://schemas.openxmlformats.org/drawingml/2006/main">
            <a:off x="685800" y="3133725"/>
            <a:ext cx="2305050" cy="962025"/>
          </a:xfrm>
          <a:prstGeom xmlns:a="http://schemas.openxmlformats.org/drawingml/2006/main" prst="roundRect">
            <a:avLst>
              <a:gd name="adj" fmla="val 15842"/>
            </a:avLst>
          </a:prstGeom>
          <a:solidFill xmlns:a="http://schemas.openxmlformats.org/drawingml/2006/main">
            <a:srgbClr val="2447A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D65790C-896C-4FE8-B6C4-C60801E7E1D4}"/>
              </a:ext>
            </a:extLst>
          </p:cNvPr>
          <p:cNvSpPr>
            <a:spLocks xmlns:a="http://schemas.openxmlformats.org/drawingml/2006/main" noGrp="1"/>
          </p:cNvSpPr>
          <p:nvPr/>
        </p:nvSpPr>
        <p:spPr>
          <a:xfrm xmlns:a="http://schemas.openxmlformats.org/drawingml/2006/main">
            <a:off x="857250" y="3295650"/>
            <a:ext cx="1962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Тестове</a:t>
            </a:r>
          </a:p>
        </p:txBody>
      </p:sp>
      <p:sp>
        <p:nvSpPr>
          <p:cNvPr id="6" name="">
            <a:extLst xmlns:a="http://schemas.openxmlformats.org/drawingml/2006/main">
              <a:ext uri="{FF2B5EF4-FFF2-40B4-BE49-F238E27FC236}">
                <a16:creationId xmlns:a16="http://schemas.microsoft.com/office/drawing/2014/main" id="{C686AF29-32F3-4479-9230-66F81BAC30BB}"/>
              </a:ext>
            </a:extLst>
          </p:cNvPr>
          <p:cNvSpPr>
            <a:spLocks xmlns:a="http://schemas.openxmlformats.org/drawingml/2006/main" noGrp="1"/>
          </p:cNvSpPr>
          <p:nvPr/>
        </p:nvSpPr>
        <p:spPr>
          <a:xfrm xmlns:a="http://schemas.openxmlformats.org/drawingml/2006/main">
            <a:off x="3524250" y="3133725"/>
            <a:ext cx="2305050" cy="962025"/>
          </a:xfrm>
          <a:prstGeom xmlns:a="http://schemas.openxmlformats.org/drawingml/2006/main" prst="roundRect">
            <a:avLst>
              <a:gd name="adj" fmla="val 15842"/>
            </a:avLst>
          </a:prstGeom>
          <a:solidFill xmlns:a="http://schemas.openxmlformats.org/drawingml/2006/main">
            <a:srgbClr val="7041B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446AF13-FCDC-49DC-B1AA-59106EF07ED6}"/>
              </a:ext>
            </a:extLst>
          </p:cNvPr>
          <p:cNvSpPr>
            <a:spLocks xmlns:a="http://schemas.openxmlformats.org/drawingml/2006/main" noGrp="1"/>
          </p:cNvSpPr>
          <p:nvPr/>
        </p:nvSpPr>
        <p:spPr>
          <a:xfrm xmlns:a="http://schemas.openxmlformats.org/drawingml/2006/main">
            <a:off x="3695700" y="3295650"/>
            <a:ext cx="1962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Агентът</a:t>
            </a:r>
          </a:p>
        </p:txBody>
      </p:sp>
      <p:sp>
        <p:nvSpPr>
          <p:cNvPr id="8" name="">
            <a:extLst xmlns:a="http://schemas.openxmlformats.org/drawingml/2006/main">
              <a:ext uri="{FF2B5EF4-FFF2-40B4-BE49-F238E27FC236}">
                <a16:creationId xmlns:a16="http://schemas.microsoft.com/office/drawing/2014/main" id="{DFB98C63-E9BF-433A-9458-A0CB1C7B78B0}"/>
              </a:ext>
            </a:extLst>
          </p:cNvPr>
          <p:cNvSpPr>
            <a:spLocks xmlns:a="http://schemas.openxmlformats.org/drawingml/2006/main" noGrp="1"/>
          </p:cNvSpPr>
          <p:nvPr/>
        </p:nvSpPr>
        <p:spPr>
          <a:xfrm xmlns:a="http://schemas.openxmlformats.org/drawingml/2006/main">
            <a:off x="6362700" y="3133725"/>
            <a:ext cx="2305050" cy="962025"/>
          </a:xfrm>
          <a:prstGeom xmlns:a="http://schemas.openxmlformats.org/drawingml/2006/main" prst="roundRect">
            <a:avLst>
              <a:gd name="adj" fmla="val 15842"/>
            </a:avLst>
          </a:prstGeom>
          <a:solidFill xmlns:a="http://schemas.openxmlformats.org/drawingml/2006/main">
            <a:srgbClr val="7041B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22DE95E-7D2F-4D41-B49F-B51BFB536E4A}"/>
              </a:ext>
            </a:extLst>
          </p:cNvPr>
          <p:cNvSpPr>
            <a:spLocks xmlns:a="http://schemas.openxmlformats.org/drawingml/2006/main" noGrp="1"/>
          </p:cNvSpPr>
          <p:nvPr/>
        </p:nvSpPr>
        <p:spPr>
          <a:xfrm xmlns:a="http://schemas.openxmlformats.org/drawingml/2006/main">
            <a:off x="6534150" y="3295650"/>
            <a:ext cx="1962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Агентът</a:t>
            </a:r>
          </a:p>
        </p:txBody>
      </p:sp>
      <p:sp>
        <p:nvSpPr>
          <p:cNvPr id="10" name="">
            <a:extLst xmlns:a="http://schemas.openxmlformats.org/drawingml/2006/main">
              <a:ext uri="{FF2B5EF4-FFF2-40B4-BE49-F238E27FC236}">
                <a16:creationId xmlns:a16="http://schemas.microsoft.com/office/drawing/2014/main" id="{DCF2A66B-9D4B-4948-AC6E-E2E79918D6F7}"/>
              </a:ext>
            </a:extLst>
          </p:cNvPr>
          <p:cNvSpPr>
            <a:spLocks xmlns:a="http://schemas.openxmlformats.org/drawingml/2006/main" noGrp="1"/>
          </p:cNvSpPr>
          <p:nvPr/>
        </p:nvSpPr>
        <p:spPr>
          <a:xfrm xmlns:a="http://schemas.openxmlformats.org/drawingml/2006/main">
            <a:off x="9201150" y="3133725"/>
            <a:ext cx="2305050" cy="962025"/>
          </a:xfrm>
          <a:prstGeom xmlns:a="http://schemas.openxmlformats.org/drawingml/2006/main" prst="roundRect">
            <a:avLst>
              <a:gd name="adj" fmla="val 15842"/>
            </a:avLst>
          </a:prstGeom>
          <a:solidFill xmlns:a="http://schemas.openxmlformats.org/drawingml/2006/main">
            <a:srgbClr val="2447A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6B5F543-23BF-49B0-A222-A53604CA0441}"/>
              </a:ext>
            </a:extLst>
          </p:cNvPr>
          <p:cNvSpPr>
            <a:spLocks xmlns:a="http://schemas.openxmlformats.org/drawingml/2006/main" noGrp="1"/>
          </p:cNvSpPr>
          <p:nvPr/>
        </p:nvSpPr>
        <p:spPr>
          <a:xfrm xmlns:a="http://schemas.openxmlformats.org/drawingml/2006/main">
            <a:off x="9372600" y="3295650"/>
            <a:ext cx="1962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Човекът</a:t>
            </a:r>
          </a:p>
        </p:txBody>
      </p:sp>
      <p:sp>
        <p:nvSpPr>
          <p:cNvPr id="15" name="">
            <a:extLst xmlns:a="http://schemas.openxmlformats.org/drawingml/2006/main">
              <a:ext uri="{FF2B5EF4-FFF2-40B4-BE49-F238E27FC236}">
                <a16:creationId xmlns:a16="http://schemas.microsoft.com/office/drawing/2014/main" id="{8346C497-2BB2-4A80-9FE7-19F35FE47BF4}"/>
              </a:ext>
            </a:extLst>
          </p:cNvPr>
          <p:cNvSpPr>
            <a:spLocks xmlns:a="http://schemas.openxmlformats.org/drawingml/2006/main" noGrp="1"/>
          </p:cNvSpPr>
          <p:nvPr/>
        </p:nvSpPr>
        <p:spPr>
          <a:xfrm xmlns:a="http://schemas.openxmlformats.org/drawingml/2006/main">
            <a:off x="685800" y="437197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22442"/>
                </a:solidFill>
                <a:latin typeface="Arial"/>
                <a:ea typeface="Arial"/>
                <a:cs typeface="Arial"/>
              </a:defRPr>
            </a:defPPr>
          </a:lstStyle>
          <a:p xmlns:a="http://schemas.openxmlformats.org/drawingml/2006/main">
            <a:pPr>
              <a:defRPr sz="1800" b="0">
                <a:solidFill>
                  <a:srgbClr val="122442"/>
                </a:solidFill>
                <a:latin typeface="Arial"/>
                <a:ea typeface="Arial"/>
                <a:cs typeface="Arial"/>
              </a:defRPr>
            </a:pPr>
            <a:r>
              <a:rPr sz="1800" b="0">
                <a:solidFill>
                  <a:srgbClr val="122442"/>
                </a:solidFill>
                <a:latin typeface="Arial"/>
                <a:ea typeface="Arial"/>
                <a:cs typeface="Arial"/>
              </a:rPr>
              <a:t>Проверяват правилата</a:t>
            </a:r>
          </a:p>
          <a:p xmlns:a="http://schemas.openxmlformats.org/drawingml/2006/main">
            <a:pPr>
              <a:defRPr sz="1800" b="0">
                <a:solidFill>
                  <a:srgbClr val="122442"/>
                </a:solidFill>
                <a:latin typeface="Arial"/>
                <a:ea typeface="Arial"/>
                <a:cs typeface="Arial"/>
              </a:defRPr>
            </a:pPr>
            <a:r>
              <a:rPr sz="1800" b="0">
                <a:solidFill>
                  <a:srgbClr val="122442"/>
                </a:solidFill>
                <a:latin typeface="Arial"/>
                <a:ea typeface="Arial"/>
                <a:cs typeface="Arial"/>
              </a:rPr>
              <a:t>на приложението.</a:t>
            </a:r>
          </a:p>
        </p:txBody>
      </p:sp>
      <p:sp>
        <p:nvSpPr>
          <p:cNvPr id="16" name="">
            <a:extLst xmlns:a="http://schemas.openxmlformats.org/drawingml/2006/main">
              <a:ext uri="{FF2B5EF4-FFF2-40B4-BE49-F238E27FC236}">
                <a16:creationId xmlns:a16="http://schemas.microsoft.com/office/drawing/2014/main" id="{ECDA744E-DB79-4F2F-9FF5-25A9279299BD}"/>
              </a:ext>
            </a:extLst>
          </p:cNvPr>
          <p:cNvSpPr>
            <a:spLocks xmlns:a="http://schemas.openxmlformats.org/drawingml/2006/main" noGrp="1"/>
          </p:cNvSpPr>
          <p:nvPr/>
        </p:nvSpPr>
        <p:spPr>
          <a:xfrm xmlns:a="http://schemas.openxmlformats.org/drawingml/2006/main">
            <a:off x="3524250" y="437197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22442"/>
                </a:solidFill>
                <a:latin typeface="Arial"/>
                <a:ea typeface="Arial"/>
                <a:cs typeface="Arial"/>
              </a:defRPr>
            </a:defPPr>
          </a:lstStyle>
          <a:p xmlns:a="http://schemas.openxmlformats.org/drawingml/2006/main">
            <a:pPr>
              <a:defRPr sz="1800" b="0">
                <a:solidFill>
                  <a:srgbClr val="122442"/>
                </a:solidFill>
                <a:latin typeface="Arial"/>
                <a:ea typeface="Arial"/>
                <a:cs typeface="Arial"/>
              </a:defRPr>
            </a:pPr>
            <a:r>
              <a:rPr sz="1800" b="0">
                <a:solidFill>
                  <a:srgbClr val="122442"/>
                </a:solidFill>
                <a:latin typeface="Arial"/>
                <a:ea typeface="Arial"/>
                <a:cs typeface="Arial"/>
              </a:rPr>
              <a:t>Пише кода според</a:t>
            </a:r>
          </a:p>
          <a:p xmlns:a="http://schemas.openxmlformats.org/drawingml/2006/main">
            <a:pPr>
              <a:defRPr sz="1800" b="0">
                <a:solidFill>
                  <a:srgbClr val="122442"/>
                </a:solidFill>
                <a:latin typeface="Arial"/>
                <a:ea typeface="Arial"/>
                <a:cs typeface="Arial"/>
              </a:defRPr>
            </a:pPr>
            <a:r>
              <a:rPr sz="1800" b="0">
                <a:solidFill>
                  <a:srgbClr val="122442"/>
                </a:solidFill>
                <a:latin typeface="Arial"/>
                <a:ea typeface="Arial"/>
                <a:cs typeface="Arial"/>
              </a:rPr>
              <a:t>изискванията.</a:t>
            </a:r>
          </a:p>
        </p:txBody>
      </p:sp>
      <p:sp>
        <p:nvSpPr>
          <p:cNvPr id="17" name="">
            <a:extLst xmlns:a="http://schemas.openxmlformats.org/drawingml/2006/main">
              <a:ext uri="{FF2B5EF4-FFF2-40B4-BE49-F238E27FC236}">
                <a16:creationId xmlns:a16="http://schemas.microsoft.com/office/drawing/2014/main" id="{76A8C72B-AA5A-4B18-8506-DCA2CD628A33}"/>
              </a:ext>
            </a:extLst>
          </p:cNvPr>
          <p:cNvSpPr>
            <a:spLocks xmlns:a="http://schemas.openxmlformats.org/drawingml/2006/main" noGrp="1"/>
          </p:cNvSpPr>
          <p:nvPr/>
        </p:nvSpPr>
        <p:spPr>
          <a:xfrm xmlns:a="http://schemas.openxmlformats.org/drawingml/2006/main">
            <a:off x="6362700" y="437197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22442"/>
                </a:solidFill>
                <a:latin typeface="Arial"/>
                <a:ea typeface="Arial"/>
                <a:cs typeface="Arial"/>
              </a:defRPr>
            </a:defPPr>
          </a:lstStyle>
          <a:p xmlns:a="http://schemas.openxmlformats.org/drawingml/2006/main">
            <a:pPr>
              <a:defRPr sz="1800" b="0">
                <a:solidFill>
                  <a:srgbClr val="122442"/>
                </a:solidFill>
                <a:latin typeface="Arial"/>
                <a:ea typeface="Arial"/>
                <a:cs typeface="Arial"/>
              </a:defRPr>
            </a:pPr>
            <a:r>
              <a:rPr sz="1800" b="0">
                <a:solidFill>
                  <a:srgbClr val="122442"/>
                </a:solidFill>
                <a:latin typeface="Arial"/>
                <a:ea typeface="Arial"/>
                <a:cs typeface="Arial"/>
              </a:rPr>
              <a:t>Сверява описанието</a:t>
            </a:r>
          </a:p>
          <a:p xmlns:a="http://schemas.openxmlformats.org/drawingml/2006/main">
            <a:pPr>
              <a:defRPr sz="1800" b="0">
                <a:solidFill>
                  <a:srgbClr val="122442"/>
                </a:solidFill>
                <a:latin typeface="Arial"/>
                <a:ea typeface="Arial"/>
                <a:cs typeface="Arial"/>
              </a:defRPr>
            </a:pPr>
            <a:r>
              <a:rPr sz="1800" b="0">
                <a:solidFill>
                  <a:srgbClr val="122442"/>
                </a:solidFill>
                <a:latin typeface="Arial"/>
                <a:ea typeface="Arial"/>
                <a:cs typeface="Arial"/>
              </a:rPr>
              <a:t>с тестовете.</a:t>
            </a:r>
          </a:p>
        </p:txBody>
      </p:sp>
      <p:sp>
        <p:nvSpPr>
          <p:cNvPr id="18" name="">
            <a:extLst xmlns:a="http://schemas.openxmlformats.org/drawingml/2006/main">
              <a:ext uri="{FF2B5EF4-FFF2-40B4-BE49-F238E27FC236}">
                <a16:creationId xmlns:a16="http://schemas.microsoft.com/office/drawing/2014/main" id="{E6337E5B-5A36-4683-9482-6B07CBCE80EB}"/>
              </a:ext>
            </a:extLst>
          </p:cNvPr>
          <p:cNvSpPr>
            <a:spLocks xmlns:a="http://schemas.openxmlformats.org/drawingml/2006/main" noGrp="1"/>
          </p:cNvSpPr>
          <p:nvPr/>
        </p:nvSpPr>
        <p:spPr>
          <a:xfrm xmlns:a="http://schemas.openxmlformats.org/drawingml/2006/main">
            <a:off x="9201150" y="437197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22442"/>
                </a:solidFill>
                <a:latin typeface="Arial"/>
                <a:ea typeface="Arial"/>
                <a:cs typeface="Arial"/>
              </a:defRPr>
            </a:defPPr>
          </a:lstStyle>
          <a:p xmlns:a="http://schemas.openxmlformats.org/drawingml/2006/main">
            <a:pPr>
              <a:defRPr sz="1800" b="0">
                <a:solidFill>
                  <a:srgbClr val="122442"/>
                </a:solidFill>
                <a:latin typeface="Arial"/>
                <a:ea typeface="Arial"/>
                <a:cs typeface="Arial"/>
              </a:defRPr>
            </a:pPr>
            <a:r>
              <a:rPr sz="1800" b="0">
                <a:solidFill>
                  <a:srgbClr val="122442"/>
                </a:solidFill>
                <a:latin typeface="Arial"/>
                <a:ea typeface="Arial"/>
                <a:cs typeface="Arial"/>
              </a:rPr>
              <a:t>Преглежда тестовете</a:t>
            </a:r>
          </a:p>
          <a:p xmlns:a="http://schemas.openxmlformats.org/drawingml/2006/main">
            <a:pPr>
              <a:defRPr sz="1800" b="0">
                <a:solidFill>
                  <a:srgbClr val="122442"/>
                </a:solidFill>
                <a:latin typeface="Arial"/>
                <a:ea typeface="Arial"/>
                <a:cs typeface="Arial"/>
              </a:defRPr>
            </a:pPr>
            <a:r>
              <a:rPr sz="1800" b="0">
                <a:solidFill>
                  <a:srgbClr val="122442"/>
                </a:solidFill>
                <a:latin typeface="Arial"/>
                <a:ea typeface="Arial"/>
                <a:cs typeface="Arial"/>
              </a:rPr>
              <a:t>и взема решение.</a:t>
            </a:r>
          </a:p>
        </p:txBody>
      </p:sp>
      <p:sp>
        <p:nvSpPr>
          <p:cNvPr id="19" name="">
            <a:extLst xmlns:a="http://schemas.openxmlformats.org/drawingml/2006/main">
              <a:ext uri="{FF2B5EF4-FFF2-40B4-BE49-F238E27FC236}">
                <a16:creationId xmlns:a16="http://schemas.microsoft.com/office/drawing/2014/main" id="{09F9C2DE-CF6F-4A6B-9FB4-ED2DF1DDF927}"/>
              </a:ext>
            </a:extLst>
          </p:cNvPr>
          <p:cNvSpPr>
            <a:spLocks xmlns:a="http://schemas.openxmlformats.org/drawingml/2006/main" noGrp="1"/>
          </p:cNvSpPr>
          <p:nvPr/>
        </p:nvSpPr>
        <p:spPr>
          <a:xfrm xmlns:a="http://schemas.openxmlformats.org/drawingml/2006/main">
            <a:off x="685800" y="5419725"/>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2447A6"/>
                </a:solidFill>
                <a:latin typeface="Arial"/>
                <a:ea typeface="Arial"/>
                <a:cs typeface="Arial"/>
              </a:defRPr>
            </a:defPPr>
          </a:lstStyle>
          <a:p xmlns:a="http://schemas.openxmlformats.org/drawingml/2006/main">
            <a:pPr>
              <a:defRPr sz="1950" b="1">
                <a:solidFill>
                  <a:srgbClr val="2447A6"/>
                </a:solidFill>
                <a:latin typeface="Arial"/>
                <a:ea typeface="Arial"/>
                <a:cs typeface="Arial"/>
              </a:defRPr>
            </a:pPr>
            <a:r>
              <a:rPr sz="1950" b="1">
                <a:solidFill>
                  <a:srgbClr val="2447A6"/>
                </a:solidFill>
                <a:latin typeface="Arial"/>
                <a:ea typeface="Arial"/>
                <a:cs typeface="Arial"/>
              </a:rPr>
              <a:t>Добър тест: лесен за четене, проверява важните правила и помага да открием грешки.</a:t>
            </a:r>
          </a:p>
        </p:txBody>
      </p:sp>
      <p:sp>
        <p:nvSpPr>
          <p:cNvPr id="20" name="">
            <a:extLst xmlns:a="http://schemas.openxmlformats.org/drawingml/2006/main">
              <a:ext uri="{FF2B5EF4-FFF2-40B4-BE49-F238E27FC236}">
                <a16:creationId xmlns:a16="http://schemas.microsoft.com/office/drawing/2014/main" id="{2E722F14-826D-4A93-9109-902FBC308EC1}"/>
              </a:ext>
            </a:extLst>
          </p:cNvPr>
          <p:cNvSpPr>
            <a:spLocks xmlns:a="http://schemas.openxmlformats.org/drawingml/2006/main" noGrp="1"/>
          </p:cNvSpPr>
          <p:nvPr/>
        </p:nvSpPr>
        <p:spPr>
          <a:xfrm xmlns:a="http://schemas.openxmlformats.org/drawingml/2006/main">
            <a:off x="685800" y="60960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D5C74"/>
                </a:solidFill>
                <a:latin typeface="Arial"/>
                <a:ea typeface="Arial"/>
                <a:cs typeface="Arial"/>
              </a:defRPr>
            </a:defPPr>
          </a:lstStyle>
          <a:p xmlns:a="http://schemas.openxmlformats.org/drawingml/2006/main">
            <a:pPr>
              <a:defRPr sz="1650" b="0">
                <a:solidFill>
                  <a:srgbClr val="4D5C74"/>
                </a:solidFill>
                <a:latin typeface="Arial"/>
                <a:ea typeface="Arial"/>
                <a:cs typeface="Arial"/>
              </a:defRPr>
            </a:pPr>
            <a:r>
              <a:rPr sz="1650" b="0">
                <a:solidFill>
                  <a:srgbClr val="4D5C74"/>
                </a:solidFill>
                <a:latin typeface="Arial"/>
                <a:ea typeface="Arial"/>
                <a:cs typeface="Arial"/>
              </a:rPr>
              <a:t>Ако проверяваме само mocks, можем да пропуснем проблем в истинското приложение.</a:t>
            </a:r>
          </a:p>
        </p:txBody>
      </p:sp>
      <p:sp>
        <p:nvSpPr>
          <p:cNvPr id="21" name="">
            <a:extLst xmlns:a="http://schemas.openxmlformats.org/drawingml/2006/main">
              <a:ext uri="{FF2B5EF4-FFF2-40B4-BE49-F238E27FC236}">
                <a16:creationId xmlns:a16="http://schemas.microsoft.com/office/drawing/2014/main" id="{6E74BD64-D096-4981-9DC8-69D6059F1F30}"/>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defRPr sz="1275" b="0">
                <a:solidFill>
                  <a:srgbClr val="4D5C74"/>
                </a:solidFill>
                <a:latin typeface="Arial"/>
                <a:ea typeface="Arial"/>
                <a:cs typeface="Arial"/>
              </a:defRPr>
            </a:pPr>
            <a:r>
              <a:rPr sz="1275" b="0">
                <a:solidFill>
                  <a:srgbClr val="4D5C74"/>
                </a:solidFill>
                <a:latin typeface="Arial"/>
                <a:ea typeface="Arial"/>
                <a:cs typeface="Arial"/>
              </a:rPr>
              <a:t>11</a:t>
            </a:r>
          </a:p>
        </p:txBody>
      </p:sp>
    </p:spTree>
    <p:extLst>
      <p:ext uri="{BB962C8B-B14F-4D97-AF65-F5344CB8AC3E}">
        <p14:creationId xmlns:p14="http://schemas.microsoft.com/office/powerpoint/2010/main" val="1075143374"/>
      </p:ext>
    </p:extLst>
  </p:cSld>
</p:sld>
</file>

<file path=ppt/slides/slide12.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698AA113-E496-435C-A89C-F4ECCF1E44AE}"/>
              </a:ext>
            </a:extLst>
          </p:cNvPr>
          <p:cNvCxnSpPr>
            <a:stCxn xmlns:a="http://schemas.openxmlformats.org/drawingml/2006/main" id="8" idx="3"/>
            <a:endCxn xmlns:a="http://schemas.openxmlformats.org/drawingml/2006/main" id="11" idx="1"/>
          </p:cNvCxnSpPr>
          <p:nvPr/>
        </p:nvCxnSpPr>
        <p:spPr>
          <a:xfrm xmlns:a="http://schemas.openxmlformats.org/drawingml/2006/main" flipV="1">
            <a:off x="7219950" y="4124325"/>
            <a:ext cx="1819275" cy="923925"/>
          </a:xfrm>
          <a:prstGeom xmlns:a="http://schemas.openxmlformats.org/drawingml/2006/main" prst="bentConnector3">
            <a:avLst>
              <a:gd name="adj1" fmla="val 50000"/>
            </a:avLst>
          </a:prstGeom>
          <a:ln xmlns:a="http://schemas.openxmlformats.org/drawingml/2006/main" w="28575">
            <a:solidFill>
              <a:srgbClr val="067E96"/>
            </a:solidFill>
            <a:tailEnd type="triangle" w="med" len="med"/>
          </a:ln>
        </p:spPr>
      </p:cxnSp>
      <p:cxnSp>
        <p:nvCxnSpPr>
          <p:cNvPr id="16" name="">
            <a:extLst xmlns:a="http://schemas.openxmlformats.org/drawingml/2006/main">
              <a:ext uri="{FF2B5EF4-FFF2-40B4-BE49-F238E27FC236}">
                <a16:creationId xmlns:a16="http://schemas.microsoft.com/office/drawing/2014/main" id="{BDB5BC8E-7F0C-4796-95AF-4CF6F04538E2}"/>
              </a:ext>
            </a:extLst>
          </p:cNvPr>
          <p:cNvCxnSpPr>
            <a:stCxn xmlns:a="http://schemas.openxmlformats.org/drawingml/2006/main" id="5" idx="3"/>
            <a:endCxn xmlns:a="http://schemas.openxmlformats.org/drawingml/2006/main" id="11" idx="1"/>
          </p:cNvCxnSpPr>
          <p:nvPr/>
        </p:nvCxnSpPr>
        <p:spPr>
          <a:xfrm xmlns:a="http://schemas.openxmlformats.org/drawingml/2006/main">
            <a:off x="7219950" y="3267075"/>
            <a:ext cx="1819275" cy="857250"/>
          </a:xfrm>
          <a:prstGeom xmlns:a="http://schemas.openxmlformats.org/drawingml/2006/main" prst="bentConnector3">
            <a:avLst>
              <a:gd name="adj1" fmla="val 50000"/>
            </a:avLst>
          </a:prstGeom>
          <a:ln xmlns:a="http://schemas.openxmlformats.org/drawingml/2006/main" w="28575">
            <a:solidFill>
              <a:srgbClr val="7041B9"/>
            </a:solidFill>
            <a:tailEnd type="triangle" w="med" len="med"/>
          </a:ln>
        </p:spPr>
      </p:cxnSp>
      <p:cxnSp>
        <p:nvCxnSpPr>
          <p:cNvPr id="15" name="">
            <a:extLst xmlns:a="http://schemas.openxmlformats.org/drawingml/2006/main">
              <a:ext uri="{FF2B5EF4-FFF2-40B4-BE49-F238E27FC236}">
                <a16:creationId xmlns:a16="http://schemas.microsoft.com/office/drawing/2014/main" id="{B22A6D53-BF48-463E-9EEA-1BDF181A5286}"/>
              </a:ext>
            </a:extLst>
          </p:cNvPr>
          <p:cNvCxnSpPr>
            <a:stCxn xmlns:a="http://schemas.openxmlformats.org/drawingml/2006/main" id="3" idx="3"/>
            <a:endCxn xmlns:a="http://schemas.openxmlformats.org/drawingml/2006/main" id="8" idx="1"/>
          </p:cNvCxnSpPr>
          <p:nvPr/>
        </p:nvCxnSpPr>
        <p:spPr>
          <a:xfrm xmlns:a="http://schemas.openxmlformats.org/drawingml/2006/main">
            <a:off x="3400425" y="4124325"/>
            <a:ext cx="962025" cy="923925"/>
          </a:xfrm>
          <a:prstGeom xmlns:a="http://schemas.openxmlformats.org/drawingml/2006/main" prst="bentConnector3">
            <a:avLst>
              <a:gd name="adj1" fmla="val 50000"/>
            </a:avLst>
          </a:prstGeom>
          <a:ln xmlns:a="http://schemas.openxmlformats.org/drawingml/2006/main" w="28575">
            <a:solidFill>
              <a:srgbClr val="2447A6"/>
            </a:solidFill>
            <a:tailEnd type="triangle" w="med" len="med"/>
          </a:ln>
        </p:spPr>
      </p:cxnSp>
      <p:cxnSp>
        <p:nvCxnSpPr>
          <p:cNvPr id="14" name="">
            <a:extLst xmlns:a="http://schemas.openxmlformats.org/drawingml/2006/main">
              <a:ext uri="{FF2B5EF4-FFF2-40B4-BE49-F238E27FC236}">
                <a16:creationId xmlns:a16="http://schemas.microsoft.com/office/drawing/2014/main" id="{C2339676-2BC8-4CE3-AFFA-BCE5F2C889B1}"/>
              </a:ext>
            </a:extLst>
          </p:cNvPr>
          <p:cNvCxnSpPr>
            <a:stCxn xmlns:a="http://schemas.openxmlformats.org/drawingml/2006/main" id="3" idx="3"/>
            <a:endCxn xmlns:a="http://schemas.openxmlformats.org/drawingml/2006/main" id="5" idx="1"/>
          </p:cNvCxnSpPr>
          <p:nvPr/>
        </p:nvCxnSpPr>
        <p:spPr>
          <a:xfrm xmlns:a="http://schemas.openxmlformats.org/drawingml/2006/main" flipV="1">
            <a:off x="3400425" y="3267075"/>
            <a:ext cx="962025" cy="857250"/>
          </a:xfrm>
          <a:prstGeom xmlns:a="http://schemas.openxmlformats.org/drawingml/2006/main" prst="bentConnector3">
            <a:avLst>
              <a:gd name="adj1" fmla="val 50000"/>
            </a:avLst>
          </a:prstGeom>
          <a:ln xmlns:a="http://schemas.openxmlformats.org/drawingml/2006/main" w="28575">
            <a:solidFill>
              <a:srgbClr val="2447A6"/>
            </a:solidFill>
            <a:tailEnd type="triangle" w="med" len="med"/>
          </a:ln>
        </p:spPr>
      </p:cxnSp>
      <p:sp>
        <p:nvSpPr>
          <p:cNvPr id="21" name="">
            <a:extLst xmlns:a="http://schemas.openxmlformats.org/drawingml/2006/main">
              <a:ext uri="{FF2B5EF4-FFF2-40B4-BE49-F238E27FC236}">
                <a16:creationId xmlns:a16="http://schemas.microsoft.com/office/drawing/2014/main" id="{FBF59C52-C7F9-4584-8215-CF016B82135D}"/>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defRPr sz="3300" b="1">
                <a:solidFill>
                  <a:srgbClr val="122442"/>
                </a:solidFill>
                <a:latin typeface="Arial"/>
                <a:ea typeface="Arial"/>
                <a:cs typeface="Arial"/>
              </a:defRPr>
            </a:pPr>
            <a:r>
              <a:rPr sz="3300" b="1">
                <a:solidFill>
                  <a:srgbClr val="122442"/>
                </a:solidFill>
                <a:latin typeface="Arial"/>
                <a:ea typeface="Arial"/>
                <a:cs typeface="Arial"/>
              </a:rPr>
              <a:t>SDD и тестовете вървят ръка за ръка</a:t>
            </a:r>
          </a:p>
        </p:txBody>
      </p:sp>
      <p:sp>
        <p:nvSpPr>
          <p:cNvPr id="2" name="">
            <a:extLst xmlns:a="http://schemas.openxmlformats.org/drawingml/2006/main">
              <a:ext uri="{FF2B5EF4-FFF2-40B4-BE49-F238E27FC236}">
                <a16:creationId xmlns:a16="http://schemas.microsoft.com/office/drawing/2014/main" id="{FD477E1E-1554-4A5E-8D2E-4A25FF418CFC}"/>
              </a:ext>
            </a:extLst>
          </p:cNvPr>
          <p:cNvSpPr>
            <a:spLocks xmlns:a="http://schemas.openxmlformats.org/drawingml/2006/main" noGrp="1"/>
          </p:cNvSpPr>
          <p:nvPr/>
        </p:nvSpPr>
        <p:spPr>
          <a:xfrm xmlns:a="http://schemas.openxmlformats.org/drawingml/2006/main">
            <a:off x="685800" y="1571625"/>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447A6"/>
                </a:solidFill>
                <a:latin typeface="Arial"/>
                <a:ea typeface="Arial"/>
                <a:cs typeface="Arial"/>
              </a:defRPr>
            </a:defPPr>
          </a:lstStyle>
          <a:p xmlns:a="http://schemas.openxmlformats.org/drawingml/2006/main">
            <a:pPr>
              <a:defRPr sz="2400" b="1">
                <a:solidFill>
                  <a:srgbClr val="2447A6"/>
                </a:solidFill>
                <a:latin typeface="Arial"/>
                <a:ea typeface="Arial"/>
                <a:cs typeface="Arial"/>
              </a:defRPr>
            </a:pPr>
            <a:r>
              <a:rPr sz="2400" b="1">
                <a:solidFill>
                  <a:srgbClr val="2447A6"/>
                </a:solidFill>
                <a:latin typeface="Arial"/>
                <a:ea typeface="Arial"/>
                <a:cs typeface="Arial"/>
              </a:rPr>
              <a:t>В спецификацията описваме какво искаме.</a:t>
            </a:r>
          </a:p>
          <a:p xmlns:a="http://schemas.openxmlformats.org/drawingml/2006/main">
            <a:pPr>
              <a:defRPr sz="2400" b="1">
                <a:solidFill>
                  <a:srgbClr val="2447A6"/>
                </a:solidFill>
                <a:latin typeface="Arial"/>
                <a:ea typeface="Arial"/>
                <a:cs typeface="Arial"/>
              </a:defRPr>
            </a:pPr>
            <a:r>
              <a:rPr sz="2400" b="1">
                <a:solidFill>
                  <a:srgbClr val="2447A6"/>
                </a:solidFill>
                <a:latin typeface="Arial"/>
                <a:ea typeface="Arial"/>
                <a:cs typeface="Arial"/>
              </a:rPr>
              <a:t>С тестовете проверяваме дали приложението го прави.</a:t>
            </a:r>
          </a:p>
        </p:txBody>
      </p:sp>
      <p:sp>
        <p:nvSpPr>
          <p:cNvPr id="3" name="">
            <a:extLst xmlns:a="http://schemas.openxmlformats.org/drawingml/2006/main">
              <a:ext uri="{FF2B5EF4-FFF2-40B4-BE49-F238E27FC236}">
                <a16:creationId xmlns:a16="http://schemas.microsoft.com/office/drawing/2014/main" id="{1D0156B8-8885-4BA4-90ED-AB5DE9BD4DC8}"/>
              </a:ext>
            </a:extLst>
          </p:cNvPr>
          <p:cNvSpPr>
            <a:spLocks xmlns:a="http://schemas.openxmlformats.org/drawingml/2006/main" noGrp="1"/>
          </p:cNvSpPr>
          <p:nvPr/>
        </p:nvSpPr>
        <p:spPr>
          <a:xfrm xmlns:a="http://schemas.openxmlformats.org/drawingml/2006/main">
            <a:off x="685800" y="3609975"/>
            <a:ext cx="2714625" cy="1028700"/>
          </a:xfrm>
          <a:prstGeom xmlns:a="http://schemas.openxmlformats.org/drawingml/2006/main" prst="roundRect">
            <a:avLst>
              <a:gd name="adj" fmla="val 14815"/>
            </a:avLst>
          </a:prstGeom>
          <a:solidFill xmlns:a="http://schemas.openxmlformats.org/drawingml/2006/main">
            <a:srgbClr val="2447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A3AE989-EE11-4FC9-9D32-9C9E40D9C1C8}"/>
              </a:ext>
            </a:extLst>
          </p:cNvPr>
          <p:cNvSpPr>
            <a:spLocks xmlns:a="http://schemas.openxmlformats.org/drawingml/2006/main" noGrp="1"/>
          </p:cNvSpPr>
          <p:nvPr/>
        </p:nvSpPr>
        <p:spPr>
          <a:xfrm xmlns:a="http://schemas.openxmlformats.org/drawingml/2006/main">
            <a:off x="857250" y="3771900"/>
            <a:ext cx="23717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Какво искаме</a:t>
            </a:r>
          </a:p>
        </p:txBody>
      </p:sp>
      <p:sp>
        <p:nvSpPr>
          <p:cNvPr id="5" name="">
            <a:extLst xmlns:a="http://schemas.openxmlformats.org/drawingml/2006/main">
              <a:ext uri="{FF2B5EF4-FFF2-40B4-BE49-F238E27FC236}">
                <a16:creationId xmlns:a16="http://schemas.microsoft.com/office/drawing/2014/main" id="{F66194D5-4A43-434A-8317-C063ED5C1D2A}"/>
              </a:ext>
            </a:extLst>
          </p:cNvPr>
          <p:cNvSpPr>
            <a:spLocks xmlns:a="http://schemas.openxmlformats.org/drawingml/2006/main" noGrp="1"/>
          </p:cNvSpPr>
          <p:nvPr/>
        </p:nvSpPr>
        <p:spPr>
          <a:xfrm xmlns:a="http://schemas.openxmlformats.org/drawingml/2006/main">
            <a:off x="4362450" y="2752725"/>
            <a:ext cx="2857500" cy="1028700"/>
          </a:xfrm>
          <a:prstGeom xmlns:a="http://schemas.openxmlformats.org/drawingml/2006/main" prst="roundRect">
            <a:avLst>
              <a:gd name="adj" fmla="val 14815"/>
            </a:avLst>
          </a:prstGeom>
          <a:solidFill xmlns:a="http://schemas.openxmlformats.org/drawingml/2006/main">
            <a:srgbClr val="7041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364EE36-524B-448D-902F-92D37BFFF413}"/>
              </a:ext>
            </a:extLst>
          </p:cNvPr>
          <p:cNvSpPr>
            <a:spLocks xmlns:a="http://schemas.openxmlformats.org/drawingml/2006/main" noGrp="1"/>
          </p:cNvSpPr>
          <p:nvPr/>
        </p:nvSpPr>
        <p:spPr>
          <a:xfrm xmlns:a="http://schemas.openxmlformats.org/drawingml/2006/main">
            <a:off x="4533900" y="2895600"/>
            <a:ext cx="251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Приложение</a:t>
            </a:r>
          </a:p>
        </p:txBody>
      </p:sp>
      <p:sp>
        <p:nvSpPr>
          <p:cNvPr id="7" name="">
            <a:extLst xmlns:a="http://schemas.openxmlformats.org/drawingml/2006/main">
              <a:ext uri="{FF2B5EF4-FFF2-40B4-BE49-F238E27FC236}">
                <a16:creationId xmlns:a16="http://schemas.microsoft.com/office/drawing/2014/main" id="{471682FB-46E1-405C-8FDC-62C5F6A72936}"/>
              </a:ext>
            </a:extLst>
          </p:cNvPr>
          <p:cNvSpPr>
            <a:spLocks xmlns:a="http://schemas.openxmlformats.org/drawingml/2006/main" noGrp="1"/>
          </p:cNvSpPr>
          <p:nvPr/>
        </p:nvSpPr>
        <p:spPr>
          <a:xfrm xmlns:a="http://schemas.openxmlformats.org/drawingml/2006/main">
            <a:off x="4533900" y="334327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Какво се случва</a:t>
            </a:r>
          </a:p>
        </p:txBody>
      </p:sp>
      <p:sp>
        <p:nvSpPr>
          <p:cNvPr id="8" name="">
            <a:extLst xmlns:a="http://schemas.openxmlformats.org/drawingml/2006/main">
              <a:ext uri="{FF2B5EF4-FFF2-40B4-BE49-F238E27FC236}">
                <a16:creationId xmlns:a16="http://schemas.microsoft.com/office/drawing/2014/main" id="{5662AD62-FC66-4055-8DF2-AD9CAABDFA91}"/>
              </a:ext>
            </a:extLst>
          </p:cNvPr>
          <p:cNvSpPr>
            <a:spLocks xmlns:a="http://schemas.openxmlformats.org/drawingml/2006/main" noGrp="1"/>
          </p:cNvSpPr>
          <p:nvPr/>
        </p:nvSpPr>
        <p:spPr>
          <a:xfrm xmlns:a="http://schemas.openxmlformats.org/drawingml/2006/main">
            <a:off x="4362450" y="4533900"/>
            <a:ext cx="2857500" cy="1028700"/>
          </a:xfrm>
          <a:prstGeom xmlns:a="http://schemas.openxmlformats.org/drawingml/2006/main" prst="roundRect">
            <a:avLst>
              <a:gd name="adj" fmla="val 14815"/>
            </a:avLst>
          </a:prstGeom>
          <a:solidFill xmlns:a="http://schemas.openxmlformats.org/drawingml/2006/main">
            <a:srgbClr val="067E9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44F5B6E-770B-4DD8-B3A9-B8C3F4CF7E94}"/>
              </a:ext>
            </a:extLst>
          </p:cNvPr>
          <p:cNvSpPr>
            <a:spLocks xmlns:a="http://schemas.openxmlformats.org/drawingml/2006/main" noGrp="1"/>
          </p:cNvSpPr>
          <p:nvPr/>
        </p:nvSpPr>
        <p:spPr>
          <a:xfrm xmlns:a="http://schemas.openxmlformats.org/drawingml/2006/main">
            <a:off x="4533900" y="4676775"/>
            <a:ext cx="251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Тестове</a:t>
            </a:r>
          </a:p>
        </p:txBody>
      </p:sp>
      <p:sp>
        <p:nvSpPr>
          <p:cNvPr id="10" name="">
            <a:extLst xmlns:a="http://schemas.openxmlformats.org/drawingml/2006/main">
              <a:ext uri="{FF2B5EF4-FFF2-40B4-BE49-F238E27FC236}">
                <a16:creationId xmlns:a16="http://schemas.microsoft.com/office/drawing/2014/main" id="{762A8333-55AA-4936-A63C-A5E287E2AD24}"/>
              </a:ext>
            </a:extLst>
          </p:cNvPr>
          <p:cNvSpPr>
            <a:spLocks xmlns:a="http://schemas.openxmlformats.org/drawingml/2006/main" noGrp="1"/>
          </p:cNvSpPr>
          <p:nvPr/>
        </p:nvSpPr>
        <p:spPr>
          <a:xfrm xmlns:a="http://schemas.openxmlformats.org/drawingml/2006/main">
            <a:off x="4533900" y="512445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Какво очакваме</a:t>
            </a:r>
          </a:p>
        </p:txBody>
      </p:sp>
      <p:sp>
        <p:nvSpPr>
          <p:cNvPr id="11" name="">
            <a:extLst xmlns:a="http://schemas.openxmlformats.org/drawingml/2006/main">
              <a:ext uri="{FF2B5EF4-FFF2-40B4-BE49-F238E27FC236}">
                <a16:creationId xmlns:a16="http://schemas.microsoft.com/office/drawing/2014/main" id="{BF6336E3-3D5B-47B3-AEA3-B399798A6783}"/>
              </a:ext>
            </a:extLst>
          </p:cNvPr>
          <p:cNvSpPr>
            <a:spLocks xmlns:a="http://schemas.openxmlformats.org/drawingml/2006/main" noGrp="1"/>
          </p:cNvSpPr>
          <p:nvPr/>
        </p:nvSpPr>
        <p:spPr>
          <a:xfrm xmlns:a="http://schemas.openxmlformats.org/drawingml/2006/main">
            <a:off x="9039225" y="3609975"/>
            <a:ext cx="2466975" cy="1028700"/>
          </a:xfrm>
          <a:prstGeom xmlns:a="http://schemas.openxmlformats.org/drawingml/2006/main" prst="roundRect">
            <a:avLst>
              <a:gd name="adj" fmla="val 14815"/>
            </a:avLst>
          </a:prstGeom>
          <a:solidFill xmlns:a="http://schemas.openxmlformats.org/drawingml/2006/main">
            <a:srgbClr val="13795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BFD2B9C-7A65-4E7C-B1D6-D460C69CE34C}"/>
              </a:ext>
            </a:extLst>
          </p:cNvPr>
          <p:cNvSpPr>
            <a:spLocks xmlns:a="http://schemas.openxmlformats.org/drawingml/2006/main" noGrp="1"/>
          </p:cNvSpPr>
          <p:nvPr/>
        </p:nvSpPr>
        <p:spPr>
          <a:xfrm xmlns:a="http://schemas.openxmlformats.org/drawingml/2006/main">
            <a:off x="9210675" y="3752850"/>
            <a:ext cx="2124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Проверка</a:t>
            </a:r>
          </a:p>
        </p:txBody>
      </p:sp>
      <p:sp>
        <p:nvSpPr>
          <p:cNvPr id="13" name="">
            <a:extLst xmlns:a="http://schemas.openxmlformats.org/drawingml/2006/main">
              <a:ext uri="{FF2B5EF4-FFF2-40B4-BE49-F238E27FC236}">
                <a16:creationId xmlns:a16="http://schemas.microsoft.com/office/drawing/2014/main" id="{238F1D13-67EA-4B9F-A3A9-BAB79557DD3D}"/>
              </a:ext>
            </a:extLst>
          </p:cNvPr>
          <p:cNvSpPr>
            <a:spLocks xmlns:a="http://schemas.openxmlformats.org/drawingml/2006/main" noGrp="1"/>
          </p:cNvSpPr>
          <p:nvPr/>
        </p:nvSpPr>
        <p:spPr>
          <a:xfrm xmlns:a="http://schemas.openxmlformats.org/drawingml/2006/main">
            <a:off x="9210675" y="4200525"/>
            <a:ext cx="2124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Съвпадат ли?</a:t>
            </a:r>
          </a:p>
        </p:txBody>
      </p:sp>
      <p:sp>
        <p:nvSpPr>
          <p:cNvPr id="18" name="">
            <a:extLst xmlns:a="http://schemas.openxmlformats.org/drawingml/2006/main">
              <a:ext uri="{FF2B5EF4-FFF2-40B4-BE49-F238E27FC236}">
                <a16:creationId xmlns:a16="http://schemas.microsoft.com/office/drawing/2014/main" id="{840FB793-F539-4AEA-AFB2-887D91209D48}"/>
              </a:ext>
            </a:extLst>
          </p:cNvPr>
          <p:cNvSpPr>
            <a:spLocks xmlns:a="http://schemas.openxmlformats.org/drawingml/2006/main" noGrp="1"/>
          </p:cNvSpPr>
          <p:nvPr/>
        </p:nvSpPr>
        <p:spPr>
          <a:xfrm xmlns:a="http://schemas.openxmlformats.org/drawingml/2006/main">
            <a:off x="685800" y="5819775"/>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447A6"/>
                </a:solidFill>
                <a:latin typeface="Arial"/>
                <a:ea typeface="Arial"/>
                <a:cs typeface="Arial"/>
              </a:defRPr>
            </a:defPPr>
          </a:lstStyle>
          <a:p xmlns:a="http://schemas.openxmlformats.org/drawingml/2006/main">
            <a:pPr>
              <a:defRPr sz="2025" b="1">
                <a:solidFill>
                  <a:srgbClr val="2447A6"/>
                </a:solidFill>
                <a:latin typeface="Arial"/>
                <a:ea typeface="Arial"/>
                <a:cs typeface="Arial"/>
              </a:defRPr>
            </a:pPr>
            <a:r>
              <a:rPr sz="2025" b="1">
                <a:solidFill>
                  <a:srgbClr val="2447A6"/>
                </a:solidFill>
                <a:latin typeface="Arial"/>
                <a:ea typeface="Arial"/>
                <a:cs typeface="Arial"/>
              </a:rPr>
              <a:t>Проверяваме дали работи и с правилни, и с грешни данни.</a:t>
            </a:r>
          </a:p>
        </p:txBody>
      </p:sp>
      <p:sp>
        <p:nvSpPr>
          <p:cNvPr id="19" name="">
            <a:extLst xmlns:a="http://schemas.openxmlformats.org/drawingml/2006/main">
              <a:ext uri="{FF2B5EF4-FFF2-40B4-BE49-F238E27FC236}">
                <a16:creationId xmlns:a16="http://schemas.microsoft.com/office/drawing/2014/main" id="{795C2E7A-3B02-4496-996C-3A7C3E35769D}"/>
              </a:ext>
            </a:extLst>
          </p:cNvPr>
          <p:cNvSpPr>
            <a:spLocks xmlns:a="http://schemas.openxmlformats.org/drawingml/2006/main" noGrp="1"/>
          </p:cNvSpPr>
          <p:nvPr/>
        </p:nvSpPr>
        <p:spPr>
          <a:xfrm xmlns:a="http://schemas.openxmlformats.org/drawingml/2006/main">
            <a:off x="685800" y="625792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D5C74"/>
                </a:solidFill>
                <a:latin typeface="Arial"/>
                <a:ea typeface="Arial"/>
                <a:cs typeface="Arial"/>
              </a:defRPr>
            </a:defPPr>
          </a:lstStyle>
          <a:p xmlns:a="http://schemas.openxmlformats.org/drawingml/2006/main">
            <a:pPr>
              <a:defRPr sz="1650" b="0">
                <a:solidFill>
                  <a:srgbClr val="4D5C74"/>
                </a:solidFill>
                <a:latin typeface="Arial"/>
                <a:ea typeface="Arial"/>
                <a:cs typeface="Arial"/>
              </a:defRPr>
            </a:pPr>
            <a:r>
              <a:rPr sz="1650" b="0">
                <a:solidFill>
                  <a:srgbClr val="4D5C74"/>
                </a:solidFill>
                <a:latin typeface="Arial"/>
                <a:ea typeface="Arial"/>
                <a:cs typeface="Arial"/>
              </a:rPr>
              <a:t>Успешните тестове не означават, че сме проверили всички възможни случаи.</a:t>
            </a:r>
          </a:p>
        </p:txBody>
      </p:sp>
      <p:sp>
        <p:nvSpPr>
          <p:cNvPr id="20" name="">
            <a:extLst xmlns:a="http://schemas.openxmlformats.org/drawingml/2006/main">
              <a:ext uri="{FF2B5EF4-FFF2-40B4-BE49-F238E27FC236}">
                <a16:creationId xmlns:a16="http://schemas.microsoft.com/office/drawing/2014/main" id="{1BD615D7-1BF8-4072-9D15-59DC43723958}"/>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defRPr sz="1275" b="0">
                <a:solidFill>
                  <a:srgbClr val="4D5C74"/>
                </a:solidFill>
                <a:latin typeface="Arial"/>
                <a:ea typeface="Arial"/>
                <a:cs typeface="Arial"/>
              </a:defRPr>
            </a:pPr>
            <a:r>
              <a:rPr sz="1275" b="0">
                <a:solidFill>
                  <a:srgbClr val="4D5C74"/>
                </a:solidFill>
                <a:latin typeface="Arial"/>
                <a:ea typeface="Arial"/>
                <a:cs typeface="Arial"/>
              </a:rPr>
              <a:t>12</a:t>
            </a:r>
          </a:p>
        </p:txBody>
      </p:sp>
    </p:spTree>
    <p:extLst>
      <p:ext uri="{BB962C8B-B14F-4D97-AF65-F5344CB8AC3E}">
        <p14:creationId xmlns:p14="http://schemas.microsoft.com/office/powerpoint/2010/main" val="437672864"/>
      </p:ext>
    </p:extLst>
  </p:cSld>
</p:sld>
</file>

<file path=ppt/slides/slide13.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B6EFDA76-B5FB-46F4-8CCC-BC84E993948F}"/>
              </a:ext>
            </a:extLst>
          </p:cNvPr>
          <p:cNvCxnSpPr>
            <a:stCxn xmlns:a="http://schemas.openxmlformats.org/drawingml/2006/main" id="5" idx="3"/>
            <a:endCxn xmlns:a="http://schemas.openxmlformats.org/drawingml/2006/main" id="7" idx="1"/>
          </p:cNvCxnSpPr>
          <p:nvPr/>
        </p:nvCxnSpPr>
        <p:spPr>
          <a:xfrm xmlns:a="http://schemas.openxmlformats.org/drawingml/2006/main">
            <a:off x="7667625" y="3181350"/>
            <a:ext cx="695325" cy="0"/>
          </a:xfrm>
          <a:prstGeom xmlns:a="http://schemas.openxmlformats.org/drawingml/2006/main" prst="straightConnector1">
            <a:avLst/>
          </a:prstGeom>
          <a:ln xmlns:a="http://schemas.openxmlformats.org/drawingml/2006/main" w="28575">
            <a:solidFill>
              <a:srgbClr val="2447A6"/>
            </a:solidFill>
            <a:tailEnd type="triangle" w="med" len="med"/>
          </a:ln>
        </p:spPr>
      </p:cxnSp>
      <p:cxnSp>
        <p:nvCxnSpPr>
          <p:cNvPr id="9" name="">
            <a:extLst xmlns:a="http://schemas.openxmlformats.org/drawingml/2006/main">
              <a:ext uri="{FF2B5EF4-FFF2-40B4-BE49-F238E27FC236}">
                <a16:creationId xmlns:a16="http://schemas.microsoft.com/office/drawing/2014/main" id="{59C85BD9-09A4-4D31-A8A4-921A26C3F83A}"/>
              </a:ext>
            </a:extLst>
          </p:cNvPr>
          <p:cNvCxnSpPr>
            <a:stCxn xmlns:a="http://schemas.openxmlformats.org/drawingml/2006/main" id="3" idx="3"/>
            <a:endCxn xmlns:a="http://schemas.openxmlformats.org/drawingml/2006/main" id="5" idx="1"/>
          </p:cNvCxnSpPr>
          <p:nvPr/>
        </p:nvCxnSpPr>
        <p:spPr>
          <a:xfrm xmlns:a="http://schemas.openxmlformats.org/drawingml/2006/main">
            <a:off x="3829050" y="3181350"/>
            <a:ext cx="695325" cy="0"/>
          </a:xfrm>
          <a:prstGeom xmlns:a="http://schemas.openxmlformats.org/drawingml/2006/main" prst="straightConnector1">
            <a:avLst/>
          </a:prstGeom>
          <a:ln xmlns:a="http://schemas.openxmlformats.org/drawingml/2006/main" w="28575">
            <a:solidFill>
              <a:srgbClr val="2447A6"/>
            </a:solidFill>
            <a:tailEnd type="triangle" w="med" len="med"/>
          </a:ln>
        </p:spPr>
      </p:cxnSp>
      <p:sp>
        <p:nvSpPr>
          <p:cNvPr id="17" name="">
            <a:extLst xmlns:a="http://schemas.openxmlformats.org/drawingml/2006/main">
              <a:ext uri="{FF2B5EF4-FFF2-40B4-BE49-F238E27FC236}">
                <a16:creationId xmlns:a16="http://schemas.microsoft.com/office/drawing/2014/main" id="{CEF116F0-0116-495C-AC6F-7DC547D8E59C}"/>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defRPr sz="3300" b="1">
                <a:solidFill>
                  <a:srgbClr val="122442"/>
                </a:solidFill>
                <a:latin typeface="Arial"/>
                <a:ea typeface="Arial"/>
                <a:cs typeface="Arial"/>
              </a:defRPr>
            </a:pPr>
            <a:r>
              <a:rPr sz="3300" b="1">
                <a:solidFill>
                  <a:srgbClr val="122442"/>
                </a:solidFill>
                <a:latin typeface="Arial"/>
                <a:ea typeface="Arial"/>
                <a:cs typeface="Arial"/>
              </a:rPr>
              <a:t>Evals, Evals, Evals...</a:t>
            </a:r>
          </a:p>
        </p:txBody>
      </p:sp>
      <p:sp>
        <p:nvSpPr>
          <p:cNvPr id="2" name="">
            <a:extLst xmlns:a="http://schemas.openxmlformats.org/drawingml/2006/main">
              <a:ext uri="{FF2B5EF4-FFF2-40B4-BE49-F238E27FC236}">
                <a16:creationId xmlns:a16="http://schemas.microsoft.com/office/drawing/2014/main" id="{A122C1BC-BC3C-4FC7-AFD2-BBB8F816827B}"/>
              </a:ext>
            </a:extLst>
          </p:cNvPr>
          <p:cNvSpPr>
            <a:spLocks xmlns:a="http://schemas.openxmlformats.org/drawingml/2006/main" noGrp="1"/>
          </p:cNvSpPr>
          <p:nvPr/>
        </p:nvSpPr>
        <p:spPr>
          <a:xfrm xmlns:a="http://schemas.openxmlformats.org/drawingml/2006/main">
            <a:off x="685800" y="15621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447A6"/>
                </a:solidFill>
                <a:latin typeface="Arial"/>
                <a:ea typeface="Arial"/>
                <a:cs typeface="Arial"/>
              </a:defRPr>
            </a:defPPr>
          </a:lstStyle>
          <a:p xmlns:a="http://schemas.openxmlformats.org/drawingml/2006/main">
            <a:pPr>
              <a:defRPr sz="2250" b="1">
                <a:solidFill>
                  <a:srgbClr val="2447A6"/>
                </a:solidFill>
                <a:latin typeface="Arial"/>
                <a:ea typeface="Arial"/>
                <a:cs typeface="Arial"/>
              </a:defRPr>
            </a:pPr>
            <a:r>
              <a:rPr sz="2250" b="1">
                <a:solidFill>
                  <a:srgbClr val="2447A6"/>
                </a:solidFill>
                <a:latin typeface="Arial"/>
                <a:ea typeface="Arial"/>
                <a:cs typeface="Arial"/>
              </a:rPr>
              <a:t>Unit тестовете проверяват приложението.</a:t>
            </a:r>
          </a:p>
          <a:p xmlns:a="http://schemas.openxmlformats.org/drawingml/2006/main">
            <a:pPr>
              <a:defRPr sz="2250" b="1">
                <a:solidFill>
                  <a:srgbClr val="2447A6"/>
                </a:solidFill>
                <a:latin typeface="Arial"/>
                <a:ea typeface="Arial"/>
                <a:cs typeface="Arial"/>
              </a:defRPr>
            </a:pPr>
            <a:r>
              <a:rPr sz="2250" b="1">
                <a:solidFill>
                  <a:srgbClr val="2447A6"/>
                </a:solidFill>
                <a:latin typeface="Arial"/>
                <a:ea typeface="Arial"/>
                <a:cs typeface="Arial"/>
              </a:rPr>
              <a:t>Evals проверяват дали агентът и skills се справят със задачите.</a:t>
            </a:r>
          </a:p>
        </p:txBody>
      </p:sp>
      <p:sp>
        <p:nvSpPr>
          <p:cNvPr id="3" name="">
            <a:extLst xmlns:a="http://schemas.openxmlformats.org/drawingml/2006/main">
              <a:ext uri="{FF2B5EF4-FFF2-40B4-BE49-F238E27FC236}">
                <a16:creationId xmlns:a16="http://schemas.microsoft.com/office/drawing/2014/main" id="{2270DBC2-66D5-4108-9E33-2DE7AD76D70A}"/>
              </a:ext>
            </a:extLst>
          </p:cNvPr>
          <p:cNvSpPr>
            <a:spLocks xmlns:a="http://schemas.openxmlformats.org/drawingml/2006/main" noGrp="1"/>
          </p:cNvSpPr>
          <p:nvPr/>
        </p:nvSpPr>
        <p:spPr>
          <a:xfrm xmlns:a="http://schemas.openxmlformats.org/drawingml/2006/main">
            <a:off x="685800" y="2733675"/>
            <a:ext cx="3143250" cy="895350"/>
          </a:xfrm>
          <a:prstGeom xmlns:a="http://schemas.openxmlformats.org/drawingml/2006/main" prst="roundRect">
            <a:avLst>
              <a:gd name="adj" fmla="val 17021"/>
            </a:avLst>
          </a:prstGeom>
          <a:solidFill xmlns:a="http://schemas.openxmlformats.org/drawingml/2006/main">
            <a:srgbClr val="2447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A185F25-F19C-4751-9AAD-58EAA3ED100B}"/>
              </a:ext>
            </a:extLst>
          </p:cNvPr>
          <p:cNvSpPr>
            <a:spLocks xmlns:a="http://schemas.openxmlformats.org/drawingml/2006/main" noGrp="1"/>
          </p:cNvSpPr>
          <p:nvPr/>
        </p:nvSpPr>
        <p:spPr>
          <a:xfrm xmlns:a="http://schemas.openxmlformats.org/drawingml/2006/main">
            <a:off x="857250" y="2895600"/>
            <a:ext cx="2800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Реални задачи</a:t>
            </a:r>
          </a:p>
        </p:txBody>
      </p:sp>
      <p:sp>
        <p:nvSpPr>
          <p:cNvPr id="5" name="">
            <a:extLst xmlns:a="http://schemas.openxmlformats.org/drawingml/2006/main">
              <a:ext uri="{FF2B5EF4-FFF2-40B4-BE49-F238E27FC236}">
                <a16:creationId xmlns:a16="http://schemas.microsoft.com/office/drawing/2014/main" id="{F9DD7544-660A-43FB-B9B9-73627B688E0F}"/>
              </a:ext>
            </a:extLst>
          </p:cNvPr>
          <p:cNvSpPr>
            <a:spLocks xmlns:a="http://schemas.openxmlformats.org/drawingml/2006/main" noGrp="1"/>
          </p:cNvSpPr>
          <p:nvPr/>
        </p:nvSpPr>
        <p:spPr>
          <a:xfrm xmlns:a="http://schemas.openxmlformats.org/drawingml/2006/main">
            <a:off x="4524375" y="2733675"/>
            <a:ext cx="3143250" cy="895350"/>
          </a:xfrm>
          <a:prstGeom xmlns:a="http://schemas.openxmlformats.org/drawingml/2006/main" prst="roundRect">
            <a:avLst>
              <a:gd name="adj" fmla="val 17021"/>
            </a:avLst>
          </a:prstGeom>
          <a:solidFill xmlns:a="http://schemas.openxmlformats.org/drawingml/2006/main">
            <a:srgbClr val="7041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60146F4-E7F7-4CFE-B1DD-FDBEDDFE7749}"/>
              </a:ext>
            </a:extLst>
          </p:cNvPr>
          <p:cNvSpPr>
            <a:spLocks xmlns:a="http://schemas.openxmlformats.org/drawingml/2006/main" noGrp="1"/>
          </p:cNvSpPr>
          <p:nvPr/>
        </p:nvSpPr>
        <p:spPr>
          <a:xfrm xmlns:a="http://schemas.openxmlformats.org/drawingml/2006/main">
            <a:off x="4695825" y="2895600"/>
            <a:ext cx="2800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Агент + skills</a:t>
            </a:r>
          </a:p>
        </p:txBody>
      </p:sp>
      <p:sp>
        <p:nvSpPr>
          <p:cNvPr id="7" name="">
            <a:extLst xmlns:a="http://schemas.openxmlformats.org/drawingml/2006/main">
              <a:ext uri="{FF2B5EF4-FFF2-40B4-BE49-F238E27FC236}">
                <a16:creationId xmlns:a16="http://schemas.microsoft.com/office/drawing/2014/main" id="{8FE7FAD8-4C78-4C04-9577-E99FEA9B9E84}"/>
              </a:ext>
            </a:extLst>
          </p:cNvPr>
          <p:cNvSpPr>
            <a:spLocks xmlns:a="http://schemas.openxmlformats.org/drawingml/2006/main" noGrp="1"/>
          </p:cNvSpPr>
          <p:nvPr/>
        </p:nvSpPr>
        <p:spPr>
          <a:xfrm xmlns:a="http://schemas.openxmlformats.org/drawingml/2006/main">
            <a:off x="8362950" y="2733675"/>
            <a:ext cx="3143250" cy="895350"/>
          </a:xfrm>
          <a:prstGeom xmlns:a="http://schemas.openxmlformats.org/drawingml/2006/main" prst="roundRect">
            <a:avLst>
              <a:gd name="adj" fmla="val 17021"/>
            </a:avLst>
          </a:prstGeom>
          <a:solidFill xmlns:a="http://schemas.openxmlformats.org/drawingml/2006/main">
            <a:srgbClr val="067E9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BA9A2F9-C151-4C07-8EB0-D4D05B18A20F}"/>
              </a:ext>
            </a:extLst>
          </p:cNvPr>
          <p:cNvSpPr>
            <a:spLocks xmlns:a="http://schemas.openxmlformats.org/drawingml/2006/main" noGrp="1"/>
          </p:cNvSpPr>
          <p:nvPr/>
        </p:nvSpPr>
        <p:spPr>
          <a:xfrm xmlns:a="http://schemas.openxmlformats.org/drawingml/2006/main">
            <a:off x="8534400" y="2895600"/>
            <a:ext cx="2800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Оценка на резултата</a:t>
            </a:r>
          </a:p>
        </p:txBody>
      </p:sp>
      <p:sp>
        <p:nvSpPr>
          <p:cNvPr id="11" name="">
            <a:extLst xmlns:a="http://schemas.openxmlformats.org/drawingml/2006/main">
              <a:ext uri="{FF2B5EF4-FFF2-40B4-BE49-F238E27FC236}">
                <a16:creationId xmlns:a16="http://schemas.microsoft.com/office/drawing/2014/main" id="{A8FC1257-10EF-4E7C-8F6C-F731615542A1}"/>
              </a:ext>
            </a:extLst>
          </p:cNvPr>
          <p:cNvSpPr>
            <a:spLocks xmlns:a="http://schemas.openxmlformats.org/drawingml/2006/main" noGrp="1"/>
          </p:cNvSpPr>
          <p:nvPr/>
        </p:nvSpPr>
        <p:spPr>
          <a:xfrm xmlns:a="http://schemas.openxmlformats.org/drawingml/2006/main">
            <a:off x="685800" y="3924300"/>
            <a:ext cx="314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22442"/>
                </a:solidFill>
                <a:latin typeface="Arial"/>
                <a:ea typeface="Arial"/>
                <a:cs typeface="Arial"/>
              </a:defRPr>
            </a:defPPr>
          </a:lstStyle>
          <a:p xmlns:a="http://schemas.openxmlformats.org/drawingml/2006/main">
            <a:pPr>
              <a:defRPr sz="1950" b="0">
                <a:solidFill>
                  <a:srgbClr val="122442"/>
                </a:solidFill>
                <a:latin typeface="Arial"/>
                <a:ea typeface="Arial"/>
                <a:cs typeface="Arial"/>
              </a:defRPr>
            </a:pPr>
            <a:r>
              <a:rPr sz="1950" b="0">
                <a:solidFill>
                  <a:srgbClr val="122442"/>
                </a:solidFill>
                <a:latin typeface="Arial"/>
                <a:ea typeface="Arial"/>
                <a:cs typeface="Arial"/>
              </a:rPr>
              <a:t>Пример: Draft spec.</a:t>
            </a:r>
          </a:p>
          <a:p xmlns:a="http://schemas.openxmlformats.org/drawingml/2006/main">
            <a:pPr>
              <a:defRPr sz="1950" b="0">
                <a:solidFill>
                  <a:srgbClr val="122442"/>
                </a:solidFill>
                <a:latin typeface="Arial"/>
                <a:ea typeface="Arial"/>
                <a:cs typeface="Arial"/>
              </a:defRPr>
            </a:pPr>
            <a:r>
              <a:rPr sz="1950" b="0">
                <a:solidFill>
                  <a:srgbClr val="122442"/>
                </a:solidFill>
                <a:latin typeface="Arial"/>
                <a:ea typeface="Arial"/>
                <a:cs typeface="Arial"/>
              </a:rPr>
              <a:t>Агентът трябва да изчака</a:t>
            </a:r>
          </a:p>
          <a:p xmlns:a="http://schemas.openxmlformats.org/drawingml/2006/main">
            <a:pPr>
              <a:defRPr sz="1950" b="0">
                <a:solidFill>
                  <a:srgbClr val="122442"/>
                </a:solidFill>
                <a:latin typeface="Arial"/>
                <a:ea typeface="Arial"/>
                <a:cs typeface="Arial"/>
              </a:defRPr>
            </a:pPr>
            <a:r>
              <a:rPr sz="1950" b="0">
                <a:solidFill>
                  <a:srgbClr val="122442"/>
                </a:solidFill>
                <a:latin typeface="Arial"/>
                <a:ea typeface="Arial"/>
                <a:cs typeface="Arial"/>
              </a:rPr>
              <a:t>човешко одобрение.</a:t>
            </a:r>
          </a:p>
        </p:txBody>
      </p:sp>
      <p:sp>
        <p:nvSpPr>
          <p:cNvPr id="12" name="">
            <a:extLst xmlns:a="http://schemas.openxmlformats.org/drawingml/2006/main">
              <a:ext uri="{FF2B5EF4-FFF2-40B4-BE49-F238E27FC236}">
                <a16:creationId xmlns:a16="http://schemas.microsoft.com/office/drawing/2014/main" id="{A8799369-437C-4C3A-A134-063D7E384352}"/>
              </a:ext>
            </a:extLst>
          </p:cNvPr>
          <p:cNvSpPr>
            <a:spLocks xmlns:a="http://schemas.openxmlformats.org/drawingml/2006/main" noGrp="1"/>
          </p:cNvSpPr>
          <p:nvPr/>
        </p:nvSpPr>
        <p:spPr>
          <a:xfrm xmlns:a="http://schemas.openxmlformats.org/drawingml/2006/main">
            <a:off x="4524375" y="3924300"/>
            <a:ext cx="314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22442"/>
                </a:solidFill>
                <a:latin typeface="Arial"/>
                <a:ea typeface="Arial"/>
                <a:cs typeface="Arial"/>
              </a:defRPr>
            </a:defPPr>
          </a:lstStyle>
          <a:p xmlns:a="http://schemas.openxmlformats.org/drawingml/2006/main">
            <a:pPr>
              <a:defRPr sz="1950" b="0">
                <a:solidFill>
                  <a:srgbClr val="122442"/>
                </a:solidFill>
                <a:latin typeface="Arial"/>
                <a:ea typeface="Arial"/>
                <a:cs typeface="Arial"/>
              </a:defRPr>
            </a:pPr>
            <a:r>
              <a:rPr sz="1950" b="0">
                <a:solidFill>
                  <a:srgbClr val="122442"/>
                </a:solidFill>
                <a:latin typeface="Arial"/>
                <a:ea typeface="Arial"/>
                <a:cs typeface="Arial"/>
              </a:rPr>
              <a:t>Спазва ли правилата?</a:t>
            </a:r>
          </a:p>
          <a:p xmlns:a="http://schemas.openxmlformats.org/drawingml/2006/main">
            <a:pPr>
              <a:defRPr sz="1950" b="0">
                <a:solidFill>
                  <a:srgbClr val="122442"/>
                </a:solidFill>
                <a:latin typeface="Arial"/>
                <a:ea typeface="Arial"/>
                <a:cs typeface="Arial"/>
              </a:defRPr>
            </a:pPr>
            <a:r>
              <a:rPr sz="1950" b="0">
                <a:solidFill>
                  <a:srgbClr val="122442"/>
                </a:solidFill>
                <a:latin typeface="Arial"/>
                <a:ea typeface="Arial"/>
                <a:cs typeface="Arial"/>
              </a:rPr>
              <a:t>Избира ли правилния skill?</a:t>
            </a:r>
          </a:p>
          <a:p xmlns:a="http://schemas.openxmlformats.org/drawingml/2006/main">
            <a:pPr>
              <a:defRPr sz="1950" b="0">
                <a:solidFill>
                  <a:srgbClr val="122442"/>
                </a:solidFill>
                <a:latin typeface="Arial"/>
                <a:ea typeface="Arial"/>
                <a:cs typeface="Arial"/>
              </a:defRPr>
            </a:pPr>
            <a:r>
              <a:rPr sz="1950" b="0">
                <a:solidFill>
                  <a:srgbClr val="122442"/>
                </a:solidFill>
                <a:latin typeface="Arial"/>
                <a:ea typeface="Arial"/>
                <a:cs typeface="Arial"/>
              </a:rPr>
              <a:t>Използва ли го само</a:t>
            </a:r>
          </a:p>
          <a:p xmlns:a="http://schemas.openxmlformats.org/drawingml/2006/main">
            <a:pPr>
              <a:defRPr sz="1950" b="0">
                <a:solidFill>
                  <a:srgbClr val="122442"/>
                </a:solidFill>
                <a:latin typeface="Arial"/>
                <a:ea typeface="Arial"/>
                <a:cs typeface="Arial"/>
              </a:defRPr>
            </a:pPr>
            <a:r>
              <a:rPr sz="1950" b="0">
                <a:solidFill>
                  <a:srgbClr val="122442"/>
                </a:solidFill>
                <a:latin typeface="Arial"/>
                <a:ea typeface="Arial"/>
                <a:cs typeface="Arial"/>
              </a:rPr>
              <a:t>когато е нужен?</a:t>
            </a:r>
          </a:p>
        </p:txBody>
      </p:sp>
      <p:sp>
        <p:nvSpPr>
          <p:cNvPr id="13" name="">
            <a:extLst xmlns:a="http://schemas.openxmlformats.org/drawingml/2006/main">
              <a:ext uri="{FF2B5EF4-FFF2-40B4-BE49-F238E27FC236}">
                <a16:creationId xmlns:a16="http://schemas.microsoft.com/office/drawing/2014/main" id="{F9891A7B-7D9A-476D-9934-D0F6F9230987}"/>
              </a:ext>
            </a:extLst>
          </p:cNvPr>
          <p:cNvSpPr>
            <a:spLocks xmlns:a="http://schemas.openxmlformats.org/drawingml/2006/main" noGrp="1"/>
          </p:cNvSpPr>
          <p:nvPr/>
        </p:nvSpPr>
        <p:spPr>
          <a:xfrm xmlns:a="http://schemas.openxmlformats.org/drawingml/2006/main">
            <a:off x="8362950" y="3924300"/>
            <a:ext cx="314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22442"/>
                </a:solidFill>
                <a:latin typeface="Arial"/>
                <a:ea typeface="Arial"/>
                <a:cs typeface="Arial"/>
              </a:defRPr>
            </a:defPPr>
          </a:lstStyle>
          <a:p xmlns:a="http://schemas.openxmlformats.org/drawingml/2006/main">
            <a:pPr>
              <a:defRPr sz="1950" b="0">
                <a:solidFill>
                  <a:srgbClr val="122442"/>
                </a:solidFill>
                <a:latin typeface="Arial"/>
                <a:ea typeface="Arial"/>
                <a:cs typeface="Arial"/>
              </a:defRPr>
            </a:pPr>
            <a:r>
              <a:rPr sz="1950" b="0">
                <a:solidFill>
                  <a:srgbClr val="122442"/>
                </a:solidFill>
                <a:latin typeface="Arial"/>
                <a:ea typeface="Arial"/>
                <a:cs typeface="Arial"/>
              </a:rPr>
              <a:t>Проверяваме резултата.</a:t>
            </a:r>
          </a:p>
          <a:p xmlns:a="http://schemas.openxmlformats.org/drawingml/2006/main">
            <a:pPr>
              <a:defRPr sz="1950" b="0">
                <a:solidFill>
                  <a:srgbClr val="122442"/>
                </a:solidFill>
                <a:latin typeface="Arial"/>
                <a:ea typeface="Arial"/>
                <a:cs typeface="Arial"/>
              </a:defRPr>
            </a:pPr>
            <a:r>
              <a:rPr sz="1950" b="0">
                <a:solidFill>
                  <a:srgbClr val="122442"/>
                </a:solidFill>
                <a:latin typeface="Arial"/>
                <a:ea typeface="Arial"/>
                <a:cs typeface="Arial"/>
              </a:rPr>
              <a:t>Повтаряме опитите.</a:t>
            </a:r>
          </a:p>
          <a:p xmlns:a="http://schemas.openxmlformats.org/drawingml/2006/main">
            <a:pPr>
              <a:defRPr sz="1950" b="0">
                <a:solidFill>
                  <a:srgbClr val="122442"/>
                </a:solidFill>
                <a:latin typeface="Arial"/>
                <a:ea typeface="Arial"/>
                <a:cs typeface="Arial"/>
              </a:defRPr>
            </a:pPr>
            <a:r>
              <a:rPr sz="1950" b="0">
                <a:solidFill>
                  <a:srgbClr val="122442"/>
                </a:solidFill>
                <a:latin typeface="Arial"/>
                <a:ea typeface="Arial"/>
                <a:cs typeface="Arial"/>
              </a:rPr>
              <a:t>Сравняваме със и без skill.</a:t>
            </a:r>
          </a:p>
        </p:txBody>
      </p:sp>
      <p:sp>
        <p:nvSpPr>
          <p:cNvPr id="14" name="">
            <a:extLst xmlns:a="http://schemas.openxmlformats.org/drawingml/2006/main">
              <a:ext uri="{FF2B5EF4-FFF2-40B4-BE49-F238E27FC236}">
                <a16:creationId xmlns:a16="http://schemas.microsoft.com/office/drawing/2014/main" id="{D5B4971A-F023-4907-95DC-2CD05835A27B}"/>
              </a:ext>
            </a:extLst>
          </p:cNvPr>
          <p:cNvSpPr>
            <a:spLocks xmlns:a="http://schemas.openxmlformats.org/drawingml/2006/main" noGrp="1"/>
          </p:cNvSpPr>
          <p:nvPr/>
        </p:nvSpPr>
        <p:spPr>
          <a:xfrm xmlns:a="http://schemas.openxmlformats.org/drawingml/2006/main">
            <a:off x="685800" y="55626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2447A6"/>
                </a:solidFill>
                <a:latin typeface="Arial"/>
                <a:ea typeface="Arial"/>
                <a:cs typeface="Arial"/>
              </a:defRPr>
            </a:defPPr>
          </a:lstStyle>
          <a:p xmlns:a="http://schemas.openxmlformats.org/drawingml/2006/main">
            <a:pPr>
              <a:defRPr sz="2100" b="1">
                <a:solidFill>
                  <a:srgbClr val="2447A6"/>
                </a:solidFill>
                <a:latin typeface="Arial"/>
                <a:ea typeface="Arial"/>
                <a:cs typeface="Arial"/>
              </a:defRPr>
            </a:pPr>
            <a:r>
              <a:rPr sz="2100" b="1">
                <a:solidFill>
                  <a:srgbClr val="2447A6"/>
                </a:solidFill>
                <a:latin typeface="Arial"/>
                <a:ea typeface="Arial"/>
                <a:cs typeface="Arial"/>
              </a:rPr>
              <a:t>Повтаряме Evals след промяна на модела, агента или skill-а.</a:t>
            </a:r>
          </a:p>
        </p:txBody>
      </p:sp>
      <p:sp>
        <p:nvSpPr>
          <p:cNvPr id="15" name="">
            <a:extLst xmlns:a="http://schemas.openxmlformats.org/drawingml/2006/main">
              <a:ext uri="{FF2B5EF4-FFF2-40B4-BE49-F238E27FC236}">
                <a16:creationId xmlns:a16="http://schemas.microsoft.com/office/drawing/2014/main" id="{52075321-AB5C-4991-99A8-17092C6605B5}"/>
              </a:ext>
            </a:extLst>
          </p:cNvPr>
          <p:cNvSpPr>
            <a:spLocks xmlns:a="http://schemas.openxmlformats.org/drawingml/2006/main" noGrp="1"/>
          </p:cNvSpPr>
          <p:nvPr/>
        </p:nvSpPr>
        <p:spPr>
          <a:xfrm xmlns:a="http://schemas.openxmlformats.org/drawingml/2006/main">
            <a:off x="685800" y="61722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D5C74"/>
                </a:solidFill>
                <a:latin typeface="Arial"/>
                <a:ea typeface="Arial"/>
                <a:cs typeface="Arial"/>
              </a:defRPr>
            </a:defPPr>
          </a:lstStyle>
          <a:p xmlns:a="http://schemas.openxmlformats.org/drawingml/2006/main">
            <a:pPr>
              <a:defRPr sz="1725" b="0">
                <a:solidFill>
                  <a:srgbClr val="4D5C74"/>
                </a:solidFill>
                <a:latin typeface="Arial"/>
                <a:ea typeface="Arial"/>
                <a:cs typeface="Arial"/>
              </a:defRPr>
            </a:pPr>
            <a:r>
              <a:rPr sz="1725" b="0">
                <a:solidFill>
                  <a:srgbClr val="4D5C74"/>
                </a:solidFill>
                <a:latin typeface="Arial"/>
                <a:ea typeface="Arial"/>
                <a:cs typeface="Arial"/>
              </a:rPr>
              <a:t>Автоматични проверки и човешка преценка показват дали промяната наистина помага.</a:t>
            </a:r>
          </a:p>
        </p:txBody>
      </p:sp>
      <p:sp>
        <p:nvSpPr>
          <p:cNvPr id="16" name="">
            <a:extLst xmlns:a="http://schemas.openxmlformats.org/drawingml/2006/main">
              <a:ext uri="{FF2B5EF4-FFF2-40B4-BE49-F238E27FC236}">
                <a16:creationId xmlns:a16="http://schemas.microsoft.com/office/drawing/2014/main" id="{0BFEFF29-F0DD-4B18-A749-1C969FD87BFB}"/>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defRPr sz="1275" b="0">
                <a:solidFill>
                  <a:srgbClr val="4D5C74"/>
                </a:solidFill>
                <a:latin typeface="Arial"/>
                <a:ea typeface="Arial"/>
                <a:cs typeface="Arial"/>
              </a:defRPr>
            </a:pPr>
            <a:r>
              <a:rPr sz="1275" b="0">
                <a:solidFill>
                  <a:srgbClr val="4D5C74"/>
                </a:solidFill>
                <a:latin typeface="Arial"/>
                <a:ea typeface="Arial"/>
                <a:cs typeface="Arial"/>
              </a:rPr>
              <a:t>13</a:t>
            </a:r>
          </a:p>
        </p:txBody>
      </p:sp>
    </p:spTree>
    <p:extLst>
      <p:ext uri="{BB962C8B-B14F-4D97-AF65-F5344CB8AC3E}">
        <p14:creationId xmlns:p14="http://schemas.microsoft.com/office/powerpoint/2010/main" val="682065380"/>
      </p:ext>
    </p:extLst>
  </p:cSld>
</p:sld>
</file>

<file path=ppt/slides/slide14.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4B968EB3-36A6-402C-906F-D3559805E597}"/>
              </a:ext>
            </a:extLst>
          </p:cNvPr>
          <p:cNvCxnSpPr>
            <a:stCxn xmlns:a="http://schemas.openxmlformats.org/drawingml/2006/main" id="7" idx="3"/>
            <a:endCxn xmlns:a="http://schemas.openxmlformats.org/drawingml/2006/main" id="9" idx="1"/>
          </p:cNvCxnSpPr>
          <p:nvPr/>
        </p:nvCxnSpPr>
        <p:spPr>
          <a:xfrm xmlns:a="http://schemas.openxmlformats.org/drawingml/2006/main" flipV="1">
            <a:off x="7410450" y="3895725"/>
            <a:ext cx="1685925" cy="733425"/>
          </a:xfrm>
          <a:prstGeom xmlns:a="http://schemas.openxmlformats.org/drawingml/2006/main" prst="bentConnector3">
            <a:avLst>
              <a:gd name="adj1" fmla="val 50000"/>
            </a:avLst>
          </a:prstGeom>
          <a:ln xmlns:a="http://schemas.openxmlformats.org/drawingml/2006/main" w="28575">
            <a:solidFill>
              <a:srgbClr val="067E96"/>
            </a:solidFill>
            <a:tailEnd type="triangle" w="med" len="med"/>
          </a:ln>
        </p:spPr>
      </p:cxnSp>
      <p:cxnSp>
        <p:nvCxnSpPr>
          <p:cNvPr id="13" name="">
            <a:extLst xmlns:a="http://schemas.openxmlformats.org/drawingml/2006/main">
              <a:ext uri="{FF2B5EF4-FFF2-40B4-BE49-F238E27FC236}">
                <a16:creationId xmlns:a16="http://schemas.microsoft.com/office/drawing/2014/main" id="{85786050-1F47-454E-8765-DB84AA285855}"/>
              </a:ext>
            </a:extLst>
          </p:cNvPr>
          <p:cNvCxnSpPr>
            <a:stCxn xmlns:a="http://schemas.openxmlformats.org/drawingml/2006/main" id="5" idx="3"/>
            <a:endCxn xmlns:a="http://schemas.openxmlformats.org/drawingml/2006/main" id="9" idx="1"/>
          </p:cNvCxnSpPr>
          <p:nvPr/>
        </p:nvCxnSpPr>
        <p:spPr>
          <a:xfrm xmlns:a="http://schemas.openxmlformats.org/drawingml/2006/main">
            <a:off x="7410450" y="3038475"/>
            <a:ext cx="1685925" cy="857250"/>
          </a:xfrm>
          <a:prstGeom xmlns:a="http://schemas.openxmlformats.org/drawingml/2006/main" prst="bentConnector3">
            <a:avLst>
              <a:gd name="adj1" fmla="val 50000"/>
            </a:avLst>
          </a:prstGeom>
          <a:ln xmlns:a="http://schemas.openxmlformats.org/drawingml/2006/main" w="28575">
            <a:solidFill>
              <a:srgbClr val="7041B9"/>
            </a:solidFill>
            <a:tailEnd type="triangle" w="med" len="med"/>
          </a:ln>
        </p:spPr>
      </p:cxnSp>
      <p:cxnSp>
        <p:nvCxnSpPr>
          <p:cNvPr id="12" name="">
            <a:extLst xmlns:a="http://schemas.openxmlformats.org/drawingml/2006/main">
              <a:ext uri="{FF2B5EF4-FFF2-40B4-BE49-F238E27FC236}">
                <a16:creationId xmlns:a16="http://schemas.microsoft.com/office/drawing/2014/main" id="{15728467-770F-490D-B00D-3EE76BF78D24}"/>
              </a:ext>
            </a:extLst>
          </p:cNvPr>
          <p:cNvCxnSpPr>
            <a:stCxn xmlns:a="http://schemas.openxmlformats.org/drawingml/2006/main" id="3" idx="3"/>
            <a:endCxn xmlns:a="http://schemas.openxmlformats.org/drawingml/2006/main" id="7" idx="1"/>
          </p:cNvCxnSpPr>
          <p:nvPr/>
        </p:nvCxnSpPr>
        <p:spPr>
          <a:xfrm xmlns:a="http://schemas.openxmlformats.org/drawingml/2006/main">
            <a:off x="3067050" y="3895725"/>
            <a:ext cx="1200150" cy="733425"/>
          </a:xfrm>
          <a:prstGeom xmlns:a="http://schemas.openxmlformats.org/drawingml/2006/main" prst="bentConnector3">
            <a:avLst>
              <a:gd name="adj1" fmla="val 50000"/>
            </a:avLst>
          </a:prstGeom>
          <a:ln xmlns:a="http://schemas.openxmlformats.org/drawingml/2006/main" w="28575">
            <a:solidFill>
              <a:srgbClr val="067E96"/>
            </a:solidFill>
            <a:tailEnd type="triangle" w="med" len="med"/>
          </a:ln>
        </p:spPr>
      </p:cxnSp>
      <p:cxnSp>
        <p:nvCxnSpPr>
          <p:cNvPr id="11" name="">
            <a:extLst xmlns:a="http://schemas.openxmlformats.org/drawingml/2006/main">
              <a:ext uri="{FF2B5EF4-FFF2-40B4-BE49-F238E27FC236}">
                <a16:creationId xmlns:a16="http://schemas.microsoft.com/office/drawing/2014/main" id="{771147EC-22D0-46B3-855C-02BD220EB0CD}"/>
              </a:ext>
            </a:extLst>
          </p:cNvPr>
          <p:cNvCxnSpPr>
            <a:stCxn xmlns:a="http://schemas.openxmlformats.org/drawingml/2006/main" id="3" idx="3"/>
            <a:endCxn xmlns:a="http://schemas.openxmlformats.org/drawingml/2006/main" id="5" idx="1"/>
          </p:cNvCxnSpPr>
          <p:nvPr/>
        </p:nvCxnSpPr>
        <p:spPr>
          <a:xfrm xmlns:a="http://schemas.openxmlformats.org/drawingml/2006/main" flipV="1">
            <a:off x="3067050" y="3038475"/>
            <a:ext cx="1200150" cy="857250"/>
          </a:xfrm>
          <a:prstGeom xmlns:a="http://schemas.openxmlformats.org/drawingml/2006/main" prst="bentConnector3">
            <a:avLst>
              <a:gd name="adj1" fmla="val 50000"/>
            </a:avLst>
          </a:prstGeom>
          <a:ln xmlns:a="http://schemas.openxmlformats.org/drawingml/2006/main" w="28575">
            <a:solidFill>
              <a:srgbClr val="7041B9"/>
            </a:solidFill>
            <a:tailEnd type="triangle" w="med" len="med"/>
          </a:ln>
        </p:spPr>
      </p:cxnSp>
      <p:sp>
        <p:nvSpPr>
          <p:cNvPr id="20" name="">
            <a:extLst xmlns:a="http://schemas.openxmlformats.org/drawingml/2006/main">
              <a:ext uri="{FF2B5EF4-FFF2-40B4-BE49-F238E27FC236}">
                <a16:creationId xmlns:a16="http://schemas.microsoft.com/office/drawing/2014/main" id="{850CE1AB-4F8C-45F1-ABD3-312A15413219}"/>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defRPr sz="3300" b="1">
                <a:solidFill>
                  <a:srgbClr val="122442"/>
                </a:solidFill>
                <a:latin typeface="Arial"/>
                <a:ea typeface="Arial"/>
                <a:cs typeface="Arial"/>
              </a:defRPr>
            </a:pPr>
            <a:r>
              <a:rPr sz="3300" b="1">
                <a:solidFill>
                  <a:srgbClr val="122442"/>
                </a:solidFill>
                <a:latin typeface="Arial"/>
                <a:ea typeface="Arial"/>
                <a:cs typeface="Arial"/>
              </a:rPr>
              <a:t>Този skill още нужен ли е?</a:t>
            </a:r>
          </a:p>
        </p:txBody>
      </p:sp>
      <p:sp>
        <p:nvSpPr>
          <p:cNvPr id="2" name="">
            <a:extLst xmlns:a="http://schemas.openxmlformats.org/drawingml/2006/main">
              <a:ext uri="{FF2B5EF4-FFF2-40B4-BE49-F238E27FC236}">
                <a16:creationId xmlns:a16="http://schemas.microsoft.com/office/drawing/2014/main" id="{C7180136-2C7E-4F78-979D-335D6827CF09}"/>
              </a:ext>
            </a:extLst>
          </p:cNvPr>
          <p:cNvSpPr>
            <a:spLocks xmlns:a="http://schemas.openxmlformats.org/drawingml/2006/main" noGrp="1"/>
          </p:cNvSpPr>
          <p:nvPr/>
        </p:nvSpPr>
        <p:spPr>
          <a:xfrm xmlns:a="http://schemas.openxmlformats.org/drawingml/2006/main">
            <a:off x="685800" y="1581150"/>
            <a:ext cx="10820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2447A6"/>
                </a:solidFill>
                <a:latin typeface="Arial"/>
                <a:ea typeface="Arial"/>
                <a:cs typeface="Arial"/>
              </a:defRPr>
            </a:defPPr>
          </a:lstStyle>
          <a:p xmlns:a="http://schemas.openxmlformats.org/drawingml/2006/main">
            <a:pPr>
              <a:defRPr sz="2325" b="1">
                <a:solidFill>
                  <a:srgbClr val="2447A6"/>
                </a:solidFill>
                <a:latin typeface="Arial"/>
                <a:ea typeface="Arial"/>
                <a:cs typeface="Arial"/>
              </a:defRPr>
            </a:pPr>
            <a:r>
              <a:rPr sz="2325" b="1">
                <a:solidFill>
                  <a:srgbClr val="2447A6"/>
                </a:solidFill>
                <a:latin typeface="Arial"/>
                <a:ea typeface="Arial"/>
                <a:cs typeface="Arial"/>
              </a:rPr>
              <a:t>Моделите се подобряват. Някои skills може вече да не помагат.</a:t>
            </a:r>
          </a:p>
        </p:txBody>
      </p:sp>
      <p:sp>
        <p:nvSpPr>
          <p:cNvPr id="3" name="">
            <a:extLst xmlns:a="http://schemas.openxmlformats.org/drawingml/2006/main">
              <a:ext uri="{FF2B5EF4-FFF2-40B4-BE49-F238E27FC236}">
                <a16:creationId xmlns:a16="http://schemas.microsoft.com/office/drawing/2014/main" id="{E7D74DAF-1552-4FFF-878F-66FCDE235FB3}"/>
              </a:ext>
            </a:extLst>
          </p:cNvPr>
          <p:cNvSpPr>
            <a:spLocks xmlns:a="http://schemas.openxmlformats.org/drawingml/2006/main" noGrp="1"/>
          </p:cNvSpPr>
          <p:nvPr/>
        </p:nvSpPr>
        <p:spPr>
          <a:xfrm xmlns:a="http://schemas.openxmlformats.org/drawingml/2006/main">
            <a:off x="685800" y="3381375"/>
            <a:ext cx="2381250" cy="1028700"/>
          </a:xfrm>
          <a:prstGeom xmlns:a="http://schemas.openxmlformats.org/drawingml/2006/main" prst="roundRect">
            <a:avLst>
              <a:gd name="adj" fmla="val 14815"/>
            </a:avLst>
          </a:prstGeom>
          <a:solidFill xmlns:a="http://schemas.openxmlformats.org/drawingml/2006/main">
            <a:srgbClr val="2447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A2705E-66EB-424B-9017-EDBC42A50C6B}"/>
              </a:ext>
            </a:extLst>
          </p:cNvPr>
          <p:cNvSpPr>
            <a:spLocks xmlns:a="http://schemas.openxmlformats.org/drawingml/2006/main" noGrp="1"/>
          </p:cNvSpPr>
          <p:nvPr/>
        </p:nvSpPr>
        <p:spPr>
          <a:xfrm xmlns:a="http://schemas.openxmlformats.org/drawingml/2006/main">
            <a:off x="857250" y="3543300"/>
            <a:ext cx="2038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Едни и същи</a:t>
            </a:r>
          </a:p>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задачи</a:t>
            </a:r>
          </a:p>
        </p:txBody>
      </p:sp>
      <p:sp>
        <p:nvSpPr>
          <p:cNvPr id="5" name="">
            <a:extLst xmlns:a="http://schemas.openxmlformats.org/drawingml/2006/main">
              <a:ext uri="{FF2B5EF4-FFF2-40B4-BE49-F238E27FC236}">
                <a16:creationId xmlns:a16="http://schemas.microsoft.com/office/drawing/2014/main" id="{9B8A3A32-EAB5-498C-A05F-CD711AE02E7D}"/>
              </a:ext>
            </a:extLst>
          </p:cNvPr>
          <p:cNvSpPr>
            <a:spLocks xmlns:a="http://schemas.openxmlformats.org/drawingml/2006/main" noGrp="1"/>
          </p:cNvSpPr>
          <p:nvPr/>
        </p:nvSpPr>
        <p:spPr>
          <a:xfrm xmlns:a="http://schemas.openxmlformats.org/drawingml/2006/main">
            <a:off x="4267200" y="2609850"/>
            <a:ext cx="3143250" cy="857250"/>
          </a:xfrm>
          <a:prstGeom xmlns:a="http://schemas.openxmlformats.org/drawingml/2006/main" prst="roundRect">
            <a:avLst>
              <a:gd name="adj" fmla="val 17778"/>
            </a:avLst>
          </a:prstGeom>
          <a:solidFill xmlns:a="http://schemas.openxmlformats.org/drawingml/2006/main">
            <a:srgbClr val="7041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EE63FF6-97FF-4AEF-9CD5-C68CBF0A9209}"/>
              </a:ext>
            </a:extLst>
          </p:cNvPr>
          <p:cNvSpPr>
            <a:spLocks xmlns:a="http://schemas.openxmlformats.org/drawingml/2006/main" noGrp="1"/>
          </p:cNvSpPr>
          <p:nvPr/>
        </p:nvSpPr>
        <p:spPr>
          <a:xfrm xmlns:a="http://schemas.openxmlformats.org/drawingml/2006/main">
            <a:off x="4438650" y="2771775"/>
            <a:ext cx="2800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Модел + skill</a:t>
            </a:r>
          </a:p>
        </p:txBody>
      </p:sp>
      <p:sp>
        <p:nvSpPr>
          <p:cNvPr id="7" name="">
            <a:extLst xmlns:a="http://schemas.openxmlformats.org/drawingml/2006/main">
              <a:ext uri="{FF2B5EF4-FFF2-40B4-BE49-F238E27FC236}">
                <a16:creationId xmlns:a16="http://schemas.microsoft.com/office/drawing/2014/main" id="{40327DA2-926A-4F77-BE70-8FC3B4CC9DAE}"/>
              </a:ext>
            </a:extLst>
          </p:cNvPr>
          <p:cNvSpPr>
            <a:spLocks xmlns:a="http://schemas.openxmlformats.org/drawingml/2006/main" noGrp="1"/>
          </p:cNvSpPr>
          <p:nvPr/>
        </p:nvSpPr>
        <p:spPr>
          <a:xfrm xmlns:a="http://schemas.openxmlformats.org/drawingml/2006/main">
            <a:off x="4267200" y="4200525"/>
            <a:ext cx="3143250" cy="857250"/>
          </a:xfrm>
          <a:prstGeom xmlns:a="http://schemas.openxmlformats.org/drawingml/2006/main" prst="roundRect">
            <a:avLst>
              <a:gd name="adj" fmla="val 17778"/>
            </a:avLst>
          </a:prstGeom>
          <a:solidFill xmlns:a="http://schemas.openxmlformats.org/drawingml/2006/main">
            <a:srgbClr val="067E9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BC94460-013B-4B36-A8A7-0AD5BA901D18}"/>
              </a:ext>
            </a:extLst>
          </p:cNvPr>
          <p:cNvSpPr>
            <a:spLocks xmlns:a="http://schemas.openxmlformats.org/drawingml/2006/main" noGrp="1"/>
          </p:cNvSpPr>
          <p:nvPr/>
        </p:nvSpPr>
        <p:spPr>
          <a:xfrm xmlns:a="http://schemas.openxmlformats.org/drawingml/2006/main">
            <a:off x="4438650" y="4362450"/>
            <a:ext cx="2800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Модел без skill</a:t>
            </a:r>
          </a:p>
        </p:txBody>
      </p:sp>
      <p:sp>
        <p:nvSpPr>
          <p:cNvPr id="9" name="">
            <a:extLst xmlns:a="http://schemas.openxmlformats.org/drawingml/2006/main">
              <a:ext uri="{FF2B5EF4-FFF2-40B4-BE49-F238E27FC236}">
                <a16:creationId xmlns:a16="http://schemas.microsoft.com/office/drawing/2014/main" id="{431A826E-BD6F-498A-AE39-454E5935ACB1}"/>
              </a:ext>
            </a:extLst>
          </p:cNvPr>
          <p:cNvSpPr>
            <a:spLocks xmlns:a="http://schemas.openxmlformats.org/drawingml/2006/main" noGrp="1"/>
          </p:cNvSpPr>
          <p:nvPr/>
        </p:nvSpPr>
        <p:spPr>
          <a:xfrm xmlns:a="http://schemas.openxmlformats.org/drawingml/2006/main">
            <a:off x="9096375" y="3381375"/>
            <a:ext cx="2409825" cy="1028700"/>
          </a:xfrm>
          <a:prstGeom xmlns:a="http://schemas.openxmlformats.org/drawingml/2006/main" prst="roundRect">
            <a:avLst>
              <a:gd name="adj" fmla="val 14815"/>
            </a:avLst>
          </a:prstGeom>
          <a:solidFill xmlns:a="http://schemas.openxmlformats.org/drawingml/2006/main">
            <a:srgbClr val="2447A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16E99B3-E0A6-463F-9993-B26DF93037E5}"/>
              </a:ext>
            </a:extLst>
          </p:cNvPr>
          <p:cNvSpPr>
            <a:spLocks xmlns:a="http://schemas.openxmlformats.org/drawingml/2006/main" noGrp="1"/>
          </p:cNvSpPr>
          <p:nvPr/>
        </p:nvSpPr>
        <p:spPr>
          <a:xfrm xmlns:a="http://schemas.openxmlformats.org/drawingml/2006/main">
            <a:off x="9267825" y="3543300"/>
            <a:ext cx="2066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Сравняваме</a:t>
            </a:r>
          </a:p>
        </p:txBody>
      </p:sp>
      <p:sp>
        <p:nvSpPr>
          <p:cNvPr id="15" name="">
            <a:extLst xmlns:a="http://schemas.openxmlformats.org/drawingml/2006/main">
              <a:ext uri="{FF2B5EF4-FFF2-40B4-BE49-F238E27FC236}">
                <a16:creationId xmlns:a16="http://schemas.microsoft.com/office/drawing/2014/main" id="{A9389078-BA4B-473D-A0BA-593CA075FCF8}"/>
              </a:ext>
            </a:extLst>
          </p:cNvPr>
          <p:cNvSpPr>
            <a:spLocks xmlns:a="http://schemas.openxmlformats.org/drawingml/2006/main" noGrp="1"/>
          </p:cNvSpPr>
          <p:nvPr/>
        </p:nvSpPr>
        <p:spPr>
          <a:xfrm xmlns:a="http://schemas.openxmlformats.org/drawingml/2006/main">
            <a:off x="4267200" y="5286375"/>
            <a:ext cx="3619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D5C74"/>
                </a:solidFill>
                <a:latin typeface="Arial"/>
                <a:ea typeface="Arial"/>
                <a:cs typeface="Arial"/>
              </a:defRPr>
            </a:defPPr>
          </a:lstStyle>
          <a:p xmlns:a="http://schemas.openxmlformats.org/drawingml/2006/main">
            <a:pPr>
              <a:defRPr sz="1800" b="0">
                <a:solidFill>
                  <a:srgbClr val="4D5C74"/>
                </a:solidFill>
                <a:latin typeface="Arial"/>
                <a:ea typeface="Arial"/>
                <a:cs typeface="Arial"/>
              </a:defRPr>
            </a:pPr>
            <a:r>
              <a:rPr sz="1800" b="0">
                <a:solidFill>
                  <a:srgbClr val="4D5C74"/>
                </a:solidFill>
                <a:latin typeface="Arial"/>
                <a:ea typeface="Arial"/>
                <a:cs typeface="Arial"/>
              </a:rPr>
              <a:t>Повтаряме опитите</a:t>
            </a:r>
          </a:p>
          <a:p xmlns:a="http://schemas.openxmlformats.org/drawingml/2006/main">
            <a:pPr>
              <a:defRPr sz="1800" b="0">
                <a:solidFill>
                  <a:srgbClr val="4D5C74"/>
                </a:solidFill>
                <a:latin typeface="Arial"/>
                <a:ea typeface="Arial"/>
                <a:cs typeface="Arial"/>
              </a:defRPr>
            </a:pPr>
            <a:r>
              <a:rPr sz="1800" b="0">
                <a:solidFill>
                  <a:srgbClr val="4D5C74"/>
                </a:solidFill>
                <a:latin typeface="Arial"/>
                <a:ea typeface="Arial"/>
                <a:cs typeface="Arial"/>
              </a:rPr>
              <a:t>при еднакви условия.</a:t>
            </a:r>
          </a:p>
        </p:txBody>
      </p:sp>
      <p:sp>
        <p:nvSpPr>
          <p:cNvPr id="16" name="">
            <a:extLst xmlns:a="http://schemas.openxmlformats.org/drawingml/2006/main">
              <a:ext uri="{FF2B5EF4-FFF2-40B4-BE49-F238E27FC236}">
                <a16:creationId xmlns:a16="http://schemas.microsoft.com/office/drawing/2014/main" id="{1E7668EA-1B86-42F9-AB8A-B10537B011D9}"/>
              </a:ext>
            </a:extLst>
          </p:cNvPr>
          <p:cNvSpPr>
            <a:spLocks xmlns:a="http://schemas.openxmlformats.org/drawingml/2006/main" noGrp="1"/>
          </p:cNvSpPr>
          <p:nvPr/>
        </p:nvSpPr>
        <p:spPr>
          <a:xfrm xmlns:a="http://schemas.openxmlformats.org/drawingml/2006/main">
            <a:off x="9096375" y="4695825"/>
            <a:ext cx="24098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22442"/>
                </a:solidFill>
                <a:latin typeface="Arial"/>
                <a:ea typeface="Arial"/>
                <a:cs typeface="Arial"/>
              </a:defRPr>
            </a:defPPr>
          </a:lstStyle>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Качество.</a:t>
            </a:r>
          </a:p>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Постоянство.</a:t>
            </a:r>
          </a:p>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Време и разход.</a:t>
            </a:r>
          </a:p>
        </p:txBody>
      </p:sp>
      <p:sp>
        <p:nvSpPr>
          <p:cNvPr id="17" name="">
            <a:extLst xmlns:a="http://schemas.openxmlformats.org/drawingml/2006/main">
              <a:ext uri="{FF2B5EF4-FFF2-40B4-BE49-F238E27FC236}">
                <a16:creationId xmlns:a16="http://schemas.microsoft.com/office/drawing/2014/main" id="{325319BB-A3B1-4DF7-9AF2-A6F9D31EA48B}"/>
              </a:ext>
            </a:extLst>
          </p:cNvPr>
          <p:cNvSpPr>
            <a:spLocks xmlns:a="http://schemas.openxmlformats.org/drawingml/2006/main" noGrp="1"/>
          </p:cNvSpPr>
          <p:nvPr/>
        </p:nvSpPr>
        <p:spPr>
          <a:xfrm xmlns:a="http://schemas.openxmlformats.org/drawingml/2006/main">
            <a:off x="685800" y="59245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2447A6"/>
                </a:solidFill>
                <a:latin typeface="Arial"/>
                <a:ea typeface="Arial"/>
                <a:cs typeface="Arial"/>
              </a:defRPr>
            </a:defPPr>
          </a:lstStyle>
          <a:p xmlns:a="http://schemas.openxmlformats.org/drawingml/2006/main">
            <a:pPr>
              <a:defRPr sz="1950" b="1">
                <a:solidFill>
                  <a:srgbClr val="2447A6"/>
                </a:solidFill>
                <a:latin typeface="Arial"/>
                <a:ea typeface="Arial"/>
                <a:cs typeface="Arial"/>
              </a:defRPr>
            </a:pPr>
            <a:r>
              <a:rPr sz="1950" b="1">
                <a:solidFill>
                  <a:srgbClr val="2447A6"/>
                </a:solidFill>
                <a:latin typeface="Arial"/>
                <a:ea typeface="Arial"/>
                <a:cs typeface="Arial"/>
              </a:rPr>
              <a:t>Ако моделът се справя също толкова добре без skill-а, може вече да не е нужен.</a:t>
            </a:r>
          </a:p>
        </p:txBody>
      </p:sp>
      <p:sp>
        <p:nvSpPr>
          <p:cNvPr id="18" name="">
            <a:extLst xmlns:a="http://schemas.openxmlformats.org/drawingml/2006/main">
              <a:ext uri="{FF2B5EF4-FFF2-40B4-BE49-F238E27FC236}">
                <a16:creationId xmlns:a16="http://schemas.microsoft.com/office/drawing/2014/main" id="{FB9C72CE-A70C-4E47-B713-28738EED8043}"/>
              </a:ext>
            </a:extLst>
          </p:cNvPr>
          <p:cNvSpPr>
            <a:spLocks xmlns:a="http://schemas.openxmlformats.org/drawingml/2006/main" noGrp="1"/>
          </p:cNvSpPr>
          <p:nvPr/>
        </p:nvSpPr>
        <p:spPr>
          <a:xfrm xmlns:a="http://schemas.openxmlformats.org/drawingml/2006/main">
            <a:off x="685800" y="63436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4D5C74"/>
                </a:solidFill>
                <a:latin typeface="Arial"/>
                <a:ea typeface="Arial"/>
                <a:cs typeface="Arial"/>
              </a:defRPr>
            </a:defPPr>
          </a:lstStyle>
          <a:p xmlns:a="http://schemas.openxmlformats.org/drawingml/2006/main">
            <a:pPr>
              <a:defRPr sz="1575" b="0">
                <a:solidFill>
                  <a:srgbClr val="4D5C74"/>
                </a:solidFill>
                <a:latin typeface="Arial"/>
                <a:ea typeface="Arial"/>
                <a:cs typeface="Arial"/>
              </a:defRPr>
            </a:pPr>
            <a:r>
              <a:rPr sz="1575" b="0">
                <a:solidFill>
                  <a:srgbClr val="4D5C74"/>
                </a:solidFill>
                <a:latin typeface="Arial"/>
                <a:ea typeface="Arial"/>
                <a:cs typeface="Arial"/>
              </a:rPr>
              <a:t>Skills с фирмени правила и конкретен работен процес може да останат нужни.</a:t>
            </a:r>
          </a:p>
        </p:txBody>
      </p:sp>
      <p:sp>
        <p:nvSpPr>
          <p:cNvPr id="19" name="">
            <a:extLst xmlns:a="http://schemas.openxmlformats.org/drawingml/2006/main">
              <a:ext uri="{FF2B5EF4-FFF2-40B4-BE49-F238E27FC236}">
                <a16:creationId xmlns:a16="http://schemas.microsoft.com/office/drawing/2014/main" id="{53D55C1E-F13B-4757-8744-76FCD1D7E43F}"/>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defRPr sz="1275" b="0">
                <a:solidFill>
                  <a:srgbClr val="4D5C74"/>
                </a:solidFill>
                <a:latin typeface="Arial"/>
                <a:ea typeface="Arial"/>
                <a:cs typeface="Arial"/>
              </a:defRPr>
            </a:pPr>
            <a:r>
              <a:rPr sz="1275" b="0">
                <a:solidFill>
                  <a:srgbClr val="4D5C74"/>
                </a:solidFill>
                <a:latin typeface="Arial"/>
                <a:ea typeface="Arial"/>
                <a:cs typeface="Arial"/>
              </a:rPr>
              <a:t>14</a:t>
            </a:r>
          </a:p>
        </p:txBody>
      </p:sp>
    </p:spTree>
    <p:extLst>
      <p:ext uri="{BB962C8B-B14F-4D97-AF65-F5344CB8AC3E}">
        <p14:creationId xmlns:p14="http://schemas.microsoft.com/office/powerpoint/2010/main" val="1867293627"/>
      </p:ext>
    </p:extLst>
  </p:cSld>
</p:sld>
</file>

<file path=ppt/slides/slide15.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3280BE7A-1F09-4DF2-8ECF-D716FE3E6505}"/>
              </a:ext>
            </a:extLst>
          </p:cNvPr>
          <p:cNvCxnSpPr>
            <a:stCxn xmlns:a="http://schemas.openxmlformats.org/drawingml/2006/main" id="12" idx="3"/>
            <a:endCxn xmlns:a="http://schemas.openxmlformats.org/drawingml/2006/main" id="15" idx="1"/>
          </p:cNvCxnSpPr>
          <p:nvPr/>
        </p:nvCxnSpPr>
        <p:spPr>
          <a:xfrm xmlns:a="http://schemas.openxmlformats.org/drawingml/2006/main" flipV="1">
            <a:off x="7639050" y="4090988"/>
            <a:ext cx="1457325" cy="1128713"/>
          </a:xfrm>
          <a:prstGeom xmlns:a="http://schemas.openxmlformats.org/drawingml/2006/main" prst="bentConnector3">
            <a:avLst>
              <a:gd name="adj1" fmla="val 50000"/>
            </a:avLst>
          </a:prstGeom>
          <a:ln xmlns:a="http://schemas.openxmlformats.org/drawingml/2006/main" w="28575">
            <a:solidFill>
              <a:srgbClr val="2447A6"/>
            </a:solidFill>
            <a:tailEnd type="triangle" w="med" len="med"/>
          </a:ln>
        </p:spPr>
      </p:cxnSp>
      <p:cxnSp>
        <p:nvCxnSpPr>
          <p:cNvPr id="21" name="">
            <a:extLst xmlns:a="http://schemas.openxmlformats.org/drawingml/2006/main">
              <a:ext uri="{FF2B5EF4-FFF2-40B4-BE49-F238E27FC236}">
                <a16:creationId xmlns:a16="http://schemas.microsoft.com/office/drawing/2014/main" id="{F342D0D9-E972-4141-A642-72C9115CB150}"/>
              </a:ext>
            </a:extLst>
          </p:cNvPr>
          <p:cNvCxnSpPr>
            <a:stCxn xmlns:a="http://schemas.openxmlformats.org/drawingml/2006/main" id="3" idx="3"/>
            <a:endCxn xmlns:a="http://schemas.openxmlformats.org/drawingml/2006/main" id="12" idx="1"/>
          </p:cNvCxnSpPr>
          <p:nvPr/>
        </p:nvCxnSpPr>
        <p:spPr>
          <a:xfrm xmlns:a="http://schemas.openxmlformats.org/drawingml/2006/main">
            <a:off x="3067050" y="4048125"/>
            <a:ext cx="1095375" cy="1171575"/>
          </a:xfrm>
          <a:prstGeom xmlns:a="http://schemas.openxmlformats.org/drawingml/2006/main" prst="bentConnector3">
            <a:avLst>
              <a:gd name="adj1" fmla="val 50000"/>
            </a:avLst>
          </a:prstGeom>
          <a:ln xmlns:a="http://schemas.openxmlformats.org/drawingml/2006/main" w="28575">
            <a:solidFill>
              <a:srgbClr val="7041B9"/>
            </a:solidFill>
            <a:tailEnd type="triangle" w="med" len="med"/>
          </a:ln>
        </p:spPr>
      </p:cxnSp>
      <p:cxnSp>
        <p:nvCxnSpPr>
          <p:cNvPr id="20" name="">
            <a:extLst xmlns:a="http://schemas.openxmlformats.org/drawingml/2006/main">
              <a:ext uri="{FF2B5EF4-FFF2-40B4-BE49-F238E27FC236}">
                <a16:creationId xmlns:a16="http://schemas.microsoft.com/office/drawing/2014/main" id="{FBB36996-E819-4CF2-AD4E-1CAB3DC96B45}"/>
              </a:ext>
            </a:extLst>
          </p:cNvPr>
          <p:cNvCxnSpPr>
            <a:stCxn xmlns:a="http://schemas.openxmlformats.org/drawingml/2006/main" id="9" idx="3"/>
            <a:endCxn xmlns:a="http://schemas.openxmlformats.org/drawingml/2006/main" id="15" idx="1"/>
          </p:cNvCxnSpPr>
          <p:nvPr/>
        </p:nvCxnSpPr>
        <p:spPr>
          <a:xfrm xmlns:a="http://schemas.openxmlformats.org/drawingml/2006/main" flipV="1">
            <a:off x="7639050" y="4090988"/>
            <a:ext cx="1457325" cy="61913"/>
          </a:xfrm>
          <a:prstGeom xmlns:a="http://schemas.openxmlformats.org/drawingml/2006/main" prst="bentConnector3">
            <a:avLst>
              <a:gd name="adj1" fmla="val 50000"/>
            </a:avLst>
          </a:prstGeom>
          <a:ln xmlns:a="http://schemas.openxmlformats.org/drawingml/2006/main" w="28575">
            <a:solidFill>
              <a:srgbClr val="2447A6"/>
            </a:solidFill>
            <a:tailEnd type="triangle" w="med" len="med"/>
          </a:ln>
        </p:spPr>
      </p:cxnSp>
      <p:cxnSp>
        <p:nvCxnSpPr>
          <p:cNvPr id="19" name="">
            <a:extLst xmlns:a="http://schemas.openxmlformats.org/drawingml/2006/main">
              <a:ext uri="{FF2B5EF4-FFF2-40B4-BE49-F238E27FC236}">
                <a16:creationId xmlns:a16="http://schemas.microsoft.com/office/drawing/2014/main" id="{0A37D7B6-DCB8-4E5E-BD3F-C5A995577C45}"/>
              </a:ext>
            </a:extLst>
          </p:cNvPr>
          <p:cNvCxnSpPr>
            <a:stCxn xmlns:a="http://schemas.openxmlformats.org/drawingml/2006/main" id="3" idx="3"/>
            <a:endCxn xmlns:a="http://schemas.openxmlformats.org/drawingml/2006/main" id="9" idx="1"/>
          </p:cNvCxnSpPr>
          <p:nvPr/>
        </p:nvCxnSpPr>
        <p:spPr>
          <a:xfrm xmlns:a="http://schemas.openxmlformats.org/drawingml/2006/main">
            <a:off x="3067050" y="4048125"/>
            <a:ext cx="1095375" cy="104775"/>
          </a:xfrm>
          <a:prstGeom xmlns:a="http://schemas.openxmlformats.org/drawingml/2006/main" prst="bentConnector3">
            <a:avLst>
              <a:gd name="adj1" fmla="val 50000"/>
            </a:avLst>
          </a:prstGeom>
          <a:ln xmlns:a="http://schemas.openxmlformats.org/drawingml/2006/main" w="28575">
            <a:solidFill>
              <a:srgbClr val="7041B9"/>
            </a:solidFill>
            <a:tailEnd type="triangle" w="med" len="med"/>
          </a:ln>
        </p:spPr>
      </p:cxnSp>
      <p:cxnSp>
        <p:nvCxnSpPr>
          <p:cNvPr id="18" name="">
            <a:extLst xmlns:a="http://schemas.openxmlformats.org/drawingml/2006/main">
              <a:ext uri="{FF2B5EF4-FFF2-40B4-BE49-F238E27FC236}">
                <a16:creationId xmlns:a16="http://schemas.microsoft.com/office/drawing/2014/main" id="{48B918C9-08F3-489C-A63C-9D6331557A6A}"/>
              </a:ext>
            </a:extLst>
          </p:cNvPr>
          <p:cNvCxnSpPr>
            <a:stCxn xmlns:a="http://schemas.openxmlformats.org/drawingml/2006/main" id="6" idx="3"/>
            <a:endCxn xmlns:a="http://schemas.openxmlformats.org/drawingml/2006/main" id="15" idx="1"/>
          </p:cNvCxnSpPr>
          <p:nvPr/>
        </p:nvCxnSpPr>
        <p:spPr>
          <a:xfrm xmlns:a="http://schemas.openxmlformats.org/drawingml/2006/main">
            <a:off x="7639050" y="3086100"/>
            <a:ext cx="1457325" cy="1004888"/>
          </a:xfrm>
          <a:prstGeom xmlns:a="http://schemas.openxmlformats.org/drawingml/2006/main" prst="bentConnector3">
            <a:avLst>
              <a:gd name="adj1" fmla="val 50000"/>
            </a:avLst>
          </a:prstGeom>
          <a:ln xmlns:a="http://schemas.openxmlformats.org/drawingml/2006/main" w="28575">
            <a:solidFill>
              <a:srgbClr val="2447A6"/>
            </a:solidFill>
            <a:tailEnd type="triangle" w="med" len="med"/>
          </a:ln>
        </p:spPr>
      </p:cxnSp>
      <p:cxnSp>
        <p:nvCxnSpPr>
          <p:cNvPr id="17" name="">
            <a:extLst xmlns:a="http://schemas.openxmlformats.org/drawingml/2006/main">
              <a:ext uri="{FF2B5EF4-FFF2-40B4-BE49-F238E27FC236}">
                <a16:creationId xmlns:a16="http://schemas.microsoft.com/office/drawing/2014/main" id="{DC64942B-D90F-4F8A-BFAF-275A214F3FFE}"/>
              </a:ext>
            </a:extLst>
          </p:cNvPr>
          <p:cNvCxnSpPr>
            <a:stCxn xmlns:a="http://schemas.openxmlformats.org/drawingml/2006/main" id="3" idx="3"/>
            <a:endCxn xmlns:a="http://schemas.openxmlformats.org/drawingml/2006/main" id="6" idx="1"/>
          </p:cNvCxnSpPr>
          <p:nvPr/>
        </p:nvCxnSpPr>
        <p:spPr>
          <a:xfrm xmlns:a="http://schemas.openxmlformats.org/drawingml/2006/main" flipV="1">
            <a:off x="3067050" y="3086100"/>
            <a:ext cx="1095375" cy="962025"/>
          </a:xfrm>
          <a:prstGeom xmlns:a="http://schemas.openxmlformats.org/drawingml/2006/main" prst="bentConnector3">
            <a:avLst>
              <a:gd name="adj1" fmla="val 50000"/>
            </a:avLst>
          </a:prstGeom>
          <a:ln xmlns:a="http://schemas.openxmlformats.org/drawingml/2006/main" w="28575">
            <a:solidFill>
              <a:srgbClr val="7041B9"/>
            </a:solidFill>
            <a:tailEnd type="triangle" w="med" len="med"/>
          </a:ln>
        </p:spPr>
      </p:cxnSp>
      <p:sp>
        <p:nvSpPr>
          <p:cNvPr id="27" name="">
            <a:extLst xmlns:a="http://schemas.openxmlformats.org/drawingml/2006/main">
              <a:ext uri="{FF2B5EF4-FFF2-40B4-BE49-F238E27FC236}">
                <a16:creationId xmlns:a16="http://schemas.microsoft.com/office/drawing/2014/main" id="{6D7BE99E-4469-4498-826E-BF66726F29D9}"/>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defRPr sz="3300" b="1">
                <a:solidFill>
                  <a:srgbClr val="122442"/>
                </a:solidFill>
                <a:latin typeface="Arial"/>
                <a:ea typeface="Arial"/>
                <a:cs typeface="Arial"/>
              </a:defRPr>
            </a:pPr>
            <a:r>
              <a:rPr sz="3300" b="1">
                <a:solidFill>
                  <a:srgbClr val="122442"/>
                </a:solidFill>
                <a:latin typeface="Arial"/>
                <a:ea typeface="Arial"/>
                <a:cs typeface="Arial"/>
              </a:rPr>
              <a:t>Спецификацията живее заедно с продукта</a:t>
            </a:r>
          </a:p>
        </p:txBody>
      </p:sp>
      <p:sp>
        <p:nvSpPr>
          <p:cNvPr id="2" name="">
            <a:extLst xmlns:a="http://schemas.openxmlformats.org/drawingml/2006/main">
              <a:ext uri="{FF2B5EF4-FFF2-40B4-BE49-F238E27FC236}">
                <a16:creationId xmlns:a16="http://schemas.microsoft.com/office/drawing/2014/main" id="{CDF1AFDC-FDB8-4D7F-9812-44A4F256159E}"/>
              </a:ext>
            </a:extLst>
          </p:cNvPr>
          <p:cNvSpPr>
            <a:spLocks xmlns:a="http://schemas.openxmlformats.org/drawingml/2006/main" noGrp="1"/>
          </p:cNvSpPr>
          <p:nvPr/>
        </p:nvSpPr>
        <p:spPr>
          <a:xfrm xmlns:a="http://schemas.openxmlformats.org/drawingml/2006/main">
            <a:off x="685800" y="15621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2447A6"/>
                </a:solidFill>
                <a:latin typeface="Arial"/>
                <a:ea typeface="Arial"/>
                <a:cs typeface="Arial"/>
              </a:defRPr>
            </a:defPPr>
          </a:lstStyle>
          <a:p xmlns:a="http://schemas.openxmlformats.org/drawingml/2006/main">
            <a:pPr>
              <a:defRPr sz="2325" b="1">
                <a:solidFill>
                  <a:srgbClr val="2447A6"/>
                </a:solidFill>
                <a:latin typeface="Arial"/>
                <a:ea typeface="Arial"/>
                <a:cs typeface="Arial"/>
              </a:defRPr>
            </a:pPr>
            <a:r>
              <a:rPr sz="2325" b="1">
                <a:solidFill>
                  <a:srgbClr val="2447A6"/>
                </a:solidFill>
                <a:latin typeface="Arial"/>
                <a:ea typeface="Arial"/>
                <a:cs typeface="Arial"/>
              </a:rPr>
              <a:t>При всяка промяна обновяваме спецификацията,</a:t>
            </a:r>
          </a:p>
          <a:p xmlns:a="http://schemas.openxmlformats.org/drawingml/2006/main">
            <a:pPr>
              <a:defRPr sz="2325" b="1">
                <a:solidFill>
                  <a:srgbClr val="2447A6"/>
                </a:solidFill>
                <a:latin typeface="Arial"/>
                <a:ea typeface="Arial"/>
                <a:cs typeface="Arial"/>
              </a:defRPr>
            </a:pPr>
            <a:r>
              <a:rPr sz="2325" b="1">
                <a:solidFill>
                  <a:srgbClr val="2447A6"/>
                </a:solidFill>
                <a:latin typeface="Arial"/>
                <a:ea typeface="Arial"/>
                <a:cs typeface="Arial"/>
              </a:rPr>
              <a:t>кода и тестовете заедно.</a:t>
            </a:r>
          </a:p>
        </p:txBody>
      </p:sp>
      <p:sp>
        <p:nvSpPr>
          <p:cNvPr id="3" name="">
            <a:extLst xmlns:a="http://schemas.openxmlformats.org/drawingml/2006/main">
              <a:ext uri="{FF2B5EF4-FFF2-40B4-BE49-F238E27FC236}">
                <a16:creationId xmlns:a16="http://schemas.microsoft.com/office/drawing/2014/main" id="{C3B1D534-DB5C-42E1-A5BF-969582603E8D}"/>
              </a:ext>
            </a:extLst>
          </p:cNvPr>
          <p:cNvSpPr>
            <a:spLocks xmlns:a="http://schemas.openxmlformats.org/drawingml/2006/main" noGrp="1"/>
          </p:cNvSpPr>
          <p:nvPr/>
        </p:nvSpPr>
        <p:spPr>
          <a:xfrm xmlns:a="http://schemas.openxmlformats.org/drawingml/2006/main">
            <a:off x="685800" y="3600450"/>
            <a:ext cx="2381250" cy="895350"/>
          </a:xfrm>
          <a:prstGeom xmlns:a="http://schemas.openxmlformats.org/drawingml/2006/main" prst="roundRect">
            <a:avLst>
              <a:gd name="adj" fmla="val 17021"/>
            </a:avLst>
          </a:prstGeom>
          <a:solidFill xmlns:a="http://schemas.openxmlformats.org/drawingml/2006/main">
            <a:srgbClr val="7041B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FE9A89-21F6-4C94-AF5D-ECC902DFB348}"/>
              </a:ext>
            </a:extLst>
          </p:cNvPr>
          <p:cNvSpPr>
            <a:spLocks xmlns:a="http://schemas.openxmlformats.org/drawingml/2006/main" noGrp="1"/>
          </p:cNvSpPr>
          <p:nvPr/>
        </p:nvSpPr>
        <p:spPr>
          <a:xfrm xmlns:a="http://schemas.openxmlformats.org/drawingml/2006/main">
            <a:off x="857250" y="3762375"/>
            <a:ext cx="2038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Всяка промяна</a:t>
            </a:r>
          </a:p>
        </p:txBody>
      </p:sp>
      <p:sp>
        <p:nvSpPr>
          <p:cNvPr id="5" name="">
            <a:extLst xmlns:a="http://schemas.openxmlformats.org/drawingml/2006/main">
              <a:ext uri="{FF2B5EF4-FFF2-40B4-BE49-F238E27FC236}">
                <a16:creationId xmlns:a16="http://schemas.microsoft.com/office/drawing/2014/main" id="{4CE0C376-9E7C-4926-AF1B-67E75AFFF77C}"/>
              </a:ext>
            </a:extLst>
          </p:cNvPr>
          <p:cNvSpPr>
            <a:spLocks xmlns:a="http://schemas.openxmlformats.org/drawingml/2006/main" noGrp="1"/>
          </p:cNvSpPr>
          <p:nvPr/>
        </p:nvSpPr>
        <p:spPr>
          <a:xfrm xmlns:a="http://schemas.openxmlformats.org/drawingml/2006/main">
            <a:off x="4162425" y="2324100"/>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7041B9"/>
                </a:solidFill>
                <a:latin typeface="Arial"/>
                <a:ea typeface="Arial"/>
                <a:cs typeface="Arial"/>
              </a:defRPr>
            </a:defPPr>
          </a:lstStyle>
          <a:p xmlns:a="http://schemas.openxmlformats.org/drawingml/2006/main">
            <a:pPr>
              <a:defRPr sz="1725" b="1">
                <a:solidFill>
                  <a:srgbClr val="7041B9"/>
                </a:solidFill>
                <a:latin typeface="Arial"/>
                <a:ea typeface="Arial"/>
                <a:cs typeface="Arial"/>
              </a:defRPr>
            </a:pPr>
            <a:r>
              <a:rPr sz="1725" b="1">
                <a:solidFill>
                  <a:srgbClr val="7041B9"/>
                </a:solidFill>
                <a:latin typeface="Arial"/>
                <a:ea typeface="Arial"/>
                <a:cs typeface="Arial"/>
              </a:rPr>
              <a:t>Агентът обновява заедно</a:t>
            </a:r>
          </a:p>
        </p:txBody>
      </p:sp>
      <p:sp>
        <p:nvSpPr>
          <p:cNvPr id="6" name="">
            <a:extLst xmlns:a="http://schemas.openxmlformats.org/drawingml/2006/main">
              <a:ext uri="{FF2B5EF4-FFF2-40B4-BE49-F238E27FC236}">
                <a16:creationId xmlns:a16="http://schemas.microsoft.com/office/drawing/2014/main" id="{1C5CFEB0-FC62-44B3-9179-40973F2FA402}"/>
              </a:ext>
            </a:extLst>
          </p:cNvPr>
          <p:cNvSpPr>
            <a:spLocks xmlns:a="http://schemas.openxmlformats.org/drawingml/2006/main" noGrp="1"/>
          </p:cNvSpPr>
          <p:nvPr/>
        </p:nvSpPr>
        <p:spPr>
          <a:xfrm xmlns:a="http://schemas.openxmlformats.org/drawingml/2006/main">
            <a:off x="4162425" y="2638425"/>
            <a:ext cx="3476625" cy="895350"/>
          </a:xfrm>
          <a:prstGeom xmlns:a="http://schemas.openxmlformats.org/drawingml/2006/main" prst="roundRect">
            <a:avLst>
              <a:gd name="adj" fmla="val 17021"/>
            </a:avLst>
          </a:prstGeom>
          <a:solidFill xmlns:a="http://schemas.openxmlformats.org/drawingml/2006/main">
            <a:srgbClr val="2447A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444732E-017E-420D-946B-1BA50AE66E04}"/>
              </a:ext>
            </a:extLst>
          </p:cNvPr>
          <p:cNvSpPr>
            <a:spLocks xmlns:a="http://schemas.openxmlformats.org/drawingml/2006/main" noGrp="1"/>
          </p:cNvSpPr>
          <p:nvPr/>
        </p:nvSpPr>
        <p:spPr>
          <a:xfrm xmlns:a="http://schemas.openxmlformats.org/drawingml/2006/main">
            <a:off x="4352925" y="2752725"/>
            <a:ext cx="3095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Спецификация</a:t>
            </a:r>
          </a:p>
        </p:txBody>
      </p:sp>
      <p:sp>
        <p:nvSpPr>
          <p:cNvPr id="8" name="">
            <a:extLst xmlns:a="http://schemas.openxmlformats.org/drawingml/2006/main">
              <a:ext uri="{FF2B5EF4-FFF2-40B4-BE49-F238E27FC236}">
                <a16:creationId xmlns:a16="http://schemas.microsoft.com/office/drawing/2014/main" id="{4419A2BF-3D89-41D0-8B2F-B00C0A1AEF10}"/>
              </a:ext>
            </a:extLst>
          </p:cNvPr>
          <p:cNvSpPr>
            <a:spLocks xmlns:a="http://schemas.openxmlformats.org/drawingml/2006/main" noGrp="1"/>
          </p:cNvSpPr>
          <p:nvPr/>
        </p:nvSpPr>
        <p:spPr>
          <a:xfrm xmlns:a="http://schemas.openxmlformats.org/drawingml/2006/main">
            <a:off x="4352925" y="3152775"/>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Описва изискванията</a:t>
            </a:r>
          </a:p>
        </p:txBody>
      </p:sp>
      <p:sp>
        <p:nvSpPr>
          <p:cNvPr id="9" name="">
            <a:extLst xmlns:a="http://schemas.openxmlformats.org/drawingml/2006/main">
              <a:ext uri="{FF2B5EF4-FFF2-40B4-BE49-F238E27FC236}">
                <a16:creationId xmlns:a16="http://schemas.microsoft.com/office/drawing/2014/main" id="{34442FA7-7163-404F-A81C-66911EC01015}"/>
              </a:ext>
            </a:extLst>
          </p:cNvPr>
          <p:cNvSpPr>
            <a:spLocks xmlns:a="http://schemas.openxmlformats.org/drawingml/2006/main" noGrp="1"/>
          </p:cNvSpPr>
          <p:nvPr/>
        </p:nvSpPr>
        <p:spPr>
          <a:xfrm xmlns:a="http://schemas.openxmlformats.org/drawingml/2006/main">
            <a:off x="4162425" y="3705225"/>
            <a:ext cx="3476625" cy="895350"/>
          </a:xfrm>
          <a:prstGeom xmlns:a="http://schemas.openxmlformats.org/drawingml/2006/main" prst="roundRect">
            <a:avLst>
              <a:gd name="adj" fmla="val 17021"/>
            </a:avLst>
          </a:prstGeom>
          <a:solidFill xmlns:a="http://schemas.openxmlformats.org/drawingml/2006/main">
            <a:srgbClr val="7041B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2056E6D-B6B1-40CC-9193-1A83E65776CB}"/>
              </a:ext>
            </a:extLst>
          </p:cNvPr>
          <p:cNvSpPr>
            <a:spLocks xmlns:a="http://schemas.openxmlformats.org/drawingml/2006/main" noGrp="1"/>
          </p:cNvSpPr>
          <p:nvPr/>
        </p:nvSpPr>
        <p:spPr>
          <a:xfrm xmlns:a="http://schemas.openxmlformats.org/drawingml/2006/main">
            <a:off x="4352925" y="3819525"/>
            <a:ext cx="3095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Код</a:t>
            </a:r>
          </a:p>
        </p:txBody>
      </p:sp>
      <p:sp>
        <p:nvSpPr>
          <p:cNvPr id="11" name="">
            <a:extLst xmlns:a="http://schemas.openxmlformats.org/drawingml/2006/main">
              <a:ext uri="{FF2B5EF4-FFF2-40B4-BE49-F238E27FC236}">
                <a16:creationId xmlns:a16="http://schemas.microsoft.com/office/drawing/2014/main" id="{31BCDCB9-226A-4C25-8823-4CACA5F6DF44}"/>
              </a:ext>
            </a:extLst>
          </p:cNvPr>
          <p:cNvSpPr>
            <a:spLocks xmlns:a="http://schemas.openxmlformats.org/drawingml/2006/main" noGrp="1"/>
          </p:cNvSpPr>
          <p:nvPr/>
        </p:nvSpPr>
        <p:spPr>
          <a:xfrm xmlns:a="http://schemas.openxmlformats.org/drawingml/2006/main">
            <a:off x="4352925" y="4219575"/>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Как работи приложението</a:t>
            </a:r>
          </a:p>
        </p:txBody>
      </p:sp>
      <p:sp>
        <p:nvSpPr>
          <p:cNvPr id="12" name="">
            <a:extLst xmlns:a="http://schemas.openxmlformats.org/drawingml/2006/main">
              <a:ext uri="{FF2B5EF4-FFF2-40B4-BE49-F238E27FC236}">
                <a16:creationId xmlns:a16="http://schemas.microsoft.com/office/drawing/2014/main" id="{D81B8312-C93F-425D-ACD9-C3A2658A92E1}"/>
              </a:ext>
            </a:extLst>
          </p:cNvPr>
          <p:cNvSpPr>
            <a:spLocks xmlns:a="http://schemas.openxmlformats.org/drawingml/2006/main" noGrp="1"/>
          </p:cNvSpPr>
          <p:nvPr/>
        </p:nvSpPr>
        <p:spPr>
          <a:xfrm xmlns:a="http://schemas.openxmlformats.org/drawingml/2006/main">
            <a:off x="4162425" y="4772025"/>
            <a:ext cx="3476625" cy="895350"/>
          </a:xfrm>
          <a:prstGeom xmlns:a="http://schemas.openxmlformats.org/drawingml/2006/main" prst="roundRect">
            <a:avLst>
              <a:gd name="adj" fmla="val 17021"/>
            </a:avLst>
          </a:prstGeom>
          <a:solidFill xmlns:a="http://schemas.openxmlformats.org/drawingml/2006/main">
            <a:srgbClr val="067E9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E898F83-CA16-40BC-BE70-AAA958A7D653}"/>
              </a:ext>
            </a:extLst>
          </p:cNvPr>
          <p:cNvSpPr>
            <a:spLocks xmlns:a="http://schemas.openxmlformats.org/drawingml/2006/main" noGrp="1"/>
          </p:cNvSpPr>
          <p:nvPr/>
        </p:nvSpPr>
        <p:spPr>
          <a:xfrm xmlns:a="http://schemas.openxmlformats.org/drawingml/2006/main">
            <a:off x="4352925" y="4886325"/>
            <a:ext cx="3095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Тестове</a:t>
            </a:r>
          </a:p>
        </p:txBody>
      </p:sp>
      <p:sp>
        <p:nvSpPr>
          <p:cNvPr id="14" name="">
            <a:extLst xmlns:a="http://schemas.openxmlformats.org/drawingml/2006/main">
              <a:ext uri="{FF2B5EF4-FFF2-40B4-BE49-F238E27FC236}">
                <a16:creationId xmlns:a16="http://schemas.microsoft.com/office/drawing/2014/main" id="{A99543E5-15E0-4B4C-AE28-8E99BC22AF0F}"/>
              </a:ext>
            </a:extLst>
          </p:cNvPr>
          <p:cNvSpPr>
            <a:spLocks xmlns:a="http://schemas.openxmlformats.org/drawingml/2006/main" noGrp="1"/>
          </p:cNvSpPr>
          <p:nvPr/>
        </p:nvSpPr>
        <p:spPr>
          <a:xfrm xmlns:a="http://schemas.openxmlformats.org/drawingml/2006/main">
            <a:off x="4352925" y="5286375"/>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Дали работи както искаме</a:t>
            </a:r>
          </a:p>
        </p:txBody>
      </p:sp>
      <p:sp>
        <p:nvSpPr>
          <p:cNvPr id="15" name="">
            <a:extLst xmlns:a="http://schemas.openxmlformats.org/drawingml/2006/main">
              <a:ext uri="{FF2B5EF4-FFF2-40B4-BE49-F238E27FC236}">
                <a16:creationId xmlns:a16="http://schemas.microsoft.com/office/drawing/2014/main" id="{873F644C-BB34-4508-A0F9-2CA8F66BB43C}"/>
              </a:ext>
            </a:extLst>
          </p:cNvPr>
          <p:cNvSpPr>
            <a:spLocks xmlns:a="http://schemas.openxmlformats.org/drawingml/2006/main" noGrp="1"/>
          </p:cNvSpPr>
          <p:nvPr/>
        </p:nvSpPr>
        <p:spPr>
          <a:xfrm xmlns:a="http://schemas.openxmlformats.org/drawingml/2006/main">
            <a:off x="9096375" y="3600450"/>
            <a:ext cx="2409825" cy="981075"/>
          </a:xfrm>
          <a:prstGeom xmlns:a="http://schemas.openxmlformats.org/drawingml/2006/main" prst="roundRect">
            <a:avLst>
              <a:gd name="adj" fmla="val 15534"/>
            </a:avLst>
          </a:prstGeom>
          <a:solidFill xmlns:a="http://schemas.openxmlformats.org/drawingml/2006/main">
            <a:srgbClr val="2447A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AA26070-1C85-4931-9207-3E57DE74DDE6}"/>
              </a:ext>
            </a:extLst>
          </p:cNvPr>
          <p:cNvSpPr>
            <a:spLocks xmlns:a="http://schemas.openxmlformats.org/drawingml/2006/main" noGrp="1"/>
          </p:cNvSpPr>
          <p:nvPr/>
        </p:nvSpPr>
        <p:spPr>
          <a:xfrm xmlns:a="http://schemas.openxmlformats.org/drawingml/2006/main">
            <a:off x="9267825" y="3762375"/>
            <a:ext cx="2066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Човешки</a:t>
            </a:r>
          </a:p>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преглед</a:t>
            </a:r>
          </a:p>
        </p:txBody>
      </p:sp>
      <p:sp>
        <p:nvSpPr>
          <p:cNvPr id="23" name="">
            <a:extLst xmlns:a="http://schemas.openxmlformats.org/drawingml/2006/main">
              <a:ext uri="{FF2B5EF4-FFF2-40B4-BE49-F238E27FC236}">
                <a16:creationId xmlns:a16="http://schemas.microsoft.com/office/drawing/2014/main" id="{A36A2251-7265-43B3-81EA-05BA239B6BC6}"/>
              </a:ext>
            </a:extLst>
          </p:cNvPr>
          <p:cNvSpPr>
            <a:spLocks xmlns:a="http://schemas.openxmlformats.org/drawingml/2006/main" noGrp="1"/>
          </p:cNvSpPr>
          <p:nvPr/>
        </p:nvSpPr>
        <p:spPr>
          <a:xfrm xmlns:a="http://schemas.openxmlformats.org/drawingml/2006/main">
            <a:off x="685800" y="4781550"/>
            <a:ext cx="2381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22442"/>
                </a:solidFill>
                <a:latin typeface="Arial"/>
                <a:ea typeface="Arial"/>
                <a:cs typeface="Arial"/>
              </a:defRPr>
            </a:defPPr>
          </a:lstStyle>
          <a:p xmlns:a="http://schemas.openxmlformats.org/drawingml/2006/main">
            <a:pPr>
              <a:defRPr sz="1950" b="0">
                <a:solidFill>
                  <a:srgbClr val="122442"/>
                </a:solidFill>
                <a:latin typeface="Arial"/>
                <a:ea typeface="Arial"/>
                <a:cs typeface="Arial"/>
              </a:defRPr>
            </a:pPr>
            <a:r>
              <a:rPr sz="1950" b="0">
                <a:solidFill>
                  <a:srgbClr val="122442"/>
                </a:solidFill>
                <a:latin typeface="Arial"/>
                <a:ea typeface="Arial"/>
                <a:cs typeface="Arial"/>
              </a:rPr>
              <a:t>Нова функция,</a:t>
            </a:r>
          </a:p>
          <a:p xmlns:a="http://schemas.openxmlformats.org/drawingml/2006/main">
            <a:pPr>
              <a:defRPr sz="1950" b="0">
                <a:solidFill>
                  <a:srgbClr val="122442"/>
                </a:solidFill>
                <a:latin typeface="Arial"/>
                <a:ea typeface="Arial"/>
                <a:cs typeface="Arial"/>
              </a:defRPr>
            </a:pPr>
            <a:r>
              <a:rPr sz="1950" b="0">
                <a:solidFill>
                  <a:srgbClr val="122442"/>
                </a:solidFill>
                <a:latin typeface="Arial"/>
                <a:ea typeface="Arial"/>
                <a:cs typeface="Arial"/>
              </a:rPr>
              <a:t>поправка на бъг</a:t>
            </a:r>
          </a:p>
          <a:p xmlns:a="http://schemas.openxmlformats.org/drawingml/2006/main">
            <a:pPr>
              <a:defRPr sz="1950" b="0">
                <a:solidFill>
                  <a:srgbClr val="122442"/>
                </a:solidFill>
                <a:latin typeface="Arial"/>
                <a:ea typeface="Arial"/>
                <a:cs typeface="Arial"/>
              </a:defRPr>
            </a:pPr>
            <a:r>
              <a:rPr sz="1950" b="0">
                <a:solidFill>
                  <a:srgbClr val="122442"/>
                </a:solidFill>
                <a:latin typeface="Arial"/>
                <a:ea typeface="Arial"/>
                <a:cs typeface="Arial"/>
              </a:rPr>
              <a:t>или ново правило.</a:t>
            </a:r>
          </a:p>
        </p:txBody>
      </p:sp>
      <p:sp>
        <p:nvSpPr>
          <p:cNvPr id="24" name="">
            <a:extLst xmlns:a="http://schemas.openxmlformats.org/drawingml/2006/main">
              <a:ext uri="{FF2B5EF4-FFF2-40B4-BE49-F238E27FC236}">
                <a16:creationId xmlns:a16="http://schemas.microsoft.com/office/drawing/2014/main" id="{4227E083-C81C-4A14-BD4F-154FC3556222}"/>
              </a:ext>
            </a:extLst>
          </p:cNvPr>
          <p:cNvSpPr>
            <a:spLocks xmlns:a="http://schemas.openxmlformats.org/drawingml/2006/main" noGrp="1"/>
          </p:cNvSpPr>
          <p:nvPr/>
        </p:nvSpPr>
        <p:spPr>
          <a:xfrm xmlns:a="http://schemas.openxmlformats.org/drawingml/2006/main">
            <a:off x="9096375" y="4867275"/>
            <a:ext cx="24098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22442"/>
                </a:solidFill>
                <a:latin typeface="Arial"/>
                <a:ea typeface="Arial"/>
                <a:cs typeface="Arial"/>
              </a:defRPr>
            </a:defPPr>
          </a:lstStyle>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Описанието трябва</a:t>
            </a:r>
          </a:p>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да е вярно и след</a:t>
            </a:r>
          </a:p>
          <a:p xmlns:a="http://schemas.openxmlformats.org/drawingml/2006/main">
            <a:pPr>
              <a:defRPr sz="1875" b="0">
                <a:solidFill>
                  <a:srgbClr val="122442"/>
                </a:solidFill>
                <a:latin typeface="Arial"/>
                <a:ea typeface="Arial"/>
                <a:cs typeface="Arial"/>
              </a:defRPr>
            </a:pPr>
            <a:r>
              <a:rPr sz="1875" b="0">
                <a:solidFill>
                  <a:srgbClr val="122442"/>
                </a:solidFill>
                <a:latin typeface="Arial"/>
                <a:ea typeface="Arial"/>
                <a:cs typeface="Arial"/>
              </a:rPr>
              <a:t>промяната.</a:t>
            </a:r>
          </a:p>
        </p:txBody>
      </p:sp>
      <p:sp>
        <p:nvSpPr>
          <p:cNvPr id="25" name="">
            <a:extLst xmlns:a="http://schemas.openxmlformats.org/drawingml/2006/main">
              <a:ext uri="{FF2B5EF4-FFF2-40B4-BE49-F238E27FC236}">
                <a16:creationId xmlns:a16="http://schemas.microsoft.com/office/drawing/2014/main" id="{B76505E8-AFB9-40E1-AD84-F84F427AAB42}"/>
              </a:ext>
            </a:extLst>
          </p:cNvPr>
          <p:cNvSpPr>
            <a:spLocks xmlns:a="http://schemas.openxmlformats.org/drawingml/2006/main" noGrp="1"/>
          </p:cNvSpPr>
          <p:nvPr/>
        </p:nvSpPr>
        <p:spPr>
          <a:xfrm xmlns:a="http://schemas.openxmlformats.org/drawingml/2006/main">
            <a:off x="685800" y="61055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447A6"/>
                </a:solidFill>
                <a:latin typeface="Arial"/>
                <a:ea typeface="Arial"/>
                <a:cs typeface="Arial"/>
              </a:defRPr>
            </a:defPPr>
          </a:lstStyle>
          <a:p xmlns:a="http://schemas.openxmlformats.org/drawingml/2006/main">
            <a:pPr>
              <a:defRPr sz="2025" b="1">
                <a:solidFill>
                  <a:srgbClr val="2447A6"/>
                </a:solidFill>
                <a:latin typeface="Arial"/>
                <a:ea typeface="Arial"/>
                <a:cs typeface="Arial"/>
              </a:defRPr>
            </a:pPr>
            <a:r>
              <a:rPr sz="2025" b="1">
                <a:solidFill>
                  <a:srgbClr val="2447A6"/>
                </a:solidFill>
                <a:latin typeface="Arial"/>
                <a:ea typeface="Arial"/>
                <a:cs typeface="Arial"/>
              </a:rPr>
              <a:t>Задачата е готова, когато и спецификацията е актуална.</a:t>
            </a:r>
          </a:p>
        </p:txBody>
      </p:sp>
      <p:sp>
        <p:nvSpPr>
          <p:cNvPr id="26" name="">
            <a:extLst xmlns:a="http://schemas.openxmlformats.org/drawingml/2006/main">
              <a:ext uri="{FF2B5EF4-FFF2-40B4-BE49-F238E27FC236}">
                <a16:creationId xmlns:a16="http://schemas.microsoft.com/office/drawing/2014/main" id="{49574B7B-94F7-478D-AA4E-92E2D0FE1C5A}"/>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defRPr sz="1275" b="0">
                <a:solidFill>
                  <a:srgbClr val="4D5C74"/>
                </a:solidFill>
                <a:latin typeface="Arial"/>
                <a:ea typeface="Arial"/>
                <a:cs typeface="Arial"/>
              </a:defRPr>
            </a:pPr>
            <a:r>
              <a:rPr sz="1275" b="0">
                <a:solidFill>
                  <a:srgbClr val="4D5C74"/>
                </a:solidFill>
                <a:latin typeface="Arial"/>
                <a:ea typeface="Arial"/>
                <a:cs typeface="Arial"/>
              </a:rPr>
              <a:t>15</a:t>
            </a:r>
          </a:p>
        </p:txBody>
      </p:sp>
    </p:spTree>
    <p:extLst>
      <p:ext uri="{BB962C8B-B14F-4D97-AF65-F5344CB8AC3E}">
        <p14:creationId xmlns:p14="http://schemas.microsoft.com/office/powerpoint/2010/main" val="665432256"/>
      </p:ext>
    </p:extLst>
  </p:cSld>
</p:sld>
</file>

<file path=ppt/slides/slide16.xml><?xml version="1.0" encoding="utf-8"?>
<p:sld xmlns:p="http://schemas.openxmlformats.org/presentationml/2006/main">
  <p:cSld>
    <p:bg>
      <p:bgPr>
        <a:gradFill xmlns:a="http://schemas.openxmlformats.org/drawingml/2006/main">
          <a:gsLst>
            <a:gs pos="0">
              <a:srgbClr val="101F52"/>
            </a:gs>
            <a:gs pos="53000">
              <a:srgbClr val="2447A6"/>
            </a:gs>
            <a:gs pos="100000">
              <a:srgbClr val="7041B9"/>
            </a:gs>
          </a:gsLst>
          <a:lin ang="1500000"/>
        </a:gra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4692C8E1-CD8F-41B1-84B6-E2FF586A05EB}"/>
              </a:ext>
            </a:extLst>
          </p:cNvPr>
          <p:cNvCxnSpPr>
            <a:stCxn xmlns:a="http://schemas.openxmlformats.org/drawingml/2006/main" id="5" idx="3"/>
            <a:endCxn xmlns:a="http://schemas.openxmlformats.org/drawingml/2006/main" id="7" idx="1"/>
          </p:cNvCxnSpPr>
          <p:nvPr/>
        </p:nvCxnSpPr>
        <p:spPr>
          <a:xfrm xmlns:a="http://schemas.openxmlformats.org/drawingml/2006/main">
            <a:off x="7667625" y="3133725"/>
            <a:ext cx="695325" cy="0"/>
          </a:xfrm>
          <a:prstGeom xmlns:a="http://schemas.openxmlformats.org/drawingml/2006/main" prst="straightConnector1">
            <a:avLst/>
          </a:prstGeom>
          <a:ln xmlns:a="http://schemas.openxmlformats.org/drawingml/2006/main" w="28575">
            <a:solidFill>
              <a:srgbClr val="A8D7FA"/>
            </a:solidFill>
            <a:tailEnd type="triangle" w="med" len="med"/>
          </a:ln>
        </p:spPr>
      </p:cxnSp>
      <p:cxnSp>
        <p:nvCxnSpPr>
          <p:cNvPr id="9" name="">
            <a:extLst xmlns:a="http://schemas.openxmlformats.org/drawingml/2006/main">
              <a:ext uri="{FF2B5EF4-FFF2-40B4-BE49-F238E27FC236}">
                <a16:creationId xmlns:a16="http://schemas.microsoft.com/office/drawing/2014/main" id="{114E84A9-CA2F-4AE9-B190-C5EEF435003C}"/>
              </a:ext>
            </a:extLst>
          </p:cNvPr>
          <p:cNvCxnSpPr>
            <a:stCxn xmlns:a="http://schemas.openxmlformats.org/drawingml/2006/main" id="3" idx="3"/>
            <a:endCxn xmlns:a="http://schemas.openxmlformats.org/drawingml/2006/main" id="5" idx="1"/>
          </p:cNvCxnSpPr>
          <p:nvPr/>
        </p:nvCxnSpPr>
        <p:spPr>
          <a:xfrm xmlns:a="http://schemas.openxmlformats.org/drawingml/2006/main">
            <a:off x="3829050" y="3133725"/>
            <a:ext cx="695325" cy="0"/>
          </a:xfrm>
          <a:prstGeom xmlns:a="http://schemas.openxmlformats.org/drawingml/2006/main" prst="straightConnector1">
            <a:avLst/>
          </a:prstGeom>
          <a:ln xmlns:a="http://schemas.openxmlformats.org/drawingml/2006/main" w="28575">
            <a:solidFill>
              <a:srgbClr val="A8D7FA"/>
            </a:solidFill>
            <a:tailEnd type="triangle" w="med" len="med"/>
          </a:ln>
        </p:spPr>
      </p:cxnSp>
      <p:sp>
        <p:nvSpPr>
          <p:cNvPr id="17" name="">
            <a:extLst xmlns:a="http://schemas.openxmlformats.org/drawingml/2006/main">
              <a:ext uri="{FF2B5EF4-FFF2-40B4-BE49-F238E27FC236}">
                <a16:creationId xmlns:a16="http://schemas.microsoft.com/office/drawing/2014/main" id="{BA3D8EEB-111F-4DCF-BFFC-E509F0BBDAB1}"/>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Защо SDD си струва за екипа</a:t>
            </a:r>
          </a:p>
        </p:txBody>
      </p:sp>
      <p:sp>
        <p:nvSpPr>
          <p:cNvPr id="2" name="">
            <a:extLst xmlns:a="http://schemas.openxmlformats.org/drawingml/2006/main">
              <a:ext uri="{FF2B5EF4-FFF2-40B4-BE49-F238E27FC236}">
                <a16:creationId xmlns:a16="http://schemas.microsoft.com/office/drawing/2014/main" id="{AA170865-5AF8-45D8-834F-421A57D9D535}"/>
              </a:ext>
            </a:extLst>
          </p:cNvPr>
          <p:cNvSpPr>
            <a:spLocks xmlns:a="http://schemas.openxmlformats.org/drawingml/2006/main" noGrp="1"/>
          </p:cNvSpPr>
          <p:nvPr/>
        </p:nvSpPr>
        <p:spPr>
          <a:xfrm xmlns:a="http://schemas.openxmlformats.org/drawingml/2006/main">
            <a:off x="685800" y="15240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FFFFF"/>
                </a:solidFill>
                <a:latin typeface="Arial"/>
                <a:ea typeface="Arial"/>
                <a:cs typeface="Arial"/>
              </a:defRPr>
            </a:def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Специалистът познава бизнеса и описва какво трябва да прави софтуерът.</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Агентът помага с кода. Това е софтуерно инженерство с AI.</a:t>
            </a:r>
          </a:p>
        </p:txBody>
      </p:sp>
      <p:sp>
        <p:nvSpPr>
          <p:cNvPr id="3" name="">
            <a:extLst xmlns:a="http://schemas.openxmlformats.org/drawingml/2006/main">
              <a:ext uri="{FF2B5EF4-FFF2-40B4-BE49-F238E27FC236}">
                <a16:creationId xmlns:a16="http://schemas.microsoft.com/office/drawing/2014/main" id="{38FA1E6A-0E40-4310-83E8-74ED3D1D8FC7}"/>
              </a:ext>
            </a:extLst>
          </p:cNvPr>
          <p:cNvSpPr>
            <a:spLocks xmlns:a="http://schemas.openxmlformats.org/drawingml/2006/main" noGrp="1"/>
          </p:cNvSpPr>
          <p:nvPr/>
        </p:nvSpPr>
        <p:spPr>
          <a:xfrm xmlns:a="http://schemas.openxmlformats.org/drawingml/2006/main">
            <a:off x="685800" y="2686050"/>
            <a:ext cx="3143250" cy="895350"/>
          </a:xfrm>
          <a:prstGeom xmlns:a="http://schemas.openxmlformats.org/drawingml/2006/main" prst="roundRect">
            <a:avLst>
              <a:gd name="adj" fmla="val 17021"/>
            </a:avLst>
          </a:prstGeom>
          <a:solidFill xmlns:a="http://schemas.openxmlformats.org/drawingml/2006/main">
            <a:srgbClr val="2447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ECB27AA-0C32-4CF8-B47C-88A18191D26E}"/>
              </a:ext>
            </a:extLst>
          </p:cNvPr>
          <p:cNvSpPr>
            <a:spLocks xmlns:a="http://schemas.openxmlformats.org/drawingml/2006/main" noGrp="1"/>
          </p:cNvSpPr>
          <p:nvPr/>
        </p:nvSpPr>
        <p:spPr>
          <a:xfrm xmlns:a="http://schemas.openxmlformats.org/drawingml/2006/main">
            <a:off x="857250" y="2847975"/>
            <a:ext cx="2800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Структура и правила</a:t>
            </a:r>
          </a:p>
        </p:txBody>
      </p:sp>
      <p:sp>
        <p:nvSpPr>
          <p:cNvPr id="5" name="">
            <a:extLst xmlns:a="http://schemas.openxmlformats.org/drawingml/2006/main">
              <a:ext uri="{FF2B5EF4-FFF2-40B4-BE49-F238E27FC236}">
                <a16:creationId xmlns:a16="http://schemas.microsoft.com/office/drawing/2014/main" id="{4096ADF7-7AFB-4217-942C-E1021EBC2295}"/>
              </a:ext>
            </a:extLst>
          </p:cNvPr>
          <p:cNvSpPr>
            <a:spLocks xmlns:a="http://schemas.openxmlformats.org/drawingml/2006/main" noGrp="1"/>
          </p:cNvSpPr>
          <p:nvPr/>
        </p:nvSpPr>
        <p:spPr>
          <a:xfrm xmlns:a="http://schemas.openxmlformats.org/drawingml/2006/main">
            <a:off x="4524375" y="2686050"/>
            <a:ext cx="3143250" cy="895350"/>
          </a:xfrm>
          <a:prstGeom xmlns:a="http://schemas.openxmlformats.org/drawingml/2006/main" prst="roundRect">
            <a:avLst>
              <a:gd name="adj" fmla="val 17021"/>
            </a:avLst>
          </a:prstGeom>
          <a:solidFill xmlns:a="http://schemas.openxmlformats.org/drawingml/2006/main">
            <a:srgbClr val="7041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5B6650B-CCD3-4F4D-A8AA-F9C080843BB2}"/>
              </a:ext>
            </a:extLst>
          </p:cNvPr>
          <p:cNvSpPr>
            <a:spLocks xmlns:a="http://schemas.openxmlformats.org/drawingml/2006/main" noGrp="1"/>
          </p:cNvSpPr>
          <p:nvPr/>
        </p:nvSpPr>
        <p:spPr>
          <a:xfrm xmlns:a="http://schemas.openxmlformats.org/drawingml/2006/main">
            <a:off x="4695825" y="2847975"/>
            <a:ext cx="2800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Знаем какво проверяваме</a:t>
            </a:r>
          </a:p>
        </p:txBody>
      </p:sp>
      <p:sp>
        <p:nvSpPr>
          <p:cNvPr id="7" name="">
            <a:extLst xmlns:a="http://schemas.openxmlformats.org/drawingml/2006/main">
              <a:ext uri="{FF2B5EF4-FFF2-40B4-BE49-F238E27FC236}">
                <a16:creationId xmlns:a16="http://schemas.microsoft.com/office/drawing/2014/main" id="{344F0260-5248-4556-B9AD-7A4551030CAA}"/>
              </a:ext>
            </a:extLst>
          </p:cNvPr>
          <p:cNvSpPr>
            <a:spLocks xmlns:a="http://schemas.openxmlformats.org/drawingml/2006/main" noGrp="1"/>
          </p:cNvSpPr>
          <p:nvPr/>
        </p:nvSpPr>
        <p:spPr>
          <a:xfrm xmlns:a="http://schemas.openxmlformats.org/drawingml/2006/main">
            <a:off x="8362950" y="2686050"/>
            <a:ext cx="3143250" cy="895350"/>
          </a:xfrm>
          <a:prstGeom xmlns:a="http://schemas.openxmlformats.org/drawingml/2006/main" prst="roundRect">
            <a:avLst>
              <a:gd name="adj" fmla="val 17021"/>
            </a:avLst>
          </a:prstGeom>
          <a:solidFill xmlns:a="http://schemas.openxmlformats.org/drawingml/2006/main">
            <a:srgbClr val="067E9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783E8C9-9A2A-475E-82E9-4C0B4FD52CA6}"/>
              </a:ext>
            </a:extLst>
          </p:cNvPr>
          <p:cNvSpPr>
            <a:spLocks xmlns:a="http://schemas.openxmlformats.org/drawingml/2006/main" noGrp="1"/>
          </p:cNvSpPr>
          <p:nvPr/>
        </p:nvSpPr>
        <p:spPr>
          <a:xfrm xmlns:a="http://schemas.openxmlformats.org/drawingml/2006/main">
            <a:off x="8534400" y="2847975"/>
            <a:ext cx="2800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По-лесна поддръжка</a:t>
            </a:r>
          </a:p>
        </p:txBody>
      </p:sp>
      <p:sp>
        <p:nvSpPr>
          <p:cNvPr id="11" name="">
            <a:extLst xmlns:a="http://schemas.openxmlformats.org/drawingml/2006/main">
              <a:ext uri="{FF2B5EF4-FFF2-40B4-BE49-F238E27FC236}">
                <a16:creationId xmlns:a16="http://schemas.microsoft.com/office/drawing/2014/main" id="{5E22ECFB-B881-4C95-9270-1AA23FD6C0DB}"/>
              </a:ext>
            </a:extLst>
          </p:cNvPr>
          <p:cNvSpPr>
            <a:spLocks xmlns:a="http://schemas.openxmlformats.org/drawingml/2006/main" noGrp="1"/>
          </p:cNvSpPr>
          <p:nvPr/>
        </p:nvSpPr>
        <p:spPr>
          <a:xfrm xmlns:a="http://schemas.openxmlformats.org/drawingml/2006/main">
            <a:off x="685800" y="3876675"/>
            <a:ext cx="314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FFFFF"/>
                </a:solidFill>
                <a:latin typeface="Arial"/>
                <a:ea typeface="Arial"/>
                <a:cs typeface="Arial"/>
              </a:defRPr>
            </a:def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Ограничаваме хаоса</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на vibe coding с ясни</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правила, малки задачи</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и добри практики.</a:t>
            </a:r>
          </a:p>
        </p:txBody>
      </p:sp>
      <p:sp>
        <p:nvSpPr>
          <p:cNvPr id="12" name="">
            <a:extLst xmlns:a="http://schemas.openxmlformats.org/drawingml/2006/main">
              <a:ext uri="{FF2B5EF4-FFF2-40B4-BE49-F238E27FC236}">
                <a16:creationId xmlns:a16="http://schemas.microsoft.com/office/drawing/2014/main" id="{9D8B127B-18AA-4A74-A866-2006010FF645}"/>
              </a:ext>
            </a:extLst>
          </p:cNvPr>
          <p:cNvSpPr>
            <a:spLocks xmlns:a="http://schemas.openxmlformats.org/drawingml/2006/main" noGrp="1"/>
          </p:cNvSpPr>
          <p:nvPr/>
        </p:nvSpPr>
        <p:spPr>
          <a:xfrm xmlns:a="http://schemas.openxmlformats.org/drawingml/2006/main">
            <a:off x="4524375" y="3876675"/>
            <a:ext cx="314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FFFFF"/>
                </a:solidFill>
                <a:latin typeface="Arial"/>
                <a:ea typeface="Arial"/>
                <a:cs typeface="Arial"/>
              </a:defRPr>
            </a:def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Агентът пише кода.</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Тестовете проверяват</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важните правила.</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Човекът оценява резултата.</a:t>
            </a:r>
          </a:p>
        </p:txBody>
      </p:sp>
      <p:sp>
        <p:nvSpPr>
          <p:cNvPr id="13" name="">
            <a:extLst xmlns:a="http://schemas.openxmlformats.org/drawingml/2006/main">
              <a:ext uri="{FF2B5EF4-FFF2-40B4-BE49-F238E27FC236}">
                <a16:creationId xmlns:a16="http://schemas.microsoft.com/office/drawing/2014/main" id="{098AFDE3-3A56-4599-A44F-8B63705EC4F7}"/>
              </a:ext>
            </a:extLst>
          </p:cNvPr>
          <p:cNvSpPr>
            <a:spLocks xmlns:a="http://schemas.openxmlformats.org/drawingml/2006/main" noGrp="1"/>
          </p:cNvSpPr>
          <p:nvPr/>
        </p:nvSpPr>
        <p:spPr>
          <a:xfrm xmlns:a="http://schemas.openxmlformats.org/drawingml/2006/main">
            <a:off x="8362950" y="3876675"/>
            <a:ext cx="314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FFFFF"/>
                </a:solidFill>
                <a:latin typeface="Arial"/>
                <a:ea typeface="Arial"/>
                <a:cs typeface="Arial"/>
              </a:defRPr>
            </a:def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Следващият колега</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или агент разбира</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какво прави приложението</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и защо.</a:t>
            </a:r>
          </a:p>
        </p:txBody>
      </p:sp>
      <p:sp>
        <p:nvSpPr>
          <p:cNvPr id="14" name="">
            <a:extLst xmlns:a="http://schemas.openxmlformats.org/drawingml/2006/main">
              <a:ext uri="{FF2B5EF4-FFF2-40B4-BE49-F238E27FC236}">
                <a16:creationId xmlns:a16="http://schemas.microsoft.com/office/drawing/2014/main" id="{53F9F99C-CA7C-4E12-95F1-D2CD595DAFAD}"/>
              </a:ext>
            </a:extLst>
          </p:cNvPr>
          <p:cNvSpPr>
            <a:spLocks xmlns:a="http://schemas.openxmlformats.org/drawingml/2006/main" noGrp="1"/>
          </p:cNvSpPr>
          <p:nvPr/>
        </p:nvSpPr>
        <p:spPr>
          <a:xfrm xmlns:a="http://schemas.openxmlformats.org/drawingml/2006/main">
            <a:off x="685800" y="5410200"/>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На теория: същата спецификация, нова технология</a:t>
            </a:r>
          </a:p>
        </p:txBody>
      </p:sp>
      <p:sp>
        <p:nvSpPr>
          <p:cNvPr id="15" name="">
            <a:extLst xmlns:a="http://schemas.openxmlformats.org/drawingml/2006/main">
              <a:ext uri="{FF2B5EF4-FFF2-40B4-BE49-F238E27FC236}">
                <a16:creationId xmlns:a16="http://schemas.microsoft.com/office/drawing/2014/main" id="{40A583E1-20FC-46C6-95D4-C83EADCDB997}"/>
              </a:ext>
            </a:extLst>
          </p:cNvPr>
          <p:cNvSpPr>
            <a:spLocks xmlns:a="http://schemas.openxmlformats.org/drawingml/2006/main" noGrp="1"/>
          </p:cNvSpPr>
          <p:nvPr/>
        </p:nvSpPr>
        <p:spPr>
          <a:xfrm xmlns:a="http://schemas.openxmlformats.org/drawingml/2006/main">
            <a:off x="685800" y="58959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Агентът може да изгради кода отначало, например от Python към JavaScript.</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Новото приложение отново минава през тестове и човешки преглед.</a:t>
            </a:r>
          </a:p>
        </p:txBody>
      </p:sp>
      <p:sp>
        <p:nvSpPr>
          <p:cNvPr id="16" name="">
            <a:extLst xmlns:a="http://schemas.openxmlformats.org/drawingml/2006/main">
              <a:ext uri="{FF2B5EF4-FFF2-40B4-BE49-F238E27FC236}">
                <a16:creationId xmlns:a16="http://schemas.microsoft.com/office/drawing/2014/main" id="{67E7438F-5010-469F-9E9C-C53B061750A5}"/>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CADCFC"/>
                </a:solidFill>
                <a:latin typeface="Arial"/>
                <a:ea typeface="Arial"/>
                <a:cs typeface="Arial"/>
              </a:defRPr>
            </a:defPPr>
          </a:lstStyle>
          <a:p xmlns:a="http://schemas.openxmlformats.org/drawingml/2006/main">
            <a:pPr>
              <a:defRPr sz="1275" b="0">
                <a:solidFill>
                  <a:srgbClr val="CADCFC"/>
                </a:solidFill>
                <a:latin typeface="Arial"/>
                <a:ea typeface="Arial"/>
                <a:cs typeface="Arial"/>
              </a:defRPr>
            </a:pPr>
            <a:r>
              <a:rPr sz="1275" b="0">
                <a:solidFill>
                  <a:srgbClr val="CADCFC"/>
                </a:solidFill>
                <a:latin typeface="Arial"/>
                <a:ea typeface="Arial"/>
                <a:cs typeface="Arial"/>
              </a:rPr>
              <a:t>16</a:t>
            </a:r>
          </a:p>
        </p:txBody>
      </p:sp>
    </p:spTree>
    <p:extLst>
      <p:ext uri="{BB962C8B-B14F-4D97-AF65-F5344CB8AC3E}">
        <p14:creationId xmlns:p14="http://schemas.microsoft.com/office/powerpoint/2010/main" val="727863494"/>
      </p:ext>
    </p:extLst>
  </p:cSld>
</p:sld>
</file>

<file path=ppt/slides/slide17.xml><?xml version="1.0" encoding="utf-8"?>
<p:sld xmlns:p="http://schemas.openxmlformats.org/presentationml/2006/main">
  <p:cSld>
    <p:bg>
      <p:bgPr>
        <a:gradFill xmlns:a="http://schemas.openxmlformats.org/drawingml/2006/main">
          <a:gsLst>
            <a:gs pos="0">
              <a:srgbClr val="101F52"/>
            </a:gs>
            <a:gs pos="53000">
              <a:srgbClr val="2447A6"/>
            </a:gs>
            <a:gs pos="100000">
              <a:srgbClr val="7041B9"/>
            </a:gs>
          </a:gsLst>
          <a:lin ang="1500000"/>
        </a:gra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4FCAB3F1-B356-4665-B4D5-433ABB3E0BF6}"/>
              </a:ext>
            </a:extLst>
          </p:cNvPr>
          <p:cNvCxnSpPr>
            <a:stCxn xmlns:a="http://schemas.openxmlformats.org/drawingml/2006/main" id="5" idx="3"/>
            <a:endCxn xmlns:a="http://schemas.openxmlformats.org/drawingml/2006/main" id="7" idx="1"/>
          </p:cNvCxnSpPr>
          <p:nvPr/>
        </p:nvCxnSpPr>
        <p:spPr>
          <a:xfrm xmlns:a="http://schemas.openxmlformats.org/drawingml/2006/main">
            <a:off x="7667625" y="3019425"/>
            <a:ext cx="695325" cy="0"/>
          </a:xfrm>
          <a:prstGeom xmlns:a="http://schemas.openxmlformats.org/drawingml/2006/main" prst="straightConnector1">
            <a:avLst/>
          </a:prstGeom>
          <a:ln xmlns:a="http://schemas.openxmlformats.org/drawingml/2006/main" w="28575">
            <a:solidFill>
              <a:srgbClr val="A8D7FA"/>
            </a:solidFill>
            <a:headEnd type="triangle" w="med" len="med"/>
            <a:tailEnd type="triangle" w="med" len="med"/>
          </a:ln>
        </p:spPr>
      </p:cxnSp>
      <p:cxnSp>
        <p:nvCxnSpPr>
          <p:cNvPr id="9" name="">
            <a:extLst xmlns:a="http://schemas.openxmlformats.org/drawingml/2006/main">
              <a:ext uri="{FF2B5EF4-FFF2-40B4-BE49-F238E27FC236}">
                <a16:creationId xmlns:a16="http://schemas.microsoft.com/office/drawing/2014/main" id="{2CDF1A29-05AA-48AE-8C32-6B670A020E29}"/>
              </a:ext>
            </a:extLst>
          </p:cNvPr>
          <p:cNvCxnSpPr>
            <a:stCxn xmlns:a="http://schemas.openxmlformats.org/drawingml/2006/main" id="3" idx="3"/>
            <a:endCxn xmlns:a="http://schemas.openxmlformats.org/drawingml/2006/main" id="5" idx="1"/>
          </p:cNvCxnSpPr>
          <p:nvPr/>
        </p:nvCxnSpPr>
        <p:spPr>
          <a:xfrm xmlns:a="http://schemas.openxmlformats.org/drawingml/2006/main">
            <a:off x="3829050" y="3019425"/>
            <a:ext cx="695325" cy="0"/>
          </a:xfrm>
          <a:prstGeom xmlns:a="http://schemas.openxmlformats.org/drawingml/2006/main" prst="straightConnector1">
            <a:avLst/>
          </a:prstGeom>
          <a:ln xmlns:a="http://schemas.openxmlformats.org/drawingml/2006/main" w="28575">
            <a:solidFill>
              <a:srgbClr val="A8D7FA"/>
            </a:solidFill>
            <a:headEnd type="triangle" w="med" len="med"/>
            <a:tailEnd type="triangle" w="med" len="med"/>
          </a:ln>
        </p:spPr>
      </p:cxnSp>
      <p:sp>
        <p:nvSpPr>
          <p:cNvPr id="20" name="">
            <a:extLst xmlns:a="http://schemas.openxmlformats.org/drawingml/2006/main">
              <a:ext uri="{FF2B5EF4-FFF2-40B4-BE49-F238E27FC236}">
                <a16:creationId xmlns:a16="http://schemas.microsoft.com/office/drawing/2014/main" id="{C3897E33-CFD6-41E6-AEA5-2AC2AEA9776F}"/>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Как се променя работата на разработчика</a:t>
            </a:r>
          </a:p>
        </p:txBody>
      </p:sp>
      <p:sp>
        <p:nvSpPr>
          <p:cNvPr id="2" name="">
            <a:extLst xmlns:a="http://schemas.openxmlformats.org/drawingml/2006/main">
              <a:ext uri="{FF2B5EF4-FFF2-40B4-BE49-F238E27FC236}">
                <a16:creationId xmlns:a16="http://schemas.microsoft.com/office/drawing/2014/main" id="{8B4C32FE-EFB7-4FB7-93E7-CE72E65822BC}"/>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FFFFF"/>
                </a:solidFill>
                <a:latin typeface="Arial"/>
                <a:ea typeface="Arial"/>
                <a:cs typeface="Arial"/>
              </a:defRPr>
            </a:def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Човекът остава в центъра. Експертизата е също толкова важна и с AI.</a:t>
            </a:r>
          </a:p>
        </p:txBody>
      </p:sp>
      <p:sp>
        <p:nvSpPr>
          <p:cNvPr id="3" name="">
            <a:extLst xmlns:a="http://schemas.openxmlformats.org/drawingml/2006/main">
              <a:ext uri="{FF2B5EF4-FFF2-40B4-BE49-F238E27FC236}">
                <a16:creationId xmlns:a16="http://schemas.microsoft.com/office/drawing/2014/main" id="{C7F8AF2B-C352-4E75-BD88-F4C6CF067162}"/>
              </a:ext>
            </a:extLst>
          </p:cNvPr>
          <p:cNvSpPr>
            <a:spLocks xmlns:a="http://schemas.openxmlformats.org/drawingml/2006/main" noGrp="1"/>
          </p:cNvSpPr>
          <p:nvPr/>
        </p:nvSpPr>
        <p:spPr>
          <a:xfrm xmlns:a="http://schemas.openxmlformats.org/drawingml/2006/main">
            <a:off x="685800" y="2543175"/>
            <a:ext cx="3143250" cy="952500"/>
          </a:xfrm>
          <a:prstGeom xmlns:a="http://schemas.openxmlformats.org/drawingml/2006/main" prst="roundRect">
            <a:avLst>
              <a:gd name="adj" fmla="val 16000"/>
            </a:avLst>
          </a:prstGeom>
          <a:solidFill xmlns:a="http://schemas.openxmlformats.org/drawingml/2006/main">
            <a:srgbClr val="2447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4AE19AA-191E-4039-BC1A-AE4E0C76E193}"/>
              </a:ext>
            </a:extLst>
          </p:cNvPr>
          <p:cNvSpPr>
            <a:spLocks xmlns:a="http://schemas.openxmlformats.org/drawingml/2006/main" noGrp="1"/>
          </p:cNvSpPr>
          <p:nvPr/>
        </p:nvSpPr>
        <p:spPr>
          <a:xfrm xmlns:a="http://schemas.openxmlformats.org/drawingml/2006/main">
            <a:off x="857250" y="2705100"/>
            <a:ext cx="2800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Бизнесът</a:t>
            </a:r>
          </a:p>
        </p:txBody>
      </p:sp>
      <p:sp>
        <p:nvSpPr>
          <p:cNvPr id="5" name="">
            <a:extLst xmlns:a="http://schemas.openxmlformats.org/drawingml/2006/main">
              <a:ext uri="{FF2B5EF4-FFF2-40B4-BE49-F238E27FC236}">
                <a16:creationId xmlns:a16="http://schemas.microsoft.com/office/drawing/2014/main" id="{E49124AD-DCAA-4C14-B8D0-310E3B36DA0C}"/>
              </a:ext>
            </a:extLst>
          </p:cNvPr>
          <p:cNvSpPr>
            <a:spLocks xmlns:a="http://schemas.openxmlformats.org/drawingml/2006/main" noGrp="1"/>
          </p:cNvSpPr>
          <p:nvPr/>
        </p:nvSpPr>
        <p:spPr>
          <a:xfrm xmlns:a="http://schemas.openxmlformats.org/drawingml/2006/main">
            <a:off x="4524375" y="2543175"/>
            <a:ext cx="3143250" cy="952500"/>
          </a:xfrm>
          <a:prstGeom xmlns:a="http://schemas.openxmlformats.org/drawingml/2006/main" prst="roundRect">
            <a:avLst>
              <a:gd name="adj" fmla="val 16000"/>
            </a:avLst>
          </a:prstGeom>
          <a:solidFill xmlns:a="http://schemas.openxmlformats.org/drawingml/2006/main">
            <a:srgbClr val="067E9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7C1D4C0-6DFA-4801-815F-E76B1E80060F}"/>
              </a:ext>
            </a:extLst>
          </p:cNvPr>
          <p:cNvSpPr>
            <a:spLocks xmlns:a="http://schemas.openxmlformats.org/drawingml/2006/main" noGrp="1"/>
          </p:cNvSpPr>
          <p:nvPr/>
        </p:nvSpPr>
        <p:spPr>
          <a:xfrm xmlns:a="http://schemas.openxmlformats.org/drawingml/2006/main">
            <a:off x="4695825" y="2705100"/>
            <a:ext cx="2800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Разработчикът</a:t>
            </a:r>
          </a:p>
        </p:txBody>
      </p:sp>
      <p:sp>
        <p:nvSpPr>
          <p:cNvPr id="7" name="">
            <a:extLst xmlns:a="http://schemas.openxmlformats.org/drawingml/2006/main">
              <a:ext uri="{FF2B5EF4-FFF2-40B4-BE49-F238E27FC236}">
                <a16:creationId xmlns:a16="http://schemas.microsoft.com/office/drawing/2014/main" id="{E3BBBB87-FF2F-4ADE-AA7F-83C9121E7CB8}"/>
              </a:ext>
            </a:extLst>
          </p:cNvPr>
          <p:cNvSpPr>
            <a:spLocks xmlns:a="http://schemas.openxmlformats.org/drawingml/2006/main" noGrp="1"/>
          </p:cNvSpPr>
          <p:nvPr/>
        </p:nvSpPr>
        <p:spPr>
          <a:xfrm xmlns:a="http://schemas.openxmlformats.org/drawingml/2006/main">
            <a:off x="8362950" y="2543175"/>
            <a:ext cx="3143250" cy="952500"/>
          </a:xfrm>
          <a:prstGeom xmlns:a="http://schemas.openxmlformats.org/drawingml/2006/main" prst="roundRect">
            <a:avLst>
              <a:gd name="adj" fmla="val 16000"/>
            </a:avLst>
          </a:prstGeom>
          <a:solidFill xmlns:a="http://schemas.openxmlformats.org/drawingml/2006/main">
            <a:srgbClr val="7041B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A36EA84-5D98-4549-BD4D-EC33F2F1243F}"/>
              </a:ext>
            </a:extLst>
          </p:cNvPr>
          <p:cNvSpPr>
            <a:spLocks xmlns:a="http://schemas.openxmlformats.org/drawingml/2006/main" noGrp="1"/>
          </p:cNvSpPr>
          <p:nvPr/>
        </p:nvSpPr>
        <p:spPr>
          <a:xfrm xmlns:a="http://schemas.openxmlformats.org/drawingml/2006/main">
            <a:off x="8534400" y="2705100"/>
            <a:ext cx="2800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AI агентът</a:t>
            </a:r>
          </a:p>
        </p:txBody>
      </p:sp>
      <p:sp>
        <p:nvSpPr>
          <p:cNvPr id="11" name="">
            <a:extLst xmlns:a="http://schemas.openxmlformats.org/drawingml/2006/main">
              <a:ext uri="{FF2B5EF4-FFF2-40B4-BE49-F238E27FC236}">
                <a16:creationId xmlns:a16="http://schemas.microsoft.com/office/drawing/2014/main" id="{A7C8C416-6979-44CE-A035-8C4D3A158413}"/>
              </a:ext>
            </a:extLst>
          </p:cNvPr>
          <p:cNvSpPr>
            <a:spLocks xmlns:a="http://schemas.openxmlformats.org/drawingml/2006/main" noGrp="1"/>
          </p:cNvSpPr>
          <p:nvPr/>
        </p:nvSpPr>
        <p:spPr>
          <a:xfrm xmlns:a="http://schemas.openxmlformats.org/drawingml/2006/main">
            <a:off x="685800" y="3762375"/>
            <a:ext cx="314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FFFFFF"/>
                </a:solidFill>
                <a:latin typeface="Arial"/>
                <a:ea typeface="Arial"/>
                <a:cs typeface="Arial"/>
              </a:defRPr>
            </a:def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Споделя нуждите.</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Обсъждаме изискванията</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и бизнес правилата.</a:t>
            </a:r>
          </a:p>
        </p:txBody>
      </p:sp>
      <p:sp>
        <p:nvSpPr>
          <p:cNvPr id="12" name="">
            <a:extLst xmlns:a="http://schemas.openxmlformats.org/drawingml/2006/main">
              <a:ext uri="{FF2B5EF4-FFF2-40B4-BE49-F238E27FC236}">
                <a16:creationId xmlns:a16="http://schemas.microsoft.com/office/drawing/2014/main" id="{080805E5-F534-4B2E-9239-C5217CB5E617}"/>
              </a:ext>
            </a:extLst>
          </p:cNvPr>
          <p:cNvSpPr>
            <a:spLocks xmlns:a="http://schemas.openxmlformats.org/drawingml/2006/main" noGrp="1"/>
          </p:cNvSpPr>
          <p:nvPr/>
        </p:nvSpPr>
        <p:spPr>
          <a:xfrm xmlns:a="http://schemas.openxmlformats.org/drawingml/2006/main">
            <a:off x="4524375" y="3762375"/>
            <a:ext cx="314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Създава спецификацията.</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Избира как да се реализира.</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Насочва агента и проверява</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крайния резултат.</a:t>
            </a:r>
          </a:p>
        </p:txBody>
      </p:sp>
      <p:sp>
        <p:nvSpPr>
          <p:cNvPr id="13" name="">
            <a:extLst xmlns:a="http://schemas.openxmlformats.org/drawingml/2006/main">
              <a:ext uri="{FF2B5EF4-FFF2-40B4-BE49-F238E27FC236}">
                <a16:creationId xmlns:a16="http://schemas.microsoft.com/office/drawing/2014/main" id="{A692C5C2-1AD1-4AF1-BBC6-6EA39834D879}"/>
              </a:ext>
            </a:extLst>
          </p:cNvPr>
          <p:cNvSpPr>
            <a:spLocks xmlns:a="http://schemas.openxmlformats.org/drawingml/2006/main" noGrp="1"/>
          </p:cNvSpPr>
          <p:nvPr/>
        </p:nvSpPr>
        <p:spPr>
          <a:xfrm xmlns:a="http://schemas.openxmlformats.org/drawingml/2006/main">
            <a:off x="8362950" y="3762375"/>
            <a:ext cx="314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Пише код и тестове</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по одобрената спецификация.</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Човекът преглежда</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и приема резултата.</a:t>
            </a:r>
          </a:p>
        </p:txBody>
      </p:sp>
      <p:sp>
        <p:nvSpPr>
          <p:cNvPr id="14" name="">
            <a:extLst xmlns:a="http://schemas.openxmlformats.org/drawingml/2006/main">
              <a:ext uri="{FF2B5EF4-FFF2-40B4-BE49-F238E27FC236}">
                <a16:creationId xmlns:a16="http://schemas.microsoft.com/office/drawing/2014/main" id="{D918A1AD-F9C0-4238-89E9-CFE08F9A40FE}"/>
              </a:ext>
            </a:extLst>
          </p:cNvPr>
          <p:cNvSpPr>
            <a:spLocks xmlns:a="http://schemas.openxmlformats.org/drawingml/2006/main" noGrp="1"/>
          </p:cNvSpPr>
          <p:nvPr/>
        </p:nvSpPr>
        <p:spPr>
          <a:xfrm xmlns:a="http://schemas.openxmlformats.org/drawingml/2006/main">
            <a:off x="685800" y="5095875"/>
            <a:ext cx="5000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B9DFFF"/>
                </a:solidFill>
                <a:latin typeface="Arial"/>
                <a:ea typeface="Arial"/>
                <a:cs typeface="Arial"/>
              </a:defRPr>
            </a:defPPr>
          </a:lstStyle>
          <a:p xmlns:a="http://schemas.openxmlformats.org/drawingml/2006/main">
            <a:pPr>
              <a:defRPr sz="1950" b="1">
                <a:solidFill>
                  <a:srgbClr val="B9DFFF"/>
                </a:solidFill>
                <a:latin typeface="Arial"/>
                <a:ea typeface="Arial"/>
                <a:cs typeface="Arial"/>
              </a:defRPr>
            </a:pPr>
            <a:r>
              <a:rPr sz="1950" b="1">
                <a:solidFill>
                  <a:srgbClr val="B9DFFF"/>
                </a:solidFill>
                <a:latin typeface="Arial"/>
                <a:ea typeface="Arial"/>
                <a:cs typeface="Arial"/>
              </a:rPr>
              <a:t>Познаване на домейна</a:t>
            </a:r>
          </a:p>
        </p:txBody>
      </p:sp>
      <p:sp>
        <p:nvSpPr>
          <p:cNvPr id="15" name="">
            <a:extLst xmlns:a="http://schemas.openxmlformats.org/drawingml/2006/main">
              <a:ext uri="{FF2B5EF4-FFF2-40B4-BE49-F238E27FC236}">
                <a16:creationId xmlns:a16="http://schemas.microsoft.com/office/drawing/2014/main" id="{94AB7640-7928-45F0-919A-1E856C0FF917}"/>
              </a:ext>
            </a:extLst>
          </p:cNvPr>
          <p:cNvSpPr>
            <a:spLocks xmlns:a="http://schemas.openxmlformats.org/drawingml/2006/main" noGrp="1"/>
          </p:cNvSpPr>
          <p:nvPr/>
        </p:nvSpPr>
        <p:spPr>
          <a:xfrm xmlns:a="http://schemas.openxmlformats.org/drawingml/2006/main">
            <a:off x="685800" y="5543550"/>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FFFFFF"/>
                </a:solidFill>
                <a:latin typeface="Arial"/>
                <a:ea typeface="Arial"/>
                <a:cs typeface="Arial"/>
              </a:defRPr>
            </a:def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Разговорите с бизнеса и опитът</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водят до добра спецификация.</a:t>
            </a:r>
          </a:p>
        </p:txBody>
      </p:sp>
      <p:sp>
        <p:nvSpPr>
          <p:cNvPr id="16" name="">
            <a:extLst xmlns:a="http://schemas.openxmlformats.org/drawingml/2006/main">
              <a:ext uri="{FF2B5EF4-FFF2-40B4-BE49-F238E27FC236}">
                <a16:creationId xmlns:a16="http://schemas.microsoft.com/office/drawing/2014/main" id="{786D0917-CBA1-4D7F-A6D7-00A920881D98}"/>
              </a:ext>
            </a:extLst>
          </p:cNvPr>
          <p:cNvSpPr>
            <a:spLocks xmlns:a="http://schemas.openxmlformats.org/drawingml/2006/main" noGrp="1"/>
          </p:cNvSpPr>
          <p:nvPr/>
        </p:nvSpPr>
        <p:spPr>
          <a:xfrm xmlns:a="http://schemas.openxmlformats.org/drawingml/2006/main">
            <a:off x="6505575" y="5095875"/>
            <a:ext cx="5000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B9DFFF"/>
                </a:solidFill>
                <a:latin typeface="Arial"/>
                <a:ea typeface="Arial"/>
                <a:cs typeface="Arial"/>
              </a:defRPr>
            </a:defPPr>
          </a:lstStyle>
          <a:p xmlns:a="http://schemas.openxmlformats.org/drawingml/2006/main">
            <a:pPr>
              <a:defRPr sz="1950" b="1">
                <a:solidFill>
                  <a:srgbClr val="B9DFFF"/>
                </a:solidFill>
                <a:latin typeface="Arial"/>
                <a:ea typeface="Arial"/>
                <a:cs typeface="Arial"/>
              </a:defRPr>
            </a:pPr>
            <a:r>
              <a:rPr sz="1950" b="1">
                <a:solidFill>
                  <a:srgbClr val="B9DFFF"/>
                </a:solidFill>
                <a:latin typeface="Arial"/>
                <a:ea typeface="Arial"/>
                <a:cs typeface="Arial"/>
              </a:rPr>
              <a:t>Инженерна преценка</a:t>
            </a:r>
          </a:p>
        </p:txBody>
      </p:sp>
      <p:sp>
        <p:nvSpPr>
          <p:cNvPr id="17" name="">
            <a:extLst xmlns:a="http://schemas.openxmlformats.org/drawingml/2006/main">
              <a:ext uri="{FF2B5EF4-FFF2-40B4-BE49-F238E27FC236}">
                <a16:creationId xmlns:a16="http://schemas.microsoft.com/office/drawing/2014/main" id="{A45726DE-E5BB-4788-A1F7-C994E85F9295}"/>
              </a:ext>
            </a:extLst>
          </p:cNvPr>
          <p:cNvSpPr>
            <a:spLocks xmlns:a="http://schemas.openxmlformats.org/drawingml/2006/main" noGrp="1"/>
          </p:cNvSpPr>
          <p:nvPr/>
        </p:nvSpPr>
        <p:spPr>
          <a:xfrm xmlns:a="http://schemas.openxmlformats.org/drawingml/2006/main">
            <a:off x="6505575" y="5543550"/>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FFFFFF"/>
                </a:solidFill>
                <a:latin typeface="Arial"/>
                <a:ea typeface="Arial"/>
                <a:cs typeface="Arial"/>
              </a:defRPr>
            </a:def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Знаем какво да изградим, как</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и как да проверим, че работи.</a:t>
            </a:r>
          </a:p>
        </p:txBody>
      </p:sp>
      <p:sp>
        <p:nvSpPr>
          <p:cNvPr id="18" name="">
            <a:extLst xmlns:a="http://schemas.openxmlformats.org/drawingml/2006/main">
              <a:ext uri="{FF2B5EF4-FFF2-40B4-BE49-F238E27FC236}">
                <a16:creationId xmlns:a16="http://schemas.microsoft.com/office/drawing/2014/main" id="{C4C10401-B72E-4345-A14B-4C8463B43B3C}"/>
              </a:ext>
            </a:extLst>
          </p:cNvPr>
          <p:cNvSpPr>
            <a:spLocks xmlns:a="http://schemas.openxmlformats.org/drawingml/2006/main" noGrp="1"/>
          </p:cNvSpPr>
          <p:nvPr/>
        </p:nvSpPr>
        <p:spPr>
          <a:xfrm xmlns:a="http://schemas.openxmlformats.org/drawingml/2006/main">
            <a:off x="685800" y="631507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AI помага с реализацията. Човекът носи отговорността за решенията.</a:t>
            </a:r>
          </a:p>
        </p:txBody>
      </p:sp>
      <p:sp>
        <p:nvSpPr>
          <p:cNvPr id="19" name="">
            <a:extLst xmlns:a="http://schemas.openxmlformats.org/drawingml/2006/main">
              <a:ext uri="{FF2B5EF4-FFF2-40B4-BE49-F238E27FC236}">
                <a16:creationId xmlns:a16="http://schemas.microsoft.com/office/drawing/2014/main" id="{E764674A-EC4B-49B0-8ACD-967050BE2544}"/>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CADCFC"/>
                </a:solidFill>
                <a:latin typeface="Arial"/>
                <a:ea typeface="Arial"/>
                <a:cs typeface="Arial"/>
              </a:defRPr>
            </a:defPPr>
          </a:lstStyle>
          <a:p xmlns:a="http://schemas.openxmlformats.org/drawingml/2006/main">
            <a:pPr>
              <a:defRPr sz="1275" b="0">
                <a:solidFill>
                  <a:srgbClr val="CADCFC"/>
                </a:solidFill>
                <a:latin typeface="Arial"/>
                <a:ea typeface="Arial"/>
                <a:cs typeface="Arial"/>
              </a:defRPr>
            </a:pPr>
            <a:r>
              <a:rPr sz="1275" b="0">
                <a:solidFill>
                  <a:srgbClr val="CADCFC"/>
                </a:solidFill>
                <a:latin typeface="Arial"/>
                <a:ea typeface="Arial"/>
                <a:cs typeface="Arial"/>
              </a:rPr>
              <a:t>17</a:t>
            </a:r>
          </a:p>
        </p:txBody>
      </p:sp>
    </p:spTree>
    <p:extLst>
      <p:ext uri="{BB962C8B-B14F-4D97-AF65-F5344CB8AC3E}">
        <p14:creationId xmlns:p14="http://schemas.microsoft.com/office/powerpoint/2010/main" val="28646008"/>
      </p:ext>
    </p:extLst>
  </p:cSld>
</p:sld>
</file>

<file path=ppt/slides/slide18.xml><?xml version="1.0" encoding="utf-8"?>
<p:sld xmlns:p="http://schemas.openxmlformats.org/presentationml/2006/main">
  <p:cSld>
    <p:bg>
      <p:bgPr>
        <a:gradFill xmlns:a="http://schemas.openxmlformats.org/drawingml/2006/main">
          <a:gsLst>
            <a:gs pos="0">
              <a:srgbClr val="101F52"/>
            </a:gs>
            <a:gs pos="53000">
              <a:srgbClr val="2447A6"/>
            </a:gs>
            <a:gs pos="100000">
              <a:srgbClr val="7041B9"/>
            </a:gs>
          </a:gsLst>
          <a:lin ang="1500000"/>
        </a:gradFill>
      </p:bgPr>
    </p:bg>
    <p:spTree>
      <p:nvGrpSpPr>
        <p:cNvPr id="1" name=""/>
        <p:cNvGrpSpPr/>
        <p:nvPr/>
      </p:nvGrpSpPr>
      <p:grpSpPr>
        <a:xfrm xmlns:a="http://schemas.openxmlformats.org/drawingml/2006/main"/>
      </p:grpSpPr>
      <p:cxnSp>
        <p:nvCxnSpPr>
          <p:cNvPr id="30" name="">
            <a:extLst xmlns:a="http://schemas.openxmlformats.org/drawingml/2006/main">
              <a:ext uri="{FF2B5EF4-FFF2-40B4-BE49-F238E27FC236}">
                <a16:creationId xmlns:a16="http://schemas.microsoft.com/office/drawing/2014/main" id="{DF838332-5D91-472D-9AE7-43B08BBEAD1F}"/>
              </a:ext>
            </a:extLst>
          </p:cNvPr>
          <p:cNvCxnSpPr>
            <a:stCxn xmlns:a="http://schemas.openxmlformats.org/drawingml/2006/main" id="21" idx="1"/>
            <a:endCxn xmlns:a="http://schemas.openxmlformats.org/drawingml/2006/main" id="3" idx="1"/>
          </p:cNvCxnSpPr>
          <p:nvPr/>
        </p:nvCxnSpPr>
        <p:spPr>
          <a:xfrm xmlns:a="http://schemas.openxmlformats.org/drawingml/2006/main" flipV="1">
            <a:off x="457200" y="3095625"/>
            <a:ext cx="228600" cy="1957388"/>
          </a:xfrm>
          <a:prstGeom xmlns:a="http://schemas.openxmlformats.org/drawingml/2006/main" prst="bentConnector4">
            <a:avLst/>
          </a:prstGeom>
          <a:ln xmlns:a="http://schemas.openxmlformats.org/drawingml/2006/main" w="28575">
            <a:solidFill>
              <a:srgbClr val="A8D7FA"/>
            </a:solidFill>
            <a:tailEnd type="triangle" w="med" len="med"/>
          </a:ln>
        </p:spPr>
      </p:cxnSp>
      <p:cxnSp>
        <p:nvCxnSpPr>
          <p:cNvPr id="29" name="">
            <a:extLst xmlns:a="http://schemas.openxmlformats.org/drawingml/2006/main">
              <a:ext uri="{FF2B5EF4-FFF2-40B4-BE49-F238E27FC236}">
                <a16:creationId xmlns:a16="http://schemas.microsoft.com/office/drawing/2014/main" id="{CC6E172B-A4F5-4299-9BF1-DBA9D049B522}"/>
              </a:ext>
            </a:extLst>
          </p:cNvPr>
          <p:cNvCxnSpPr>
            <a:stCxn xmlns:a="http://schemas.openxmlformats.org/drawingml/2006/main" id="18" idx="1"/>
            <a:endCxn xmlns:a="http://schemas.openxmlformats.org/drawingml/2006/main" id="21" idx="3"/>
          </p:cNvCxnSpPr>
          <p:nvPr/>
        </p:nvCxnSpPr>
        <p:spPr>
          <a:xfrm xmlns:a="http://schemas.openxmlformats.org/drawingml/2006/main" flipH="1">
            <a:off x="3829050" y="5053013"/>
            <a:ext cx="695325" cy="0"/>
          </a:xfrm>
          <a:prstGeom xmlns:a="http://schemas.openxmlformats.org/drawingml/2006/main" prst="straightConnector1">
            <a:avLst/>
          </a:prstGeom>
          <a:ln xmlns:a="http://schemas.openxmlformats.org/drawingml/2006/main" w="28575">
            <a:solidFill>
              <a:srgbClr val="A8D7FA"/>
            </a:solidFill>
            <a:tailEnd type="triangle" w="med" len="med"/>
          </a:ln>
        </p:spPr>
      </p:cxnSp>
      <p:cxnSp>
        <p:nvCxnSpPr>
          <p:cNvPr id="28" name="">
            <a:extLst xmlns:a="http://schemas.openxmlformats.org/drawingml/2006/main">
              <a:ext uri="{FF2B5EF4-FFF2-40B4-BE49-F238E27FC236}">
                <a16:creationId xmlns:a16="http://schemas.microsoft.com/office/drawing/2014/main" id="{A30D9170-77D4-4672-B41A-B00BFE6B0E10}"/>
              </a:ext>
            </a:extLst>
          </p:cNvPr>
          <p:cNvCxnSpPr>
            <a:stCxn xmlns:a="http://schemas.openxmlformats.org/drawingml/2006/main" id="15" idx="1"/>
            <a:endCxn xmlns:a="http://schemas.openxmlformats.org/drawingml/2006/main" id="18" idx="3"/>
          </p:cNvCxnSpPr>
          <p:nvPr/>
        </p:nvCxnSpPr>
        <p:spPr>
          <a:xfrm xmlns:a="http://schemas.openxmlformats.org/drawingml/2006/main" flipH="1">
            <a:off x="7667625" y="5053013"/>
            <a:ext cx="695325" cy="0"/>
          </a:xfrm>
          <a:prstGeom xmlns:a="http://schemas.openxmlformats.org/drawingml/2006/main" prst="straightConnector1">
            <a:avLst/>
          </a:prstGeom>
          <a:ln xmlns:a="http://schemas.openxmlformats.org/drawingml/2006/main" w="28575">
            <a:solidFill>
              <a:srgbClr val="A8D7FA"/>
            </a:solidFill>
            <a:tailEnd type="triangle" w="med" len="med"/>
          </a:ln>
        </p:spPr>
      </p:cxnSp>
      <p:cxnSp>
        <p:nvCxnSpPr>
          <p:cNvPr id="27" name="">
            <a:extLst xmlns:a="http://schemas.openxmlformats.org/drawingml/2006/main">
              <a:ext uri="{FF2B5EF4-FFF2-40B4-BE49-F238E27FC236}">
                <a16:creationId xmlns:a16="http://schemas.microsoft.com/office/drawing/2014/main" id="{CB417DDA-6EA2-4A7E-A2F0-4F560B6DCDA9}"/>
              </a:ext>
            </a:extLst>
          </p:cNvPr>
          <p:cNvCxnSpPr>
            <a:stCxn xmlns:a="http://schemas.openxmlformats.org/drawingml/2006/main" id="12" idx="2"/>
            <a:endCxn xmlns:a="http://schemas.openxmlformats.org/drawingml/2006/main" id="15" idx="0"/>
          </p:cNvCxnSpPr>
          <p:nvPr/>
        </p:nvCxnSpPr>
        <p:spPr>
          <a:xfrm xmlns:a="http://schemas.openxmlformats.org/drawingml/2006/main" flipH="1">
            <a:off x="9934575" y="3933825"/>
            <a:ext cx="390525" cy="352425"/>
          </a:xfrm>
          <a:prstGeom xmlns:a="http://schemas.openxmlformats.org/drawingml/2006/main" prst="bentConnector4">
            <a:avLst>
              <a:gd name="adj1" fmla="val 0"/>
              <a:gd name="adj2" fmla="val 50000"/>
            </a:avLst>
          </a:prstGeom>
          <a:ln xmlns:a="http://schemas.openxmlformats.org/drawingml/2006/main" w="28575">
            <a:solidFill>
              <a:srgbClr val="A8D7FA"/>
            </a:solidFill>
            <a:tailEnd type="triangle" w="med" len="med"/>
          </a:ln>
        </p:spPr>
      </p:cxnSp>
      <p:cxnSp>
        <p:nvCxnSpPr>
          <p:cNvPr id="26" name="">
            <a:extLst xmlns:a="http://schemas.openxmlformats.org/drawingml/2006/main">
              <a:ext uri="{FF2B5EF4-FFF2-40B4-BE49-F238E27FC236}">
                <a16:creationId xmlns:a16="http://schemas.microsoft.com/office/drawing/2014/main" id="{40FEBCAB-C4DE-4E59-B704-D008C25BC00F}"/>
              </a:ext>
            </a:extLst>
          </p:cNvPr>
          <p:cNvCxnSpPr>
            <a:stCxn xmlns:a="http://schemas.openxmlformats.org/drawingml/2006/main" id="9" idx="3"/>
            <a:endCxn xmlns:a="http://schemas.openxmlformats.org/drawingml/2006/main" id="12" idx="1"/>
          </p:cNvCxnSpPr>
          <p:nvPr/>
        </p:nvCxnSpPr>
        <p:spPr>
          <a:xfrm xmlns:a="http://schemas.openxmlformats.org/drawingml/2006/main">
            <a:off x="8686800" y="3095625"/>
            <a:ext cx="457200" cy="0"/>
          </a:xfrm>
          <a:prstGeom xmlns:a="http://schemas.openxmlformats.org/drawingml/2006/main" prst="straightConnector1">
            <a:avLst/>
          </a:prstGeom>
          <a:ln xmlns:a="http://schemas.openxmlformats.org/drawingml/2006/main" w="28575">
            <a:solidFill>
              <a:srgbClr val="A8D7FA"/>
            </a:solidFill>
            <a:headEnd type="triangle" w="med" len="med"/>
            <a:tailEnd type="triangle" w="med" len="med"/>
          </a:ln>
        </p:spPr>
      </p:cxnSp>
      <p:cxnSp>
        <p:nvCxnSpPr>
          <p:cNvPr id="25" name="">
            <a:extLst xmlns:a="http://schemas.openxmlformats.org/drawingml/2006/main">
              <a:ext uri="{FF2B5EF4-FFF2-40B4-BE49-F238E27FC236}">
                <a16:creationId xmlns:a16="http://schemas.microsoft.com/office/drawing/2014/main" id="{F86BE73C-F2B9-4D60-BA91-35A49E077479}"/>
              </a:ext>
            </a:extLst>
          </p:cNvPr>
          <p:cNvCxnSpPr>
            <a:stCxn xmlns:a="http://schemas.openxmlformats.org/drawingml/2006/main" id="6" idx="3"/>
            <a:endCxn xmlns:a="http://schemas.openxmlformats.org/drawingml/2006/main" id="9" idx="1"/>
          </p:cNvCxnSpPr>
          <p:nvPr/>
        </p:nvCxnSpPr>
        <p:spPr>
          <a:xfrm xmlns:a="http://schemas.openxmlformats.org/drawingml/2006/main">
            <a:off x="5867400" y="3095625"/>
            <a:ext cx="457200" cy="0"/>
          </a:xfrm>
          <a:prstGeom xmlns:a="http://schemas.openxmlformats.org/drawingml/2006/main" prst="straightConnector1">
            <a:avLst/>
          </a:prstGeom>
          <a:ln xmlns:a="http://schemas.openxmlformats.org/drawingml/2006/main" w="28575">
            <a:solidFill>
              <a:srgbClr val="A8D7FA"/>
            </a:solidFill>
            <a:tailEnd type="triangle" w="med" len="med"/>
          </a:ln>
        </p:spPr>
      </p:cxnSp>
      <p:cxnSp>
        <p:nvCxnSpPr>
          <p:cNvPr id="24" name="">
            <a:extLst xmlns:a="http://schemas.openxmlformats.org/drawingml/2006/main">
              <a:ext uri="{FF2B5EF4-FFF2-40B4-BE49-F238E27FC236}">
                <a16:creationId xmlns:a16="http://schemas.microsoft.com/office/drawing/2014/main" id="{40AF190A-FA31-497D-984B-751B6E120229}"/>
              </a:ext>
            </a:extLst>
          </p:cNvPr>
          <p:cNvCxnSpPr>
            <a:stCxn xmlns:a="http://schemas.openxmlformats.org/drawingml/2006/main" id="3" idx="3"/>
            <a:endCxn xmlns:a="http://schemas.openxmlformats.org/drawingml/2006/main" id="6" idx="1"/>
          </p:cNvCxnSpPr>
          <p:nvPr/>
        </p:nvCxnSpPr>
        <p:spPr>
          <a:xfrm xmlns:a="http://schemas.openxmlformats.org/drawingml/2006/main">
            <a:off x="3048000" y="3095625"/>
            <a:ext cx="457200" cy="0"/>
          </a:xfrm>
          <a:prstGeom xmlns:a="http://schemas.openxmlformats.org/drawingml/2006/main" prst="straightConnector1">
            <a:avLst/>
          </a:prstGeom>
          <a:ln xmlns:a="http://schemas.openxmlformats.org/drawingml/2006/main" w="28575">
            <a:solidFill>
              <a:srgbClr val="A8D7FA"/>
            </a:solidFill>
            <a:tailEnd type="triangle" w="med" len="med"/>
          </a:ln>
        </p:spPr>
      </p:cxnSp>
      <p:sp>
        <p:nvSpPr>
          <p:cNvPr id="35" name="">
            <a:extLst xmlns:a="http://schemas.openxmlformats.org/drawingml/2006/main">
              <a:ext uri="{FF2B5EF4-FFF2-40B4-BE49-F238E27FC236}">
                <a16:creationId xmlns:a16="http://schemas.microsoft.com/office/drawing/2014/main" id="{1AD36CD4-D559-45B2-8F00-3E5876AE2348}"/>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AI SDLC със SDD: от изисквания до production</a:t>
            </a:r>
          </a:p>
        </p:txBody>
      </p:sp>
      <p:sp>
        <p:nvSpPr>
          <p:cNvPr id="2" name="">
            <a:extLst xmlns:a="http://schemas.openxmlformats.org/drawingml/2006/main">
              <a:ext uri="{FF2B5EF4-FFF2-40B4-BE49-F238E27FC236}">
                <a16:creationId xmlns:a16="http://schemas.microsoft.com/office/drawing/2014/main" id="{9A636269-EFFA-4925-981F-90E696631A6F}"/>
              </a:ext>
            </a:extLst>
          </p:cNvPr>
          <p:cNvSpPr>
            <a:spLocks xmlns:a="http://schemas.openxmlformats.org/drawingml/2006/main" noGrp="1"/>
          </p:cNvSpPr>
          <p:nvPr/>
        </p:nvSpPr>
        <p:spPr>
          <a:xfrm xmlns:a="http://schemas.openxmlformats.org/drawingml/2006/main">
            <a:off x="685800" y="15144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Примерен цикъл с GitHub и Azure. Човекът задава целта и контролира промените.</a:t>
            </a:r>
          </a:p>
        </p:txBody>
      </p:sp>
      <p:sp>
        <p:nvSpPr>
          <p:cNvPr id="3" name="">
            <a:extLst xmlns:a="http://schemas.openxmlformats.org/drawingml/2006/main">
              <a:ext uri="{FF2B5EF4-FFF2-40B4-BE49-F238E27FC236}">
                <a16:creationId xmlns:a16="http://schemas.microsoft.com/office/drawing/2014/main" id="{B4F55318-622E-4653-86E8-1B94220837F4}"/>
              </a:ext>
            </a:extLst>
          </p:cNvPr>
          <p:cNvSpPr>
            <a:spLocks xmlns:a="http://schemas.openxmlformats.org/drawingml/2006/main" noGrp="1"/>
          </p:cNvSpPr>
          <p:nvPr/>
        </p:nvSpPr>
        <p:spPr>
          <a:xfrm xmlns:a="http://schemas.openxmlformats.org/drawingml/2006/main">
            <a:off x="685800" y="2257425"/>
            <a:ext cx="2362200" cy="1676400"/>
          </a:xfrm>
          <a:prstGeom xmlns:a="http://schemas.openxmlformats.org/drawingml/2006/main" prst="roundRect">
            <a:avLst>
              <a:gd name="adj" fmla="val 9091"/>
            </a:avLst>
          </a:prstGeom>
          <a:solidFill xmlns:a="http://schemas.openxmlformats.org/drawingml/2006/main">
            <a:srgbClr val="2447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51F831-C878-44F6-926D-F84CCB31C95F}"/>
              </a:ext>
            </a:extLst>
          </p:cNvPr>
          <p:cNvSpPr>
            <a:spLocks xmlns:a="http://schemas.openxmlformats.org/drawingml/2006/main" noGrp="1"/>
          </p:cNvSpPr>
          <p:nvPr/>
        </p:nvSpPr>
        <p:spPr>
          <a:xfrm xmlns:a="http://schemas.openxmlformats.org/drawingml/2006/main">
            <a:off x="857250" y="2390775"/>
            <a:ext cx="2019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FFFFFF"/>
                </a:solidFill>
                <a:latin typeface="Arial"/>
                <a:ea typeface="Arial"/>
                <a:cs typeface="Arial"/>
              </a:defRPr>
            </a:defPPr>
          </a:lstStyle>
          <a:p xmlns:a="http://schemas.openxmlformats.org/drawingml/2006/main">
            <a:pPr>
              <a:defRPr sz="1800" b="1">
                <a:solidFill>
                  <a:srgbClr val="FFFFFF"/>
                </a:solidFill>
                <a:latin typeface="Arial"/>
                <a:ea typeface="Arial"/>
                <a:cs typeface="Arial"/>
              </a:defRPr>
            </a:pPr>
            <a:r>
              <a:rPr sz="1800" b="1">
                <a:solidFill>
                  <a:srgbClr val="FFFFFF"/>
                </a:solidFill>
                <a:latin typeface="Arial"/>
                <a:ea typeface="Arial"/>
                <a:cs typeface="Arial"/>
              </a:rPr>
              <a:t>1. Бизнес</a:t>
            </a:r>
          </a:p>
          <a:p xmlns:a="http://schemas.openxmlformats.org/drawingml/2006/main">
            <a:pPr>
              <a:defRPr sz="1800" b="1">
                <a:solidFill>
                  <a:srgbClr val="FFFFFF"/>
                </a:solidFill>
                <a:latin typeface="Arial"/>
                <a:ea typeface="Arial"/>
                <a:cs typeface="Arial"/>
              </a:defRPr>
            </a:pPr>
            <a:r>
              <a:rPr sz="1800" b="1">
                <a:solidFill>
                  <a:srgbClr val="FFFFFF"/>
                </a:solidFill>
                <a:latin typeface="Arial"/>
                <a:ea typeface="Arial"/>
                <a:cs typeface="Arial"/>
              </a:rPr>
              <a:t>изисквания</a:t>
            </a:r>
          </a:p>
        </p:txBody>
      </p:sp>
      <p:sp>
        <p:nvSpPr>
          <p:cNvPr id="5" name="">
            <a:extLst xmlns:a="http://schemas.openxmlformats.org/drawingml/2006/main">
              <a:ext uri="{FF2B5EF4-FFF2-40B4-BE49-F238E27FC236}">
                <a16:creationId xmlns:a16="http://schemas.microsoft.com/office/drawing/2014/main" id="{CE09738D-6621-4DCC-800E-5A4425E53992}"/>
              </a:ext>
            </a:extLst>
          </p:cNvPr>
          <p:cNvSpPr>
            <a:spLocks xmlns:a="http://schemas.openxmlformats.org/drawingml/2006/main" noGrp="1"/>
          </p:cNvSpPr>
          <p:nvPr/>
        </p:nvSpPr>
        <p:spPr>
          <a:xfrm xmlns:a="http://schemas.openxmlformats.org/drawingml/2006/main">
            <a:off x="857250" y="3000375"/>
            <a:ext cx="20193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FFFFF"/>
                </a:solidFill>
                <a:latin typeface="Arial"/>
                <a:ea typeface="Arial"/>
                <a:cs typeface="Arial"/>
              </a:defRPr>
            </a:defPPr>
          </a:lstStyle>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Човекът описва</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бизнес правилата</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и очакванията.</a:t>
            </a:r>
          </a:p>
        </p:txBody>
      </p:sp>
      <p:sp>
        <p:nvSpPr>
          <p:cNvPr id="6" name="">
            <a:extLst xmlns:a="http://schemas.openxmlformats.org/drawingml/2006/main">
              <a:ext uri="{FF2B5EF4-FFF2-40B4-BE49-F238E27FC236}">
                <a16:creationId xmlns:a16="http://schemas.microsoft.com/office/drawing/2014/main" id="{0265E469-654C-448D-8F22-8976AFF0F6E5}"/>
              </a:ext>
            </a:extLst>
          </p:cNvPr>
          <p:cNvSpPr>
            <a:spLocks xmlns:a="http://schemas.openxmlformats.org/drawingml/2006/main" noGrp="1"/>
          </p:cNvSpPr>
          <p:nvPr/>
        </p:nvSpPr>
        <p:spPr>
          <a:xfrm xmlns:a="http://schemas.openxmlformats.org/drawingml/2006/main">
            <a:off x="3505200" y="2257425"/>
            <a:ext cx="2362200" cy="1676400"/>
          </a:xfrm>
          <a:prstGeom xmlns:a="http://schemas.openxmlformats.org/drawingml/2006/main" prst="roundRect">
            <a:avLst>
              <a:gd name="adj" fmla="val 9091"/>
            </a:avLst>
          </a:prstGeom>
          <a:solidFill xmlns:a="http://schemas.openxmlformats.org/drawingml/2006/main">
            <a:srgbClr val="7041B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A8CC57A-EE7D-4622-A2BE-5FF159709EF6}"/>
              </a:ext>
            </a:extLst>
          </p:cNvPr>
          <p:cNvSpPr>
            <a:spLocks xmlns:a="http://schemas.openxmlformats.org/drawingml/2006/main" noGrp="1"/>
          </p:cNvSpPr>
          <p:nvPr/>
        </p:nvSpPr>
        <p:spPr>
          <a:xfrm xmlns:a="http://schemas.openxmlformats.org/drawingml/2006/main">
            <a:off x="3676650" y="2390775"/>
            <a:ext cx="2019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FFFFFF"/>
                </a:solidFill>
                <a:latin typeface="Arial"/>
                <a:ea typeface="Arial"/>
                <a:cs typeface="Arial"/>
              </a:defRPr>
            </a:defPPr>
          </a:lstStyle>
          <a:p xmlns:a="http://schemas.openxmlformats.org/drawingml/2006/main">
            <a:pPr>
              <a:defRPr sz="1800" b="1">
                <a:solidFill>
                  <a:srgbClr val="FFFFFF"/>
                </a:solidFill>
                <a:latin typeface="Arial"/>
                <a:ea typeface="Arial"/>
                <a:cs typeface="Arial"/>
              </a:defRPr>
            </a:pPr>
            <a:r>
              <a:rPr sz="1800" b="1">
                <a:solidFill>
                  <a:srgbClr val="FFFFFF"/>
                </a:solidFill>
                <a:latin typeface="Arial"/>
                <a:ea typeface="Arial"/>
                <a:cs typeface="Arial"/>
              </a:rPr>
              <a:t>2. spec.md</a:t>
            </a:r>
          </a:p>
        </p:txBody>
      </p:sp>
      <p:sp>
        <p:nvSpPr>
          <p:cNvPr id="8" name="">
            <a:extLst xmlns:a="http://schemas.openxmlformats.org/drawingml/2006/main">
              <a:ext uri="{FF2B5EF4-FFF2-40B4-BE49-F238E27FC236}">
                <a16:creationId xmlns:a16="http://schemas.microsoft.com/office/drawing/2014/main" id="{5B95D2AD-1DC5-486A-8FBF-AD0E097E0590}"/>
              </a:ext>
            </a:extLst>
          </p:cNvPr>
          <p:cNvSpPr>
            <a:spLocks xmlns:a="http://schemas.openxmlformats.org/drawingml/2006/main" noGrp="1"/>
          </p:cNvSpPr>
          <p:nvPr/>
        </p:nvSpPr>
        <p:spPr>
          <a:xfrm xmlns:a="http://schemas.openxmlformats.org/drawingml/2006/main">
            <a:off x="3676650" y="3000375"/>
            <a:ext cx="20193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FFFFF"/>
                </a:solidFill>
                <a:latin typeface="Arial"/>
                <a:ea typeface="Arial"/>
                <a:cs typeface="Arial"/>
              </a:defRPr>
            </a:defPPr>
          </a:lstStyle>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Бизнес изисквания,</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план и задачи</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за агента.</a:t>
            </a:r>
          </a:p>
        </p:txBody>
      </p:sp>
      <p:sp>
        <p:nvSpPr>
          <p:cNvPr id="9" name="">
            <a:extLst xmlns:a="http://schemas.openxmlformats.org/drawingml/2006/main">
              <a:ext uri="{FF2B5EF4-FFF2-40B4-BE49-F238E27FC236}">
                <a16:creationId xmlns:a16="http://schemas.microsoft.com/office/drawing/2014/main" id="{45EBC37E-EF73-471D-8CD4-0CCAF13C6366}"/>
              </a:ext>
            </a:extLst>
          </p:cNvPr>
          <p:cNvSpPr>
            <a:spLocks xmlns:a="http://schemas.openxmlformats.org/drawingml/2006/main" noGrp="1"/>
          </p:cNvSpPr>
          <p:nvPr/>
        </p:nvSpPr>
        <p:spPr>
          <a:xfrm xmlns:a="http://schemas.openxmlformats.org/drawingml/2006/main">
            <a:off x="6324600" y="2257425"/>
            <a:ext cx="2362200" cy="1676400"/>
          </a:xfrm>
          <a:prstGeom xmlns:a="http://schemas.openxmlformats.org/drawingml/2006/main" prst="roundRect">
            <a:avLst>
              <a:gd name="adj" fmla="val 9091"/>
            </a:avLst>
          </a:prstGeom>
          <a:solidFill xmlns:a="http://schemas.openxmlformats.org/drawingml/2006/main">
            <a:srgbClr val="067E9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0D50531-8F1C-4C44-AB0E-BC0C56E16566}"/>
              </a:ext>
            </a:extLst>
          </p:cNvPr>
          <p:cNvSpPr>
            <a:spLocks xmlns:a="http://schemas.openxmlformats.org/drawingml/2006/main" noGrp="1"/>
          </p:cNvSpPr>
          <p:nvPr/>
        </p:nvSpPr>
        <p:spPr>
          <a:xfrm xmlns:a="http://schemas.openxmlformats.org/drawingml/2006/main">
            <a:off x="6496050" y="2390775"/>
            <a:ext cx="2019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FFFFFF"/>
                </a:solidFill>
                <a:latin typeface="Arial"/>
                <a:ea typeface="Arial"/>
                <a:cs typeface="Arial"/>
              </a:defRPr>
            </a:defPPr>
          </a:lstStyle>
          <a:p xmlns:a="http://schemas.openxmlformats.org/drawingml/2006/main">
            <a:pPr>
              <a:defRPr sz="1800" b="1">
                <a:solidFill>
                  <a:srgbClr val="FFFFFF"/>
                </a:solidFill>
                <a:latin typeface="Arial"/>
                <a:ea typeface="Arial"/>
                <a:cs typeface="Arial"/>
              </a:defRPr>
            </a:pPr>
            <a:r>
              <a:rPr sz="1800" b="1">
                <a:solidFill>
                  <a:srgbClr val="FFFFFF"/>
                </a:solidFill>
                <a:latin typeface="Arial"/>
                <a:ea typeface="Arial"/>
                <a:cs typeface="Arial"/>
              </a:rPr>
              <a:t>3. Код и тестове</a:t>
            </a:r>
          </a:p>
        </p:txBody>
      </p:sp>
      <p:sp>
        <p:nvSpPr>
          <p:cNvPr id="11" name="">
            <a:extLst xmlns:a="http://schemas.openxmlformats.org/drawingml/2006/main">
              <a:ext uri="{FF2B5EF4-FFF2-40B4-BE49-F238E27FC236}">
                <a16:creationId xmlns:a16="http://schemas.microsoft.com/office/drawing/2014/main" id="{5C118823-2EB8-4C88-8FEE-F3C173DFE0DB}"/>
              </a:ext>
            </a:extLst>
          </p:cNvPr>
          <p:cNvSpPr>
            <a:spLocks xmlns:a="http://schemas.openxmlformats.org/drawingml/2006/main" noGrp="1"/>
          </p:cNvSpPr>
          <p:nvPr/>
        </p:nvSpPr>
        <p:spPr>
          <a:xfrm xmlns:a="http://schemas.openxmlformats.org/drawingml/2006/main">
            <a:off x="6496050" y="3000375"/>
            <a:ext cx="20193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FFFFF"/>
                </a:solidFill>
                <a:latin typeface="Arial"/>
                <a:ea typeface="Arial"/>
                <a:cs typeface="Arial"/>
              </a:defRPr>
            </a:defPPr>
          </a:lstStyle>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Coding agent пише</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кода и тестовете.</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Отваря PR.</a:t>
            </a:r>
          </a:p>
        </p:txBody>
      </p:sp>
      <p:sp>
        <p:nvSpPr>
          <p:cNvPr id="12" name="">
            <a:extLst xmlns:a="http://schemas.openxmlformats.org/drawingml/2006/main">
              <a:ext uri="{FF2B5EF4-FFF2-40B4-BE49-F238E27FC236}">
                <a16:creationId xmlns:a16="http://schemas.microsoft.com/office/drawing/2014/main" id="{6B810935-5C55-42A4-9344-F73D6293EF86}"/>
              </a:ext>
            </a:extLst>
          </p:cNvPr>
          <p:cNvSpPr>
            <a:spLocks xmlns:a="http://schemas.openxmlformats.org/drawingml/2006/main" noGrp="1"/>
          </p:cNvSpPr>
          <p:nvPr/>
        </p:nvSpPr>
        <p:spPr>
          <a:xfrm xmlns:a="http://schemas.openxmlformats.org/drawingml/2006/main">
            <a:off x="9144000" y="2257425"/>
            <a:ext cx="2362200" cy="1676400"/>
          </a:xfrm>
          <a:prstGeom xmlns:a="http://schemas.openxmlformats.org/drawingml/2006/main" prst="roundRect">
            <a:avLst>
              <a:gd name="adj" fmla="val 9091"/>
            </a:avLst>
          </a:prstGeom>
          <a:solidFill xmlns:a="http://schemas.openxmlformats.org/drawingml/2006/main">
            <a:srgbClr val="13795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E26F607-FBF8-4449-9826-B45DA4786047}"/>
              </a:ext>
            </a:extLst>
          </p:cNvPr>
          <p:cNvSpPr>
            <a:spLocks xmlns:a="http://schemas.openxmlformats.org/drawingml/2006/main" noGrp="1"/>
          </p:cNvSpPr>
          <p:nvPr/>
        </p:nvSpPr>
        <p:spPr>
          <a:xfrm xmlns:a="http://schemas.openxmlformats.org/drawingml/2006/main">
            <a:off x="9315450" y="2390775"/>
            <a:ext cx="2019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FFFFFF"/>
                </a:solidFill>
                <a:latin typeface="Arial"/>
                <a:ea typeface="Arial"/>
                <a:cs typeface="Arial"/>
              </a:defRPr>
            </a:defPPr>
          </a:lstStyle>
          <a:p xmlns:a="http://schemas.openxmlformats.org/drawingml/2006/main">
            <a:pPr>
              <a:defRPr sz="1800" b="1">
                <a:solidFill>
                  <a:srgbClr val="FFFFFF"/>
                </a:solidFill>
                <a:latin typeface="Arial"/>
                <a:ea typeface="Arial"/>
                <a:cs typeface="Arial"/>
              </a:defRPr>
            </a:pPr>
            <a:r>
              <a:rPr sz="1800" b="1">
                <a:solidFill>
                  <a:srgbClr val="FFFFFF"/>
                </a:solidFill>
                <a:latin typeface="Arial"/>
                <a:ea typeface="Arial"/>
                <a:cs typeface="Arial"/>
              </a:rPr>
              <a:t>4. Преглед</a:t>
            </a:r>
          </a:p>
        </p:txBody>
      </p:sp>
      <p:sp>
        <p:nvSpPr>
          <p:cNvPr id="14" name="">
            <a:extLst xmlns:a="http://schemas.openxmlformats.org/drawingml/2006/main">
              <a:ext uri="{FF2B5EF4-FFF2-40B4-BE49-F238E27FC236}">
                <a16:creationId xmlns:a16="http://schemas.microsoft.com/office/drawing/2014/main" id="{18919F1B-1F94-4EEA-9602-ECBD9390DDC7}"/>
              </a:ext>
            </a:extLst>
          </p:cNvPr>
          <p:cNvSpPr>
            <a:spLocks xmlns:a="http://schemas.openxmlformats.org/drawingml/2006/main" noGrp="1"/>
          </p:cNvSpPr>
          <p:nvPr/>
        </p:nvSpPr>
        <p:spPr>
          <a:xfrm xmlns:a="http://schemas.openxmlformats.org/drawingml/2006/main">
            <a:off x="9315450" y="3000375"/>
            <a:ext cx="20193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FFFFF"/>
                </a:solidFill>
                <a:latin typeface="Arial"/>
                <a:ea typeface="Arial"/>
                <a:cs typeface="Arial"/>
              </a:defRPr>
            </a:defPPr>
          </a:lstStyle>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Quality agent:</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review и тестове.</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Човекът одобрява.</a:t>
            </a:r>
          </a:p>
        </p:txBody>
      </p:sp>
      <p:sp>
        <p:nvSpPr>
          <p:cNvPr id="15" name="">
            <a:extLst xmlns:a="http://schemas.openxmlformats.org/drawingml/2006/main">
              <a:ext uri="{FF2B5EF4-FFF2-40B4-BE49-F238E27FC236}">
                <a16:creationId xmlns:a16="http://schemas.microsoft.com/office/drawing/2014/main" id="{01674DFE-FF72-4165-9A22-B9204C8A0423}"/>
              </a:ext>
            </a:extLst>
          </p:cNvPr>
          <p:cNvSpPr>
            <a:spLocks xmlns:a="http://schemas.openxmlformats.org/drawingml/2006/main" noGrp="1"/>
          </p:cNvSpPr>
          <p:nvPr/>
        </p:nvSpPr>
        <p:spPr>
          <a:xfrm xmlns:a="http://schemas.openxmlformats.org/drawingml/2006/main">
            <a:off x="8362950" y="4286250"/>
            <a:ext cx="3143250" cy="1533525"/>
          </a:xfrm>
          <a:prstGeom xmlns:a="http://schemas.openxmlformats.org/drawingml/2006/main" prst="roundRect">
            <a:avLst>
              <a:gd name="adj" fmla="val 9938"/>
            </a:avLst>
          </a:prstGeom>
          <a:solidFill xmlns:a="http://schemas.openxmlformats.org/drawingml/2006/main">
            <a:srgbClr val="2447A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394A039-DE96-48AD-92C2-4D2AFF2AB147}"/>
              </a:ext>
            </a:extLst>
          </p:cNvPr>
          <p:cNvSpPr>
            <a:spLocks xmlns:a="http://schemas.openxmlformats.org/drawingml/2006/main" noGrp="1"/>
          </p:cNvSpPr>
          <p:nvPr/>
        </p:nvSpPr>
        <p:spPr>
          <a:xfrm xmlns:a="http://schemas.openxmlformats.org/drawingml/2006/main">
            <a:off x="8534400" y="4419600"/>
            <a:ext cx="2800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FFFFFF"/>
                </a:solidFill>
                <a:latin typeface="Arial"/>
                <a:ea typeface="Arial"/>
                <a:cs typeface="Arial"/>
              </a:defRPr>
            </a:defPPr>
          </a:lstStyle>
          <a:p xmlns:a="http://schemas.openxmlformats.org/drawingml/2006/main">
            <a:pPr>
              <a:defRPr sz="1800" b="1">
                <a:solidFill>
                  <a:srgbClr val="FFFFFF"/>
                </a:solidFill>
                <a:latin typeface="Arial"/>
                <a:ea typeface="Arial"/>
                <a:cs typeface="Arial"/>
              </a:defRPr>
            </a:pPr>
            <a:r>
              <a:rPr sz="1800" b="1">
                <a:solidFill>
                  <a:srgbClr val="FFFFFF"/>
                </a:solidFill>
                <a:latin typeface="Arial"/>
                <a:ea typeface="Arial"/>
                <a:cs typeface="Arial"/>
              </a:rPr>
              <a:t>5. GitHub Actions</a:t>
            </a:r>
          </a:p>
          <a:p xmlns:a="http://schemas.openxmlformats.org/drawingml/2006/main">
            <a:pPr>
              <a:defRPr sz="1800" b="1">
                <a:solidFill>
                  <a:srgbClr val="FFFFFF"/>
                </a:solidFill>
                <a:latin typeface="Arial"/>
                <a:ea typeface="Arial"/>
                <a:cs typeface="Arial"/>
              </a:defRPr>
            </a:pPr>
            <a:r>
              <a:rPr sz="1800" b="1">
                <a:solidFill>
                  <a:srgbClr val="FFFFFF"/>
                </a:solidFill>
                <a:latin typeface="Arial"/>
                <a:ea typeface="Arial"/>
                <a:cs typeface="Arial"/>
              </a:rPr>
              <a:t>CI/CD</a:t>
            </a:r>
          </a:p>
        </p:txBody>
      </p:sp>
      <p:sp>
        <p:nvSpPr>
          <p:cNvPr id="17" name="">
            <a:extLst xmlns:a="http://schemas.openxmlformats.org/drawingml/2006/main">
              <a:ext uri="{FF2B5EF4-FFF2-40B4-BE49-F238E27FC236}">
                <a16:creationId xmlns:a16="http://schemas.microsoft.com/office/drawing/2014/main" id="{786FF275-9CA8-402C-A19C-AAB6C12EEDA7}"/>
              </a:ext>
            </a:extLst>
          </p:cNvPr>
          <p:cNvSpPr>
            <a:spLocks xmlns:a="http://schemas.openxmlformats.org/drawingml/2006/main" noGrp="1"/>
          </p:cNvSpPr>
          <p:nvPr/>
        </p:nvSpPr>
        <p:spPr>
          <a:xfrm xmlns:a="http://schemas.openxmlformats.org/drawingml/2006/main">
            <a:off x="8534400" y="5029200"/>
            <a:ext cx="2800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FFFFF"/>
                </a:solidFill>
                <a:latin typeface="Arial"/>
                <a:ea typeface="Arial"/>
                <a:cs typeface="Arial"/>
              </a:defRPr>
            </a:defPPr>
          </a:lstStyle>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Build и внедряване.</a:t>
            </a:r>
          </a:p>
        </p:txBody>
      </p:sp>
      <p:sp>
        <p:nvSpPr>
          <p:cNvPr id="18" name="">
            <a:extLst xmlns:a="http://schemas.openxmlformats.org/drawingml/2006/main">
              <a:ext uri="{FF2B5EF4-FFF2-40B4-BE49-F238E27FC236}">
                <a16:creationId xmlns:a16="http://schemas.microsoft.com/office/drawing/2014/main" id="{B11B0E6A-43A3-42C3-918B-45B8245D68C6}"/>
              </a:ext>
            </a:extLst>
          </p:cNvPr>
          <p:cNvSpPr>
            <a:spLocks xmlns:a="http://schemas.openxmlformats.org/drawingml/2006/main" noGrp="1"/>
          </p:cNvSpPr>
          <p:nvPr/>
        </p:nvSpPr>
        <p:spPr>
          <a:xfrm xmlns:a="http://schemas.openxmlformats.org/drawingml/2006/main">
            <a:off x="4524375" y="4286250"/>
            <a:ext cx="3143250" cy="1533525"/>
          </a:xfrm>
          <a:prstGeom xmlns:a="http://schemas.openxmlformats.org/drawingml/2006/main" prst="roundRect">
            <a:avLst>
              <a:gd name="adj" fmla="val 9938"/>
            </a:avLst>
          </a:prstGeom>
          <a:solidFill xmlns:a="http://schemas.openxmlformats.org/drawingml/2006/main">
            <a:srgbClr val="7041B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7BC2C9A-EFE4-480C-8C0B-25D281F14EDC}"/>
              </a:ext>
            </a:extLst>
          </p:cNvPr>
          <p:cNvSpPr>
            <a:spLocks xmlns:a="http://schemas.openxmlformats.org/drawingml/2006/main" noGrp="1"/>
          </p:cNvSpPr>
          <p:nvPr/>
        </p:nvSpPr>
        <p:spPr>
          <a:xfrm xmlns:a="http://schemas.openxmlformats.org/drawingml/2006/main">
            <a:off x="4695825" y="4419600"/>
            <a:ext cx="2800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FFFFFF"/>
                </a:solidFill>
                <a:latin typeface="Arial"/>
                <a:ea typeface="Arial"/>
                <a:cs typeface="Arial"/>
              </a:defRPr>
            </a:defPPr>
          </a:lstStyle>
          <a:p xmlns:a="http://schemas.openxmlformats.org/drawingml/2006/main">
            <a:pPr>
              <a:defRPr sz="1800" b="1">
                <a:solidFill>
                  <a:srgbClr val="FFFFFF"/>
                </a:solidFill>
                <a:latin typeface="Arial"/>
                <a:ea typeface="Arial"/>
                <a:cs typeface="Arial"/>
              </a:defRPr>
            </a:pPr>
            <a:r>
              <a:rPr sz="1800" b="1">
                <a:solidFill>
                  <a:srgbClr val="FFFFFF"/>
                </a:solidFill>
                <a:latin typeface="Arial"/>
                <a:ea typeface="Arial"/>
                <a:cs typeface="Arial"/>
              </a:rPr>
              <a:t>6. Observability</a:t>
            </a:r>
          </a:p>
        </p:txBody>
      </p:sp>
      <p:sp>
        <p:nvSpPr>
          <p:cNvPr id="20" name="">
            <a:extLst xmlns:a="http://schemas.openxmlformats.org/drawingml/2006/main">
              <a:ext uri="{FF2B5EF4-FFF2-40B4-BE49-F238E27FC236}">
                <a16:creationId xmlns:a16="http://schemas.microsoft.com/office/drawing/2014/main" id="{2314EEB6-E619-487A-8026-5B49480FFC35}"/>
              </a:ext>
            </a:extLst>
          </p:cNvPr>
          <p:cNvSpPr>
            <a:spLocks xmlns:a="http://schemas.openxmlformats.org/drawingml/2006/main" noGrp="1"/>
          </p:cNvSpPr>
          <p:nvPr/>
        </p:nvSpPr>
        <p:spPr>
          <a:xfrm xmlns:a="http://schemas.openxmlformats.org/drawingml/2006/main">
            <a:off x="4695825" y="5029200"/>
            <a:ext cx="2800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FFFFF"/>
                </a:solidFill>
                <a:latin typeface="Arial"/>
                <a:ea typeface="Arial"/>
                <a:cs typeface="Arial"/>
              </a:defRPr>
            </a:defPPr>
          </a:lstStyle>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Метрики, логове, traces.</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Показват проблемите</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в production.</a:t>
            </a:r>
          </a:p>
        </p:txBody>
      </p:sp>
      <p:sp>
        <p:nvSpPr>
          <p:cNvPr id="21" name="">
            <a:extLst xmlns:a="http://schemas.openxmlformats.org/drawingml/2006/main">
              <a:ext uri="{FF2B5EF4-FFF2-40B4-BE49-F238E27FC236}">
                <a16:creationId xmlns:a16="http://schemas.microsoft.com/office/drawing/2014/main" id="{CB112563-4106-4DD0-B674-FE8F0C28A336}"/>
              </a:ext>
            </a:extLst>
          </p:cNvPr>
          <p:cNvSpPr>
            <a:spLocks xmlns:a="http://schemas.openxmlformats.org/drawingml/2006/main" noGrp="1"/>
          </p:cNvSpPr>
          <p:nvPr/>
        </p:nvSpPr>
        <p:spPr>
          <a:xfrm xmlns:a="http://schemas.openxmlformats.org/drawingml/2006/main">
            <a:off x="685800" y="4286250"/>
            <a:ext cx="3143250" cy="1533525"/>
          </a:xfrm>
          <a:prstGeom xmlns:a="http://schemas.openxmlformats.org/drawingml/2006/main" prst="roundRect">
            <a:avLst>
              <a:gd name="adj" fmla="val 9938"/>
            </a:avLst>
          </a:prstGeom>
          <a:solidFill xmlns:a="http://schemas.openxmlformats.org/drawingml/2006/main">
            <a:srgbClr val="067E96"/>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682E8A3-1787-4509-BB22-0C6076070F4F}"/>
              </a:ext>
            </a:extLst>
          </p:cNvPr>
          <p:cNvSpPr>
            <a:spLocks xmlns:a="http://schemas.openxmlformats.org/drawingml/2006/main" noGrp="1"/>
          </p:cNvSpPr>
          <p:nvPr/>
        </p:nvSpPr>
        <p:spPr>
          <a:xfrm xmlns:a="http://schemas.openxmlformats.org/drawingml/2006/main">
            <a:off x="857250" y="4419600"/>
            <a:ext cx="2800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FFFFFF"/>
                </a:solidFill>
                <a:latin typeface="Arial"/>
                <a:ea typeface="Arial"/>
                <a:cs typeface="Arial"/>
              </a:defRPr>
            </a:defPPr>
          </a:lstStyle>
          <a:p xmlns:a="http://schemas.openxmlformats.org/drawingml/2006/main">
            <a:pPr>
              <a:defRPr sz="1800" b="1">
                <a:solidFill>
                  <a:srgbClr val="FFFFFF"/>
                </a:solidFill>
                <a:latin typeface="Arial"/>
                <a:ea typeface="Arial"/>
                <a:cs typeface="Arial"/>
              </a:defRPr>
            </a:pPr>
            <a:r>
              <a:rPr sz="1800" b="1">
                <a:solidFill>
                  <a:srgbClr val="FFFFFF"/>
                </a:solidFill>
                <a:latin typeface="Arial"/>
                <a:ea typeface="Arial"/>
                <a:cs typeface="Arial"/>
              </a:rPr>
              <a:t>7. Поддръжка</a:t>
            </a:r>
          </a:p>
        </p:txBody>
      </p:sp>
      <p:sp>
        <p:nvSpPr>
          <p:cNvPr id="23" name="">
            <a:extLst xmlns:a="http://schemas.openxmlformats.org/drawingml/2006/main">
              <a:ext uri="{FF2B5EF4-FFF2-40B4-BE49-F238E27FC236}">
                <a16:creationId xmlns:a16="http://schemas.microsoft.com/office/drawing/2014/main" id="{48B10A08-6210-4BFB-9D03-D794A2C9DB97}"/>
              </a:ext>
            </a:extLst>
          </p:cNvPr>
          <p:cNvSpPr>
            <a:spLocks xmlns:a="http://schemas.openxmlformats.org/drawingml/2006/main" noGrp="1"/>
          </p:cNvSpPr>
          <p:nvPr/>
        </p:nvSpPr>
        <p:spPr>
          <a:xfrm xmlns:a="http://schemas.openxmlformats.org/drawingml/2006/main">
            <a:off x="857250" y="5029200"/>
            <a:ext cx="2800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FFFFF"/>
                </a:solidFill>
                <a:latin typeface="Arial"/>
                <a:ea typeface="Arial"/>
                <a:cs typeface="Arial"/>
              </a:defRPr>
            </a:defPPr>
          </a:lstStyle>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SRE agent* + инженер:</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наблюдават, реагират</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и създават нови задачи.</a:t>
            </a:r>
          </a:p>
        </p:txBody>
      </p:sp>
      <p:sp>
        <p:nvSpPr>
          <p:cNvPr id="31" name="">
            <a:extLst xmlns:a="http://schemas.openxmlformats.org/drawingml/2006/main">
              <a:ext uri="{FF2B5EF4-FFF2-40B4-BE49-F238E27FC236}">
                <a16:creationId xmlns:a16="http://schemas.microsoft.com/office/drawing/2014/main" id="{B38F0728-4586-4EE5-88E2-234681E16A11}"/>
              </a:ext>
            </a:extLst>
          </p:cNvPr>
          <p:cNvSpPr>
            <a:spLocks xmlns:a="http://schemas.openxmlformats.org/drawingml/2006/main" noGrp="1"/>
          </p:cNvSpPr>
          <p:nvPr/>
        </p:nvSpPr>
        <p:spPr>
          <a:xfrm xmlns:a="http://schemas.openxmlformats.org/drawingml/2006/main">
            <a:off x="5753100" y="39624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B9DFFF"/>
                </a:solidFill>
                <a:latin typeface="Arial"/>
                <a:ea typeface="Arial"/>
                <a:cs typeface="Arial"/>
              </a:defRPr>
            </a:defPPr>
          </a:lstStyle>
          <a:p xmlns:a="http://schemas.openxmlformats.org/drawingml/2006/main">
            <a:pPr>
              <a:defRPr sz="1350" b="1">
                <a:solidFill>
                  <a:srgbClr val="B9DFFF"/>
                </a:solidFill>
                <a:latin typeface="Arial"/>
                <a:ea typeface="Arial"/>
                <a:cs typeface="Arial"/>
              </a:defRPr>
            </a:pPr>
            <a:r>
              <a:rPr sz="1350" b="1">
                <a:solidFill>
                  <a:srgbClr val="B9DFFF"/>
                </a:solidFill>
                <a:latin typeface="Arial"/>
                <a:ea typeface="Arial"/>
                <a:cs typeface="Arial"/>
              </a:rPr>
              <a:t>Review може да върне кода за поправки.</a:t>
            </a:r>
          </a:p>
        </p:txBody>
      </p:sp>
      <p:sp>
        <p:nvSpPr>
          <p:cNvPr id="32" name="">
            <a:extLst xmlns:a="http://schemas.openxmlformats.org/drawingml/2006/main">
              <a:ext uri="{FF2B5EF4-FFF2-40B4-BE49-F238E27FC236}">
                <a16:creationId xmlns:a16="http://schemas.microsoft.com/office/drawing/2014/main" id="{9A5B30FF-2DB1-49AC-BD1D-204766B2CE85}"/>
              </a:ext>
            </a:extLst>
          </p:cNvPr>
          <p:cNvSpPr>
            <a:spLocks xmlns:a="http://schemas.openxmlformats.org/drawingml/2006/main" noGrp="1"/>
          </p:cNvSpPr>
          <p:nvPr/>
        </p:nvSpPr>
        <p:spPr>
          <a:xfrm xmlns:a="http://schemas.openxmlformats.org/drawingml/2006/main">
            <a:off x="685800" y="5981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FFFFFF"/>
                </a:solidFill>
                <a:latin typeface="Arial"/>
                <a:ea typeface="Arial"/>
                <a:cs typeface="Arial"/>
              </a:defRPr>
            </a:def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Нови изисквания и сигнали от production водят до нови задачи и актуален spec.md.</a:t>
            </a:r>
          </a:p>
        </p:txBody>
      </p:sp>
      <p:sp>
        <p:nvSpPr>
          <p:cNvPr id="33" name="">
            <a:extLst xmlns:a="http://schemas.openxmlformats.org/drawingml/2006/main">
              <a:ext uri="{FF2B5EF4-FFF2-40B4-BE49-F238E27FC236}">
                <a16:creationId xmlns:a16="http://schemas.microsoft.com/office/drawing/2014/main" id="{74DF1F58-7C9D-4AAB-8171-B0EEECA3791E}"/>
              </a:ext>
            </a:extLst>
          </p:cNvPr>
          <p:cNvSpPr>
            <a:spLocks xmlns:a="http://schemas.openxmlformats.org/drawingml/2006/main" noGrp="1"/>
          </p:cNvSpPr>
          <p:nvPr/>
        </p:nvSpPr>
        <p:spPr>
          <a:xfrm xmlns:a="http://schemas.openxmlformats.org/drawingml/2006/main">
            <a:off x="685800" y="6372225"/>
            <a:ext cx="1028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D5E4FA"/>
                </a:solidFill>
                <a:latin typeface="Arial"/>
                <a:ea typeface="Arial"/>
                <a:cs typeface="Arial"/>
              </a:defRPr>
            </a:defPPr>
          </a:lstStyle>
          <a:p xmlns:a="http://schemas.openxmlformats.org/drawingml/2006/main">
            <a:pPr>
              <a:defRPr sz="1275" b="0">
                <a:solidFill>
                  <a:srgbClr val="D5E4FA"/>
                </a:solidFill>
                <a:latin typeface="Arial"/>
                <a:ea typeface="Arial"/>
                <a:cs typeface="Arial"/>
              </a:defRPr>
            </a:pPr>
            <a:r>
              <a:rPr sz="1275" b="0">
                <a:solidFill>
                  <a:srgbClr val="D5E4FA"/>
                </a:solidFill>
                <a:latin typeface="Arial"/>
                <a:ea typeface="Arial"/>
                <a:cs typeface="Arial"/>
              </a:rPr>
              <a:t>* Azure SRE Agent е AI помощник за поддръжка в Azure: анализира инциденти и предлага или изпълнява</a:t>
            </a:r>
          </a:p>
          <a:p xmlns:a="http://schemas.openxmlformats.org/drawingml/2006/main">
            <a:pPr>
              <a:defRPr sz="1275" b="0">
                <a:solidFill>
                  <a:srgbClr val="D5E4FA"/>
                </a:solidFill>
                <a:latin typeface="Arial"/>
                <a:ea typeface="Arial"/>
                <a:cs typeface="Arial"/>
              </a:defRPr>
            </a:pPr>
            <a:r>
              <a:rPr sz="1275" b="0">
                <a:solidFill>
                  <a:srgbClr val="D5E4FA"/>
                </a:solidFill>
                <a:latin typeface="Arial"/>
                <a:ea typeface="Arial"/>
                <a:cs typeface="Arial"/>
              </a:rPr>
              <a:t>коригиращи действия според зададените права и режима на одобрение.</a:t>
            </a:r>
          </a:p>
        </p:txBody>
      </p:sp>
      <p:sp>
        <p:nvSpPr>
          <p:cNvPr id="34" name="">
            <a:extLst xmlns:a="http://schemas.openxmlformats.org/drawingml/2006/main">
              <a:ext uri="{FF2B5EF4-FFF2-40B4-BE49-F238E27FC236}">
                <a16:creationId xmlns:a16="http://schemas.microsoft.com/office/drawing/2014/main" id="{E158343D-1AFD-462A-B698-1D21B82766BA}"/>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CADCFC"/>
                </a:solidFill>
                <a:latin typeface="Arial"/>
                <a:ea typeface="Arial"/>
                <a:cs typeface="Arial"/>
              </a:defRPr>
            </a:defPPr>
          </a:lstStyle>
          <a:p xmlns:a="http://schemas.openxmlformats.org/drawingml/2006/main">
            <a:pPr>
              <a:defRPr sz="1275" b="0">
                <a:solidFill>
                  <a:srgbClr val="CADCFC"/>
                </a:solidFill>
                <a:latin typeface="Arial"/>
                <a:ea typeface="Arial"/>
                <a:cs typeface="Arial"/>
              </a:defRPr>
            </a:pPr>
            <a:r>
              <a:rPr sz="1275" b="0">
                <a:solidFill>
                  <a:srgbClr val="CADCFC"/>
                </a:solidFill>
                <a:latin typeface="Arial"/>
                <a:ea typeface="Arial"/>
                <a:cs typeface="Arial"/>
              </a:rPr>
              <a:t>18</a:t>
            </a:r>
          </a:p>
        </p:txBody>
      </p:sp>
    </p:spTree>
    <p:extLst>
      <p:ext uri="{BB962C8B-B14F-4D97-AF65-F5344CB8AC3E}">
        <p14:creationId xmlns:p14="http://schemas.microsoft.com/office/powerpoint/2010/main" val="1194643239"/>
      </p:ext>
    </p:extLst>
  </p:cSld>
</p:sld>
</file>

<file path=ppt/slides/slide19.xml><?xml version="1.0" encoding="utf-8"?>
<p:sld xmlns:p="http://schemas.openxmlformats.org/presentationml/2006/main">
  <p:cSld>
    <p:bg>
      <p:bgPr>
        <a:gradFill xmlns:a="http://schemas.openxmlformats.org/drawingml/2006/main">
          <a:gsLst>
            <a:gs pos="0">
              <a:srgbClr val="101F52"/>
            </a:gs>
            <a:gs pos="53000">
              <a:srgbClr val="2447A6"/>
            </a:gs>
            <a:gs pos="100000">
              <a:srgbClr val="7041B9"/>
            </a:gs>
          </a:gsLst>
          <a:lin ang="1500000"/>
        </a:gra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42962C07-B524-48A5-9306-9E39F9CDA2F3}"/>
              </a:ext>
            </a:extLst>
          </p:cNvPr>
          <p:cNvCxnSpPr>
            <a:stCxn xmlns:a="http://schemas.openxmlformats.org/drawingml/2006/main" id="14" idx="3"/>
            <a:endCxn xmlns:a="http://schemas.openxmlformats.org/drawingml/2006/main" id="11" idx="1"/>
          </p:cNvCxnSpPr>
          <p:nvPr/>
        </p:nvCxnSpPr>
        <p:spPr>
          <a:xfrm xmlns:a="http://schemas.openxmlformats.org/drawingml/2006/main">
            <a:off x="7515225" y="4357688"/>
            <a:ext cx="200025" cy="790575"/>
          </a:xfrm>
          <a:prstGeom xmlns:a="http://schemas.openxmlformats.org/drawingml/2006/main" prst="bentConnector3">
            <a:avLst>
              <a:gd name="adj1" fmla="val 50000"/>
            </a:avLst>
          </a:prstGeom>
          <a:ln xmlns:a="http://schemas.openxmlformats.org/drawingml/2006/main" w="28575">
            <a:solidFill>
              <a:srgbClr val="A8D7FA"/>
            </a:solidFill>
          </a:ln>
        </p:spPr>
      </p:cxnSp>
      <p:cxnSp>
        <p:nvCxnSpPr>
          <p:cNvPr id="19" name="">
            <a:extLst xmlns:a="http://schemas.openxmlformats.org/drawingml/2006/main">
              <a:ext uri="{FF2B5EF4-FFF2-40B4-BE49-F238E27FC236}">
                <a16:creationId xmlns:a16="http://schemas.microsoft.com/office/drawing/2014/main" id="{EB9D9B9B-4F9D-4807-ACFD-A20C264DAE68}"/>
              </a:ext>
            </a:extLst>
          </p:cNvPr>
          <p:cNvCxnSpPr>
            <a:stCxn xmlns:a="http://schemas.openxmlformats.org/drawingml/2006/main" id="14" idx="3"/>
            <a:endCxn xmlns:a="http://schemas.openxmlformats.org/drawingml/2006/main" id="5" idx="1"/>
          </p:cNvCxnSpPr>
          <p:nvPr/>
        </p:nvCxnSpPr>
        <p:spPr>
          <a:xfrm xmlns:a="http://schemas.openxmlformats.org/drawingml/2006/main" flipV="1">
            <a:off x="7515225" y="2681288"/>
            <a:ext cx="200025" cy="1676400"/>
          </a:xfrm>
          <a:prstGeom xmlns:a="http://schemas.openxmlformats.org/drawingml/2006/main" prst="bentConnector3">
            <a:avLst>
              <a:gd name="adj1" fmla="val 50000"/>
            </a:avLst>
          </a:prstGeom>
          <a:ln xmlns:a="http://schemas.openxmlformats.org/drawingml/2006/main" w="28575">
            <a:solidFill>
              <a:srgbClr val="A8D7FA"/>
            </a:solidFill>
          </a:ln>
        </p:spPr>
      </p:cxnSp>
      <p:cxnSp>
        <p:nvCxnSpPr>
          <p:cNvPr id="18" name="">
            <a:extLst xmlns:a="http://schemas.openxmlformats.org/drawingml/2006/main">
              <a:ext uri="{FF2B5EF4-FFF2-40B4-BE49-F238E27FC236}">
                <a16:creationId xmlns:a16="http://schemas.microsoft.com/office/drawing/2014/main" id="{15661407-5B83-4FD8-904C-21AF062B38BE}"/>
              </a:ext>
            </a:extLst>
          </p:cNvPr>
          <p:cNvCxnSpPr>
            <a:stCxn xmlns:a="http://schemas.openxmlformats.org/drawingml/2006/main" id="14" idx="1"/>
            <a:endCxn xmlns:a="http://schemas.openxmlformats.org/drawingml/2006/main" id="8" idx="3"/>
          </p:cNvCxnSpPr>
          <p:nvPr/>
        </p:nvCxnSpPr>
        <p:spPr>
          <a:xfrm xmlns:a="http://schemas.openxmlformats.org/drawingml/2006/main" flipH="1">
            <a:off x="4476750" y="4357688"/>
            <a:ext cx="200025" cy="790575"/>
          </a:xfrm>
          <a:prstGeom xmlns:a="http://schemas.openxmlformats.org/drawingml/2006/main" prst="bentConnector3">
            <a:avLst>
              <a:gd name="adj1" fmla="val 50000"/>
            </a:avLst>
          </a:prstGeom>
          <a:ln xmlns:a="http://schemas.openxmlformats.org/drawingml/2006/main" w="28575">
            <a:solidFill>
              <a:srgbClr val="A8D7FA"/>
            </a:solidFill>
          </a:ln>
        </p:spPr>
      </p:cxnSp>
      <p:cxnSp>
        <p:nvCxnSpPr>
          <p:cNvPr id="17" name="">
            <a:extLst xmlns:a="http://schemas.openxmlformats.org/drawingml/2006/main">
              <a:ext uri="{FF2B5EF4-FFF2-40B4-BE49-F238E27FC236}">
                <a16:creationId xmlns:a16="http://schemas.microsoft.com/office/drawing/2014/main" id="{F3BAD662-1268-46AF-94BB-F79DE4B0E47B}"/>
              </a:ext>
            </a:extLst>
          </p:cNvPr>
          <p:cNvCxnSpPr>
            <a:stCxn xmlns:a="http://schemas.openxmlformats.org/drawingml/2006/main" id="14" idx="1"/>
            <a:endCxn xmlns:a="http://schemas.openxmlformats.org/drawingml/2006/main" id="2" idx="3"/>
          </p:cNvCxnSpPr>
          <p:nvPr/>
        </p:nvCxnSpPr>
        <p:spPr>
          <a:xfrm xmlns:a="http://schemas.openxmlformats.org/drawingml/2006/main" flipH="1" flipV="1">
            <a:off x="4476750" y="2681288"/>
            <a:ext cx="200025" cy="1676400"/>
          </a:xfrm>
          <a:prstGeom xmlns:a="http://schemas.openxmlformats.org/drawingml/2006/main" prst="bentConnector3">
            <a:avLst>
              <a:gd name="adj1" fmla="val 50000"/>
            </a:avLst>
          </a:prstGeom>
          <a:ln xmlns:a="http://schemas.openxmlformats.org/drawingml/2006/main" w="28575">
            <a:solidFill>
              <a:srgbClr val="A8D7FA"/>
            </a:solidFill>
          </a:ln>
        </p:spPr>
      </p:cxnSp>
      <p:sp>
        <p:nvSpPr>
          <p:cNvPr id="22" name="">
            <a:extLst xmlns:a="http://schemas.openxmlformats.org/drawingml/2006/main">
              <a:ext uri="{FF2B5EF4-FFF2-40B4-BE49-F238E27FC236}">
                <a16:creationId xmlns:a16="http://schemas.microsoft.com/office/drawing/2014/main" id="{15D22093-2502-43DF-9CB6-5DB7B3623C01}"/>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Какво да запомним</a:t>
            </a:r>
          </a:p>
        </p:txBody>
      </p:sp>
      <p:sp>
        <p:nvSpPr>
          <p:cNvPr id="2" name="">
            <a:extLst xmlns:a="http://schemas.openxmlformats.org/drawingml/2006/main">
              <a:ext uri="{FF2B5EF4-FFF2-40B4-BE49-F238E27FC236}">
                <a16:creationId xmlns:a16="http://schemas.microsoft.com/office/drawing/2014/main" id="{B66D5962-2B4B-4879-8719-AAB7272E0D1D}"/>
              </a:ext>
            </a:extLst>
          </p:cNvPr>
          <p:cNvSpPr>
            <a:spLocks xmlns:a="http://schemas.openxmlformats.org/drawingml/2006/main" noGrp="1"/>
          </p:cNvSpPr>
          <p:nvPr/>
        </p:nvSpPr>
        <p:spPr>
          <a:xfrm xmlns:a="http://schemas.openxmlformats.org/drawingml/2006/main">
            <a:off x="685800" y="1581150"/>
            <a:ext cx="3790950" cy="2200275"/>
          </a:xfrm>
          <a:prstGeom xmlns:a="http://schemas.openxmlformats.org/drawingml/2006/main" prst="roundRect">
            <a:avLst>
              <a:gd name="adj" fmla="val 7792"/>
            </a:avLst>
          </a:prstGeom>
          <a:solidFill xmlns:a="http://schemas.openxmlformats.org/drawingml/2006/main">
            <a:srgbClr val="2447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F8C6D4F-C3E1-4253-B59A-53691382BCD7}"/>
              </a:ext>
            </a:extLst>
          </p:cNvPr>
          <p:cNvSpPr>
            <a:spLocks xmlns:a="http://schemas.openxmlformats.org/drawingml/2006/main" noGrp="1"/>
          </p:cNvSpPr>
          <p:nvPr/>
        </p:nvSpPr>
        <p:spPr>
          <a:xfrm xmlns:a="http://schemas.openxmlformats.org/drawingml/2006/main">
            <a:off x="876300" y="1733550"/>
            <a:ext cx="3409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FFFFFF"/>
                </a:solidFill>
                <a:latin typeface="Arial"/>
                <a:ea typeface="Arial"/>
                <a:cs typeface="Arial"/>
              </a:defRPr>
            </a:defPPr>
          </a:lstStyle>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Specs</a:t>
            </a:r>
          </a:p>
        </p:txBody>
      </p:sp>
      <p:sp>
        <p:nvSpPr>
          <p:cNvPr id="4" name="">
            <a:extLst xmlns:a="http://schemas.openxmlformats.org/drawingml/2006/main">
              <a:ext uri="{FF2B5EF4-FFF2-40B4-BE49-F238E27FC236}">
                <a16:creationId xmlns:a16="http://schemas.microsoft.com/office/drawing/2014/main" id="{9529C3E4-BD74-4164-9B49-6081F57B421E}"/>
              </a:ext>
            </a:extLst>
          </p:cNvPr>
          <p:cNvSpPr>
            <a:spLocks xmlns:a="http://schemas.openxmlformats.org/drawingml/2006/main" noGrp="1"/>
          </p:cNvSpPr>
          <p:nvPr/>
        </p:nvSpPr>
        <p:spPr>
          <a:xfrm xmlns:a="http://schemas.openxmlformats.org/drawingml/2006/main">
            <a:off x="876300" y="2219325"/>
            <a:ext cx="34099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Описват какво изграждаме и защо.</a:t>
            </a:r>
          </a:p>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Задават ясни критерии за приемане.</a:t>
            </a:r>
          </a:p>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Актуализираме ги при промяна на изискванията.</a:t>
            </a:r>
          </a:p>
        </p:txBody>
      </p:sp>
      <p:sp>
        <p:nvSpPr>
          <p:cNvPr id="5" name="">
            <a:extLst xmlns:a="http://schemas.openxmlformats.org/drawingml/2006/main">
              <a:ext uri="{FF2B5EF4-FFF2-40B4-BE49-F238E27FC236}">
                <a16:creationId xmlns:a16="http://schemas.microsoft.com/office/drawing/2014/main" id="{C7EA058A-64EB-4FBD-9CBE-2F7AE2C4ABAF}"/>
              </a:ext>
            </a:extLst>
          </p:cNvPr>
          <p:cNvSpPr>
            <a:spLocks xmlns:a="http://schemas.openxmlformats.org/drawingml/2006/main" noGrp="1"/>
          </p:cNvSpPr>
          <p:nvPr/>
        </p:nvSpPr>
        <p:spPr>
          <a:xfrm xmlns:a="http://schemas.openxmlformats.org/drawingml/2006/main">
            <a:off x="7715250" y="1581150"/>
            <a:ext cx="3790950" cy="2200275"/>
          </a:xfrm>
          <a:prstGeom xmlns:a="http://schemas.openxmlformats.org/drawingml/2006/main" prst="roundRect">
            <a:avLst>
              <a:gd name="adj" fmla="val 7792"/>
            </a:avLst>
          </a:prstGeom>
          <a:solidFill xmlns:a="http://schemas.openxmlformats.org/drawingml/2006/main">
            <a:srgbClr val="13795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1D00317-F0D8-4F56-B888-277944A567C5}"/>
              </a:ext>
            </a:extLst>
          </p:cNvPr>
          <p:cNvSpPr>
            <a:spLocks xmlns:a="http://schemas.openxmlformats.org/drawingml/2006/main" noGrp="1"/>
          </p:cNvSpPr>
          <p:nvPr/>
        </p:nvSpPr>
        <p:spPr>
          <a:xfrm xmlns:a="http://schemas.openxmlformats.org/drawingml/2006/main">
            <a:off x="7905750" y="1733550"/>
            <a:ext cx="3409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FFFFFF"/>
                </a:solidFill>
                <a:latin typeface="Arial"/>
                <a:ea typeface="Arial"/>
                <a:cs typeface="Arial"/>
              </a:defRPr>
            </a:defPPr>
          </a:lstStyle>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Тестове</a:t>
            </a:r>
          </a:p>
        </p:txBody>
      </p:sp>
      <p:sp>
        <p:nvSpPr>
          <p:cNvPr id="7" name="">
            <a:extLst xmlns:a="http://schemas.openxmlformats.org/drawingml/2006/main">
              <a:ext uri="{FF2B5EF4-FFF2-40B4-BE49-F238E27FC236}">
                <a16:creationId xmlns:a16="http://schemas.microsoft.com/office/drawing/2014/main" id="{B13093C4-2825-4435-9A5C-2A376EAD486F}"/>
              </a:ext>
            </a:extLst>
          </p:cNvPr>
          <p:cNvSpPr>
            <a:spLocks xmlns:a="http://schemas.openxmlformats.org/drawingml/2006/main" noGrp="1"/>
          </p:cNvSpPr>
          <p:nvPr/>
        </p:nvSpPr>
        <p:spPr>
          <a:xfrm xmlns:a="http://schemas.openxmlformats.org/drawingml/2006/main">
            <a:off x="7905750" y="2219325"/>
            <a:ext cx="34099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Проверяват поведението на кода</a:t>
            </a:r>
          </a:p>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спрямо договорените изисквания.</a:t>
            </a:r>
          </a:p>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Откриват дефекти и регресии.</a:t>
            </a:r>
          </a:p>
        </p:txBody>
      </p:sp>
      <p:sp>
        <p:nvSpPr>
          <p:cNvPr id="8" name="">
            <a:extLst xmlns:a="http://schemas.openxmlformats.org/drawingml/2006/main">
              <a:ext uri="{FF2B5EF4-FFF2-40B4-BE49-F238E27FC236}">
                <a16:creationId xmlns:a16="http://schemas.microsoft.com/office/drawing/2014/main" id="{98A97FCA-9149-476A-B328-464B864BC92A}"/>
              </a:ext>
            </a:extLst>
          </p:cNvPr>
          <p:cNvSpPr>
            <a:spLocks xmlns:a="http://schemas.openxmlformats.org/drawingml/2006/main" noGrp="1"/>
          </p:cNvSpPr>
          <p:nvPr/>
        </p:nvSpPr>
        <p:spPr>
          <a:xfrm xmlns:a="http://schemas.openxmlformats.org/drawingml/2006/main">
            <a:off x="685800" y="4048125"/>
            <a:ext cx="3790950" cy="2200275"/>
          </a:xfrm>
          <a:prstGeom xmlns:a="http://schemas.openxmlformats.org/drawingml/2006/main" prst="roundRect">
            <a:avLst>
              <a:gd name="adj" fmla="val 7792"/>
            </a:avLst>
          </a:prstGeom>
          <a:solidFill xmlns:a="http://schemas.openxmlformats.org/drawingml/2006/main">
            <a:srgbClr val="7041B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10029FF-CC48-4AAE-A30C-A1253CE80CE2}"/>
              </a:ext>
            </a:extLst>
          </p:cNvPr>
          <p:cNvSpPr>
            <a:spLocks xmlns:a="http://schemas.openxmlformats.org/drawingml/2006/main" noGrp="1"/>
          </p:cNvSpPr>
          <p:nvPr/>
        </p:nvSpPr>
        <p:spPr>
          <a:xfrm xmlns:a="http://schemas.openxmlformats.org/drawingml/2006/main">
            <a:off x="876300" y="4200525"/>
            <a:ext cx="3409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FFFFFF"/>
                </a:solidFill>
                <a:latin typeface="Arial"/>
                <a:ea typeface="Arial"/>
                <a:cs typeface="Arial"/>
              </a:defRPr>
            </a:defPPr>
          </a:lstStyle>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Evals</a:t>
            </a:r>
          </a:p>
        </p:txBody>
      </p:sp>
      <p:sp>
        <p:nvSpPr>
          <p:cNvPr id="10" name="">
            <a:extLst xmlns:a="http://schemas.openxmlformats.org/drawingml/2006/main">
              <a:ext uri="{FF2B5EF4-FFF2-40B4-BE49-F238E27FC236}">
                <a16:creationId xmlns:a16="http://schemas.microsoft.com/office/drawing/2014/main" id="{F4877D45-F316-425D-97B7-DE6213E23F61}"/>
              </a:ext>
            </a:extLst>
          </p:cNvPr>
          <p:cNvSpPr>
            <a:spLocks xmlns:a="http://schemas.openxmlformats.org/drawingml/2006/main" noGrp="1"/>
          </p:cNvSpPr>
          <p:nvPr/>
        </p:nvSpPr>
        <p:spPr>
          <a:xfrm xmlns:a="http://schemas.openxmlformats.org/drawingml/2006/main">
            <a:off x="876300" y="4686300"/>
            <a:ext cx="34099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Измерват качеството и надеждността</a:t>
            </a:r>
          </a:p>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на агентите и използваните Skills</a:t>
            </a:r>
          </a:p>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чрез реалистични задачи и ясни критерии.</a:t>
            </a:r>
          </a:p>
        </p:txBody>
      </p:sp>
      <p:sp>
        <p:nvSpPr>
          <p:cNvPr id="11" name="">
            <a:extLst xmlns:a="http://schemas.openxmlformats.org/drawingml/2006/main">
              <a:ext uri="{FF2B5EF4-FFF2-40B4-BE49-F238E27FC236}">
                <a16:creationId xmlns:a16="http://schemas.microsoft.com/office/drawing/2014/main" id="{6A458C59-67AB-4D82-955C-A8B80AE4A076}"/>
              </a:ext>
            </a:extLst>
          </p:cNvPr>
          <p:cNvSpPr>
            <a:spLocks xmlns:a="http://schemas.openxmlformats.org/drawingml/2006/main" noGrp="1"/>
          </p:cNvSpPr>
          <p:nvPr/>
        </p:nvSpPr>
        <p:spPr>
          <a:xfrm xmlns:a="http://schemas.openxmlformats.org/drawingml/2006/main">
            <a:off x="7715250" y="4048125"/>
            <a:ext cx="3790950" cy="2200275"/>
          </a:xfrm>
          <a:prstGeom xmlns:a="http://schemas.openxmlformats.org/drawingml/2006/main" prst="roundRect">
            <a:avLst>
              <a:gd name="adj" fmla="val 7792"/>
            </a:avLst>
          </a:prstGeom>
          <a:solidFill xmlns:a="http://schemas.openxmlformats.org/drawingml/2006/main">
            <a:srgbClr val="067E9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5F3C9A3-A3C6-4EFC-A22B-A9C6B40B1537}"/>
              </a:ext>
            </a:extLst>
          </p:cNvPr>
          <p:cNvSpPr>
            <a:spLocks xmlns:a="http://schemas.openxmlformats.org/drawingml/2006/main" noGrp="1"/>
          </p:cNvSpPr>
          <p:nvPr/>
        </p:nvSpPr>
        <p:spPr>
          <a:xfrm xmlns:a="http://schemas.openxmlformats.org/drawingml/2006/main">
            <a:off x="7905750" y="4200525"/>
            <a:ext cx="3409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FFFFFF"/>
                </a:solidFill>
                <a:latin typeface="Arial"/>
                <a:ea typeface="Arial"/>
                <a:cs typeface="Arial"/>
              </a:defRPr>
            </a:defPPr>
          </a:lstStyle>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Observability</a:t>
            </a:r>
          </a:p>
        </p:txBody>
      </p:sp>
      <p:sp>
        <p:nvSpPr>
          <p:cNvPr id="13" name="">
            <a:extLst xmlns:a="http://schemas.openxmlformats.org/drawingml/2006/main">
              <a:ext uri="{FF2B5EF4-FFF2-40B4-BE49-F238E27FC236}">
                <a16:creationId xmlns:a16="http://schemas.microsoft.com/office/drawing/2014/main" id="{668BEEC8-E188-45EC-A5F3-E9DB6FCEDB26}"/>
              </a:ext>
            </a:extLst>
          </p:cNvPr>
          <p:cNvSpPr>
            <a:spLocks xmlns:a="http://schemas.openxmlformats.org/drawingml/2006/main" noGrp="1"/>
          </p:cNvSpPr>
          <p:nvPr/>
        </p:nvSpPr>
        <p:spPr>
          <a:xfrm xmlns:a="http://schemas.openxmlformats.org/drawingml/2006/main">
            <a:off x="7905750" y="4686300"/>
            <a:ext cx="34099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Метрики, логове и traces показват</a:t>
            </a:r>
          </a:p>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как работи системата в реална среда.</a:t>
            </a:r>
          </a:p>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Помагат да разберем проблемите и причините.</a:t>
            </a:r>
          </a:p>
        </p:txBody>
      </p:sp>
      <p:sp>
        <p:nvSpPr>
          <p:cNvPr id="14" name="">
            <a:extLst xmlns:a="http://schemas.openxmlformats.org/drawingml/2006/main">
              <a:ext uri="{FF2B5EF4-FFF2-40B4-BE49-F238E27FC236}">
                <a16:creationId xmlns:a16="http://schemas.microsoft.com/office/drawing/2014/main" id="{32B4B405-6D48-4255-AD91-CDACBBDA3E72}"/>
              </a:ext>
            </a:extLst>
          </p:cNvPr>
          <p:cNvSpPr>
            <a:spLocks xmlns:a="http://schemas.openxmlformats.org/drawingml/2006/main" noGrp="1"/>
          </p:cNvSpPr>
          <p:nvPr/>
        </p:nvSpPr>
        <p:spPr>
          <a:xfrm xmlns:a="http://schemas.openxmlformats.org/drawingml/2006/main">
            <a:off x="4676775" y="2952750"/>
            <a:ext cx="2838450" cy="2809875"/>
          </a:xfrm>
          <a:prstGeom xmlns:a="http://schemas.openxmlformats.org/drawingml/2006/main" prst="roundRect">
            <a:avLst>
              <a:gd name="adj" fmla="val 6102"/>
            </a:avLst>
          </a:prstGeom>
          <a:solidFill xmlns:a="http://schemas.openxmlformats.org/drawingml/2006/main">
            <a:srgbClr val="EAF5FF"/>
          </a:solidFill>
          <a:ln xmlns:a="http://schemas.openxmlformats.org/drawingml/2006/main" w="19050">
            <a:solidFill>
              <a:srgbClr val="A8D7FA"/>
            </a:solidFill>
          </a:ln>
        </p:spPr>
      </p:sp>
      <p:sp>
        <p:nvSpPr>
          <p:cNvPr id="15" name="">
            <a:extLst xmlns:a="http://schemas.openxmlformats.org/drawingml/2006/main">
              <a:ext uri="{FF2B5EF4-FFF2-40B4-BE49-F238E27FC236}">
                <a16:creationId xmlns:a16="http://schemas.microsoft.com/office/drawing/2014/main" id="{37B11A8B-1EBB-48BE-A015-B6B01C4AA761}"/>
              </a:ext>
            </a:extLst>
          </p:cNvPr>
          <p:cNvSpPr>
            <a:spLocks xmlns:a="http://schemas.openxmlformats.org/drawingml/2006/main" noGrp="1"/>
          </p:cNvSpPr>
          <p:nvPr/>
        </p:nvSpPr>
        <p:spPr>
          <a:xfrm xmlns:a="http://schemas.openxmlformats.org/drawingml/2006/main">
            <a:off x="4867275" y="3143250"/>
            <a:ext cx="2457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22442"/>
                </a:solidFill>
                <a:latin typeface="Arial"/>
                <a:ea typeface="Arial"/>
                <a:cs typeface="Arial"/>
              </a:defRPr>
            </a:defPPr>
          </a:lstStyle>
          <a:p xmlns:a="http://schemas.openxmlformats.org/drawingml/2006/main">
            <a:pPr>
              <a:defRPr sz="2550" b="1">
                <a:solidFill>
                  <a:srgbClr val="122442"/>
                </a:solidFill>
                <a:latin typeface="Arial"/>
                <a:ea typeface="Arial"/>
                <a:cs typeface="Arial"/>
              </a:defRPr>
            </a:pPr>
            <a:r>
              <a:rPr sz="2550" b="1">
                <a:solidFill>
                  <a:srgbClr val="122442"/>
                </a:solidFill>
                <a:latin typeface="Arial"/>
                <a:ea typeface="Arial"/>
                <a:cs typeface="Arial"/>
              </a:rPr>
              <a:t>Човекът</a:t>
            </a:r>
          </a:p>
        </p:txBody>
      </p:sp>
      <p:sp>
        <p:nvSpPr>
          <p:cNvPr id="16" name="">
            <a:extLst xmlns:a="http://schemas.openxmlformats.org/drawingml/2006/main">
              <a:ext uri="{FF2B5EF4-FFF2-40B4-BE49-F238E27FC236}">
                <a16:creationId xmlns:a16="http://schemas.microsoft.com/office/drawing/2014/main" id="{C1D81A18-58A8-42A6-8ED2-3801D7116589}"/>
              </a:ext>
            </a:extLst>
          </p:cNvPr>
          <p:cNvSpPr>
            <a:spLocks xmlns:a="http://schemas.openxmlformats.org/drawingml/2006/main" noGrp="1"/>
          </p:cNvSpPr>
          <p:nvPr/>
        </p:nvSpPr>
        <p:spPr>
          <a:xfrm xmlns:a="http://schemas.openxmlformats.org/drawingml/2006/main">
            <a:off x="4867275" y="3790950"/>
            <a:ext cx="245745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22442"/>
                </a:solidFill>
                <a:latin typeface="Arial"/>
                <a:ea typeface="Arial"/>
                <a:cs typeface="Arial"/>
              </a:defRPr>
            </a:defPPr>
          </a:lstStyle>
          <a:p xmlns:a="http://schemas.openxmlformats.org/drawingml/2006/main">
            <a:pPr>
              <a:defRPr sz="1500" b="0">
                <a:solidFill>
                  <a:srgbClr val="122442"/>
                </a:solidFill>
                <a:latin typeface="Arial"/>
                <a:ea typeface="Arial"/>
                <a:cs typeface="Arial"/>
              </a:defRPr>
            </a:pPr>
            <a:r>
              <a:rPr sz="1500" b="0">
                <a:solidFill>
                  <a:srgbClr val="122442"/>
                </a:solidFill>
                <a:latin typeface="Arial"/>
                <a:ea typeface="Arial"/>
                <a:cs typeface="Arial"/>
              </a:rPr>
              <a:t>Задава посоката и взема</a:t>
            </a:r>
          </a:p>
          <a:p xmlns:a="http://schemas.openxmlformats.org/drawingml/2006/main">
            <a:pPr>
              <a:defRPr sz="1500" b="0">
                <a:solidFill>
                  <a:srgbClr val="122442"/>
                </a:solidFill>
                <a:latin typeface="Arial"/>
                <a:ea typeface="Arial"/>
                <a:cs typeface="Arial"/>
              </a:defRPr>
            </a:pPr>
            <a:r>
              <a:rPr sz="1500" b="0">
                <a:solidFill>
                  <a:srgbClr val="122442"/>
                </a:solidFill>
                <a:latin typeface="Arial"/>
                <a:ea typeface="Arial"/>
                <a:cs typeface="Arial"/>
              </a:rPr>
              <a:t>ключовите решения.</a:t>
            </a:r>
          </a:p>
          <a:p xmlns:a="http://schemas.openxmlformats.org/drawingml/2006/main">
            <a:pPr>
              <a:defRPr sz="1500" b="0">
                <a:solidFill>
                  <a:srgbClr val="122442"/>
                </a:solidFill>
                <a:latin typeface="Arial"/>
                <a:ea typeface="Arial"/>
                <a:cs typeface="Arial"/>
              </a:defRPr>
            </a:pPr>
            <a:r>
              <a:rPr sz="1500" b="0">
                <a:solidFill>
                  <a:srgbClr val="122442"/>
                </a:solidFill>
                <a:latin typeface="Arial"/>
                <a:ea typeface="Arial"/>
                <a:cs typeface="Arial"/>
              </a:rPr>
              <a:t>Одобрява резултата и</a:t>
            </a:r>
          </a:p>
          <a:p xmlns:a="http://schemas.openxmlformats.org/drawingml/2006/main">
            <a:pPr>
              <a:defRPr sz="1500" b="0">
                <a:solidFill>
                  <a:srgbClr val="122442"/>
                </a:solidFill>
                <a:latin typeface="Arial"/>
                <a:ea typeface="Arial"/>
                <a:cs typeface="Arial"/>
              </a:defRPr>
            </a:pPr>
            <a:r>
              <a:rPr sz="1500" b="0">
                <a:solidFill>
                  <a:srgbClr val="122442"/>
                </a:solidFill>
                <a:latin typeface="Arial"/>
                <a:ea typeface="Arial"/>
                <a:cs typeface="Arial"/>
              </a:rPr>
              <a:t>носи отговорността.</a:t>
            </a:r>
          </a:p>
          <a:p xmlns:a="http://schemas.openxmlformats.org/drawingml/2006/main">
            <a:pPr>
              <a:defRPr sz="1500" b="0">
                <a:solidFill>
                  <a:srgbClr val="122442"/>
                </a:solidFill>
                <a:latin typeface="Arial"/>
                <a:ea typeface="Arial"/>
                <a:cs typeface="Arial"/>
              </a:defRPr>
            </a:pPr>
            <a:r>
              <a:rPr sz="1500" b="0">
                <a:solidFill>
                  <a:srgbClr val="122442"/>
                </a:solidFill>
                <a:latin typeface="Arial"/>
                <a:ea typeface="Arial"/>
                <a:cs typeface="Arial"/>
              </a:rPr>
              <a:t>Неговата преценка е</a:t>
            </a:r>
          </a:p>
          <a:p xmlns:a="http://schemas.openxmlformats.org/drawingml/2006/main">
            <a:pPr>
              <a:defRPr sz="1500" b="0">
                <a:solidFill>
                  <a:srgbClr val="122442"/>
                </a:solidFill>
                <a:latin typeface="Arial"/>
                <a:ea typeface="Arial"/>
                <a:cs typeface="Arial"/>
              </a:defRPr>
            </a:pPr>
            <a:r>
              <a:rPr sz="1500" b="0">
                <a:solidFill>
                  <a:srgbClr val="122442"/>
                </a:solidFill>
                <a:latin typeface="Arial"/>
                <a:ea typeface="Arial"/>
                <a:cs typeface="Arial"/>
              </a:rPr>
              <a:t>незаменима.</a:t>
            </a:r>
          </a:p>
        </p:txBody>
      </p:sp>
      <p:sp>
        <p:nvSpPr>
          <p:cNvPr id="21" name="">
            <a:extLst xmlns:a="http://schemas.openxmlformats.org/drawingml/2006/main">
              <a:ext uri="{FF2B5EF4-FFF2-40B4-BE49-F238E27FC236}">
                <a16:creationId xmlns:a16="http://schemas.microsoft.com/office/drawing/2014/main" id="{5D4BDACC-04B1-45B1-AF7A-F4D2505779CC}"/>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CADCFC"/>
                </a:solidFill>
                <a:latin typeface="Arial"/>
                <a:ea typeface="Arial"/>
                <a:cs typeface="Arial"/>
              </a:defRPr>
            </a:defPPr>
          </a:lstStyle>
          <a:p xmlns:a="http://schemas.openxmlformats.org/drawingml/2006/main">
            <a:pPr>
              <a:defRPr sz="1275" b="0">
                <a:solidFill>
                  <a:srgbClr val="CADCFC"/>
                </a:solidFill>
                <a:latin typeface="Arial"/>
                <a:ea typeface="Arial"/>
                <a:cs typeface="Arial"/>
              </a:defRPr>
            </a:pPr>
            <a:r>
              <a:rPr sz="1275" b="0">
                <a:solidFill>
                  <a:srgbClr val="CADCFC"/>
                </a:solidFill>
                <a:latin typeface="Arial"/>
                <a:ea typeface="Arial"/>
                <a:cs typeface="Arial"/>
              </a:rPr>
              <a:t>19</a:t>
            </a:r>
          </a:p>
        </p:txBody>
      </p:sp>
    </p:spTree>
    <p:extLst>
      <p:ext uri="{BB962C8B-B14F-4D97-AF65-F5344CB8AC3E}">
        <p14:creationId xmlns:p14="http://schemas.microsoft.com/office/powerpoint/2010/main" val="762248407"/>
      </p:ext>
    </p:extLst>
  </p:cSld>
</p:sld>
</file>

<file path=ppt/slides/slide20.xml><?xml version="1.0" encoding="utf-8"?>
<p:sld xmlns:p="http://schemas.openxmlformats.org/presentationml/2006/main">
  <p:cSld>
    <p:bg>
      <p:bgPr>
        <a:gradFill xmlns:a="http://schemas.openxmlformats.org/drawingml/2006/main">
          <a:gsLst>
            <a:gs pos="0">
              <a:srgbClr val="101F52"/>
            </a:gs>
            <a:gs pos="53000">
              <a:srgbClr val="2447A6"/>
            </a:gs>
            <a:gs pos="100000">
              <a:srgbClr val="7041B9"/>
            </a:gs>
          </a:gsLst>
          <a:lin ang="1500000"/>
        </a:gra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436F594-1045-4E6B-B5EA-857B61FC9279}"/>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Полезни ресурси</a:t>
            </a:r>
          </a:p>
        </p:txBody>
      </p:sp>
      <p:sp>
        <p:nvSpPr>
          <p:cNvPr id="2" name="">
            <a:extLst xmlns:a="http://schemas.openxmlformats.org/drawingml/2006/main">
              <a:ext uri="{FF2B5EF4-FFF2-40B4-BE49-F238E27FC236}">
                <a16:creationId xmlns:a16="http://schemas.microsoft.com/office/drawing/2014/main" id="{08FF4FB4-54DA-45AC-80AE-F14A9B1E39FD}"/>
              </a:ext>
            </a:extLst>
          </p:cNvPr>
          <p:cNvSpPr>
            <a:spLocks xmlns:a="http://schemas.openxmlformats.org/drawingml/2006/main" noGrp="1"/>
          </p:cNvSpPr>
          <p:nvPr/>
        </p:nvSpPr>
        <p:spPr>
          <a:xfrm xmlns:a="http://schemas.openxmlformats.org/drawingml/2006/main">
            <a:off x="685800" y="152400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Arial"/>
                <a:ea typeface="Arial"/>
                <a:cs typeface="Arial"/>
              </a:defRPr>
            </a:defPPr>
          </a:lstStyle>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AWS re:Invent 2025: AI-DLC</a:t>
            </a:r>
          </a:p>
        </p:txBody>
      </p:sp>
      <p:sp>
        <p:nvSpPr>
          <p:cNvPr id="3" name="">
            <a:extLst xmlns:a="http://schemas.openxmlformats.org/drawingml/2006/main">
              <a:ext uri="{FF2B5EF4-FFF2-40B4-BE49-F238E27FC236}">
                <a16:creationId xmlns:a16="http://schemas.microsoft.com/office/drawing/2014/main" id="{0EA3EA63-90C7-4DEC-98ED-F669E7A2EEE8}"/>
              </a:ext>
            </a:extLst>
          </p:cNvPr>
          <p:cNvSpPr>
            <a:spLocks xmlns:a="http://schemas.openxmlformats.org/drawingml/2006/main" noGrp="1"/>
          </p:cNvSpPr>
          <p:nvPr/>
        </p:nvSpPr>
        <p:spPr>
          <a:xfrm xmlns:a="http://schemas.openxmlformats.org/drawingml/2006/main">
            <a:off x="685800" y="19526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Видео: AI-Driven Development Lifecycle.</a:t>
            </a:r>
          </a:p>
        </p:txBody>
      </p:sp>
      <p:sp>
        <p:nvSpPr>
          <p:cNvPr id="4" name="">
            <a:extLst xmlns:a="http://schemas.openxmlformats.org/drawingml/2006/main">
              <a:ext uri="{FF2B5EF4-FFF2-40B4-BE49-F238E27FC236}">
                <a16:creationId xmlns:a16="http://schemas.microsoft.com/office/drawing/2014/main" id="{E2FF0701-3C2C-4610-86CD-AE3331B88796}"/>
              </a:ext>
            </a:extLst>
          </p:cNvPr>
          <p:cNvSpPr>
            <a:spLocks xmlns:a="http://schemas.openxmlformats.org/drawingml/2006/main" noGrp="1"/>
          </p:cNvSpPr>
          <p:nvPr/>
        </p:nvSpPr>
        <p:spPr>
          <a:xfrm xmlns:a="http://schemas.openxmlformats.org/drawingml/2006/main">
            <a:off x="685800" y="2333625"/>
            <a:ext cx="5000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B9DFFF"/>
                </a:solidFill>
                <a:latin typeface="Arial"/>
                <a:ea typeface="Arial"/>
                <a:cs typeface="Arial"/>
              </a:defRPr>
            </a:defPPr>
          </a:lstStyle>
          <a:p xmlns:a="http://schemas.openxmlformats.org/drawingml/2006/main">
            <a:pPr>
              <a:defRPr sz="1350" b="0">
                <a:solidFill>
                  <a:srgbClr val="B9DFFF"/>
                </a:solidFill>
                <a:latin typeface="Arial"/>
                <a:ea typeface="Arial"/>
                <a:cs typeface="Arial"/>
              </a:defRPr>
            </a:pPr>
            <a:r>
              <a:rPr u="sng">
                <a:solidFill>
                  <a:srgbClr val="B9DFFF"/>
                </a:solidFill>
                <a:hlinkClick xmlns:r="http://schemas.openxmlformats.org/officeDocument/2006/relationships" r:id="R9bab09fd9c5a44ca"/>
              </a:rPr>
              <a:t>youtube.com/watch?v=1HNUH6j5t4A</a:t>
            </a:r>
          </a:p>
        </p:txBody>
      </p:sp>
      <p:sp>
        <p:nvSpPr>
          <p:cNvPr id="5" name="">
            <a:extLst xmlns:a="http://schemas.openxmlformats.org/drawingml/2006/main">
              <a:ext uri="{FF2B5EF4-FFF2-40B4-BE49-F238E27FC236}">
                <a16:creationId xmlns:a16="http://schemas.microsoft.com/office/drawing/2014/main" id="{BA98B0FC-D798-4E85-B59F-A9DB481E4E2A}"/>
              </a:ext>
            </a:extLst>
          </p:cNvPr>
          <p:cNvSpPr>
            <a:spLocks xmlns:a="http://schemas.openxmlformats.org/drawingml/2006/main" noGrp="1"/>
          </p:cNvSpPr>
          <p:nvPr/>
        </p:nvSpPr>
        <p:spPr>
          <a:xfrm xmlns:a="http://schemas.openxmlformats.org/drawingml/2006/main">
            <a:off x="685800" y="274320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Arial"/>
                <a:ea typeface="Arial"/>
                <a:cs typeface="Arial"/>
              </a:defRPr>
            </a:defPPr>
          </a:lstStyle>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GitHub Spec Kit</a:t>
            </a:r>
          </a:p>
        </p:txBody>
      </p:sp>
      <p:sp>
        <p:nvSpPr>
          <p:cNvPr id="6" name="">
            <a:extLst xmlns:a="http://schemas.openxmlformats.org/drawingml/2006/main">
              <a:ext uri="{FF2B5EF4-FFF2-40B4-BE49-F238E27FC236}">
                <a16:creationId xmlns:a16="http://schemas.microsoft.com/office/drawing/2014/main" id="{F2A01A06-B2D9-43DB-9DF2-90AB2F2A1387}"/>
              </a:ext>
            </a:extLst>
          </p:cNvPr>
          <p:cNvSpPr>
            <a:spLocks xmlns:a="http://schemas.openxmlformats.org/drawingml/2006/main" noGrp="1"/>
          </p:cNvSpPr>
          <p:nvPr/>
        </p:nvSpPr>
        <p:spPr>
          <a:xfrm xmlns:a="http://schemas.openxmlformats.org/drawingml/2006/main">
            <a:off x="685800" y="31718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Open source инструменти за SDD.</a:t>
            </a:r>
          </a:p>
        </p:txBody>
      </p:sp>
      <p:sp>
        <p:nvSpPr>
          <p:cNvPr id="7" name="">
            <a:extLst xmlns:a="http://schemas.openxmlformats.org/drawingml/2006/main">
              <a:ext uri="{FF2B5EF4-FFF2-40B4-BE49-F238E27FC236}">
                <a16:creationId xmlns:a16="http://schemas.microsoft.com/office/drawing/2014/main" id="{A5443C5B-881B-457A-B2E3-9F83DD206179}"/>
              </a:ext>
            </a:extLst>
          </p:cNvPr>
          <p:cNvSpPr>
            <a:spLocks xmlns:a="http://schemas.openxmlformats.org/drawingml/2006/main" noGrp="1"/>
          </p:cNvSpPr>
          <p:nvPr/>
        </p:nvSpPr>
        <p:spPr>
          <a:xfrm xmlns:a="http://schemas.openxmlformats.org/drawingml/2006/main">
            <a:off x="685800" y="3552825"/>
            <a:ext cx="5000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B9DFFF"/>
                </a:solidFill>
                <a:latin typeface="Arial"/>
                <a:ea typeface="Arial"/>
                <a:cs typeface="Arial"/>
              </a:defRPr>
            </a:defPPr>
          </a:lstStyle>
          <a:p xmlns:a="http://schemas.openxmlformats.org/drawingml/2006/main">
            <a:pPr>
              <a:defRPr sz="1350" b="0">
                <a:solidFill>
                  <a:srgbClr val="B9DFFF"/>
                </a:solidFill>
                <a:latin typeface="Arial"/>
                <a:ea typeface="Arial"/>
                <a:cs typeface="Arial"/>
              </a:defRPr>
            </a:pPr>
            <a:r>
              <a:rPr u="sng">
                <a:solidFill>
                  <a:srgbClr val="B9DFFF"/>
                </a:solidFill>
                <a:hlinkClick xmlns:r="http://schemas.openxmlformats.org/officeDocument/2006/relationships" r:id="R9c7b2224df8242c7"/>
              </a:rPr>
              <a:t>github.com/github/spec-kit</a:t>
            </a:r>
          </a:p>
        </p:txBody>
      </p:sp>
      <p:sp>
        <p:nvSpPr>
          <p:cNvPr id="8" name="">
            <a:extLst xmlns:a="http://schemas.openxmlformats.org/drawingml/2006/main">
              <a:ext uri="{FF2B5EF4-FFF2-40B4-BE49-F238E27FC236}">
                <a16:creationId xmlns:a16="http://schemas.microsoft.com/office/drawing/2014/main" id="{D149AC07-CF5F-4ED9-8DD4-DC3D32307B91}"/>
              </a:ext>
            </a:extLst>
          </p:cNvPr>
          <p:cNvSpPr>
            <a:spLocks xmlns:a="http://schemas.openxmlformats.org/drawingml/2006/main" noGrp="1"/>
          </p:cNvSpPr>
          <p:nvPr/>
        </p:nvSpPr>
        <p:spPr>
          <a:xfrm xmlns:a="http://schemas.openxmlformats.org/drawingml/2006/main">
            <a:off x="685800" y="396240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Arial"/>
                <a:ea typeface="Arial"/>
                <a:cs typeface="Arial"/>
              </a:defRPr>
            </a:defPPr>
          </a:lstStyle>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Kiro</a:t>
            </a:r>
          </a:p>
        </p:txBody>
      </p:sp>
      <p:sp>
        <p:nvSpPr>
          <p:cNvPr id="9" name="">
            <a:extLst xmlns:a="http://schemas.openxmlformats.org/drawingml/2006/main">
              <a:ext uri="{FF2B5EF4-FFF2-40B4-BE49-F238E27FC236}">
                <a16:creationId xmlns:a16="http://schemas.microsoft.com/office/drawing/2014/main" id="{CE2A36B6-736E-4062-B410-5FDF472457A4}"/>
              </a:ext>
            </a:extLst>
          </p:cNvPr>
          <p:cNvSpPr>
            <a:spLocks xmlns:a="http://schemas.openxmlformats.org/drawingml/2006/main" noGrp="1"/>
          </p:cNvSpPr>
          <p:nvPr/>
        </p:nvSpPr>
        <p:spPr>
          <a:xfrm xmlns:a="http://schemas.openxmlformats.org/drawingml/2006/main">
            <a:off x="685800" y="43910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AI среда за разработка със спецификации.</a:t>
            </a:r>
          </a:p>
        </p:txBody>
      </p:sp>
      <p:sp>
        <p:nvSpPr>
          <p:cNvPr id="10" name="">
            <a:extLst xmlns:a="http://schemas.openxmlformats.org/drawingml/2006/main">
              <a:ext uri="{FF2B5EF4-FFF2-40B4-BE49-F238E27FC236}">
                <a16:creationId xmlns:a16="http://schemas.microsoft.com/office/drawing/2014/main" id="{C618D80E-1CE9-4BD5-A1B3-8EE128C4DD35}"/>
              </a:ext>
            </a:extLst>
          </p:cNvPr>
          <p:cNvSpPr>
            <a:spLocks xmlns:a="http://schemas.openxmlformats.org/drawingml/2006/main" noGrp="1"/>
          </p:cNvSpPr>
          <p:nvPr/>
        </p:nvSpPr>
        <p:spPr>
          <a:xfrm xmlns:a="http://schemas.openxmlformats.org/drawingml/2006/main">
            <a:off x="685800" y="4772025"/>
            <a:ext cx="5000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B9DFFF"/>
                </a:solidFill>
                <a:latin typeface="Arial"/>
                <a:ea typeface="Arial"/>
                <a:cs typeface="Arial"/>
              </a:defRPr>
            </a:defPPr>
          </a:lstStyle>
          <a:p xmlns:a="http://schemas.openxmlformats.org/drawingml/2006/main">
            <a:pPr>
              <a:defRPr sz="1350" b="0">
                <a:solidFill>
                  <a:srgbClr val="B9DFFF"/>
                </a:solidFill>
                <a:latin typeface="Arial"/>
                <a:ea typeface="Arial"/>
                <a:cs typeface="Arial"/>
              </a:defRPr>
            </a:pPr>
            <a:r>
              <a:rPr u="sng">
                <a:solidFill>
                  <a:srgbClr val="B9DFFF"/>
                </a:solidFill>
                <a:hlinkClick xmlns:r="http://schemas.openxmlformats.org/officeDocument/2006/relationships" r:id="R6099f8763ab44d6f"/>
              </a:rPr>
              <a:t>kiro.dev</a:t>
            </a:r>
          </a:p>
        </p:txBody>
      </p:sp>
      <p:sp>
        <p:nvSpPr>
          <p:cNvPr id="11" name="">
            <a:extLst xmlns:a="http://schemas.openxmlformats.org/drawingml/2006/main">
              <a:ext uri="{FF2B5EF4-FFF2-40B4-BE49-F238E27FC236}">
                <a16:creationId xmlns:a16="http://schemas.microsoft.com/office/drawing/2014/main" id="{8F8FC49E-6E5B-4154-BBF7-D560C8EB4DF4}"/>
              </a:ext>
            </a:extLst>
          </p:cNvPr>
          <p:cNvSpPr>
            <a:spLocks xmlns:a="http://schemas.openxmlformats.org/drawingml/2006/main" noGrp="1"/>
          </p:cNvSpPr>
          <p:nvPr/>
        </p:nvSpPr>
        <p:spPr>
          <a:xfrm xmlns:a="http://schemas.openxmlformats.org/drawingml/2006/main">
            <a:off x="685800" y="518160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Arial"/>
                <a:ea typeface="Arial"/>
                <a:cs typeface="Arial"/>
              </a:defRPr>
            </a:defPPr>
          </a:lstStyle>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Spec-Driven Development (PDF)</a:t>
            </a:r>
          </a:p>
        </p:txBody>
      </p:sp>
      <p:sp>
        <p:nvSpPr>
          <p:cNvPr id="12" name="">
            <a:extLst xmlns:a="http://schemas.openxmlformats.org/drawingml/2006/main">
              <a:ext uri="{FF2B5EF4-FFF2-40B4-BE49-F238E27FC236}">
                <a16:creationId xmlns:a16="http://schemas.microsoft.com/office/drawing/2014/main" id="{866C2219-D1DA-47C0-AB91-EECDBE7759B8}"/>
              </a:ext>
            </a:extLst>
          </p:cNvPr>
          <p:cNvSpPr>
            <a:spLocks xmlns:a="http://schemas.openxmlformats.org/drawingml/2006/main" noGrp="1"/>
          </p:cNvSpPr>
          <p:nvPr/>
        </p:nvSpPr>
        <p:spPr>
          <a:xfrm xmlns:a="http://schemas.openxmlformats.org/drawingml/2006/main">
            <a:off x="685800" y="56102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Доклад: от код към договор в ерата на AI.</a:t>
            </a:r>
          </a:p>
        </p:txBody>
      </p:sp>
      <p:sp>
        <p:nvSpPr>
          <p:cNvPr id="13" name="">
            <a:extLst xmlns:a="http://schemas.openxmlformats.org/drawingml/2006/main">
              <a:ext uri="{FF2B5EF4-FFF2-40B4-BE49-F238E27FC236}">
                <a16:creationId xmlns:a16="http://schemas.microsoft.com/office/drawing/2014/main" id="{01B5DBE5-2F27-4446-97EF-07AC275AC64D}"/>
              </a:ext>
            </a:extLst>
          </p:cNvPr>
          <p:cNvSpPr>
            <a:spLocks xmlns:a="http://schemas.openxmlformats.org/drawingml/2006/main" noGrp="1"/>
          </p:cNvSpPr>
          <p:nvPr/>
        </p:nvSpPr>
        <p:spPr>
          <a:xfrm xmlns:a="http://schemas.openxmlformats.org/drawingml/2006/main">
            <a:off x="685800" y="5991225"/>
            <a:ext cx="5000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B9DFFF"/>
                </a:solidFill>
                <a:latin typeface="Arial"/>
                <a:ea typeface="Arial"/>
                <a:cs typeface="Arial"/>
              </a:defRPr>
            </a:defPPr>
          </a:lstStyle>
          <a:p xmlns:a="http://schemas.openxmlformats.org/drawingml/2006/main">
            <a:pPr>
              <a:defRPr sz="1350" b="0">
                <a:solidFill>
                  <a:srgbClr val="B9DFFF"/>
                </a:solidFill>
                <a:latin typeface="Arial"/>
                <a:ea typeface="Arial"/>
                <a:cs typeface="Arial"/>
              </a:defRPr>
            </a:pPr>
            <a:r>
              <a:rPr u="sng">
                <a:solidFill>
                  <a:srgbClr val="B9DFFF"/>
                </a:solidFill>
                <a:hlinkClick xmlns:r="http://schemas.openxmlformats.org/officeDocument/2006/relationships" r:id="R3c4420dafbec4101"/>
              </a:rPr>
              <a:t>arxiv.org/pdf/2602.00180</a:t>
            </a:r>
          </a:p>
        </p:txBody>
      </p:sp>
      <p:sp>
        <p:nvSpPr>
          <p:cNvPr id="14" name="">
            <a:extLst xmlns:a="http://schemas.openxmlformats.org/drawingml/2006/main">
              <a:ext uri="{FF2B5EF4-FFF2-40B4-BE49-F238E27FC236}">
                <a16:creationId xmlns:a16="http://schemas.microsoft.com/office/drawing/2014/main" id="{268A9252-BA0B-43CC-95B7-1B99D5258CFB}"/>
              </a:ext>
            </a:extLst>
          </p:cNvPr>
          <p:cNvSpPr>
            <a:spLocks xmlns:a="http://schemas.openxmlformats.org/drawingml/2006/main" noGrp="1"/>
          </p:cNvSpPr>
          <p:nvPr/>
        </p:nvSpPr>
        <p:spPr>
          <a:xfrm xmlns:a="http://schemas.openxmlformats.org/drawingml/2006/main">
            <a:off x="6505575" y="152400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Arial"/>
                <a:ea typeface="Arial"/>
                <a:cs typeface="Arial"/>
              </a:defRPr>
            </a:defPPr>
          </a:lstStyle>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An AI-led SDLC</a:t>
            </a:r>
          </a:p>
        </p:txBody>
      </p:sp>
      <p:sp>
        <p:nvSpPr>
          <p:cNvPr id="15" name="">
            <a:extLst xmlns:a="http://schemas.openxmlformats.org/drawingml/2006/main">
              <a:ext uri="{FF2B5EF4-FFF2-40B4-BE49-F238E27FC236}">
                <a16:creationId xmlns:a16="http://schemas.microsoft.com/office/drawing/2014/main" id="{01FC9B7F-8409-446A-9F7F-A057C7C9D6C1}"/>
              </a:ext>
            </a:extLst>
          </p:cNvPr>
          <p:cNvSpPr>
            <a:spLocks xmlns:a="http://schemas.openxmlformats.org/drawingml/2006/main" noGrp="1"/>
          </p:cNvSpPr>
          <p:nvPr/>
        </p:nvSpPr>
        <p:spPr>
          <a:xfrm xmlns:a="http://schemas.openxmlformats.org/drawingml/2006/main">
            <a:off x="6505575" y="19526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Статия: агентен SDLC с Azure и GitHub.</a:t>
            </a:r>
          </a:p>
        </p:txBody>
      </p:sp>
      <p:sp>
        <p:nvSpPr>
          <p:cNvPr id="16" name="">
            <a:extLst xmlns:a="http://schemas.openxmlformats.org/drawingml/2006/main">
              <a:ext uri="{FF2B5EF4-FFF2-40B4-BE49-F238E27FC236}">
                <a16:creationId xmlns:a16="http://schemas.microsoft.com/office/drawing/2014/main" id="{4705487B-A4B0-4017-891B-4CF7727B8249}"/>
              </a:ext>
            </a:extLst>
          </p:cNvPr>
          <p:cNvSpPr>
            <a:spLocks xmlns:a="http://schemas.openxmlformats.org/drawingml/2006/main" noGrp="1"/>
          </p:cNvSpPr>
          <p:nvPr/>
        </p:nvSpPr>
        <p:spPr>
          <a:xfrm xmlns:a="http://schemas.openxmlformats.org/drawingml/2006/main">
            <a:off x="6505575" y="2333625"/>
            <a:ext cx="5000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B9DFFF"/>
                </a:solidFill>
                <a:latin typeface="Arial"/>
                <a:ea typeface="Arial"/>
                <a:cs typeface="Arial"/>
              </a:defRPr>
            </a:defPPr>
          </a:lstStyle>
          <a:p xmlns:a="http://schemas.openxmlformats.org/drawingml/2006/main">
            <a:pPr>
              <a:defRPr sz="1350" b="0">
                <a:solidFill>
                  <a:srgbClr val="B9DFFF"/>
                </a:solidFill>
                <a:latin typeface="Arial"/>
                <a:ea typeface="Arial"/>
                <a:cs typeface="Arial"/>
              </a:defRPr>
            </a:pPr>
            <a:r>
              <a:rPr u="sng">
                <a:solidFill>
                  <a:srgbClr val="B9DFFF"/>
                </a:solidFill>
                <a:hlinkClick xmlns:r="http://schemas.openxmlformats.org/officeDocument/2006/relationships" r:id="R326a3f611eab42fb"/>
              </a:rPr>
              <a:t>techcommunity.microsoft.com (статия)</a:t>
            </a:r>
          </a:p>
        </p:txBody>
      </p:sp>
      <p:sp>
        <p:nvSpPr>
          <p:cNvPr id="17" name="">
            <a:extLst xmlns:a="http://schemas.openxmlformats.org/drawingml/2006/main">
              <a:ext uri="{FF2B5EF4-FFF2-40B4-BE49-F238E27FC236}">
                <a16:creationId xmlns:a16="http://schemas.microsoft.com/office/drawing/2014/main" id="{7A1C57F5-BED5-461B-93A0-5CD40A460877}"/>
              </a:ext>
            </a:extLst>
          </p:cNvPr>
          <p:cNvSpPr>
            <a:spLocks xmlns:a="http://schemas.openxmlformats.org/drawingml/2006/main" noGrp="1"/>
          </p:cNvSpPr>
          <p:nvPr/>
        </p:nvSpPr>
        <p:spPr>
          <a:xfrm xmlns:a="http://schemas.openxmlformats.org/drawingml/2006/main">
            <a:off x="6505575" y="274320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Arial"/>
                <a:ea typeface="Arial"/>
                <a:cs typeface="Arial"/>
              </a:defRPr>
            </a:defPPr>
          </a:lstStyle>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OpenAI Evals</a:t>
            </a:r>
          </a:p>
        </p:txBody>
      </p:sp>
      <p:sp>
        <p:nvSpPr>
          <p:cNvPr id="18" name="">
            <a:extLst xmlns:a="http://schemas.openxmlformats.org/drawingml/2006/main">
              <a:ext uri="{FF2B5EF4-FFF2-40B4-BE49-F238E27FC236}">
                <a16:creationId xmlns:a16="http://schemas.microsoft.com/office/drawing/2014/main" id="{4359554B-42A7-4791-9A13-1AE2755B6A43}"/>
              </a:ext>
            </a:extLst>
          </p:cNvPr>
          <p:cNvSpPr>
            <a:spLocks xmlns:a="http://schemas.openxmlformats.org/drawingml/2006/main" noGrp="1"/>
          </p:cNvSpPr>
          <p:nvPr/>
        </p:nvSpPr>
        <p:spPr>
          <a:xfrm xmlns:a="http://schemas.openxmlformats.org/drawingml/2006/main">
            <a:off x="6505575" y="31718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Open source framework за оценка на LLM.</a:t>
            </a:r>
          </a:p>
        </p:txBody>
      </p:sp>
      <p:sp>
        <p:nvSpPr>
          <p:cNvPr id="19" name="">
            <a:extLst xmlns:a="http://schemas.openxmlformats.org/drawingml/2006/main">
              <a:ext uri="{FF2B5EF4-FFF2-40B4-BE49-F238E27FC236}">
                <a16:creationId xmlns:a16="http://schemas.microsoft.com/office/drawing/2014/main" id="{F2942427-523A-45D9-AD9E-4B8619C53662}"/>
              </a:ext>
            </a:extLst>
          </p:cNvPr>
          <p:cNvSpPr>
            <a:spLocks xmlns:a="http://schemas.openxmlformats.org/drawingml/2006/main" noGrp="1"/>
          </p:cNvSpPr>
          <p:nvPr/>
        </p:nvSpPr>
        <p:spPr>
          <a:xfrm xmlns:a="http://schemas.openxmlformats.org/drawingml/2006/main">
            <a:off x="6505575" y="3552825"/>
            <a:ext cx="5000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B9DFFF"/>
                </a:solidFill>
                <a:latin typeface="Arial"/>
                <a:ea typeface="Arial"/>
                <a:cs typeface="Arial"/>
              </a:defRPr>
            </a:defPPr>
          </a:lstStyle>
          <a:p xmlns:a="http://schemas.openxmlformats.org/drawingml/2006/main">
            <a:pPr>
              <a:defRPr sz="1350" b="0">
                <a:solidFill>
                  <a:srgbClr val="B9DFFF"/>
                </a:solidFill>
                <a:latin typeface="Arial"/>
                <a:ea typeface="Arial"/>
                <a:cs typeface="Arial"/>
              </a:defRPr>
            </a:pPr>
            <a:r>
              <a:rPr u="sng">
                <a:solidFill>
                  <a:srgbClr val="B9DFFF"/>
                </a:solidFill>
                <a:hlinkClick xmlns:r="http://schemas.openxmlformats.org/officeDocument/2006/relationships" r:id="Redde71437b144c15"/>
              </a:rPr>
              <a:t>github.com/openai/evals</a:t>
            </a:r>
          </a:p>
        </p:txBody>
      </p:sp>
      <p:sp>
        <p:nvSpPr>
          <p:cNvPr id="20" name="">
            <a:extLst xmlns:a="http://schemas.openxmlformats.org/drawingml/2006/main">
              <a:ext uri="{FF2B5EF4-FFF2-40B4-BE49-F238E27FC236}">
                <a16:creationId xmlns:a16="http://schemas.microsoft.com/office/drawing/2014/main" id="{D74D970D-BE70-4342-B72D-293911930A12}"/>
              </a:ext>
            </a:extLst>
          </p:cNvPr>
          <p:cNvSpPr>
            <a:spLocks xmlns:a="http://schemas.openxmlformats.org/drawingml/2006/main" noGrp="1"/>
          </p:cNvSpPr>
          <p:nvPr/>
        </p:nvSpPr>
        <p:spPr>
          <a:xfrm xmlns:a="http://schemas.openxmlformats.org/drawingml/2006/main">
            <a:off x="6505575" y="396240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Arial"/>
                <a:ea typeface="Arial"/>
                <a:cs typeface="Arial"/>
              </a:defRPr>
            </a:defPPr>
          </a:lstStyle>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DeepEval</a:t>
            </a:r>
          </a:p>
        </p:txBody>
      </p:sp>
      <p:sp>
        <p:nvSpPr>
          <p:cNvPr id="21" name="">
            <a:extLst xmlns:a="http://schemas.openxmlformats.org/drawingml/2006/main">
              <a:ext uri="{FF2B5EF4-FFF2-40B4-BE49-F238E27FC236}">
                <a16:creationId xmlns:a16="http://schemas.microsoft.com/office/drawing/2014/main" id="{FD2C26C4-7513-4054-BA12-36B67F382FD4}"/>
              </a:ext>
            </a:extLst>
          </p:cNvPr>
          <p:cNvSpPr>
            <a:spLocks xmlns:a="http://schemas.openxmlformats.org/drawingml/2006/main" noGrp="1"/>
          </p:cNvSpPr>
          <p:nvPr/>
        </p:nvSpPr>
        <p:spPr>
          <a:xfrm xmlns:a="http://schemas.openxmlformats.org/drawingml/2006/main">
            <a:off x="6505575" y="43910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Open source framework за LLM тестове.</a:t>
            </a:r>
          </a:p>
        </p:txBody>
      </p:sp>
      <p:sp>
        <p:nvSpPr>
          <p:cNvPr id="22" name="">
            <a:extLst xmlns:a="http://schemas.openxmlformats.org/drawingml/2006/main">
              <a:ext uri="{FF2B5EF4-FFF2-40B4-BE49-F238E27FC236}">
                <a16:creationId xmlns:a16="http://schemas.microsoft.com/office/drawing/2014/main" id="{1E28B2A8-9D39-4B7B-A242-1328B4ABA8DC}"/>
              </a:ext>
            </a:extLst>
          </p:cNvPr>
          <p:cNvSpPr>
            <a:spLocks xmlns:a="http://schemas.openxmlformats.org/drawingml/2006/main" noGrp="1"/>
          </p:cNvSpPr>
          <p:nvPr/>
        </p:nvSpPr>
        <p:spPr>
          <a:xfrm xmlns:a="http://schemas.openxmlformats.org/drawingml/2006/main">
            <a:off x="6505575" y="4772025"/>
            <a:ext cx="5000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B9DFFF"/>
                </a:solidFill>
                <a:latin typeface="Arial"/>
                <a:ea typeface="Arial"/>
                <a:cs typeface="Arial"/>
              </a:defRPr>
            </a:defPPr>
          </a:lstStyle>
          <a:p xmlns:a="http://schemas.openxmlformats.org/drawingml/2006/main">
            <a:pPr>
              <a:defRPr sz="1350" b="0">
                <a:solidFill>
                  <a:srgbClr val="B9DFFF"/>
                </a:solidFill>
                <a:latin typeface="Arial"/>
                <a:ea typeface="Arial"/>
                <a:cs typeface="Arial"/>
              </a:defRPr>
            </a:pPr>
            <a:r>
              <a:rPr u="sng">
                <a:solidFill>
                  <a:srgbClr val="B9DFFF"/>
                </a:solidFill>
                <a:hlinkClick xmlns:r="http://schemas.openxmlformats.org/officeDocument/2006/relationships" r:id="R7a844f8e104549ff"/>
              </a:rPr>
              <a:t>deepeval.com</a:t>
            </a:r>
          </a:p>
        </p:txBody>
      </p:sp>
      <p:sp>
        <p:nvSpPr>
          <p:cNvPr id="23" name="">
            <a:extLst xmlns:a="http://schemas.openxmlformats.org/drawingml/2006/main">
              <a:ext uri="{FF2B5EF4-FFF2-40B4-BE49-F238E27FC236}">
                <a16:creationId xmlns:a16="http://schemas.microsoft.com/office/drawing/2014/main" id="{1F858D9B-7533-4712-945E-A7F1F185DCFC}"/>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CADCFC"/>
                </a:solidFill>
                <a:latin typeface="Arial"/>
                <a:ea typeface="Arial"/>
                <a:cs typeface="Arial"/>
              </a:defRPr>
            </a:defPPr>
          </a:lstStyle>
          <a:p xmlns:a="http://schemas.openxmlformats.org/drawingml/2006/main">
            <a:pPr>
              <a:defRPr sz="1275" b="0">
                <a:solidFill>
                  <a:srgbClr val="CADCFC"/>
                </a:solidFill>
                <a:latin typeface="Arial"/>
                <a:ea typeface="Arial"/>
                <a:cs typeface="Arial"/>
              </a:defRPr>
            </a:pPr>
            <a:r>
              <a:rPr sz="1275" b="0">
                <a:solidFill>
                  <a:srgbClr val="CADCFC"/>
                </a:solidFill>
                <a:latin typeface="Arial"/>
                <a:ea typeface="Arial"/>
                <a:cs typeface="Arial"/>
              </a:rPr>
              <a:t>20</a:t>
            </a:r>
          </a:p>
        </p:txBody>
      </p:sp>
    </p:spTree>
    <p:extLst>
      <p:ext uri="{BB962C8B-B14F-4D97-AF65-F5344CB8AC3E}">
        <p14:creationId xmlns:p14="http://schemas.microsoft.com/office/powerpoint/2010/main" val="16680955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2026-10-09T10:19:03.0280000Z</dcterms:created>
  <dcterms:modified xsi:type="dcterms:W3CDTF">2026-10-09T10:19:03.0280000Z</dcterms:modified>
</coreProperties>
</file>