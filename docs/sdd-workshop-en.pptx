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da156d8ca724848" /><Relationship Type="http://schemas.openxmlformats.org/officeDocument/2006/relationships/extended-properties" Target="/docProps/app.xml" Id="R5f74ffcaaee44e3e" /><Relationship Type="http://schemas.openxmlformats.org/officeDocument/2006/relationships/officeDocument" Target="/ppt/presentation.xml" Id="R6d5411fe5a67462f" /></Relationships>
</file>

<file path=ppt/presentation.xml><?xml version="1.0" encoding="utf-8"?>
<p:presentation xmlns:p="http://schemas.openxmlformats.org/presentationml/2006/main">
  <p:sldMasterIdLst>
    <p:sldMasterId xmlns:r="http://schemas.openxmlformats.org/officeDocument/2006/relationships" id="2147483648" r:id="Rfb06522eb9db48f6"/>
  </p:sldMasterIdLst>
  <p:notesMasterIdLst>
    <p:notesMasterId xmlns:r="http://schemas.openxmlformats.org/officeDocument/2006/relationships" r:id="R33321cbb4ef14365"/>
  </p:notesMasterIdLst>
  <p:sldIdLst>
    <p:sldId xmlns:r="http://schemas.openxmlformats.org/officeDocument/2006/relationships" id="256" r:id="R328ddf8c13a949dd"/>
    <p:sldId xmlns:r="http://schemas.openxmlformats.org/officeDocument/2006/relationships" id="257" r:id="Rd0e028d6ebb14c24"/>
    <p:sldId xmlns:r="http://schemas.openxmlformats.org/officeDocument/2006/relationships" id="258" r:id="R6c33440c2dc24081"/>
    <p:sldId xmlns:r="http://schemas.openxmlformats.org/officeDocument/2006/relationships" id="259" r:id="Rc49c216115fd4b74"/>
    <p:sldId xmlns:r="http://schemas.openxmlformats.org/officeDocument/2006/relationships" id="260" r:id="R6d4229565dbe4de3"/>
    <p:sldId xmlns:r="http://schemas.openxmlformats.org/officeDocument/2006/relationships" id="261" r:id="Rede6e0a6f21d4de2"/>
    <p:sldId xmlns:r="http://schemas.openxmlformats.org/officeDocument/2006/relationships" id="262" r:id="R07ab7ab9526343fa"/>
    <p:sldId xmlns:r="http://schemas.openxmlformats.org/officeDocument/2006/relationships" id="263" r:id="R415225adf1e24522"/>
    <p:sldId xmlns:r="http://schemas.openxmlformats.org/officeDocument/2006/relationships" id="264" r:id="R9e4914f92956438f"/>
    <p:sldId xmlns:r="http://schemas.openxmlformats.org/officeDocument/2006/relationships" id="265" r:id="R57a9f5d4d5c84cbc"/>
    <p:sldId xmlns:r="http://schemas.openxmlformats.org/officeDocument/2006/relationships" id="266" r:id="R9fc8e07d24804be0"/>
    <p:sldId xmlns:r="http://schemas.openxmlformats.org/officeDocument/2006/relationships" id="267" r:id="Rd172ff195e294b91"/>
    <p:sldId xmlns:r="http://schemas.openxmlformats.org/officeDocument/2006/relationships" id="268" r:id="Rf16bf13f5be440d4"/>
    <p:sldId xmlns:r="http://schemas.openxmlformats.org/officeDocument/2006/relationships" id="269" r:id="R061446693d7a46c3"/>
    <p:sldId xmlns:r="http://schemas.openxmlformats.org/officeDocument/2006/relationships" id="270" r:id="Raba1a2bf31ec44cd"/>
    <p:sldId xmlns:r="http://schemas.openxmlformats.org/officeDocument/2006/relationships" id="271" r:id="R4eb02a36cefe4647"/>
    <p:sldId xmlns:r="http://schemas.openxmlformats.org/officeDocument/2006/relationships" id="272" r:id="R7fd541fbebf543cd"/>
    <p:sldId xmlns:r="http://schemas.openxmlformats.org/officeDocument/2006/relationships" id="273" r:id="R0a5269d79e5f462a"/>
    <p:sldId xmlns:r="http://schemas.openxmlformats.org/officeDocument/2006/relationships" id="274" r:id="Rf9be5d6cf1554a33"/>
    <p:sldId xmlns:r="http://schemas.openxmlformats.org/officeDocument/2006/relationships" id="275" r:id="R98a30b16393c4b1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b782e53298a4d5b" /><Relationship Type="http://schemas.openxmlformats.org/officeDocument/2006/relationships/slideMaster" Target="/ppt/slideMasters/slideMaster1.xml" Id="Rfb06522eb9db48f6" /><Relationship Type="http://schemas.openxmlformats.org/officeDocument/2006/relationships/notesMaster" Target="/ppt/notesMasters/notesMaster1.xml" Id="R33321cbb4ef14365" /><Relationship Type="http://schemas.openxmlformats.org/officeDocument/2006/relationships/presProps" Target="/ppt/presProps.xml" Id="Rd8da1ec882bf4d76" /><Relationship Type="http://schemas.openxmlformats.org/officeDocument/2006/relationships/tableStyles" Target="/ppt/tableStyles.xml" Id="Re3ca4e57f6f54ba5" /><Relationship Type="http://schemas.openxmlformats.org/officeDocument/2006/relationships/slide" Target="/ppt/slides/slide1.xml" Id="R328ddf8c13a949dd" /><Relationship Type="http://schemas.openxmlformats.org/officeDocument/2006/relationships/slide" Target="/ppt/slides/slide2.xml" Id="Rd0e028d6ebb14c24" /><Relationship Type="http://schemas.openxmlformats.org/officeDocument/2006/relationships/slide" Target="/ppt/slides/slide3.xml" Id="R6c33440c2dc24081" /><Relationship Type="http://schemas.openxmlformats.org/officeDocument/2006/relationships/slide" Target="/ppt/slides/slide4.xml" Id="Rc49c216115fd4b74" /><Relationship Type="http://schemas.openxmlformats.org/officeDocument/2006/relationships/slide" Target="/ppt/slides/slide5.xml" Id="R6d4229565dbe4de3" /><Relationship Type="http://schemas.openxmlformats.org/officeDocument/2006/relationships/slide" Target="/ppt/slides/slide6.xml" Id="Rede6e0a6f21d4de2" /><Relationship Type="http://schemas.openxmlformats.org/officeDocument/2006/relationships/slide" Target="/ppt/slides/slide7.xml" Id="R07ab7ab9526343fa" /><Relationship Type="http://schemas.openxmlformats.org/officeDocument/2006/relationships/slide" Target="/ppt/slides/slide8.xml" Id="R415225adf1e24522" /><Relationship Type="http://schemas.openxmlformats.org/officeDocument/2006/relationships/slide" Target="/ppt/slides/slide9.xml" Id="R9e4914f92956438f" /><Relationship Type="http://schemas.openxmlformats.org/officeDocument/2006/relationships/slide" Target="/ppt/slides/slide10.xml" Id="R57a9f5d4d5c84cbc" /><Relationship Type="http://schemas.openxmlformats.org/officeDocument/2006/relationships/slide" Target="/ppt/slides/slide11.xml" Id="R9fc8e07d24804be0" /><Relationship Type="http://schemas.openxmlformats.org/officeDocument/2006/relationships/slide" Target="/ppt/slides/slide12.xml" Id="Rd172ff195e294b91" /><Relationship Type="http://schemas.openxmlformats.org/officeDocument/2006/relationships/slide" Target="/ppt/slides/slide13.xml" Id="Rf16bf13f5be440d4" /><Relationship Type="http://schemas.openxmlformats.org/officeDocument/2006/relationships/slide" Target="/ppt/slides/slide14.xml" Id="R061446693d7a46c3" /><Relationship Type="http://schemas.openxmlformats.org/officeDocument/2006/relationships/slide" Target="/ppt/slides/slide15.xml" Id="Raba1a2bf31ec44cd" /><Relationship Type="http://schemas.openxmlformats.org/officeDocument/2006/relationships/slide" Target="/ppt/slides/slide16.xml" Id="R4eb02a36cefe4647" /><Relationship Type="http://schemas.openxmlformats.org/officeDocument/2006/relationships/slide" Target="/ppt/slides/slide17.xml" Id="R7fd541fbebf543cd" /><Relationship Type="http://schemas.openxmlformats.org/officeDocument/2006/relationships/slide" Target="/ppt/slides/slide18.xml" Id="R0a5269d79e5f462a" /><Relationship Type="http://schemas.openxmlformats.org/officeDocument/2006/relationships/slide" Target="/ppt/slides/slide19.xml" Id="Rf9be5d6cf1554a33" /><Relationship Type="http://schemas.openxmlformats.org/officeDocument/2006/relationships/slide" Target="/ppt/slides/slide20.xml" Id="R98a30b16393c4b1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e83e2c274ab4f5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f3add8768dc42e4" /><Relationship Type="http://schemas.openxmlformats.org/officeDocument/2006/relationships/notesMaster" Target="/ppt/notesMasters/notesMaster1.xml" Id="Re8816639964d4e5d" /></Relationships>
</file>

<file path=ppt/notesSlides/_rels/notesSlide2.xml.rels>&#65279;<?xml version="1.0" encoding="utf-8"?><Relationships xmlns="http://schemas.openxmlformats.org/package/2006/relationships"><Relationship Type="http://schemas.openxmlformats.org/officeDocument/2006/relationships/slide" Target="/ppt/slides/slide2.xml" Id="R1e6018fb7e974cca" /><Relationship Type="http://schemas.openxmlformats.org/officeDocument/2006/relationships/notesMaster" Target="/ppt/notesMasters/notesMaster1.xml" Id="R3cdd3e787831440e" /></Relationships>
</file>

<file path=ppt/notesSlides/_rels/notesSlide3.xml.rels>&#65279;<?xml version="1.0" encoding="utf-8"?><Relationships xmlns="http://schemas.openxmlformats.org/package/2006/relationships"><Relationship Type="http://schemas.openxmlformats.org/officeDocument/2006/relationships/slide" Target="/ppt/slides/slide3.xml" Id="Rffc1193771d2475f" /><Relationship Type="http://schemas.openxmlformats.org/officeDocument/2006/relationships/notesMaster" Target="/ppt/notesMasters/notesMaster1.xml" Id="Rc546e9271530405f" /></Relationships>
</file>

<file path=ppt/notesSlides/_rels/notesSlide4.xml.rels>&#65279;<?xml version="1.0" encoding="utf-8"?><Relationships xmlns="http://schemas.openxmlformats.org/package/2006/relationships"><Relationship Type="http://schemas.openxmlformats.org/officeDocument/2006/relationships/slide" Target="/ppt/slides/slide4.xml" Id="R706a7e1f28444913" /><Relationship Type="http://schemas.openxmlformats.org/officeDocument/2006/relationships/notesMaster" Target="/ppt/notesMasters/notesMaster1.xml" Id="Re968aea3c3004f1c" /></Relationships>
</file>

<file path=ppt/notesSlides/_rels/notesSlide5.xml.rels>&#65279;<?xml version="1.0" encoding="utf-8"?><Relationships xmlns="http://schemas.openxmlformats.org/package/2006/relationships"><Relationship Type="http://schemas.openxmlformats.org/officeDocument/2006/relationships/slide" Target="/ppt/slides/slide5.xml" Id="Rfc0f7cd8bcd749c1" /><Relationship Type="http://schemas.openxmlformats.org/officeDocument/2006/relationships/notesMaster" Target="/ppt/notesMasters/notesMaster1.xml" Id="R9ff01807e5ff4f5a" /></Relationships>
</file>

<file path=ppt/notesSlides/_rels/notesSlide6.xml.rels>&#65279;<?xml version="1.0" encoding="utf-8"?><Relationships xmlns="http://schemas.openxmlformats.org/package/2006/relationships"><Relationship Type="http://schemas.openxmlformats.org/officeDocument/2006/relationships/slide" Target="/ppt/slides/slide6.xml" Id="Rf36e5fb18f914bb1" /><Relationship Type="http://schemas.openxmlformats.org/officeDocument/2006/relationships/notesMaster" Target="/ppt/notesMasters/notesMaster1.xml" Id="Rbb8a271b0a074a57" /></Relationships>
</file>

<file path=ppt/notesSlides/_rels/notesSlide7.xml.rels>&#65279;<?xml version="1.0" encoding="utf-8"?><Relationships xmlns="http://schemas.openxmlformats.org/package/2006/relationships"><Relationship Type="http://schemas.openxmlformats.org/officeDocument/2006/relationships/slide" Target="/ppt/slides/slide7.xml" Id="R6f04fe57a2694f7a" /><Relationship Type="http://schemas.openxmlformats.org/officeDocument/2006/relationships/notesMaster" Target="/ppt/notesMasters/notesMaster1.xml" Id="Rbfd2a6519cae4fce" /></Relationships>
</file>

<file path=ppt/notesSlides/_rels/notesSlide8.xml.rels>&#65279;<?xml version="1.0" encoding="utf-8"?><Relationships xmlns="http://schemas.openxmlformats.org/package/2006/relationships"><Relationship Type="http://schemas.openxmlformats.org/officeDocument/2006/relationships/slide" Target="/ppt/slides/slide8.xml" Id="Re2e609584e484ec0" /><Relationship Type="http://schemas.openxmlformats.org/officeDocument/2006/relationships/notesMaster" Target="/ppt/notesMasters/notesMaster1.xml" Id="Rb4fa76d24c7e405b" /></Relationships>
</file>

<file path=ppt/notesSlides/_rels/notesSlide9.xml.rels>&#65279;<?xml version="1.0" encoding="utf-8"?><Relationships xmlns="http://schemas.openxmlformats.org/package/2006/relationships"><Relationship Type="http://schemas.openxmlformats.org/officeDocument/2006/relationships/slide" Target="/ppt/slides/slide9.xml" Id="R93db60ba31e24b17" /><Relationship Type="http://schemas.openxmlformats.org/officeDocument/2006/relationships/notesMaster" Target="/ppt/notesMasters/notesMaster1.xml" Id="R6e74a0063df3485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c8096770e954bd1" /><Relationship Type="http://schemas.openxmlformats.org/officeDocument/2006/relationships/notesMaster" Target="/ppt/notesMasters/notesMaster1.xml" Id="R20d40bcfb183457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07ce644f3f94959" /><Relationship Type="http://schemas.openxmlformats.org/officeDocument/2006/relationships/notesMaster" Target="/ppt/notesMasters/notesMaster1.xml" Id="Re1ede168191d4f4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dca5bed227a4f50" /><Relationship Type="http://schemas.openxmlformats.org/officeDocument/2006/relationships/notesMaster" Target="/ppt/notesMasters/notesMaster1.xml" Id="Rda4c7113739c40b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b547ac05811497a" /><Relationship Type="http://schemas.openxmlformats.org/officeDocument/2006/relationships/notesMaster" Target="/ppt/notesMasters/notesMaster1.xml" Id="R9c76dc1e72f149a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ef8b03b624745f9" /><Relationship Type="http://schemas.openxmlformats.org/officeDocument/2006/relationships/notesMaster" Target="/ppt/notesMasters/notesMaster1.xml" Id="R412109dd5a4c46d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357b348b5064abf" /><Relationship Type="http://schemas.openxmlformats.org/officeDocument/2006/relationships/notesMaster" Target="/ppt/notesMasters/notesMaster1.xml" Id="Rf4f27771e761434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008a0ec518f487a" /><Relationship Type="http://schemas.openxmlformats.org/officeDocument/2006/relationships/notesMaster" Target="/ppt/notesMasters/notesMaster1.xml" Id="Rda695ccb739445d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8581acabe3744ca" /><Relationship Type="http://schemas.openxmlformats.org/officeDocument/2006/relationships/notesMaster" Target="/ppt/notesMasters/notesMaster1.xml" Id="R3d297ee11b3146f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054bef207cc4eea" /><Relationship Type="http://schemas.openxmlformats.org/officeDocument/2006/relationships/notesMaster" Target="/ppt/notesMasters/notesMaster1.xml" Id="Reeb1e7a883bd4bd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3d74dc82f0843bd" /><Relationship Type="http://schemas.openxmlformats.org/officeDocument/2006/relationships/notesMaster" Target="/ppt/notesMasters/notesMaster1.xml" Id="R2d07aa90d06a42a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caca0457185487c" /><Relationship Type="http://schemas.openxmlformats.org/officeDocument/2006/relationships/notesMaster" Target="/ppt/notesMasters/notesMaster1.xml" Id="Re1ec161695024a6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 Adapted from arXiv:2602.00180. AI coding assistants have renewed interest in treating specifications as the primary development artifact. In SDD, an approved spec defines the system’s expected behavior and provides the basis for implementation and verification. The code implements that contract. An agent can generate it, and an engineer can review it against the requirements. Tests provide evidence for the scenarios they cover. People review both the requirements and the result. This workshop uses project time tracking in Timesheet as its running example.</a:t>
            </a:r>
          </a:p>
          <a:p xmlns:a="http://schemas.openxmlformats.org/drawingml/2006/main">
            <a:r>
              <a:t/>
            </a:r>
          </a:p>
          <a:p xmlns:a="http://schemas.openxmlformats.org/drawingml/2006/main">
            <a:r>
              <a:t>SOURCES</a:t>
            </a:r>
          </a:p>
          <a:p xmlns:a="http://schemas.openxmlformats.org/drawingml/2006/main">
            <a:r>
              <a:t>https://arxiv.org/pdf/2602.00180</a:t>
            </a:r>
          </a:p>
          <a:p xmlns:a="http://schemas.openxmlformats.org/drawingml/2006/main">
            <a:r>
              <a:t>Project references: AGENTS.md, DESIGN.md, specs/002-time-entries.md, specs/004-edit-delete-time-entries.md, tests/Timesheet.Api.Tests/TimeEntryEndpointTests.cs.</a:t>
            </a:r>
          </a:p>
          <a:p xmlns:a="http://schemas.openxmlformats.org/drawingml/2006/main">
            <a:r>
              <a:t/>
            </a:r>
          </a:p>
          <a:p xmlns:a="http://schemas.openxmlformats.org/drawingml/2006/main">
            <a:r>
              <a:t>Based on Deepak Babu Piskala’s paper, arXiv:2602.00180v1, 30 January 2026. CC BY 4.0: https://creativecommons.org/licenses/by/4.0/. English adaptation of the supplied Bulgarian deck. The original deck reports source checks on 6 October 2026, with later checks noted above. Project examples describe reviewed requirements and code. Expected outcomes are illustrative, rather than reports of executed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 This slide illustrates a common vibe coding loop, rather than claiming it represents the whole industry. A person describes an idea, AI generates code, the person tries the visible result, and another prompt asks for a fix. Using AI to write code does not automatically make the work vibe coding. The risk comes from accepting code without enough understanding, explicit requirements or systematic verification.</a:t>
            </a:r>
          </a:p>
          <a:p xmlns:a="http://schemas.openxmlformats.org/drawingml/2006/main">
            <a:r>
              <a:t/>
            </a:r>
          </a:p>
          <a:p xmlns:a="http://schemas.openxmlformats.org/drawingml/2006/main">
            <a:r>
              <a:t>Example prompt: build an app where employees log time against projects. Required fields, edit permissions and validation limits remain implicit. A prototype can still be useful. Over a longer maintenance horizon, those gaps make it harder to understand earlier decisions and assess later changes. These are potential failure modes, rather than a prediction that every generated product will fail. Fawzy, Tahir and Blincoe’s study of gray literature describes a trade-off between rapid prototyping and reliability and maintainability. SDD makes the expectations explicit before the agent starts implementing.</a:t>
            </a:r>
          </a:p>
          <a:p xmlns:a="http://schemas.openxmlformats.org/drawingml/2006/main">
            <a:r>
              <a:t/>
            </a:r>
          </a:p>
          <a:p xmlns:a="http://schemas.openxmlformats.org/drawingml/2006/main">
            <a:r>
              <a:t>SOURCES</a:t>
            </a:r>
          </a:p>
          <a:p xmlns:a="http://schemas.openxmlformats.org/drawingml/2006/main">
            <a:r>
              <a:t>https://arxiv.org/abs/2510.00328</a:t>
            </a:r>
          </a:p>
          <a:p xmlns:a="http://schemas.openxmlformats.org/drawingml/2006/main">
            <a:r>
              <a:t>https://arxiv.org/pdf/2602.00180</a:t>
            </a:r>
          </a:p>
          <a:p xmlns:a="http://schemas.openxmlformats.org/drawingml/2006/main">
            <a:r>
              <a:t>Project references: AGENTS.md, DESIGN.md, specs/002-time-entries.md, specs/004-edit-delete-time-entries.md, tests/Timesheet.Api.Tests/TimeEntryEndpointTests.cs.</a:t>
            </a:r>
          </a:p>
          <a:p xmlns:a="http://schemas.openxmlformats.org/drawingml/2006/main">
            <a:r>
              <a:t/>
            </a:r>
          </a:p>
          <a:p xmlns:a="http://schemas.openxmlformats.org/drawingml/2006/main">
            <a:r>
              <a:t>Based on Deepak Babu Piskala’s paper, arXiv:2602.00180v1, 30 January 2026. CC BY 4.0: https://creativecommons.org/licenses/by/4.0/. English adaptation of the supplied Bulgarian deck. The original deck reports source checks on 6 October 2026, with later checks noted above. Project examples describe reviewed requirements and code. Expected outcomes are illustrative, rather than reports of executed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 Adapted from the supplied “Why SDD” and “The AI Catalyst” excerpts in arXiv:2602.00180. AI can produce plausible code, but it cannot know decisions that nobody has stated. Photo sharing is a separate illustration. Timesheet becomes the main example on the next slide.</a:t>
            </a:r>
          </a:p>
          <a:p xmlns:a="http://schemas.openxmlformats.org/drawingml/2006/main">
            <a:r>
              <a:t/>
            </a:r>
          </a:p>
          <a:p xmlns:a="http://schemas.openxmlformats.org/drawingml/2006/main">
            <a:r>
              <a:t>The vague request leaves formats, limits, permissions and storage open. The explicit version allows JPEG and PNG files up to 10 MB, stores them in S3 under keys prefixed with the user ID, permits deletion only by the uploader, and limits the longest side to 1024 px on upload. The slide condenses those details for the audience.</a:t>
            </a:r>
          </a:p>
          <a:p xmlns:a="http://schemas.openxmlformats.org/drawingml/2006/main">
            <a:r>
              <a:t/>
            </a:r>
          </a:p>
          <a:p xmlns:a="http://schemas.openxmlformats.org/drawingml/2006/main">
            <a:r>
              <a:t>A spec defines expected behavior and a basis for verification. It cannot guarantee implementation quality on its own. Clarifying expectations predates AI. TDD and BDD are related practices, but they are distinct from SDD. Agents make explicit requirements especially valuable because they can implement a mistaken assumption very quickly.</a:t>
            </a:r>
          </a:p>
          <a:p xmlns:a="http://schemas.openxmlformats.org/drawingml/2006/main">
            <a:r>
              <a:t/>
            </a:r>
          </a:p>
          <a:p xmlns:a="http://schemas.openxmlformats.org/drawingml/2006/main">
            <a:r>
              <a:t>SOURCES</a:t>
            </a:r>
          </a:p>
          <a:p xmlns:a="http://schemas.openxmlformats.org/drawingml/2006/main">
            <a:r>
              <a:t>https://arxiv.org/pdf/2602.00180</a:t>
            </a:r>
          </a:p>
          <a:p xmlns:a="http://schemas.openxmlformats.org/drawingml/2006/main">
            <a:r>
              <a:t>Project references: AGENTS.md, DESIGN.md, specs/002-time-entries.md, specs/004-edit-delete-time-entries.md, tests/Timesheet.Api.Tests/TimeEntryEndpointTests.cs.</a:t>
            </a:r>
          </a:p>
          <a:p xmlns:a="http://schemas.openxmlformats.org/drawingml/2006/main">
            <a:r>
              <a:t/>
            </a:r>
          </a:p>
          <a:p xmlns:a="http://schemas.openxmlformats.org/drawingml/2006/main">
            <a:r>
              <a:t>Based on Deepak Babu Piskala’s paper, arXiv:2602.00180v1, 30 January 2026. CC BY 4.0: https://creativecommons.org/licenses/by/4.0/. English adaptation of the supplied Bulgarian deck. The original deck reports source checks on 6 October 2026, with later checks noted above. Project examples describe reviewed requirements and code. Expected outcomes are illustrative, rather than reports of executed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0:45. Timesheet is a proof of concept where a user selects a project and date, enters hours worked, and sees the entries in a list. “Client Portal” is an illustrative project name, rather than data from a running system. The following slides use this feature to explain specification, agent implementation and testing. The hours rule applies to each entry: more than 0 and no more than 24.</a:t>
            </a:r>
          </a:p>
          <a:p xmlns:a="http://schemas.openxmlformats.org/drawingml/2006/main">
            <a:r>
              <a:t/>
            </a:r>
          </a:p>
          <a:p xmlns:a="http://schemas.openxmlformats.org/drawingml/2006/main">
            <a:r>
              <a:t>SOURCES</a:t>
            </a:r>
          </a:p>
          <a:p xmlns:a="http://schemas.openxmlformats.org/drawingml/2006/main">
            <a:r>
              <a:t>https://arxiv.org/pdf/2602.00180</a:t>
            </a:r>
          </a:p>
          <a:p xmlns:a="http://schemas.openxmlformats.org/drawingml/2006/main">
            <a:r>
              <a:t>Project references: AGENTS.md, DESIGN.md, specs/002-time-entries.md, specs/004-edit-delete-time-entries.md, tests/Timesheet.Api.Tests/TimeEntryEndpointTests.cs.</a:t>
            </a:r>
          </a:p>
          <a:p xmlns:a="http://schemas.openxmlformats.org/drawingml/2006/main">
            <a:r>
              <a:t/>
            </a:r>
          </a:p>
          <a:p xmlns:a="http://schemas.openxmlformats.org/drawingml/2006/main">
            <a:r>
              <a:t>Based on Deepak Babu Piskala’s paper, arXiv:2602.00180v1, 30 January 2026. CC BY 4.0: https://creativecommons.org/licenses/by/4.0/. English adaptation of the supplied Bulgarian deck. The original deck reports source checks on 6 October 2026, with later checks noted above. Project examples describe reviewed requirements and code. Expected outcomes are illustrative, rather than reports of executed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 The prompt already states the business goal: employees should be able to log hours against a project. It leaves the business rules open. The left side lists questions the agent should not answer by guessing. The right side makes the decisions explicit: each entry must contain more than 0 and no more than 24 hours, project and date are required, and invalid input produces an error without saving an entry.</a:t>
            </a:r>
          </a:p>
          <a:p xmlns:a="http://schemas.openxmlformats.org/drawingml/2006/main">
            <a:r>
              <a:t/>
            </a:r>
          </a:p>
          <a:p xmlns:a="http://schemas.openxmlformats.org/drawingml/2006/main">
            <a:r>
              <a:t>The limit applies to one entry, rather than the day’s total. A person clarifies and approves these rules before implementation. This is a teaching illustration, rather than evidence from an application run. AI-assisted development includes many workflows beyond vibe coding.</a:t>
            </a:r>
          </a:p>
          <a:p xmlns:a="http://schemas.openxmlformats.org/drawingml/2006/main">
            <a:r>
              <a:t/>
            </a:r>
          </a:p>
          <a:p xmlns:a="http://schemas.openxmlformats.org/drawingml/2006/main">
            <a:r>
              <a:t>SOURCES</a:t>
            </a:r>
          </a:p>
          <a:p xmlns:a="http://schemas.openxmlformats.org/drawingml/2006/main">
            <a:r>
              <a:t>https://simonwillison.net/2025/Mar/19/vibe-coding/</a:t>
            </a:r>
          </a:p>
          <a:p xmlns:a="http://schemas.openxmlformats.org/drawingml/2006/main">
            <a:r>
              <a:t>Project references: AGENTS.md, DESIGN.md, specs/002-time-entries.md, specs/004-edit-delete-time-entries.md, tests/Timesheet.Api.Tests/TimeEntryEndpointTests.cs.</a:t>
            </a:r>
          </a:p>
          <a:p xmlns:a="http://schemas.openxmlformats.org/drawingml/2006/main">
            <a:r>
              <a:t/>
            </a:r>
          </a:p>
          <a:p xmlns:a="http://schemas.openxmlformats.org/drawingml/2006/main">
            <a:r>
              <a:t>Based on Deepak Babu Piskala’s paper, arXiv:2602.00180v1, 30 January 2026. CC BY 4.0: https://creativecommons.org/licenses/by/4.0/. English adaptation of the supplied Bulgarian deck. The original deck reports source checks on 6 October 2026, with later checks noted above. Project examples describe reviewed requirements and code. Expected outcomes are illustrative, rather than reports of executed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 Adapted from section III, “The SDD Workflow,” Figure 2. The paper calls the final stage Validate and describes it as “Verify it.” This deck uses Verify, following the original presenter’s choice.</a:t>
            </a:r>
          </a:p>
          <a:p xmlns:a="http://schemas.openxmlformats.org/drawingml/2006/main">
            <a:r>
              <a:t/>
            </a:r>
          </a:p>
          <a:p xmlns:a="http://schemas.openxmlformats.org/drawingml/2006/main">
            <a:r>
              <a:t>Specify defines functional behavior, scope boundaries and acceptance criteria. Plan separates the technical approach from the business behavior, covering architecture, models, interfaces, constraints and small tasks. Implement delivers the approved plan in small, verifiable increments and includes unit tests. Verify combines automated checks with human review. Add integration or other checks where unit tests are insufficient.</a:t>
            </a:r>
          </a:p>
          <a:p xmlns:a="http://schemas.openxmlformats.org/drawingml/2006/main">
            <a:r>
              <a:t/>
            </a:r>
          </a:p>
          <a:p xmlns:a="http://schemas.openxmlformats.org/drawingml/2006/main">
            <a:r>
              <a:t>Fix implementation defects in the code. If requirements are wrong or incomplete, a person clarifies and approves a spec change before further implementation. Do not rewrite requirements simply to justify a defect.</a:t>
            </a:r>
          </a:p>
          <a:p xmlns:a="http://schemas.openxmlformats.org/drawingml/2006/main">
            <a:r>
              <a:t/>
            </a:r>
          </a:p>
          <a:p xmlns:a="http://schemas.openxmlformats.org/drawingml/2006/main">
            <a:r>
              <a:t>The demo uses one Markdown document, called spec.md in this deck. Goal, Requirements, Out of scope and Acceptance criteria support Specify. Technical notes and Tasks support Plan and Implement. Acceptance criteria also guide Verify. Code and tests remain separate artifacts. The spec stays Draft until human review and approval, then becomes Ready for implementation. These stages do not require four separate files.</a:t>
            </a:r>
          </a:p>
          <a:p xmlns:a="http://schemas.openxmlformats.org/drawingml/2006/main">
            <a:r>
              <a:t/>
            </a:r>
          </a:p>
          <a:p xmlns:a="http://schemas.openxmlformats.org/drawingml/2006/main">
            <a:r>
              <a:t>SOURCES</a:t>
            </a:r>
          </a:p>
          <a:p xmlns:a="http://schemas.openxmlformats.org/drawingml/2006/main">
            <a:r>
              <a:t>https://arxiv.org/pdf/2602.00180</a:t>
            </a:r>
          </a:p>
          <a:p xmlns:a="http://schemas.openxmlformats.org/drawingml/2006/main">
            <a:r>
              <a:t>Project references: AGENTS.md, DESIGN.md, specs/002-time-entries.md, specs/004-edit-delete-time-entries.md, tests/Timesheet.Api.Tests/TimeEntryEndpointTests.cs.</a:t>
            </a:r>
          </a:p>
          <a:p xmlns:a="http://schemas.openxmlformats.org/drawingml/2006/main">
            <a:r>
              <a:t/>
            </a:r>
          </a:p>
          <a:p xmlns:a="http://schemas.openxmlformats.org/drawingml/2006/main">
            <a:r>
              <a:t>Based on Deepak Babu Piskala’s paper, arXiv:2602.00180v1, 30 January 2026. CC BY 4.0: https://creativecommons.org/licenses/by/4.0/. English adaptation of the supplied Bulgarian deck. The original deck reports source checks on 6 October 2026, with later checks noted above. Project examples describe reviewed requirements and code. Expected outcomes are illustrative, rather than reports of executed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 spec.md is a readable shorthand for the feature specification. The actual Timesheet specs live in specs/. AGENTS.md supplies project rules, approval gates and constraints. DESIGN.md defines the design system. Existing code and tests show the current implementation and the behavior already under test.</a:t>
            </a:r>
          </a:p>
          <a:p xmlns:a="http://schemas.openxmlformats.org/drawingml/2006/main">
            <a:r>
              <a:t/>
            </a:r>
          </a:p>
          <a:p xmlns:a="http://schemas.openxmlformats.org/drawingml/2006/main">
            <a:r>
              <a:t>When drafting a new spec, the user’s request, project rules and existing behavior help the agent propose an accurate contract. During implementation or a change, the approved contract guides the work. Additional context comes from .github/instructions/ for folder-specific rules, .github/skills/ for workflows, and .github/agents/ for roles. These behavioral instructions do not enforce filesystem permissions.</a:t>
            </a:r>
          </a:p>
          <a:p xmlns:a="http://schemas.openxmlformats.org/drawingml/2006/main">
            <a:r>
              <a:t/>
            </a:r>
          </a:p>
          <a:p xmlns:a="http://schemas.openxmlformats.org/drawingml/2006/main">
            <a:r>
              <a:t>This is context engineering in practice: giving the coding agent relevant, persistent context beyond the immediate prompt.</a:t>
            </a:r>
          </a:p>
          <a:p xmlns:a="http://schemas.openxmlformats.org/drawingml/2006/main">
            <a:r>
              <a:t/>
            </a:r>
          </a:p>
          <a:p xmlns:a="http://schemas.openxmlformats.org/drawingml/2006/main">
            <a:r>
              <a:t>SOURCES</a:t>
            </a:r>
          </a:p>
          <a:p xmlns:a="http://schemas.openxmlformats.org/drawingml/2006/main">
            <a:r>
              <a:t>https://www.anthropic.com/engineering/effective-context-engineering-for-ai-agents</a:t>
            </a:r>
          </a:p>
          <a:p xmlns:a="http://schemas.openxmlformats.org/drawingml/2006/main">
            <a:r>
              <a:t>Project references: AGENTS.md, DESIGN.md, specs/002-time-entries.md, specs/004-edit-delete-time-entries.md, tests/Timesheet.Api.Tests/TimeEntryEndpointTests.cs.</a:t>
            </a:r>
          </a:p>
          <a:p xmlns:a="http://schemas.openxmlformats.org/drawingml/2006/main">
            <a:r>
              <a:t/>
            </a:r>
          </a:p>
          <a:p xmlns:a="http://schemas.openxmlformats.org/drawingml/2006/main">
            <a:r>
              <a:t>Based on Deepak Babu Piskala’s paper, arXiv:2602.00180v1, 30 January 2026. CC BY 4.0: https://creativecommons.org/licenses/by/4.0/. English adaptation of the supplied Bulgarian deck. The original deck reports source checks on 6 October 2026, with later checks noted above. Project examples describe reviewed requirements and code. Expected outcomes are illustrative, rather than reports of executed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 This slide shows a simplified workshop spec in Draft status. Its six sections follow specs/template.md in the same order: Goal, Requirements, Out of scope, Acceptance criteria, Technical notes and Tasks. It is a teaching example, rather than a new approved project spec or a request to change the application. spec.md is a presentation shorthand.</a:t>
            </a:r>
          </a:p>
          <a:p xmlns:a="http://schemas.openxmlformats.org/drawingml/2006/main">
            <a:r>
              <a:t/>
            </a:r>
          </a:p>
          <a:p xmlns:a="http://schemas.openxmlformats.org/drawingml/2006/main">
            <a:r>
              <a:t>Internal spec numbers and requirement IDs are omitted to keep the example readable for the audience. The acceptance criteria match the stated rules. Every task and acceptance criterion remains unchecked because the example is still Draft. The technical notes are intentionally abbreviated.</a:t>
            </a:r>
          </a:p>
          <a:p xmlns:a="http://schemas.openxmlformats.org/drawingml/2006/main">
            <a:r>
              <a:t/>
            </a:r>
          </a:p>
          <a:p xmlns:a="http://schemas.openxmlformats.org/drawingml/2006/main">
            <a:r>
              <a:t>SOURCES</a:t>
            </a:r>
          </a:p>
          <a:p xmlns:a="http://schemas.openxmlformats.org/drawingml/2006/main">
            <a:r>
              <a:t>https://arxiv.org/pdf/2602.00180</a:t>
            </a:r>
          </a:p>
          <a:p xmlns:a="http://schemas.openxmlformats.org/drawingml/2006/main">
            <a:r>
              <a:t>Project references: AGENTS.md, DESIGN.md, specs/002-time-entries.md, specs/004-edit-delete-time-entries.md, tests/Timesheet.Api.Tests/TimeEntryEndpointTests.cs.</a:t>
            </a:r>
          </a:p>
          <a:p xmlns:a="http://schemas.openxmlformats.org/drawingml/2006/main">
            <a:r>
              <a:t/>
            </a:r>
          </a:p>
          <a:p xmlns:a="http://schemas.openxmlformats.org/drawingml/2006/main">
            <a:r>
              <a:t>Based on Deepak Babu Piskala’s paper, arXiv:2602.00180v1, 30 January 2026. CC BY 4.0: https://creativecommons.org/licenses/by/4.0/. English adaptation of the supplied Bulgarian deck. The original deck reports source checks on 6 October 2026, with later checks noted above. Project examples describe reviewed requirements and code. Expected outcomes are illustrative, rather than reports of executed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 Section II of the paper distinguishes three approaches. Spec-first guides the initial implementation without requiring ongoing spec maintenance. Spec-anchored keeps the spec current throughout the lifecycle. When behavior changes, the team updates the spec first or alongside the code. Spec-as-source makes changes in the spec and regenerates the implementation, with no manual edits to the generated code.</a:t>
            </a:r>
          </a:p>
          <a:p xmlns:a="http://schemas.openxmlformats.org/drawingml/2006/main">
            <a:r>
              <a:t/>
            </a:r>
          </a:p>
          <a:p xmlns:a="http://schemas.openxmlformats.org/drawingml/2006/main">
            <a:r>
              <a:t>The Timesheet examples are illustrative. An OpenAPI example in the underlying discussion applies only to generated API types, rather than the entire application. The paper recommends spec-anchored as the best balance for most production systems. Treat that as the author’s recommendation, rather than a universally established ranking.</a:t>
            </a:r>
          </a:p>
          <a:p xmlns:a="http://schemas.openxmlformats.org/drawingml/2006/main">
            <a:r>
              <a:t/>
            </a:r>
          </a:p>
          <a:p xmlns:a="http://schemas.openxmlformats.org/drawingml/2006/main">
            <a:r>
              <a:t>Spec-as-source is the most radical form of SDD: the spec effectively becomes source code at a higher level of abstraction. Developers describe requirements and behavior, and machines turn them into executable code. Feature changes happen in the spec, followed by regeneration. Tests check defined scenarios. They do not automatically detect edits made only to documentation. LLM generation cannot guarantee equivalent or correct code.</a:t>
            </a:r>
          </a:p>
          <a:p xmlns:a="http://schemas.openxmlformats.org/drawingml/2006/main">
            <a:r>
              <a:t/>
            </a:r>
          </a:p>
          <a:p xmlns:a="http://schemas.openxmlformats.org/drawingml/2006/main">
            <a:r>
              <a:t>SOURCES</a:t>
            </a:r>
          </a:p>
          <a:p xmlns:a="http://schemas.openxmlformats.org/drawingml/2006/main">
            <a:r>
              <a:t>https://arxiv.org/pdf/2602.00180</a:t>
            </a:r>
          </a:p>
          <a:p xmlns:a="http://schemas.openxmlformats.org/drawingml/2006/main">
            <a:r>
              <a:t>Project references: AGENTS.md, DESIGN.md, specs/002-time-entries.md, specs/004-edit-delete-time-entries.md, tests/Timesheet.Api.Tests/TimeEntryEndpointTests.cs.</a:t>
            </a:r>
          </a:p>
          <a:p xmlns:a="http://schemas.openxmlformats.org/drawingml/2006/main">
            <a:r>
              <a:t/>
            </a:r>
          </a:p>
          <a:p xmlns:a="http://schemas.openxmlformats.org/drawingml/2006/main">
            <a:r>
              <a:t>Based on Deepak Babu Piskala’s paper, arXiv:2602.00180v1, 30 January 2026. CC BY 4.0: https://creativecommons.org/licenses/by/4.0/. English adaptation of the supplied Bulgarian deck. The original deck reports source checks on 6 October 2026, with later checks noted above. Project examples describe reviewed requirements and code. Expected outcomes are illustrative, rather than reports of executed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 A person develops the spec from business requirements. The agent can help draft it, ask questions and clarify gaps, but a person reviews and approves the contract before implementation. The agent writes both application code and unit tests.</a:t>
            </a:r>
          </a:p>
          <a:p xmlns:a="http://schemas.openxmlformats.org/drawingml/2006/main">
            <a:r>
              <a:t/>
            </a:r>
          </a:p>
          <a:p xmlns:a="http://schemas.openxmlformats.org/drawingml/2006/main">
            <a:r>
              <a:t>Human review covers the outcome: does the behavior meet the approved need, is the implementation appropriate, and do the tests check the right expectations? Green tests alone do not constitute human acceptance. A requirements change takes the work back to the spec.</a:t>
            </a:r>
          </a:p>
          <a:p xmlns:a="http://schemas.openxmlformats.org/drawingml/2006/main">
            <a:r>
              <a:t/>
            </a:r>
          </a:p>
          <a:p xmlns:a="http://schemas.openxmlformats.org/drawingml/2006/main">
            <a:r>
              <a:t>SOURCES</a:t>
            </a:r>
          </a:p>
          <a:p xmlns:a="http://schemas.openxmlformats.org/drawingml/2006/main">
            <a:r>
              <a:t>https://kiro.dev/docs/specs/feature-specs/requirements-first/</a:t>
            </a:r>
          </a:p>
          <a:p xmlns:a="http://schemas.openxmlformats.org/drawingml/2006/main">
            <a:r>
              <a:t>https://code.claude.com/docs/en/best-practices</a:t>
            </a:r>
          </a:p>
          <a:p xmlns:a="http://schemas.openxmlformats.org/drawingml/2006/main">
            <a:r>
              <a:t>Project references: AGENTS.md, DESIGN.md, specs/002-time-entries.md, specs/004-edit-delete-time-entries.md, tests/Timesheet.Api.Tests/TimeEntryEndpointTests.cs.</a:t>
            </a:r>
          </a:p>
          <a:p xmlns:a="http://schemas.openxmlformats.org/drawingml/2006/main">
            <a:r>
              <a:t/>
            </a:r>
          </a:p>
          <a:p xmlns:a="http://schemas.openxmlformats.org/drawingml/2006/main">
            <a:r>
              <a:t>Based on Deepak Babu Piskala’s paper, arXiv:2602.00180v1, 30 January 2026. CC BY 4.0: https://creativecommons.org/licenses/by/4.0/. English adaptation of the supplied Bulgarian deck. The original deck reports source checks on 6 October 2026, with later checks noted above. Project examples describe reviewed requirements and code. Expected outcomes are illustrative, rather than reports of executed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 The supplied text argues that documentation can sound plausible while being wrong, whereas code and automated tests must actually run. LLM generation is nondeterministic: the same spec can produce different implementations. A code fix may never reach the documentation, so regeneration can lose it.</a:t>
            </a:r>
          </a:p>
          <a:p xmlns:a="http://schemas.openxmlformats.org/drawingml/2006/main">
            <a:r>
              <a:t/>
            </a:r>
          </a:p>
          <a:p xmlns:a="http://schemas.openxmlformats.org/drawingml/2006/main">
            <a:r>
              <a:t>Tests preserve approved examples of intent independently of an implementation and verify execution results. This is Specification by Example, related to FIT and ATDD. The author treats automated tests as a living executable contract. That does not mean any individual unit test proves the whole system correct.</a:t>
            </a:r>
          </a:p>
          <a:p xmlns:a="http://schemas.openxmlformats.org/drawingml/2006/main">
            <a:r>
              <a:t/>
            </a:r>
          </a:p>
          <a:p xmlns:a="http://schemas.openxmlformats.org/drawingml/2006/main">
            <a:r>
              <a:t>The workflow is: tests capture intent, the agent implements the code, the agent cross-checks the documentation against the tests, and a person resolves discrepancies. People review the tests and their expectations as well as the prose. The author suggests a good test should be understandable in about ten seconds. It should cover important business behavior, boundaries and failures while exercising real logic. Excessive mocking can produce green checks without meaningful verification.</a:t>
            </a:r>
          </a:p>
          <a:p xmlns:a="http://schemas.openxmlformats.org/drawingml/2006/main">
            <a:r>
              <a:t/>
            </a:r>
          </a:p>
          <a:p xmlns:a="http://schemas.openxmlformats.org/drawingml/2006/main">
            <a:r>
              <a:t>The phrase “tests cannot lie” is rhetorical. Tests can be incomplete, encode incorrect expectations or change alongside defective code. Green means that the checked scenarios passed. Integration and end-to-end checks complement unit tests. The source discusses automated tests in general. This deck retains human spec approval before implementation and uses executable checks as evidence about the code.</a:t>
            </a:r>
          </a:p>
          <a:p xmlns:a="http://schemas.openxmlformats.org/drawingml/2006/main">
            <a:r>
              <a:t/>
            </a:r>
          </a:p>
          <a:p xmlns:a="http://schemas.openxmlformats.org/drawingml/2006/main">
            <a:r>
              <a:t>SOURCES</a:t>
            </a:r>
          </a:p>
          <a:p xmlns:a="http://schemas.openxmlformats.org/drawingml/2006/main">
            <a:r>
              <a:t>Source: text and clarification supplied to the original presenter, beginning “Somewhere around 2000, if you worked in this industry, you met the methodology…” Author and URL were not provided.</a:t>
            </a:r>
          </a:p>
          <a:p xmlns:a="http://schemas.openxmlformats.org/drawingml/2006/main">
            <a:r>
              <a:t/>
            </a:r>
          </a:p>
          <a:p xmlns:a="http://schemas.openxmlformats.org/drawingml/2006/main">
            <a:r>
              <a:t>Project references: AGENTS.md, DESIGN.md, specs/002-time-entries.md, specs/004-edit-delete-time-entries.md, tests/Timesheet.Api.Tests/TimeEntryEndpointTests.cs.</a:t>
            </a:r>
          </a:p>
          <a:p xmlns:a="http://schemas.openxmlformats.org/drawingml/2006/main">
            <a:r>
              <a:t/>
            </a:r>
          </a:p>
          <a:p xmlns:a="http://schemas.openxmlformats.org/drawingml/2006/main">
            <a:r>
              <a:t>Based on Deepak Babu Piskala’s paper, arXiv:2602.00180v1, 30 January 2026. CC BY 4.0: https://creativecommons.org/licenses/by/4.0/. English adaptation of the supplied Bulgarian deck. The original deck reports source checks on 6 October 2026, with later checks noted above. Project examples describe reviewed requirements and code. Expected outcomes are illustrative, rather than reports of executed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 Specs and tests complement each other. Approved business requirements inform both the implementation and test scenarios with independently defined expectations. The spec defines the expected behavior. The code implements it. Tests execute real logic and compare its output with expectations derived from the requirements.</a:t>
            </a:r>
          </a:p>
          <a:p xmlns:a="http://schemas.openxmlformats.org/drawingml/2006/main">
            <a:r>
              <a:t/>
            </a:r>
          </a:p>
          <a:p xmlns:a="http://schemas.openxmlformats.org/drawingml/2006/main">
            <a:r>
              <a:t>Deriving expected behavior only from generated code can reproduce the same defect in the test. Unit tests check focused logic, including business rules, boundaries and errors. Integration tests check component interactions. End-to-end or UI tests cover the full user journey. People review the requirements, test quality and final result.</a:t>
            </a:r>
          </a:p>
          <a:p xmlns:a="http://schemas.openxmlformats.org/drawingml/2006/main">
            <a:r>
              <a:t/>
            </a:r>
          </a:p>
          <a:p xmlns:a="http://schemas.openxmlformats.org/drawingml/2006/main">
            <a:r>
              <a:t>This provides repeatable evidence for covered scenarios and regression protection as the product changes. No finite test suite provides a 100% guarantee for the whole product. Missing scenarios, incorrect expectations, excessive mocks and environment differences can hide defects. Testing is a core verification mechanism within a broader quality process.</a:t>
            </a:r>
          </a:p>
          <a:p xmlns:a="http://schemas.openxmlformats.org/drawingml/2006/main">
            <a:r>
              <a:t/>
            </a:r>
          </a:p>
          <a:p xmlns:a="http://schemas.openxmlformats.org/drawingml/2006/main">
            <a:r>
              <a:t>SOURCES</a:t>
            </a:r>
          </a:p>
          <a:p xmlns:a="http://schemas.openxmlformats.org/drawingml/2006/main">
            <a:r>
              <a:t>https://learn.microsoft.com/en-us/dotnet/core/testing/unit-testing-best-practices</a:t>
            </a:r>
          </a:p>
          <a:p xmlns:a="http://schemas.openxmlformats.org/drawingml/2006/main">
            <a:r>
              <a:t>Project references: AGENTS.md, DESIGN.md, specs/002-time-entries.md, specs/004-edit-delete-time-entries.md, tests/Timesheet.Api.Tests/TimeEntryEndpointTests.cs.</a:t>
            </a:r>
          </a:p>
          <a:p xmlns:a="http://schemas.openxmlformats.org/drawingml/2006/main">
            <a:r>
              <a:t/>
            </a:r>
          </a:p>
          <a:p xmlns:a="http://schemas.openxmlformats.org/drawingml/2006/main">
            <a:r>
              <a:t>Based on Deepak Babu Piskala’s paper, arXiv:2602.00180v1, 30 January 2026. CC BY 4.0: https://creativecommons.org/licenses/by/4.0/. English adaptation of the supplied Bulgarian deck. The original deck reports source checks on 6 October 2026, with later checks noted above. Project examples describe reviewed requirements and code. Expected outcomes are illustrative, rather than reports of executed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 The original deck checked Anthropic Engineering’s “Demystifying evals for AI agents,” published 9 January 2026, and official Agent Skills guidance on 8 October 2026. Evals use realistic tasks and predefined success criteria. Unit tests check application behavior. Agent evals assess the overall run, including the outcome, instruction following and use of tools and skills. Unit tests can form part of a coding-agent eval.</a:t>
            </a:r>
          </a:p>
          <a:p xmlns:a="http://schemas.openxmlformats.org/drawingml/2006/main">
            <a:r>
              <a:t/>
            </a:r>
          </a:p>
          <a:p xmlns:a="http://schemas.openxmlformats.org/drawingml/2006/main">
            <a:r>
              <a:t>Evaluate a skill through the agent that uses it, rather than by reading SKILL.md alone. The Draft example comes from Timesheet’s rule that implementation requires human approval. An eval can test whether the agent respects that gate, even when a prompt pressures it to begin immediately.</a:t>
            </a:r>
          </a:p>
          <a:p xmlns:a="http://schemas.openxmlformats.org/drawingml/2006/main">
            <a:r>
              <a:t/>
            </a:r>
          </a:p>
          <a:p xmlns:a="http://schemas.openxmlformats.org/drawingml/2006/main">
            <a:r>
              <a:t>Include tasks that should trigger the skill, tasks that should not, and difficult or ambiguous cases. Compare the same tasks with and without the skill while holding other conditions constant. Use repeated trials because model outputs vary. Inspect actual outcomes rather than the agent’s own assurances. Use automated graders where possible and human judgment for quality. Calibrate LLM judges against human assessments.</a:t>
            </a:r>
          </a:p>
          <a:p xmlns:a="http://schemas.openxmlformats.org/drawingml/2006/main">
            <a:r>
              <a:t/>
            </a:r>
          </a:p>
          <a:p xmlns:a="http://schemas.openxmlformats.org/drawingml/2006/main">
            <a:r>
              <a:t>Rerun the suite after changes to the model, instructions or skill. Add observed failures as new cases. This slide explains evals. It does not add or run an eval system in the project.</a:t>
            </a:r>
          </a:p>
          <a:p xmlns:a="http://schemas.openxmlformats.org/drawingml/2006/main">
            <a:r>
              <a:t/>
            </a:r>
          </a:p>
          <a:p xmlns:a="http://schemas.openxmlformats.org/drawingml/2006/main">
            <a:r>
              <a:t>SOURCES</a:t>
            </a:r>
          </a:p>
          <a:p xmlns:a="http://schemas.openxmlformats.org/drawingml/2006/main">
            <a:r>
              <a:t>https://www.anthropic.com/engineering/demystifying-evals-for-ai-agents</a:t>
            </a:r>
          </a:p>
          <a:p xmlns:a="http://schemas.openxmlformats.org/drawingml/2006/main">
            <a:r>
              <a:t>https://platform.claude.com/docs/en/agents-and-tools/agent-skills/enterprise</a:t>
            </a:r>
          </a:p>
          <a:p xmlns:a="http://schemas.openxmlformats.org/drawingml/2006/main">
            <a:r>
              <a:t>https://platform.claude.com/docs/en/agents-and-tools/agent-skills/best-practices</a:t>
            </a:r>
          </a:p>
          <a:p xmlns:a="http://schemas.openxmlformats.org/drawingml/2006/main">
            <a:r>
              <a:t>Project references: AGENTS.md, DESIGN.md, specs/002-time-entries.md, specs/004-edit-delete-time-entries.md, tests/Timesheet.Api.Tests/TimeEntryEndpointTests.cs.</a:t>
            </a:r>
          </a:p>
          <a:p xmlns:a="http://schemas.openxmlformats.org/drawingml/2006/main">
            <a:r>
              <a:t/>
            </a:r>
          </a:p>
          <a:p xmlns:a="http://schemas.openxmlformats.org/drawingml/2006/main">
            <a:r>
              <a:t>Based on Deepak Babu Piskala’s paper, arXiv:2602.00180v1, 30 January 2026. CC BY 4.0: https://creativecommons.org/licenses/by/4.0/. English adaptation of the supplied Bulgarian deck. The original deck reports source checks on 6 October 2026, with later checks noted above. Project examples describe reviewed requirements and code. Expected outcomes are illustrative, rather than reports of executed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 Based on Anthropic’s “Improving skill-creator: Test, measure, and refine Agent Skills,” published 3 March 2026 and checked for the original deck on 8 October 2026. Some skills compensate for missing or inconsistent model capabilities. Others encode company processes and preferences. As models improve, the first group may add less value.</a:t>
            </a:r>
          </a:p>
          <a:p xmlns:a="http://schemas.openxmlformats.org/drawingml/2006/main">
            <a:r>
              <a:t/>
            </a:r>
          </a:p>
          <a:p xmlns:a="http://schemas.openxmlformats.org/drawingml/2006/main">
            <a:r>
              <a:t>If a newer model succeeds on representative eval tasks without the skill, that suggests the skill may no longer help. It does not prove the model learned those specific instructions. Compare the same model, tasks, tools and conditions with and without the skill across repeated trials. Assess quality, consistency, latency and cost rather than relying on one successful run.</a:t>
            </a:r>
          </a:p>
          <a:p xmlns:a="http://schemas.openxmlformats.org/drawingml/2006/main">
            <a:r>
              <a:t/>
            </a:r>
          </a:p>
          <a:p xmlns:a="http://schemas.openxmlformats.org/drawingml/2006/main">
            <a:r>
              <a:t>Keep or improve a skill that helps. If it adds no value, simplify or retire it after review and broader checks. The decision applies to the tested model and scenarios. Skills that encode organizational policy or specialized workflows may remain necessary even as general capabilities improve. This slide presents no invented measurements.</a:t>
            </a:r>
          </a:p>
          <a:p xmlns:a="http://schemas.openxmlformats.org/drawingml/2006/main">
            <a:r>
              <a:t/>
            </a:r>
          </a:p>
          <a:p xmlns:a="http://schemas.openxmlformats.org/drawingml/2006/main">
            <a:r>
              <a:t>SOURCES</a:t>
            </a:r>
          </a:p>
          <a:p xmlns:a="http://schemas.openxmlformats.org/drawingml/2006/main">
            <a:r>
              <a:t>https://claude.com/resources/articles/improving-skill-creator-test-measure-and-refine-agent-skills</a:t>
            </a:r>
          </a:p>
          <a:p xmlns:a="http://schemas.openxmlformats.org/drawingml/2006/main">
            <a:r>
              <a:t>https://platform.claude.com/docs/en/agents-and-tools/agent-skills/best-practices</a:t>
            </a:r>
          </a:p>
          <a:p xmlns:a="http://schemas.openxmlformats.org/drawingml/2006/main">
            <a:r>
              <a:t>Project references: AGENTS.md, DESIGN.md, specs/002-time-entries.md, specs/004-edit-delete-time-entries.md, tests/Timesheet.Api.Tests/TimeEntryEndpointTests.cs.</a:t>
            </a:r>
          </a:p>
          <a:p xmlns:a="http://schemas.openxmlformats.org/drawingml/2006/main">
            <a:r>
              <a:t/>
            </a:r>
          </a:p>
          <a:p xmlns:a="http://schemas.openxmlformats.org/drawingml/2006/main">
            <a:r>
              <a:t>Based on Deepak Babu Piskala’s paper, arXiv:2602.00180v1, 30 January 2026. CC BY 4.0: https://creativecommons.org/licenses/by/4.0/. English adaptation of the supplied Bulgarian deck. The original deck reports source checks on 6 October 2026, with later checks noted above. Project examples describe reviewed requirements and code. Expected outcomes are illustrative, rather than reports of executed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 Keep the spec, code and tests aligned in the same change. The agent checks the affected requirements and test expectations, then updates the spec to reflect the actual approved scope. A person reviews all three artifacts together.</a:t>
            </a:r>
          </a:p>
          <a:p xmlns:a="http://schemas.openxmlformats.org/drawingml/2006/main">
            <a:r>
              <a:t/>
            </a:r>
          </a:p>
          <a:p xmlns:a="http://schemas.openxmlformats.org/drawingml/2006/main">
            <a:r>
              <a:t>When intended behavior changes, a person first approves the new requirements. The agent then updates the spec, code and tests. For a bug fix or refactor that preserves correct business behavior, do not rewrite requirements to excuse incorrect code. Confirm the spec remains accurate and update technical notes or verification information as needed.</a:t>
            </a:r>
          </a:p>
          <a:p xmlns:a="http://schemas.openxmlformats.org/drawingml/2006/main">
            <a:r>
              <a:t/>
            </a:r>
          </a:p>
          <a:p xmlns:a="http://schemas.openxmlformats.org/drawingml/2006/main">
            <a:r>
              <a:t>Tests should check the specified behavior, and the code should implement it. Keeping the spec current belongs in the definition of done, rather than a later documentation task.</a:t>
            </a:r>
          </a:p>
          <a:p xmlns:a="http://schemas.openxmlformats.org/drawingml/2006/main">
            <a:r>
              <a:t/>
            </a:r>
          </a:p>
          <a:p xmlns:a="http://schemas.openxmlformats.org/drawingml/2006/main">
            <a:r>
              <a:t>SOURCES</a:t>
            </a:r>
          </a:p>
          <a:p xmlns:a="http://schemas.openxmlformats.org/drawingml/2006/main">
            <a:r>
              <a:t>https://arxiv.org/pdf/2602.00180</a:t>
            </a:r>
          </a:p>
          <a:p xmlns:a="http://schemas.openxmlformats.org/drawingml/2006/main">
            <a:r>
              <a:t>Project references: AGENTS.md, DESIGN.md, specs/002-time-entries.md, specs/004-edit-delete-time-entries.md, tests/Timesheet.Api.Tests/TimeEntryEndpointTests.cs.</a:t>
            </a:r>
          </a:p>
          <a:p xmlns:a="http://schemas.openxmlformats.org/drawingml/2006/main">
            <a:r>
              <a:t/>
            </a:r>
          </a:p>
          <a:p xmlns:a="http://schemas.openxmlformats.org/drawingml/2006/main">
            <a:r>
              <a:t>Based on Deepak Babu Piskala’s paper, arXiv:2602.00180v1, 30 January 2026. CC BY 4.0: https://creativecommons.org/licenses/by/4.0/. English adaptation of the supplied Bulgarian deck. The original deck reports source checks on 6 October 2026, with later checks noted above. Project examples describe reviewed requirements and code. Expected outcomes are illustrative, rather than reports of executed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 SDD applies software engineering practices to development with AI. Domain experts stay close to the business need and use their professional knowledge to write useful specifications. The agent implements the approved contract. Tests check specific behavior, and people assess quality and whether the product solves the right problem.</a:t>
            </a:r>
          </a:p>
          <a:p xmlns:a="http://schemas.openxmlformats.org/drawingml/2006/main">
            <a:r>
              <a:t/>
            </a:r>
          </a:p>
          <a:p xmlns:a="http://schemas.openxmlformats.org/drawingml/2006/main">
            <a:r>
              <a:t>Explicit structure, small tasks, good practices and human review help contain the assumptions and uncontrolled changes that can accumulate during vibe coding. AI-assisted work includes many other workflows, and a spec alone cannot guarantee quality. These benefits describe engineering mechanisms rather than a promise of universal speed gains. Current specs and tests also make maintenance and business-context handoffs easier.</a:t>
            </a:r>
          </a:p>
          <a:p xmlns:a="http://schemas.openxmlformats.org/drawingml/2006/main">
            <a:r>
              <a:t/>
            </a:r>
          </a:p>
          <a:p xmlns:a="http://schemas.openxmlformats.org/drawingml/2006/main">
            <a:r>
              <a:t>A further theoretical benefit is rebuilding the implementation on a different stack, such as moving from Python to JavaScript, using the same behavioral spec. That requires sufficient behavioral detail and constraints, revised technical notes and tests, and fresh verification with human review. Generation is nondeterministic and does not guarantee equivalence. A useful first experiment is a small feature with a short approved spec, agent implementation, tests and human acceptance.</a:t>
            </a:r>
          </a:p>
          <a:p xmlns:a="http://schemas.openxmlformats.org/drawingml/2006/main">
            <a:r>
              <a:t/>
            </a:r>
          </a:p>
          <a:p xmlns:a="http://schemas.openxmlformats.org/drawingml/2006/main">
            <a:r>
              <a:t>SOURCES</a:t>
            </a:r>
          </a:p>
          <a:p xmlns:a="http://schemas.openxmlformats.org/drawingml/2006/main">
            <a:r>
              <a:t>https://github.github.com/spec-kit/concepts/sdd.html</a:t>
            </a:r>
          </a:p>
          <a:p xmlns:a="http://schemas.openxmlformats.org/drawingml/2006/main">
            <a:r>
              <a:t>Project references: AGENTS.md, DESIGN.md, specs/002-time-entries.md, specs/004-edit-delete-time-entries.md, tests/Timesheet.Api.Tests/TimeEntryEndpointTests.cs.</a:t>
            </a:r>
          </a:p>
          <a:p xmlns:a="http://schemas.openxmlformats.org/drawingml/2006/main">
            <a:r>
              <a:t/>
            </a:r>
          </a:p>
          <a:p xmlns:a="http://schemas.openxmlformats.org/drawingml/2006/main">
            <a:r>
              <a:t>Based on Deepak Babu Piskala’s paper, arXiv:2602.00180v1, 30 January 2026. CC BY 4.0: https://creativecommons.org/licenses/by/4.0/. English adaptation of the supplied Bulgarian deck. The original deck reports source checks on 6 October 2026, with later checks noted above. Project examples describe reviewed requirements and code. Expected outcomes are illustrative, rather than reports of executed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 Based on section VII, “The Redefinition of Developer Work,” and the original presenter’s emphasis on expertise. People remain central. Conversations with the business establish the goal, real requirements and constraints. Domain expertise helps the developer write a useful spec, including edge cases and acceptance criteria.</a:t>
            </a:r>
          </a:p>
          <a:p xmlns:a="http://schemas.openxmlformats.org/drawingml/2006/main">
            <a:r>
              <a:t/>
            </a:r>
          </a:p>
          <a:p xmlns:a="http://schemas.openxmlformats.org/drawingml/2006/main">
            <a:r>
              <a:t>Engineering expertise guides architecture and implementation choices, code and test review, and assessment of the finished product. The agent helps with implementation. People retain accountability for decisions. The diagram summarizes collaboration and does not imply that one person must fill every role. Spec maintenance remains part of the work. This slide does not claim that manual coding disappears or that AI guarantees quality.</a:t>
            </a:r>
          </a:p>
          <a:p xmlns:a="http://schemas.openxmlformats.org/drawingml/2006/main">
            <a:r>
              <a:t/>
            </a:r>
          </a:p>
          <a:p xmlns:a="http://schemas.openxmlformats.org/drawingml/2006/main">
            <a:r>
              <a:t>SOURCES</a:t>
            </a:r>
          </a:p>
          <a:p xmlns:a="http://schemas.openxmlformats.org/drawingml/2006/main">
            <a:r>
              <a:t>https://arxiv.org/pdf/2602.00180</a:t>
            </a:r>
          </a:p>
          <a:p xmlns:a="http://schemas.openxmlformats.org/drawingml/2006/main">
            <a:r>
              <a:t>Project references: AGENTS.md, DESIGN.md, specs/002-time-entries.md, specs/004-edit-delete-time-entries.md, tests/Timesheet.Api.Tests/TimeEntryEndpointTests.cs.</a:t>
            </a:r>
          </a:p>
          <a:p xmlns:a="http://schemas.openxmlformats.org/drawingml/2006/main">
            <a:r>
              <a:t/>
            </a:r>
          </a:p>
          <a:p xmlns:a="http://schemas.openxmlformats.org/drawingml/2006/main">
            <a:r>
              <a:t>Based on Deepak Babu Piskala’s paper, arXiv:2602.00180v1, 30 January 2026. CC BY 4.0: https://creativecommons.org/licenses/by/4.0/. English adaptation of the supplied Bulgarian deck. The original deck reports source checks on 6 October 2026, with later checks noted above. Project examples describe reviewed requirements and code. Expected outcomes are illustrative, rather than reports of executed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 Adapted from Owain Osborne-Walsh’s Microsoft Apps on Azure Blog article of 5 February 2026 and the supplied “AI Led SDLC Process Flow” diagram. This is an example architecture, rather than a universal standard or a list of integrations implemented in Timesheet.</a:t>
            </a:r>
          </a:p>
          <a:p xmlns:a="http://schemas.openxmlformats.org/drawingml/2006/main">
            <a:r>
              <a:t/>
            </a:r>
          </a:p>
          <a:p xmlns:a="http://schemas.openxmlformats.org/drawingml/2006/main">
            <a:r>
              <a:t>A person defines the business requirements. For this demo, one spec.md contains the specification, technical plan and tasks. In the original article, Spec Kit and Spec-to-Issue prepare and assign GitHub issues. Here, a coding agent writes code and tests and opens a PR. A quality agent and a developer or QA engineer review the result and request changes. Step 5 uses GitHub Actions CI/CD for build and deployment. Step 6, Observability, uses metrics, logs and traces to explain system behavior. Step 7 pairs an SRE agent with an engineer for operations.</a:t>
            </a:r>
          </a:p>
          <a:p xmlns:a="http://schemas.openxmlformats.org/drawingml/2006/main">
            <a:r>
              <a:t/>
            </a:r>
          </a:p>
          <a:p xmlns:a="http://schemas.openxmlformats.org/drawingml/2006/main">
            <a:r>
              <a:t>The SRE agent monitors issues, while an SRE or cloud engineer handles complex cases. Production signals can become new GitHub issues. Updating the spec closes the SDD feedback loop emphasized in this deck. Human review and approval remain part of the workflow.</a:t>
            </a:r>
          </a:p>
          <a:p xmlns:a="http://schemas.openxmlformats.org/drawingml/2006/main">
            <a:r>
              <a:t/>
            </a:r>
          </a:p>
          <a:p xmlns:a="http://schemas.openxmlformats.org/drawingml/2006/main">
            <a:r>
              <a:t>Azure SRE Agent gathers operational context, investigates likely incident causes, and recommends or performs corrective actions. Execution depends on configured permissions, policies and the selected Review or Autonomous mode. The original deck checked the official product description on 9 October 2026.</a:t>
            </a:r>
          </a:p>
          <a:p xmlns:a="http://schemas.openxmlformats.org/drawingml/2006/main">
            <a:r>
              <a:t/>
            </a:r>
          </a:p>
          <a:p xmlns:a="http://schemas.openxmlformats.org/drawingml/2006/main">
            <a:r>
              <a:t>SOURCES</a:t>
            </a:r>
          </a:p>
          <a:p xmlns:a="http://schemas.openxmlformats.org/drawingml/2006/main">
            <a:r>
              <a:t>Additional source: the user-supplied “AI Led SDLC Process Flow” diagram.</a:t>
            </a:r>
          </a:p>
          <a:p xmlns:a="http://schemas.openxmlformats.org/drawingml/2006/main">
            <a:r>
              <a:t>https://techcommunity.microsoft.com/blog/appsonazureblog/an-ai-led-sdlc-building-an-end-to-end-agentic-software-development-lifecycle-wit/4491896</a:t>
            </a:r>
          </a:p>
          <a:p xmlns:a="http://schemas.openxmlformats.org/drawingml/2006/main">
            <a:r>
              <a:t>https://learn.microsoft.com/en-us/azure/sre-agent/overview?tabs=explore</a:t>
            </a:r>
          </a:p>
          <a:p xmlns:a="http://schemas.openxmlformats.org/drawingml/2006/main">
            <a:r>
              <a:t>Project references: AGENTS.md, DESIGN.md, specs/002-time-entries.md, specs/004-edit-delete-time-entries.md, tests/Timesheet.Api.Tests/TimeEntryEndpointTests.cs.</a:t>
            </a:r>
          </a:p>
          <a:p xmlns:a="http://schemas.openxmlformats.org/drawingml/2006/main">
            <a:r>
              <a:t/>
            </a:r>
          </a:p>
          <a:p xmlns:a="http://schemas.openxmlformats.org/drawingml/2006/main">
            <a:r>
              <a:t>Based on Deepak Babu Piskala’s paper, arXiv:2602.00180v1, 30 January 2026. CC BY 4.0: https://creativecommons.org/licenses/by/4.0/. English adaptation of the supplied Bulgarian deck. The original deck reports source checks on 6 October 2026, with later checks noted above. Project examples describe reviewed requirements and code. Expected outcomes are illustrative, rather than reports of executed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 The closing slide summarizes the original presenter’s message. Specs express intent and acceptance criteria. Tests check selected scenarios against agreed requirements without proving the absence of all defects. Evals measure agent and skill performance against defined criteria. Observability uses metrics, logs and traces to understand behavior and investigate failures in production. People set the direction and remain accountable for decisions and acceptance. The original presenter selected the sources.</a:t>
            </a:r>
          </a:p>
          <a:p xmlns:a="http://schemas.openxmlformats.org/drawingml/2006/main">
            <a:r>
              <a:t/>
            </a:r>
          </a:p>
          <a:p xmlns:a="http://schemas.openxmlformats.org/drawingml/2006/main">
            <a:r>
              <a:t>SOURCES</a:t>
            </a:r>
          </a:p>
          <a:p xmlns:a="http://schemas.openxmlformats.org/drawingml/2006/main">
            <a:r>
              <a:t>https://github.com/github/spec-kit/blob/main/spec-driven.md</a:t>
            </a:r>
          </a:p>
          <a:p xmlns:a="http://schemas.openxmlformats.org/drawingml/2006/main">
            <a:r>
              <a:t>https://istqb.org/wp-content/uploads/2024/11/ISTQB_CTFL_Syllabus_v4.0.1.pdf</a:t>
            </a:r>
          </a:p>
          <a:p xmlns:a="http://schemas.openxmlformats.org/drawingml/2006/main">
            <a:r>
              <a:t>https://www.anthropic.com/engineering/demystifying-evals-for-ai-agents</a:t>
            </a:r>
          </a:p>
          <a:p xmlns:a="http://schemas.openxmlformats.org/drawingml/2006/main">
            <a:r>
              <a:t>https://opentelemetry.io/docs/concepts/observability-primer/</a:t>
            </a:r>
          </a:p>
          <a:p xmlns:a="http://schemas.openxmlformats.org/drawingml/2006/main">
            <a:r>
              <a:t>Project references: AGENTS.md, DESIGN.md, specs/002-time-entries.md, specs/004-edit-delete-time-entries.md, tests/Timesheet.Api.Tests/TimeEntryEndpointTests.cs.</a:t>
            </a:r>
          </a:p>
          <a:p xmlns:a="http://schemas.openxmlformats.org/drawingml/2006/main">
            <a:r>
              <a:t/>
            </a:r>
          </a:p>
          <a:p xmlns:a="http://schemas.openxmlformats.org/drawingml/2006/main">
            <a:r>
              <a:t>Based on Deepak Babu Piskala’s paper, arXiv:2602.00180v1, 30 January 2026. CC BY 4.0: https://creativecommons.org/licenses/by/4.0/. English adaptation of the supplied Bulgarian deck. The original deck reports source checks on 6 October 2026, with later checks noted above. Project examples describe reviewed requirements and code. Expected outcomes are illustrative, rather than reports of executed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Resources selected by the original presenter. Each entry has a short description and a clickable link. The video’s full title is “AWS re:Invent 2025 - Introducing AI driven development lifecycle (AI-DLC) (DVT214).” The paper is “Spec-Driven Development: From Code to Contract in the Age of AI Coding Assistants.” The article is “An AI led SDLC: Building an End-to-End Agentic Software Development Lifecycle with Azure and GitHub.”</a:t>
            </a:r>
          </a:p>
          <a:p xmlns:a="http://schemas.openxmlformats.org/drawingml/2006/main">
            <a:r>
              <a:t/>
            </a:r>
          </a:p>
          <a:p xmlns:a="http://schemas.openxmlformats.org/drawingml/2006/main">
            <a:r>
              <a:t>OpenAI Evals is a framework for evaluating LLMs and LLM systems, with a benchmark registry. DeepEval is an open source framework for testing and evaluating LLM applications. The original deck checked these resource descriptions on 9 October 2026.</a:t>
            </a:r>
          </a:p>
          <a:p xmlns:a="http://schemas.openxmlformats.org/drawingml/2006/main">
            <a:r>
              <a:t/>
            </a:r>
          </a:p>
          <a:p xmlns:a="http://schemas.openxmlformats.org/drawingml/2006/main">
            <a:r>
              <a:t>SOURCES</a:t>
            </a:r>
          </a:p>
          <a:p xmlns:a="http://schemas.openxmlformats.org/drawingml/2006/main">
            <a:r>
              <a:t>https://www.youtube.com/watch?v=1HNUH6j5t4A</a:t>
            </a:r>
          </a:p>
          <a:p xmlns:a="http://schemas.openxmlformats.org/drawingml/2006/main">
            <a:r>
              <a:t>https://github.com/github/spec-kit</a:t>
            </a:r>
          </a:p>
          <a:p xmlns:a="http://schemas.openxmlformats.org/drawingml/2006/main">
            <a:r>
              <a:t>https://kiro.dev/</a:t>
            </a:r>
          </a:p>
          <a:p xmlns:a="http://schemas.openxmlformats.org/drawingml/2006/main">
            <a:r>
              <a:t>https://arxiv.org/pdf/2602.00180</a:t>
            </a:r>
          </a:p>
          <a:p xmlns:a="http://schemas.openxmlformats.org/drawingml/2006/main">
            <a:r>
              <a:t>https://techcommunity.microsoft.com/blog/appsonazureblog/an-ai-led-sdlc-building-an-end-to-end-agentic-software-development-lifecycle-wit/4491896</a:t>
            </a:r>
          </a:p>
          <a:p xmlns:a="http://schemas.openxmlformats.org/drawingml/2006/main">
            <a:r>
              <a:t>https://github.com/openai/evals</a:t>
            </a:r>
          </a:p>
          <a:p xmlns:a="http://schemas.openxmlformats.org/drawingml/2006/main">
            <a:r>
              <a:t>https://deepeval.com/</a:t>
            </a:r>
          </a:p>
          <a:p xmlns:a="http://schemas.openxmlformats.org/drawingml/2006/main">
            <a:r>
              <a:t>Project references: AGENTS.md, DESIGN.md, specs/002-time-entries.md, specs/004-edit-delete-time-entries.md, tests/Timesheet.Api.Tests/TimeEntryEndpointTests.cs.</a:t>
            </a:r>
          </a:p>
          <a:p xmlns:a="http://schemas.openxmlformats.org/drawingml/2006/main">
            <a:r>
              <a:t/>
            </a:r>
          </a:p>
          <a:p xmlns:a="http://schemas.openxmlformats.org/drawingml/2006/main">
            <a:r>
              <a:t>Based on Deepak Babu Piskala’s paper, arXiv:2602.00180v1, 30 January 2026. CC BY 4.0: https://creativecommons.org/licenses/by/4.0/. English adaptation of the supplied Bulgarian deck. The original deck reports source checks on 6 October 2026, with later checks noted above. Project examples describe reviewed requirements and code. Expected outcomes are illustrative, rather than reports of executed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cd4073608ee4c0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8a862dbed474f1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68e5dd1f1e84e4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0fccca0fc9f43d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fe064138d914c0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888231d8a22413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AE63C25-E4E0-4CC0-8C61-B79E196F6C4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65783CC-4A87-49D8-BD27-3A0D32201C0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822F164-C3FF-4098-A29A-E3E80F6E323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2588884-6216-4EBE-9B0C-31FD1B6F820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F6A8A15-EF99-4D89-B3AF-DB1C383F374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CDD8B47-ACDA-4435-8A92-A25445135EE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AC357F0-087D-49FE-9439-C60A2D4609E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F1CD6B5-6620-41F8-84FD-86B94176601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D42F075-8A35-42D4-9B9F-78EC35D3403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3AF3420-21AF-42BC-A74D-CEA0BDDC35C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4d4bed616f3430a" /><Relationship Type="http://schemas.openxmlformats.org/officeDocument/2006/relationships/slideLayout" Target="/ppt/slideLayouts/slideLayout1.xml" Id="Ra235fefda8ed449b" /><Relationship Type="http://schemas.openxmlformats.org/officeDocument/2006/relationships/slideLayout" Target="/ppt/slideLayouts/slideLayout2.xml" Id="R47bb71e57ad14884" /><Relationship Type="http://schemas.openxmlformats.org/officeDocument/2006/relationships/slideLayout" Target="/ppt/slideLayouts/slideLayout3.xml" Id="R9969521f39314929" /><Relationship Type="http://schemas.openxmlformats.org/officeDocument/2006/relationships/slideLayout" Target="/ppt/slideLayouts/slideLayout4.xml" Id="R61cde87b34314072" /><Relationship Type="http://schemas.openxmlformats.org/officeDocument/2006/relationships/slideLayout" Target="/ppt/slideLayouts/slideLayout5.xml" Id="R2a25078fc290471d" /><Relationship Type="http://schemas.openxmlformats.org/officeDocument/2006/relationships/slideLayout" Target="/ppt/slideLayouts/slideLayout6.xml" Id="R661411e0a86e4d1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235fefda8ed449b"/>
    <p:sldLayoutId xmlns:r="http://schemas.openxmlformats.org/officeDocument/2006/relationships" id="2147483650" r:id="R47bb71e57ad14884"/>
    <p:sldLayoutId xmlns:r="http://schemas.openxmlformats.org/officeDocument/2006/relationships" id="2147483651" r:id="R9969521f39314929"/>
    <p:sldLayoutId xmlns:r="http://schemas.openxmlformats.org/officeDocument/2006/relationships" id="2147483652" r:id="R61cde87b34314072"/>
    <p:sldLayoutId xmlns:r="http://schemas.openxmlformats.org/officeDocument/2006/relationships" id="2147483653" r:id="R2a25078fc290471d"/>
    <p:sldLayoutId xmlns:r="http://schemas.openxmlformats.org/officeDocument/2006/relationships" id="2147483654" r:id="R661411e0a86e4d1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903992093854f4d" /><Relationship Type="http://schemas.openxmlformats.org/officeDocument/2006/relationships/notesSlide" Target="/ppt/notesSlides/notesSlide1.xml" Id="R6ae10a8c45f04f4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3212100b0084aac" /><Relationship Type="http://schemas.openxmlformats.org/officeDocument/2006/relationships/notesSlide" Target="/ppt/notesSlides/notesSlide2.xml" Id="R61868c89acbb428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2ea7e83aed74e15" /><Relationship Type="http://schemas.openxmlformats.org/officeDocument/2006/relationships/notesSlide" Target="/ppt/notesSlides/notesSlide3.xml" Id="R33f6588bdf29452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b5b0f82163e49fa" /><Relationship Type="http://schemas.openxmlformats.org/officeDocument/2006/relationships/notesSlide" Target="/ppt/notesSlides/notesSlide4.xml" Id="Rc398ff0560dd4c3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f52b45488b246ee" /><Relationship Type="http://schemas.openxmlformats.org/officeDocument/2006/relationships/notesSlide" Target="/ppt/notesSlides/notesSlide5.xml" Id="R871c1584516b439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2a3b292e0304683" /><Relationship Type="http://schemas.openxmlformats.org/officeDocument/2006/relationships/notesSlide" Target="/ppt/notesSlides/notesSlide6.xml" Id="R4058bf409ad943b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8e70c0b5ab343a4" /><Relationship Type="http://schemas.openxmlformats.org/officeDocument/2006/relationships/notesSlide" Target="/ppt/notesSlides/notesSlide7.xml" Id="R48457d68b6c744e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e9c7a63cbf94bbe" /><Relationship Type="http://schemas.openxmlformats.org/officeDocument/2006/relationships/notesSlide" Target="/ppt/notesSlides/notesSlide8.xml" Id="R7a30e64a2e87403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87be761f4614400" /><Relationship Type="http://schemas.openxmlformats.org/officeDocument/2006/relationships/notesSlide" Target="/ppt/notesSlides/notesSlide9.xml" Id="R8ffec56131fe46a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d06940aaa134715" /><Relationship Type="http://schemas.openxmlformats.org/officeDocument/2006/relationships/notesSlide" Target="/ppt/notesSlides/notesSlide10.xml" Id="R733a3c3a637542a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caca16409144d44" /><Relationship Type="http://schemas.openxmlformats.org/officeDocument/2006/relationships/notesSlide" Target="/ppt/notesSlides/notesSlide11.xml" Id="R5cb9c5f451c9416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1fd34456eef48b2" /><Relationship Type="http://schemas.openxmlformats.org/officeDocument/2006/relationships/notesSlide" Target="/ppt/notesSlides/notesSlide12.xml" Id="R8da0ddf6d10f4c1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f0a1da57d6b4f18" /><Relationship Type="http://schemas.openxmlformats.org/officeDocument/2006/relationships/notesSlide" Target="/ppt/notesSlides/notesSlide13.xml" Id="Ra6d69489a77f46b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dc5ed88f8c54575" /><Relationship Type="http://schemas.openxmlformats.org/officeDocument/2006/relationships/notesSlide" Target="/ppt/notesSlides/notesSlide14.xml" Id="R1525c2c6ad884af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c1b156263c745d7" /><Relationship Type="http://schemas.openxmlformats.org/officeDocument/2006/relationships/notesSlide" Target="/ppt/notesSlides/notesSlide15.xml" Id="Rdef8203f9cd142a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bcb5bdc9daf4157" /><Relationship Type="http://schemas.openxmlformats.org/officeDocument/2006/relationships/notesSlide" Target="/ppt/notesSlides/notesSlide16.xml" Id="Rb5012b88bee4491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0ae32a8b2a14bf0" /><Relationship Type="http://schemas.openxmlformats.org/officeDocument/2006/relationships/notesSlide" Target="/ppt/notesSlides/notesSlide17.xml" Id="Rd5537f9d27fb43b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25341260b82452e" /><Relationship Type="http://schemas.openxmlformats.org/officeDocument/2006/relationships/notesSlide" Target="/ppt/notesSlides/notesSlide18.xml" Id="R261572e830fd4e3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602fb044876c49a9" /><Relationship Type="http://schemas.openxmlformats.org/officeDocument/2006/relationships/notesSlide" Target="/ppt/notesSlides/notesSlide19.xml" Id="R89badf86895b401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5831ba9fe0fd4c1c" /><Relationship Type="http://schemas.openxmlformats.org/officeDocument/2006/relationships/hyperlink" Target="https://www.youtube.com/watch?v=1HNUH6j5t4A" TargetMode="External" Id="Rd9f3c2fd57b94a62" /><Relationship Type="http://schemas.openxmlformats.org/officeDocument/2006/relationships/hyperlink" Target="https://github.com/github/spec-kit" TargetMode="External" Id="R73fa21e2f8534b7e" /><Relationship Type="http://schemas.openxmlformats.org/officeDocument/2006/relationships/hyperlink" Target="https://kiro.dev/" TargetMode="External" Id="Rc6c0e183a4e04946" /><Relationship Type="http://schemas.openxmlformats.org/officeDocument/2006/relationships/hyperlink" Target="https://arxiv.org/pdf/2602.00180" TargetMode="External" Id="R075736041c574202" /><Relationship Type="http://schemas.openxmlformats.org/officeDocument/2006/relationships/hyperlink" Target="https://techcommunity.microsoft.com/blog/appsonazureblog/an-ai-led-sdlc-building-an-end-to-end-agentic-software-development-lifecycle-wit/4491896" TargetMode="External" Id="Ra79718a29a1d4486" /><Relationship Type="http://schemas.openxmlformats.org/officeDocument/2006/relationships/hyperlink" Target="https://github.com/openai/evals" TargetMode="External" Id="R7f0095170bb44fab" /><Relationship Type="http://schemas.openxmlformats.org/officeDocument/2006/relationships/hyperlink" Target="https://deepeval.com/" TargetMode="External" Id="R8bd495730b264c6d" /><Relationship Type="http://schemas.openxmlformats.org/officeDocument/2006/relationships/notesSlide" Target="/ppt/notesSlides/notesSlide20.xml" Id="Reb67389b49644dfe" /></Relationships>
</file>

<file path=ppt/slides/slide1.xml><?xml version="1.0" encoding="utf-8"?>
<p:sld xmlns:p="http://schemas.openxmlformats.org/presentationml/2006/main">
  <p:cSld>
    <p:bg>
      <p:bgPr>
        <a:gradFill xmlns:a="http://schemas.openxmlformats.org/drawingml/2006/main">
          <a:gsLst>
            <a:gs pos="0">
              <a:srgbClr val="101F52"/>
            </a:gs>
            <a:gs pos="53000">
              <a:srgbClr val="2447A6"/>
            </a:gs>
            <a:gs pos="100000">
              <a:srgbClr val="7041B9"/>
            </a:gs>
          </a:gsLst>
          <a:lin ang="1500000"/>
        </a:gra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68D071E-0C7E-4E96-9899-AC4D6886122D}"/>
              </a:ext>
            </a:extLst>
          </p:cNvPr>
          <p:cNvSpPr>
            <a:spLocks xmlns:a="http://schemas.openxmlformats.org/drawingml/2006/main" noGrp="1"/>
          </p:cNvSpPr>
          <p:nvPr/>
        </p:nvSpPr>
        <p:spPr>
          <a:xfrm xmlns:a="http://schemas.openxmlformats.org/drawingml/2006/main">
            <a:off x="11049000" y="616267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CADCFC"/>
                </a:solidFill>
                <a:latin typeface="Arial"/>
                <a:ea typeface="Arial"/>
                <a:cs typeface="Arial"/>
              </a:defRPr>
            </a:defPPr>
          </a:lstStyle>
          <a:p xmlns:a="http://schemas.openxmlformats.org/drawingml/2006/main">
            <a:pPr>
              <a:buNone/>
              <a:defRPr sz="1350" b="0">
                <a:solidFill>
                  <a:srgbClr val="CADCFC"/>
                </a:solidFill>
                <a:latin typeface="Arial"/>
                <a:ea typeface="Arial"/>
                <a:cs typeface="Arial"/>
              </a:defRPr>
            </a:pPr>
            <a:r>
              <a:rPr sz="1350" b="0">
                <a:solidFill>
                  <a:srgbClr val="CADCFC"/>
                </a:solidFill>
                <a:latin typeface="Arial"/>
                <a:ea typeface="Arial"/>
                <a:cs typeface="Arial"/>
              </a:rPr>
              <a:t>01</a:t>
            </a:r>
          </a:p>
        </p:txBody>
      </p:sp>
      <p:sp>
        <p:nvSpPr>
          <p:cNvPr id="2" name="">
            <a:extLst xmlns:a="http://schemas.openxmlformats.org/drawingml/2006/main">
              <a:ext uri="{FF2B5EF4-FFF2-40B4-BE49-F238E27FC236}">
                <a16:creationId xmlns:a16="http://schemas.microsoft.com/office/drawing/2014/main" id="{3CE952DC-1FA1-496A-8834-2D22DF6042EC}"/>
              </a:ext>
            </a:extLst>
          </p:cNvPr>
          <p:cNvSpPr>
            <a:spLocks xmlns:a="http://schemas.openxmlformats.org/drawingml/2006/main" noGrp="1"/>
          </p:cNvSpPr>
          <p:nvPr/>
        </p:nvSpPr>
        <p:spPr>
          <a:xfrm xmlns:a="http://schemas.openxmlformats.org/drawingml/2006/main">
            <a:off x="685800" y="1285875"/>
            <a:ext cx="100012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6000" b="1">
                <a:solidFill>
                  <a:srgbClr val="FFFFFF"/>
                </a:solidFill>
                <a:latin typeface="Arial"/>
                <a:ea typeface="Arial"/>
                <a:cs typeface="Arial"/>
              </a:defRPr>
            </a:defPPr>
          </a:lstStyle>
          <a:p xmlns:a="http://schemas.openxmlformats.org/drawingml/2006/main">
            <a:pPr>
              <a:buNone/>
              <a:defRPr sz="6000" b="1">
                <a:solidFill>
                  <a:srgbClr val="FFFFFF"/>
                </a:solidFill>
                <a:latin typeface="Arial"/>
                <a:ea typeface="Arial"/>
                <a:cs typeface="Arial"/>
              </a:defRPr>
            </a:pPr>
            <a:r>
              <a:rPr sz="6000" b="1">
                <a:solidFill>
                  <a:srgbClr val="FFFFFF"/>
                </a:solidFill>
                <a:latin typeface="Arial"/>
                <a:ea typeface="Arial"/>
                <a:cs typeface="Arial"/>
              </a:rPr>
              <a:t>Spec-Driven</a:t>
            </a:r>
          </a:p>
          <a:p xmlns:a="http://schemas.openxmlformats.org/drawingml/2006/main">
            <a:pPr>
              <a:buNone/>
              <a:defRPr sz="6000" b="1">
                <a:solidFill>
                  <a:srgbClr val="FFFFFF"/>
                </a:solidFill>
                <a:latin typeface="Arial"/>
                <a:ea typeface="Arial"/>
                <a:cs typeface="Arial"/>
              </a:defRPr>
            </a:pPr>
            <a:r>
              <a:rPr sz="6000" b="1">
                <a:solidFill>
                  <a:srgbClr val="FFFFFF"/>
                </a:solidFill>
                <a:latin typeface="Arial"/>
                <a:ea typeface="Arial"/>
                <a:cs typeface="Arial"/>
              </a:rPr>
              <a:t>Development</a:t>
            </a:r>
          </a:p>
        </p:txBody>
      </p:sp>
      <p:sp>
        <p:nvSpPr>
          <p:cNvPr id="3" name="">
            <a:extLst xmlns:a="http://schemas.openxmlformats.org/drawingml/2006/main">
              <a:ext uri="{FF2B5EF4-FFF2-40B4-BE49-F238E27FC236}">
                <a16:creationId xmlns:a16="http://schemas.microsoft.com/office/drawing/2014/main" id="{704A9A85-B722-4F81-9394-44532CD4E709}"/>
              </a:ext>
            </a:extLst>
          </p:cNvPr>
          <p:cNvSpPr>
            <a:spLocks xmlns:a="http://schemas.openxmlformats.org/drawingml/2006/main" noGrp="1"/>
          </p:cNvSpPr>
          <p:nvPr/>
        </p:nvSpPr>
        <p:spPr>
          <a:xfrm xmlns:a="http://schemas.openxmlformats.org/drawingml/2006/main">
            <a:off x="723900" y="3667125"/>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FFFFFF"/>
                </a:solidFill>
                <a:latin typeface="Arial"/>
                <a:ea typeface="Arial"/>
                <a:cs typeface="Arial"/>
              </a:defRPr>
            </a:defPPr>
          </a:lstStyle>
          <a:p xmlns:a="http://schemas.openxmlformats.org/drawingml/2006/main">
            <a:pPr>
              <a:buNone/>
              <a:defRPr sz="2550" b="0">
                <a:solidFill>
                  <a:srgbClr val="FFFFFF"/>
                </a:solidFill>
                <a:latin typeface="Arial"/>
                <a:ea typeface="Arial"/>
                <a:cs typeface="Arial"/>
              </a:defRPr>
            </a:pPr>
            <a:r>
              <a:rPr sz="2550" b="0">
                <a:solidFill>
                  <a:srgbClr val="FFFFFF"/>
                </a:solidFill>
                <a:latin typeface="Arial"/>
                <a:ea typeface="Arial"/>
                <a:cs typeface="Arial"/>
              </a:rPr>
              <a:t>Agentic software engineering</a:t>
            </a:r>
          </a:p>
        </p:txBody>
      </p:sp>
      <p:sp>
        <p:nvSpPr>
          <p:cNvPr id="4" name="">
            <a:extLst xmlns:a="http://schemas.openxmlformats.org/drawingml/2006/main">
              <a:ext uri="{FF2B5EF4-FFF2-40B4-BE49-F238E27FC236}">
                <a16:creationId xmlns:a16="http://schemas.microsoft.com/office/drawing/2014/main" id="{A851A1C1-F5C1-4881-843E-91E4656FE1F5}"/>
              </a:ext>
            </a:extLst>
          </p:cNvPr>
          <p:cNvSpPr>
            <a:spLocks xmlns:a="http://schemas.openxmlformats.org/drawingml/2006/main" noGrp="1"/>
          </p:cNvSpPr>
          <p:nvPr/>
        </p:nvSpPr>
        <p:spPr>
          <a:xfrm xmlns:a="http://schemas.openxmlformats.org/drawingml/2006/main">
            <a:off x="723900" y="5048250"/>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CADCFC"/>
                </a:solidFill>
                <a:latin typeface="Arial"/>
                <a:ea typeface="Arial"/>
                <a:cs typeface="Arial"/>
              </a:defRPr>
            </a:defPPr>
          </a:lstStyle>
          <a:p xmlns:a="http://schemas.openxmlformats.org/drawingml/2006/main">
            <a:pPr>
              <a:buNone/>
              <a:defRPr sz="1875" b="0">
                <a:solidFill>
                  <a:srgbClr val="CADCFC"/>
                </a:solidFill>
                <a:latin typeface="Arial"/>
                <a:ea typeface="Arial"/>
                <a:cs typeface="Arial"/>
              </a:defRPr>
            </a:pPr>
            <a:r>
              <a:rPr sz="1875" b="0">
                <a:solidFill>
                  <a:srgbClr val="CADCFC"/>
                </a:solidFill>
                <a:latin typeface="Arial"/>
                <a:ea typeface="Arial"/>
                <a:cs typeface="Arial"/>
              </a:rPr>
              <a:t>Clear specs and verified software beyond vibe coding</a:t>
            </a:r>
          </a:p>
        </p:txBody>
      </p:sp>
    </p:spTree>
    <p:extLst>
      <p:ext uri="{BB962C8B-B14F-4D97-AF65-F5344CB8AC3E}">
        <p14:creationId xmlns:p14="http://schemas.microsoft.com/office/powerpoint/2010/main" val="570360462"/>
      </p:ext>
    </p:extLst>
  </p:cSld>
</p:sld>
</file>

<file path=ppt/slides/slide2.xml><?xml version="1.0" encoding="utf-8"?>
<p:sld xmlns:p="http://schemas.openxmlformats.org/presentationml/2006/main">
  <p:cSld>
    <p:bg>
      <p:bgPr>
        <a:gradFill xmlns:a="http://schemas.openxmlformats.org/drawingml/2006/main">
          <a:gsLst>
            <a:gs pos="0">
              <a:srgbClr val="FFFFFF"/>
            </a:gs>
            <a:gs pos="60000">
              <a:srgbClr val="EDF4FF"/>
            </a:gs>
            <a:gs pos="100000">
              <a:srgbClr val="E5DAFA"/>
            </a:gs>
          </a:gsLst>
          <a:lin ang="1500000"/>
        </a:gra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A48DA447-5C09-4B51-ABDD-18DB2BCDB792}"/>
              </a:ext>
            </a:extLst>
          </p:cNvPr>
          <p:cNvCxnSpPr>
            <a:stCxn xmlns:a="http://schemas.openxmlformats.org/drawingml/2006/main" id="7" idx="2"/>
            <a:endCxn xmlns:a="http://schemas.openxmlformats.org/drawingml/2006/main" id="5" idx="2"/>
          </p:cNvCxnSpPr>
          <p:nvPr/>
        </p:nvCxnSpPr>
        <p:spPr>
          <a:xfrm xmlns:a="http://schemas.openxmlformats.org/drawingml/2006/main" flipH="1">
            <a:off x="6096000" y="3295650"/>
            <a:ext cx="3838575" cy="0"/>
          </a:xfrm>
          <a:prstGeom xmlns:a="http://schemas.openxmlformats.org/drawingml/2006/main" prst="straightConnector1">
            <a:avLst/>
          </a:prstGeom>
          <a:ln xmlns:a="http://schemas.openxmlformats.org/drawingml/2006/main" w="28575">
            <a:solidFill>
              <a:srgbClr val="7041B9"/>
            </a:solidFill>
            <a:tailEnd type="triangle" w="med" len="med"/>
          </a:ln>
        </p:spPr>
      </p:cxnSp>
      <p:cxnSp>
        <p:nvCxnSpPr>
          <p:cNvPr id="10" name="">
            <a:extLst xmlns:a="http://schemas.openxmlformats.org/drawingml/2006/main">
              <a:ext uri="{FF2B5EF4-FFF2-40B4-BE49-F238E27FC236}">
                <a16:creationId xmlns:a16="http://schemas.microsoft.com/office/drawing/2014/main" id="{34A7C811-3C4C-4CCF-84CD-806BF7EB2C73}"/>
              </a:ext>
            </a:extLst>
          </p:cNvPr>
          <p:cNvCxnSpPr>
            <a:stCxn xmlns:a="http://schemas.openxmlformats.org/drawingml/2006/main" id="5" idx="3"/>
            <a:endCxn xmlns:a="http://schemas.openxmlformats.org/drawingml/2006/main" id="7" idx="1"/>
          </p:cNvCxnSpPr>
          <p:nvPr/>
        </p:nvCxnSpPr>
        <p:spPr>
          <a:xfrm xmlns:a="http://schemas.openxmlformats.org/drawingml/2006/main">
            <a:off x="7667625" y="2867025"/>
            <a:ext cx="695325" cy="0"/>
          </a:xfrm>
          <a:prstGeom xmlns:a="http://schemas.openxmlformats.org/drawingml/2006/main" prst="straightConnector1">
            <a:avLst/>
          </a:prstGeom>
          <a:ln xmlns:a="http://schemas.openxmlformats.org/drawingml/2006/main" w="28575">
            <a:solidFill>
              <a:srgbClr val="2447A6"/>
            </a:solidFill>
            <a:tailEnd type="triangle" w="med" len="med"/>
          </a:ln>
        </p:spPr>
      </p:cxnSp>
      <p:cxnSp>
        <p:nvCxnSpPr>
          <p:cNvPr id="9" name="">
            <a:extLst xmlns:a="http://schemas.openxmlformats.org/drawingml/2006/main">
              <a:ext uri="{FF2B5EF4-FFF2-40B4-BE49-F238E27FC236}">
                <a16:creationId xmlns:a16="http://schemas.microsoft.com/office/drawing/2014/main" id="{ABBFC140-3999-4D81-AC11-16D14AA7466F}"/>
              </a:ext>
            </a:extLst>
          </p:cNvPr>
          <p:cNvCxnSpPr>
            <a:stCxn xmlns:a="http://schemas.openxmlformats.org/drawingml/2006/main" id="3" idx="3"/>
            <a:endCxn xmlns:a="http://schemas.openxmlformats.org/drawingml/2006/main" id="5" idx="1"/>
          </p:cNvCxnSpPr>
          <p:nvPr/>
        </p:nvCxnSpPr>
        <p:spPr>
          <a:xfrm xmlns:a="http://schemas.openxmlformats.org/drawingml/2006/main">
            <a:off x="3829050" y="2867025"/>
            <a:ext cx="695325" cy="0"/>
          </a:xfrm>
          <a:prstGeom xmlns:a="http://schemas.openxmlformats.org/drawingml/2006/main" prst="straightConnector1">
            <a:avLst/>
          </a:prstGeom>
          <a:ln xmlns:a="http://schemas.openxmlformats.org/drawingml/2006/main" w="28575">
            <a:solidFill>
              <a:srgbClr val="2447A6"/>
            </a:solidFill>
            <a:tailEnd type="triangle" w="med" len="med"/>
          </a:ln>
        </p:spPr>
      </p:cxnSp>
      <p:sp>
        <p:nvSpPr>
          <p:cNvPr id="21" name="">
            <a:extLst xmlns:a="http://schemas.openxmlformats.org/drawingml/2006/main">
              <a:ext uri="{FF2B5EF4-FFF2-40B4-BE49-F238E27FC236}">
                <a16:creationId xmlns:a16="http://schemas.microsoft.com/office/drawing/2014/main" id="{C96A2251-226E-4C66-A211-AF986A68A31A}"/>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442"/>
                </a:solidFill>
                <a:latin typeface="Arial"/>
                <a:ea typeface="Arial"/>
                <a:cs typeface="Arial"/>
              </a:defRPr>
            </a:defPPr>
          </a:lstStyle>
          <a:p xmlns:a="http://schemas.openxmlformats.org/drawingml/2006/main">
            <a:pPr>
              <a:buNone/>
              <a:defRPr sz="3300" b="1">
                <a:solidFill>
                  <a:srgbClr val="122442"/>
                </a:solidFill>
                <a:latin typeface="Arial"/>
                <a:ea typeface="Arial"/>
                <a:cs typeface="Arial"/>
              </a:defRPr>
            </a:pPr>
            <a:r>
              <a:rPr sz="3300" b="1">
                <a:solidFill>
                  <a:srgbClr val="122442"/>
                </a:solidFill>
                <a:latin typeface="Arial"/>
                <a:ea typeface="Arial"/>
                <a:cs typeface="Arial"/>
              </a:rPr>
              <a:t>Vibe coding: fast demos, harder maintenance</a:t>
            </a:r>
          </a:p>
        </p:txBody>
      </p:sp>
      <p:sp>
        <p:nvSpPr>
          <p:cNvPr id="2" name="">
            <a:extLst xmlns:a="http://schemas.openxmlformats.org/drawingml/2006/main">
              <a:ext uri="{FF2B5EF4-FFF2-40B4-BE49-F238E27FC236}">
                <a16:creationId xmlns:a16="http://schemas.microsoft.com/office/drawing/2014/main" id="{03D1535C-26FE-41AA-9DD5-FAB3632E222E}"/>
              </a:ext>
            </a:extLst>
          </p:cNvPr>
          <p:cNvSpPr>
            <a:spLocks xmlns:a="http://schemas.openxmlformats.org/drawingml/2006/main" noGrp="1"/>
          </p:cNvSpPr>
          <p:nvPr/>
        </p:nvSpPr>
        <p:spPr>
          <a:xfrm xmlns:a="http://schemas.openxmlformats.org/drawingml/2006/main">
            <a:off x="685800" y="15430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2447A6"/>
                </a:solidFill>
                <a:latin typeface="Arial"/>
                <a:ea typeface="Arial"/>
                <a:cs typeface="Arial"/>
              </a:defRPr>
            </a:defPPr>
          </a:lstStyle>
          <a:p xmlns:a="http://schemas.openxmlformats.org/drawingml/2006/main">
            <a:pPr>
              <a:buNone/>
              <a:defRPr sz="2100" b="1">
                <a:solidFill>
                  <a:srgbClr val="2447A6"/>
                </a:solidFill>
                <a:latin typeface="Arial"/>
                <a:ea typeface="Arial"/>
                <a:cs typeface="Arial"/>
              </a:defRPr>
            </a:pPr>
            <a:r>
              <a:rPr sz="2100" b="1">
                <a:solidFill>
                  <a:srgbClr val="2447A6"/>
                </a:solidFill>
                <a:latin typeface="Arial"/>
                <a:ea typeface="Arial"/>
                <a:cs typeface="Arial"/>
              </a:rPr>
              <a:t>Describe the idea. AI writes the code. Iterate until it looks right.</a:t>
            </a:r>
          </a:p>
        </p:txBody>
      </p:sp>
      <p:sp>
        <p:nvSpPr>
          <p:cNvPr id="3" name="">
            <a:extLst xmlns:a="http://schemas.openxmlformats.org/drawingml/2006/main">
              <a:ext uri="{FF2B5EF4-FFF2-40B4-BE49-F238E27FC236}">
                <a16:creationId xmlns:a16="http://schemas.microsoft.com/office/drawing/2014/main" id="{3C667CDA-C891-47D3-8F46-DAE011AE36C8}"/>
              </a:ext>
            </a:extLst>
          </p:cNvPr>
          <p:cNvSpPr>
            <a:spLocks xmlns:a="http://schemas.openxmlformats.org/drawingml/2006/main" noGrp="1"/>
          </p:cNvSpPr>
          <p:nvPr/>
        </p:nvSpPr>
        <p:spPr>
          <a:xfrm xmlns:a="http://schemas.openxmlformats.org/drawingml/2006/main">
            <a:off x="685800" y="2438400"/>
            <a:ext cx="3143250" cy="857250"/>
          </a:xfrm>
          <a:prstGeom xmlns:a="http://schemas.openxmlformats.org/drawingml/2006/main" prst="roundRect">
            <a:avLst>
              <a:gd name="adj" fmla="val 17778"/>
            </a:avLst>
          </a:prstGeom>
          <a:solidFill xmlns:a="http://schemas.openxmlformats.org/drawingml/2006/main">
            <a:srgbClr val="7041B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FEAE1DB-096C-421A-9E4E-18287A317B0F}"/>
              </a:ext>
            </a:extLst>
          </p:cNvPr>
          <p:cNvSpPr>
            <a:spLocks xmlns:a="http://schemas.openxmlformats.org/drawingml/2006/main" noGrp="1"/>
          </p:cNvSpPr>
          <p:nvPr/>
        </p:nvSpPr>
        <p:spPr>
          <a:xfrm xmlns:a="http://schemas.openxmlformats.org/drawingml/2006/main">
            <a:off x="857250" y="2600325"/>
            <a:ext cx="2800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Quick prompt</a:t>
            </a:r>
          </a:p>
        </p:txBody>
      </p:sp>
      <p:sp>
        <p:nvSpPr>
          <p:cNvPr id="5" name="">
            <a:extLst xmlns:a="http://schemas.openxmlformats.org/drawingml/2006/main">
              <a:ext uri="{FF2B5EF4-FFF2-40B4-BE49-F238E27FC236}">
                <a16:creationId xmlns:a16="http://schemas.microsoft.com/office/drawing/2014/main" id="{72280627-4A78-4B34-9586-537588EEE987}"/>
              </a:ext>
            </a:extLst>
          </p:cNvPr>
          <p:cNvSpPr>
            <a:spLocks xmlns:a="http://schemas.openxmlformats.org/drawingml/2006/main" noGrp="1"/>
          </p:cNvSpPr>
          <p:nvPr/>
        </p:nvSpPr>
        <p:spPr>
          <a:xfrm xmlns:a="http://schemas.openxmlformats.org/drawingml/2006/main">
            <a:off x="4524375" y="2438400"/>
            <a:ext cx="3143250" cy="857250"/>
          </a:xfrm>
          <a:prstGeom xmlns:a="http://schemas.openxmlformats.org/drawingml/2006/main" prst="roundRect">
            <a:avLst>
              <a:gd name="adj" fmla="val 17778"/>
            </a:avLst>
          </a:prstGeom>
          <a:solidFill xmlns:a="http://schemas.openxmlformats.org/drawingml/2006/main">
            <a:srgbClr val="2447A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BED52AC-62A4-4E3A-86FA-AB96C1D972BD}"/>
              </a:ext>
            </a:extLst>
          </p:cNvPr>
          <p:cNvSpPr>
            <a:spLocks xmlns:a="http://schemas.openxmlformats.org/drawingml/2006/main" noGrp="1"/>
          </p:cNvSpPr>
          <p:nvPr/>
        </p:nvSpPr>
        <p:spPr>
          <a:xfrm xmlns:a="http://schemas.openxmlformats.org/drawingml/2006/main">
            <a:off x="4695825" y="2600325"/>
            <a:ext cx="2800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AI generates code</a:t>
            </a:r>
          </a:p>
        </p:txBody>
      </p:sp>
      <p:sp>
        <p:nvSpPr>
          <p:cNvPr id="7" name="">
            <a:extLst xmlns:a="http://schemas.openxmlformats.org/drawingml/2006/main">
              <a:ext uri="{FF2B5EF4-FFF2-40B4-BE49-F238E27FC236}">
                <a16:creationId xmlns:a16="http://schemas.microsoft.com/office/drawing/2014/main" id="{400D1604-1F60-4C03-8754-08FFBE3A297C}"/>
              </a:ext>
            </a:extLst>
          </p:cNvPr>
          <p:cNvSpPr>
            <a:spLocks xmlns:a="http://schemas.openxmlformats.org/drawingml/2006/main" noGrp="1"/>
          </p:cNvSpPr>
          <p:nvPr/>
        </p:nvSpPr>
        <p:spPr>
          <a:xfrm xmlns:a="http://schemas.openxmlformats.org/drawingml/2006/main">
            <a:off x="8362950" y="2438400"/>
            <a:ext cx="3143250" cy="857250"/>
          </a:xfrm>
          <a:prstGeom xmlns:a="http://schemas.openxmlformats.org/drawingml/2006/main" prst="roundRect">
            <a:avLst>
              <a:gd name="adj" fmla="val 17778"/>
            </a:avLst>
          </a:prstGeom>
          <a:solidFill xmlns:a="http://schemas.openxmlformats.org/drawingml/2006/main">
            <a:srgbClr val="067E9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9A96CE1-E3FC-4960-9B67-7859D72124D4}"/>
              </a:ext>
            </a:extLst>
          </p:cNvPr>
          <p:cNvSpPr>
            <a:spLocks xmlns:a="http://schemas.openxmlformats.org/drawingml/2006/main" noGrp="1"/>
          </p:cNvSpPr>
          <p:nvPr/>
        </p:nvSpPr>
        <p:spPr>
          <a:xfrm xmlns:a="http://schemas.openxmlformats.org/drawingml/2006/main">
            <a:off x="8534400" y="2600325"/>
            <a:ext cx="2800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Try the result</a:t>
            </a:r>
          </a:p>
        </p:txBody>
      </p:sp>
      <p:sp>
        <p:nvSpPr>
          <p:cNvPr id="12" name="">
            <a:extLst xmlns:a="http://schemas.openxmlformats.org/drawingml/2006/main">
              <a:ext uri="{FF2B5EF4-FFF2-40B4-BE49-F238E27FC236}">
                <a16:creationId xmlns:a16="http://schemas.microsoft.com/office/drawing/2014/main" id="{C6C9833C-498B-401E-962B-B9B8B65F9C00}"/>
              </a:ext>
            </a:extLst>
          </p:cNvPr>
          <p:cNvSpPr>
            <a:spLocks xmlns:a="http://schemas.openxmlformats.org/drawingml/2006/main" noGrp="1"/>
          </p:cNvSpPr>
          <p:nvPr/>
        </p:nvSpPr>
        <p:spPr>
          <a:xfrm xmlns:a="http://schemas.openxmlformats.org/drawingml/2006/main">
            <a:off x="5753100" y="3562350"/>
            <a:ext cx="428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7041B9"/>
                </a:solidFill>
                <a:latin typeface="Arial"/>
                <a:ea typeface="Arial"/>
                <a:cs typeface="Arial"/>
              </a:defRPr>
            </a:defPPr>
          </a:lstStyle>
          <a:p xmlns:a="http://schemas.openxmlformats.org/drawingml/2006/main">
            <a:pPr>
              <a:buNone/>
              <a:defRPr sz="1875" b="1">
                <a:solidFill>
                  <a:srgbClr val="7041B9"/>
                </a:solidFill>
                <a:latin typeface="Arial"/>
                <a:ea typeface="Arial"/>
                <a:cs typeface="Arial"/>
              </a:defRPr>
            </a:pPr>
            <a:r>
              <a:rPr sz="1875" b="1">
                <a:solidFill>
                  <a:srgbClr val="7041B9"/>
                </a:solidFill>
                <a:latin typeface="Arial"/>
                <a:ea typeface="Arial"/>
                <a:cs typeface="Arial"/>
              </a:rPr>
              <a:t>“Fix this…”</a:t>
            </a:r>
          </a:p>
        </p:txBody>
      </p:sp>
      <p:sp>
        <p:nvSpPr>
          <p:cNvPr id="13" name="">
            <a:extLst xmlns:a="http://schemas.openxmlformats.org/drawingml/2006/main">
              <a:ext uri="{FF2B5EF4-FFF2-40B4-BE49-F238E27FC236}">
                <a16:creationId xmlns:a16="http://schemas.microsoft.com/office/drawing/2014/main" id="{4820BA18-2376-4B65-935D-BAF6A15B6423}"/>
              </a:ext>
            </a:extLst>
          </p:cNvPr>
          <p:cNvSpPr>
            <a:spLocks xmlns:a="http://schemas.openxmlformats.org/drawingml/2006/main" noGrp="1"/>
          </p:cNvSpPr>
          <p:nvPr/>
        </p:nvSpPr>
        <p:spPr>
          <a:xfrm xmlns:a="http://schemas.openxmlformats.org/drawingml/2006/main">
            <a:off x="685800" y="424815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B54253"/>
                </a:solidFill>
                <a:latin typeface="Arial"/>
                <a:ea typeface="Arial"/>
                <a:cs typeface="Arial"/>
              </a:defRPr>
            </a:defPPr>
          </a:lstStyle>
          <a:p xmlns:a="http://schemas.openxmlformats.org/drawingml/2006/main">
            <a:pPr>
              <a:buNone/>
              <a:defRPr sz="2100" b="1">
                <a:solidFill>
                  <a:srgbClr val="B54253"/>
                </a:solidFill>
                <a:latin typeface="Arial"/>
                <a:ea typeface="Arial"/>
                <a:cs typeface="Arial"/>
              </a:defRPr>
            </a:pPr>
            <a:r>
              <a:rPr sz="2100" b="1">
                <a:solidFill>
                  <a:srgbClr val="B54253"/>
                </a:solidFill>
                <a:latin typeface="Arial"/>
                <a:ea typeface="Arial"/>
                <a:cs typeface="Arial"/>
              </a:rPr>
              <a:t>Hidden assumptions</a:t>
            </a:r>
          </a:p>
        </p:txBody>
      </p:sp>
      <p:sp>
        <p:nvSpPr>
          <p:cNvPr id="14" name="">
            <a:extLst xmlns:a="http://schemas.openxmlformats.org/drawingml/2006/main">
              <a:ext uri="{FF2B5EF4-FFF2-40B4-BE49-F238E27FC236}">
                <a16:creationId xmlns:a16="http://schemas.microsoft.com/office/drawing/2014/main" id="{9831782A-AC71-4074-9D7F-375EF31E91C9}"/>
              </a:ext>
            </a:extLst>
          </p:cNvPr>
          <p:cNvSpPr>
            <a:spLocks xmlns:a="http://schemas.openxmlformats.org/drawingml/2006/main" noGrp="1"/>
          </p:cNvSpPr>
          <p:nvPr/>
        </p:nvSpPr>
        <p:spPr>
          <a:xfrm xmlns:a="http://schemas.openxmlformats.org/drawingml/2006/main">
            <a:off x="685800" y="4733925"/>
            <a:ext cx="3143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22442"/>
                </a:solidFill>
                <a:latin typeface="Arial"/>
                <a:ea typeface="Arial"/>
                <a:cs typeface="Arial"/>
              </a:defRPr>
            </a:defPPr>
          </a:lstStyle>
          <a:p xmlns:a="http://schemas.openxmlformats.org/drawingml/2006/main">
            <a:pPr>
              <a:buNone/>
              <a:defRPr sz="1800" b="0">
                <a:solidFill>
                  <a:srgbClr val="122442"/>
                </a:solidFill>
                <a:latin typeface="Arial"/>
                <a:ea typeface="Arial"/>
                <a:cs typeface="Arial"/>
              </a:defRPr>
            </a:pPr>
            <a:r>
              <a:rPr sz="1800" b="0">
                <a:solidFill>
                  <a:srgbClr val="122442"/>
                </a:solidFill>
                <a:latin typeface="Arial"/>
                <a:ea typeface="Arial"/>
                <a:cs typeface="Arial"/>
              </a:rPr>
              <a:t>AI fills in the gaps.</a:t>
            </a:r>
          </a:p>
          <a:p xmlns:a="http://schemas.openxmlformats.org/drawingml/2006/main">
            <a:pPr>
              <a:buNone/>
              <a:defRPr sz="1800" b="0">
                <a:solidFill>
                  <a:srgbClr val="122442"/>
                </a:solidFill>
                <a:latin typeface="Arial"/>
                <a:ea typeface="Arial"/>
                <a:cs typeface="Arial"/>
              </a:defRPr>
            </a:pPr>
            <a:r>
              <a:rPr sz="1800" b="0">
                <a:solidFill>
                  <a:srgbClr val="122442"/>
                </a:solidFill>
                <a:latin typeface="Arial"/>
                <a:ea typeface="Arial"/>
                <a:cs typeface="Arial"/>
              </a:rPr>
              <a:t>The app does things</a:t>
            </a:r>
          </a:p>
          <a:p xmlns:a="http://schemas.openxmlformats.org/drawingml/2006/main">
            <a:pPr>
              <a:buNone/>
              <a:defRPr sz="1800" b="0">
                <a:solidFill>
                  <a:srgbClr val="122442"/>
                </a:solidFill>
                <a:latin typeface="Arial"/>
                <a:ea typeface="Arial"/>
                <a:cs typeface="Arial"/>
              </a:defRPr>
            </a:pPr>
            <a:r>
              <a:rPr sz="1800" b="0">
                <a:solidFill>
                  <a:srgbClr val="122442"/>
                </a:solidFill>
                <a:latin typeface="Arial"/>
                <a:ea typeface="Arial"/>
                <a:cs typeface="Arial"/>
              </a:rPr>
              <a:t>we never agreed on.</a:t>
            </a:r>
          </a:p>
        </p:txBody>
      </p:sp>
      <p:sp>
        <p:nvSpPr>
          <p:cNvPr id="15" name="">
            <a:extLst xmlns:a="http://schemas.openxmlformats.org/drawingml/2006/main">
              <a:ext uri="{FF2B5EF4-FFF2-40B4-BE49-F238E27FC236}">
                <a16:creationId xmlns:a16="http://schemas.microsoft.com/office/drawing/2014/main" id="{D268CC71-49FF-40B5-BE1F-AFCA4D253251}"/>
              </a:ext>
            </a:extLst>
          </p:cNvPr>
          <p:cNvSpPr>
            <a:spLocks xmlns:a="http://schemas.openxmlformats.org/drawingml/2006/main" noGrp="1"/>
          </p:cNvSpPr>
          <p:nvPr/>
        </p:nvSpPr>
        <p:spPr>
          <a:xfrm xmlns:a="http://schemas.openxmlformats.org/drawingml/2006/main">
            <a:off x="4524375" y="424815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B54253"/>
                </a:solidFill>
                <a:latin typeface="Arial"/>
                <a:ea typeface="Arial"/>
                <a:cs typeface="Arial"/>
              </a:defRPr>
            </a:defPPr>
          </a:lstStyle>
          <a:p xmlns:a="http://schemas.openxmlformats.org/drawingml/2006/main">
            <a:pPr>
              <a:buNone/>
              <a:defRPr sz="2100" b="1">
                <a:solidFill>
                  <a:srgbClr val="B54253"/>
                </a:solidFill>
                <a:latin typeface="Arial"/>
                <a:ea typeface="Arial"/>
                <a:cs typeface="Arial"/>
              </a:defRPr>
            </a:pPr>
            <a:r>
              <a:rPr sz="2100" b="1">
                <a:solidFill>
                  <a:srgbClr val="B54253"/>
                </a:solidFill>
                <a:latin typeface="Arial"/>
                <a:ea typeface="Arial"/>
                <a:cs typeface="Arial"/>
              </a:rPr>
              <a:t>Regression risk</a:t>
            </a:r>
          </a:p>
        </p:txBody>
      </p:sp>
      <p:sp>
        <p:nvSpPr>
          <p:cNvPr id="16" name="">
            <a:extLst xmlns:a="http://schemas.openxmlformats.org/drawingml/2006/main">
              <a:ext uri="{FF2B5EF4-FFF2-40B4-BE49-F238E27FC236}">
                <a16:creationId xmlns:a16="http://schemas.microsoft.com/office/drawing/2014/main" id="{13568502-8F80-406E-9E0D-CFFBA3269FC3}"/>
              </a:ext>
            </a:extLst>
          </p:cNvPr>
          <p:cNvSpPr>
            <a:spLocks xmlns:a="http://schemas.openxmlformats.org/drawingml/2006/main" noGrp="1"/>
          </p:cNvSpPr>
          <p:nvPr/>
        </p:nvSpPr>
        <p:spPr>
          <a:xfrm xmlns:a="http://schemas.openxmlformats.org/drawingml/2006/main">
            <a:off x="4524375" y="4733925"/>
            <a:ext cx="3143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22442"/>
                </a:solidFill>
                <a:latin typeface="Arial"/>
                <a:ea typeface="Arial"/>
                <a:cs typeface="Arial"/>
              </a:defRPr>
            </a:defPPr>
          </a:lstStyle>
          <a:p xmlns:a="http://schemas.openxmlformats.org/drawingml/2006/main">
            <a:pPr>
              <a:buNone/>
              <a:defRPr sz="1800" b="0">
                <a:solidFill>
                  <a:srgbClr val="122442"/>
                </a:solidFill>
                <a:latin typeface="Arial"/>
                <a:ea typeface="Arial"/>
                <a:cs typeface="Arial"/>
              </a:defRPr>
            </a:pPr>
            <a:r>
              <a:rPr sz="1800" b="0">
                <a:solidFill>
                  <a:srgbClr val="122442"/>
                </a:solidFill>
                <a:latin typeface="Arial"/>
                <a:ea typeface="Arial"/>
                <a:cs typeface="Arial"/>
              </a:rPr>
              <a:t>The fix works here.</a:t>
            </a:r>
          </a:p>
          <a:p xmlns:a="http://schemas.openxmlformats.org/drawingml/2006/main">
            <a:pPr>
              <a:buNone/>
              <a:defRPr sz="1800" b="0">
                <a:solidFill>
                  <a:srgbClr val="122442"/>
                </a:solidFill>
                <a:latin typeface="Arial"/>
                <a:ea typeface="Arial"/>
                <a:cs typeface="Arial"/>
              </a:defRPr>
            </a:pPr>
            <a:r>
              <a:rPr sz="1800" b="0">
                <a:solidFill>
                  <a:srgbClr val="122442"/>
                </a:solidFill>
                <a:latin typeface="Arial"/>
                <a:ea typeface="Arial"/>
                <a:cs typeface="Arial"/>
              </a:rPr>
              <a:t>Without tests, what else</a:t>
            </a:r>
          </a:p>
          <a:p xmlns:a="http://schemas.openxmlformats.org/drawingml/2006/main">
            <a:pPr>
              <a:buNone/>
              <a:defRPr sz="1800" b="0">
                <a:solidFill>
                  <a:srgbClr val="122442"/>
                </a:solidFill>
                <a:latin typeface="Arial"/>
                <a:ea typeface="Arial"/>
                <a:cs typeface="Arial"/>
              </a:defRPr>
            </a:pPr>
            <a:r>
              <a:rPr sz="1800" b="0">
                <a:solidFill>
                  <a:srgbClr val="122442"/>
                </a:solidFill>
                <a:latin typeface="Arial"/>
                <a:ea typeface="Arial"/>
                <a:cs typeface="Arial"/>
              </a:rPr>
              <a:t>did it break?</a:t>
            </a:r>
          </a:p>
        </p:txBody>
      </p:sp>
      <p:sp>
        <p:nvSpPr>
          <p:cNvPr id="17" name="">
            <a:extLst xmlns:a="http://schemas.openxmlformats.org/drawingml/2006/main">
              <a:ext uri="{FF2B5EF4-FFF2-40B4-BE49-F238E27FC236}">
                <a16:creationId xmlns:a16="http://schemas.microsoft.com/office/drawing/2014/main" id="{47F34622-2AAB-4D80-A0C3-D93A48029A4B}"/>
              </a:ext>
            </a:extLst>
          </p:cNvPr>
          <p:cNvSpPr>
            <a:spLocks xmlns:a="http://schemas.openxmlformats.org/drawingml/2006/main" noGrp="1"/>
          </p:cNvSpPr>
          <p:nvPr/>
        </p:nvSpPr>
        <p:spPr>
          <a:xfrm xmlns:a="http://schemas.openxmlformats.org/drawingml/2006/main">
            <a:off x="8362950" y="424815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B54253"/>
                </a:solidFill>
                <a:latin typeface="Arial"/>
                <a:ea typeface="Arial"/>
                <a:cs typeface="Arial"/>
              </a:defRPr>
            </a:defPPr>
          </a:lstStyle>
          <a:p xmlns:a="http://schemas.openxmlformats.org/drawingml/2006/main">
            <a:pPr>
              <a:buNone/>
              <a:defRPr sz="2100" b="1">
                <a:solidFill>
                  <a:srgbClr val="B54253"/>
                </a:solidFill>
                <a:latin typeface="Arial"/>
                <a:ea typeface="Arial"/>
                <a:cs typeface="Arial"/>
              </a:defRPr>
            </a:pPr>
            <a:r>
              <a:rPr sz="2100" b="1">
                <a:solidFill>
                  <a:srgbClr val="B54253"/>
                </a:solidFill>
                <a:latin typeface="Arial"/>
                <a:ea typeface="Arial"/>
                <a:cs typeface="Arial"/>
              </a:rPr>
              <a:t>Maintenance drag</a:t>
            </a:r>
          </a:p>
        </p:txBody>
      </p:sp>
      <p:sp>
        <p:nvSpPr>
          <p:cNvPr id="18" name="">
            <a:extLst xmlns:a="http://schemas.openxmlformats.org/drawingml/2006/main">
              <a:ext uri="{FF2B5EF4-FFF2-40B4-BE49-F238E27FC236}">
                <a16:creationId xmlns:a16="http://schemas.microsoft.com/office/drawing/2014/main" id="{DE253CBE-5FD5-425C-A8F3-EA3B19364843}"/>
              </a:ext>
            </a:extLst>
          </p:cNvPr>
          <p:cNvSpPr>
            <a:spLocks xmlns:a="http://schemas.openxmlformats.org/drawingml/2006/main" noGrp="1"/>
          </p:cNvSpPr>
          <p:nvPr/>
        </p:nvSpPr>
        <p:spPr>
          <a:xfrm xmlns:a="http://schemas.openxmlformats.org/drawingml/2006/main">
            <a:off x="8362950" y="4733925"/>
            <a:ext cx="3143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22442"/>
                </a:solidFill>
                <a:latin typeface="Arial"/>
                <a:ea typeface="Arial"/>
                <a:cs typeface="Arial"/>
              </a:defRPr>
            </a:defPPr>
          </a:lstStyle>
          <a:p xmlns:a="http://schemas.openxmlformats.org/drawingml/2006/main">
            <a:pPr>
              <a:buNone/>
              <a:defRPr sz="1800" b="0">
                <a:solidFill>
                  <a:srgbClr val="122442"/>
                </a:solidFill>
                <a:latin typeface="Arial"/>
                <a:ea typeface="Arial"/>
                <a:cs typeface="Arial"/>
              </a:defRPr>
            </a:pPr>
            <a:r>
              <a:rPr sz="1800" b="0">
                <a:solidFill>
                  <a:srgbClr val="122442"/>
                </a:solidFill>
                <a:latin typeface="Arial"/>
                <a:ea typeface="Arial"/>
                <a:cs typeface="Arial"/>
              </a:rPr>
              <a:t>The rules stay in chat.</a:t>
            </a:r>
          </a:p>
          <a:p xmlns:a="http://schemas.openxmlformats.org/drawingml/2006/main">
            <a:pPr>
              <a:buNone/>
              <a:defRPr sz="1800" b="0">
                <a:solidFill>
                  <a:srgbClr val="122442"/>
                </a:solidFill>
                <a:latin typeface="Arial"/>
                <a:ea typeface="Arial"/>
                <a:cs typeface="Arial"/>
              </a:defRPr>
            </a:pPr>
            <a:r>
              <a:rPr sz="1800" b="0">
                <a:solidFill>
                  <a:srgbClr val="122442"/>
                </a:solidFill>
                <a:latin typeface="Arial"/>
                <a:ea typeface="Arial"/>
                <a:cs typeface="Arial"/>
              </a:rPr>
              <a:t>The next developer has</a:t>
            </a:r>
          </a:p>
          <a:p xmlns:a="http://schemas.openxmlformats.org/drawingml/2006/main">
            <a:pPr>
              <a:buNone/>
              <a:defRPr sz="1800" b="0">
                <a:solidFill>
                  <a:srgbClr val="122442"/>
                </a:solidFill>
                <a:latin typeface="Arial"/>
                <a:ea typeface="Arial"/>
                <a:cs typeface="Arial"/>
              </a:defRPr>
            </a:pPr>
            <a:r>
              <a:rPr sz="1800" b="0">
                <a:solidFill>
                  <a:srgbClr val="122442"/>
                </a:solidFill>
                <a:latin typeface="Arial"/>
                <a:ea typeface="Arial"/>
                <a:cs typeface="Arial"/>
              </a:rPr>
              <a:t>to infer them from code.</a:t>
            </a:r>
          </a:p>
        </p:txBody>
      </p:sp>
      <p:sp>
        <p:nvSpPr>
          <p:cNvPr id="19" name="">
            <a:extLst xmlns:a="http://schemas.openxmlformats.org/drawingml/2006/main">
              <a:ext uri="{FF2B5EF4-FFF2-40B4-BE49-F238E27FC236}">
                <a16:creationId xmlns:a16="http://schemas.microsoft.com/office/drawing/2014/main" id="{FE1CF99F-F931-42A5-A531-C4591AD6469E}"/>
              </a:ext>
            </a:extLst>
          </p:cNvPr>
          <p:cNvSpPr>
            <a:spLocks xmlns:a="http://schemas.openxmlformats.org/drawingml/2006/main" noGrp="1"/>
          </p:cNvSpPr>
          <p:nvPr/>
        </p:nvSpPr>
        <p:spPr>
          <a:xfrm xmlns:a="http://schemas.openxmlformats.org/drawingml/2006/main">
            <a:off x="685800" y="5943600"/>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2447A6"/>
                </a:solidFill>
                <a:latin typeface="Arial"/>
                <a:ea typeface="Arial"/>
                <a:cs typeface="Arial"/>
              </a:defRPr>
            </a:defPPr>
          </a:lstStyle>
          <a:p xmlns:a="http://schemas.openxmlformats.org/drawingml/2006/main">
            <a:pPr>
              <a:buNone/>
              <a:defRPr sz="1950" b="1">
                <a:solidFill>
                  <a:srgbClr val="2447A6"/>
                </a:solidFill>
                <a:latin typeface="Arial"/>
                <a:ea typeface="Arial"/>
                <a:cs typeface="Arial"/>
              </a:defRPr>
            </a:pPr>
            <a:r>
              <a:rPr sz="1950" b="1">
                <a:solidFill>
                  <a:srgbClr val="2447A6"/>
                </a:solidFill>
                <a:latin typeface="Arial"/>
                <a:ea typeface="Arial"/>
                <a:cs typeface="Arial"/>
              </a:rPr>
              <a:t>A quick prototype needs explicit guardrails and verification to become a maintainable product.</a:t>
            </a:r>
          </a:p>
        </p:txBody>
      </p:sp>
      <p:sp>
        <p:nvSpPr>
          <p:cNvPr id="20" name="">
            <a:extLst xmlns:a="http://schemas.openxmlformats.org/drawingml/2006/main">
              <a:ext uri="{FF2B5EF4-FFF2-40B4-BE49-F238E27FC236}">
                <a16:creationId xmlns:a16="http://schemas.microsoft.com/office/drawing/2014/main" id="{B7416D2F-DE78-4497-9243-3ED70AD030C3}"/>
              </a:ext>
            </a:extLst>
          </p:cNvPr>
          <p:cNvSpPr>
            <a:spLocks xmlns:a="http://schemas.openxmlformats.org/drawingml/2006/main" noGrp="1"/>
          </p:cNvSpPr>
          <p:nvPr/>
        </p:nvSpPr>
        <p:spPr>
          <a:xfrm xmlns:a="http://schemas.openxmlformats.org/drawingml/2006/main">
            <a:off x="11049000" y="64008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4D5C74"/>
                </a:solidFill>
                <a:latin typeface="Arial"/>
                <a:ea typeface="Arial"/>
                <a:cs typeface="Arial"/>
              </a:defRPr>
            </a:defPPr>
          </a:lstStyle>
          <a:p xmlns:a="http://schemas.openxmlformats.org/drawingml/2006/main">
            <a:pPr>
              <a:buNone/>
              <a:defRPr sz="1275" b="0">
                <a:solidFill>
                  <a:srgbClr val="4D5C74"/>
                </a:solidFill>
                <a:latin typeface="Arial"/>
                <a:ea typeface="Arial"/>
                <a:cs typeface="Arial"/>
              </a:defRPr>
            </a:pPr>
            <a:r>
              <a:rPr sz="1275" b="0">
                <a:solidFill>
                  <a:srgbClr val="4D5C74"/>
                </a:solidFill>
                <a:latin typeface="Arial"/>
                <a:ea typeface="Arial"/>
                <a:cs typeface="Arial"/>
              </a:rPr>
              <a:t>02</a:t>
            </a:r>
          </a:p>
        </p:txBody>
      </p:sp>
    </p:spTree>
    <p:extLst>
      <p:ext uri="{BB962C8B-B14F-4D97-AF65-F5344CB8AC3E}">
        <p14:creationId xmlns:p14="http://schemas.microsoft.com/office/powerpoint/2010/main" val="68350393"/>
      </p:ext>
    </p:extLst>
  </p:cSld>
</p:sld>
</file>

<file path=ppt/slides/slide3.xml><?xml version="1.0" encoding="utf-8"?>
<p:sld xmlns:p="http://schemas.openxmlformats.org/presentationml/2006/main">
  <p:cSld>
    <p:bg>
      <p:bgPr>
        <a:gradFill xmlns:a="http://schemas.openxmlformats.org/drawingml/2006/main">
          <a:gsLst>
            <a:gs pos="0">
              <a:srgbClr val="FFFFFF"/>
            </a:gs>
            <a:gs pos="60000">
              <a:srgbClr val="EDF4FF"/>
            </a:gs>
            <a:gs pos="100000">
              <a:srgbClr val="E5DAFA"/>
            </a:gs>
          </a:gsLst>
          <a:lin ang="1500000"/>
        </a:gra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E85D6535-1448-4132-9349-F6C816474AF2}"/>
              </a:ext>
            </a:extLst>
          </p:cNvPr>
          <p:cNvCxnSpPr>
            <a:stCxn xmlns:a="http://schemas.openxmlformats.org/drawingml/2006/main" id="3" idx="3"/>
            <a:endCxn xmlns:a="http://schemas.openxmlformats.org/drawingml/2006/main" id="5" idx="1"/>
          </p:cNvCxnSpPr>
          <p:nvPr/>
        </p:nvCxnSpPr>
        <p:spPr>
          <a:xfrm xmlns:a="http://schemas.openxmlformats.org/drawingml/2006/main">
            <a:off x="4495800" y="3248025"/>
            <a:ext cx="2009775" cy="0"/>
          </a:xfrm>
          <a:prstGeom xmlns:a="http://schemas.openxmlformats.org/drawingml/2006/main" prst="straightConnector1">
            <a:avLst/>
          </a:prstGeom>
          <a:ln xmlns:a="http://schemas.openxmlformats.org/drawingml/2006/main" w="28575">
            <a:solidFill>
              <a:srgbClr val="2447A6"/>
            </a:solidFill>
            <a:tailEnd type="triangle" w="med" len="med"/>
          </a:ln>
        </p:spPr>
      </p:cxnSp>
      <p:sp>
        <p:nvSpPr>
          <p:cNvPr id="13" name="">
            <a:extLst xmlns:a="http://schemas.openxmlformats.org/drawingml/2006/main">
              <a:ext uri="{FF2B5EF4-FFF2-40B4-BE49-F238E27FC236}">
                <a16:creationId xmlns:a16="http://schemas.microsoft.com/office/drawing/2014/main" id="{65713748-4502-4061-BCDA-3F76A9D0119D}"/>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442"/>
                </a:solidFill>
                <a:latin typeface="Arial"/>
                <a:ea typeface="Arial"/>
                <a:cs typeface="Arial"/>
              </a:defRPr>
            </a:defPPr>
          </a:lstStyle>
          <a:p xmlns:a="http://schemas.openxmlformats.org/drawingml/2006/main">
            <a:pPr>
              <a:buNone/>
              <a:defRPr sz="3300" b="1">
                <a:solidFill>
                  <a:srgbClr val="122442"/>
                </a:solidFill>
                <a:latin typeface="Arial"/>
                <a:ea typeface="Arial"/>
                <a:cs typeface="Arial"/>
              </a:defRPr>
            </a:pPr>
            <a:r>
              <a:rPr sz="3300" b="1">
                <a:solidFill>
                  <a:srgbClr val="122442"/>
                </a:solidFill>
                <a:latin typeface="Arial"/>
                <a:ea typeface="Arial"/>
                <a:cs typeface="Arial"/>
              </a:rPr>
              <a:t>Why coding agents need a spec</a:t>
            </a:r>
          </a:p>
        </p:txBody>
      </p:sp>
      <p:sp>
        <p:nvSpPr>
          <p:cNvPr id="2" name="">
            <a:extLst xmlns:a="http://schemas.openxmlformats.org/drawingml/2006/main">
              <a:ext uri="{FF2B5EF4-FFF2-40B4-BE49-F238E27FC236}">
                <a16:creationId xmlns:a16="http://schemas.microsoft.com/office/drawing/2014/main" id="{73EACF93-D10F-45E2-8BB8-02587EFEE9F7}"/>
              </a:ext>
            </a:extLst>
          </p:cNvPr>
          <p:cNvSpPr>
            <a:spLocks xmlns:a="http://schemas.openxmlformats.org/drawingml/2006/main" noGrp="1"/>
          </p:cNvSpPr>
          <p:nvPr/>
        </p:nvSpPr>
        <p:spPr>
          <a:xfrm xmlns:a="http://schemas.openxmlformats.org/drawingml/2006/main">
            <a:off x="685800" y="1533525"/>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447A6"/>
                </a:solidFill>
                <a:latin typeface="Arial"/>
                <a:ea typeface="Arial"/>
                <a:cs typeface="Arial"/>
              </a:defRPr>
            </a:defPPr>
          </a:lstStyle>
          <a:p xmlns:a="http://schemas.openxmlformats.org/drawingml/2006/main">
            <a:pPr>
              <a:buNone/>
              <a:defRPr sz="2400" b="1">
                <a:solidFill>
                  <a:srgbClr val="2447A6"/>
                </a:solidFill>
                <a:latin typeface="Arial"/>
                <a:ea typeface="Arial"/>
                <a:cs typeface="Arial"/>
              </a:defRPr>
            </a:pPr>
            <a:r>
              <a:rPr sz="2400" b="1">
                <a:solidFill>
                  <a:srgbClr val="2447A6"/>
                </a:solidFill>
                <a:latin typeface="Arial"/>
                <a:ea typeface="Arial"/>
                <a:cs typeface="Arial"/>
              </a:rPr>
              <a:t>AI can write code. It cannot infer requirements you never gave it.</a:t>
            </a:r>
          </a:p>
        </p:txBody>
      </p:sp>
      <p:sp>
        <p:nvSpPr>
          <p:cNvPr id="3" name="">
            <a:extLst xmlns:a="http://schemas.openxmlformats.org/drawingml/2006/main">
              <a:ext uri="{FF2B5EF4-FFF2-40B4-BE49-F238E27FC236}">
                <a16:creationId xmlns:a16="http://schemas.microsoft.com/office/drawing/2014/main" id="{82B0C1E9-B6AE-4158-8D86-17608B033586}"/>
              </a:ext>
            </a:extLst>
          </p:cNvPr>
          <p:cNvSpPr>
            <a:spLocks xmlns:a="http://schemas.openxmlformats.org/drawingml/2006/main" noGrp="1"/>
          </p:cNvSpPr>
          <p:nvPr/>
        </p:nvSpPr>
        <p:spPr>
          <a:xfrm xmlns:a="http://schemas.openxmlformats.org/drawingml/2006/main">
            <a:off x="685800" y="2724150"/>
            <a:ext cx="3810000" cy="1047750"/>
          </a:xfrm>
          <a:prstGeom xmlns:a="http://schemas.openxmlformats.org/drawingml/2006/main" prst="roundRect">
            <a:avLst>
              <a:gd name="adj" fmla="val 14545"/>
            </a:avLst>
          </a:prstGeom>
          <a:solidFill xmlns:a="http://schemas.openxmlformats.org/drawingml/2006/main">
            <a:srgbClr val="7041B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710CED4-FF11-4CF3-AC12-F4DD4766F0BD}"/>
              </a:ext>
            </a:extLst>
          </p:cNvPr>
          <p:cNvSpPr>
            <a:spLocks xmlns:a="http://schemas.openxmlformats.org/drawingml/2006/main" noGrp="1"/>
          </p:cNvSpPr>
          <p:nvPr/>
        </p:nvSpPr>
        <p:spPr>
          <a:xfrm xmlns:a="http://schemas.openxmlformats.org/drawingml/2006/main">
            <a:off x="857250" y="2886075"/>
            <a:ext cx="346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“Add photo</a:t>
            </a:r>
          </a:p>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sharing.”</a:t>
            </a:r>
          </a:p>
        </p:txBody>
      </p:sp>
      <p:sp>
        <p:nvSpPr>
          <p:cNvPr id="5" name="">
            <a:extLst xmlns:a="http://schemas.openxmlformats.org/drawingml/2006/main">
              <a:ext uri="{FF2B5EF4-FFF2-40B4-BE49-F238E27FC236}">
                <a16:creationId xmlns:a16="http://schemas.microsoft.com/office/drawing/2014/main" id="{700A4650-5CA0-499A-91D0-C938DCAE24A1}"/>
              </a:ext>
            </a:extLst>
          </p:cNvPr>
          <p:cNvSpPr>
            <a:spLocks xmlns:a="http://schemas.openxmlformats.org/drawingml/2006/main" noGrp="1"/>
          </p:cNvSpPr>
          <p:nvPr/>
        </p:nvSpPr>
        <p:spPr>
          <a:xfrm xmlns:a="http://schemas.openxmlformats.org/drawingml/2006/main">
            <a:off x="6505575" y="2724150"/>
            <a:ext cx="5000625" cy="1047750"/>
          </a:xfrm>
          <a:prstGeom xmlns:a="http://schemas.openxmlformats.org/drawingml/2006/main" prst="roundRect">
            <a:avLst>
              <a:gd name="adj" fmla="val 14545"/>
            </a:avLst>
          </a:prstGeom>
          <a:solidFill xmlns:a="http://schemas.openxmlformats.org/drawingml/2006/main">
            <a:srgbClr val="2447A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4235F2C-64C4-488F-A2CF-B1A263A3665D}"/>
              </a:ext>
            </a:extLst>
          </p:cNvPr>
          <p:cNvSpPr>
            <a:spLocks xmlns:a="http://schemas.openxmlformats.org/drawingml/2006/main" noGrp="1"/>
          </p:cNvSpPr>
          <p:nvPr/>
        </p:nvSpPr>
        <p:spPr>
          <a:xfrm xmlns:a="http://schemas.openxmlformats.org/drawingml/2006/main">
            <a:off x="6677025" y="2886075"/>
            <a:ext cx="46577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Explicit spec</a:t>
            </a:r>
          </a:p>
        </p:txBody>
      </p:sp>
      <p:sp>
        <p:nvSpPr>
          <p:cNvPr id="8" name="">
            <a:extLst xmlns:a="http://schemas.openxmlformats.org/drawingml/2006/main">
              <a:ext uri="{FF2B5EF4-FFF2-40B4-BE49-F238E27FC236}">
                <a16:creationId xmlns:a16="http://schemas.microsoft.com/office/drawing/2014/main" id="{2B1F248C-818B-4AEA-8FDF-7E6159E5F292}"/>
              </a:ext>
            </a:extLst>
          </p:cNvPr>
          <p:cNvSpPr>
            <a:spLocks xmlns:a="http://schemas.openxmlformats.org/drawingml/2006/main" noGrp="1"/>
          </p:cNvSpPr>
          <p:nvPr/>
        </p:nvSpPr>
        <p:spPr>
          <a:xfrm xmlns:a="http://schemas.openxmlformats.org/drawingml/2006/main">
            <a:off x="4695825" y="2352675"/>
            <a:ext cx="17240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447A6"/>
                </a:solidFill>
                <a:latin typeface="Arial"/>
                <a:ea typeface="Arial"/>
                <a:cs typeface="Arial"/>
              </a:defRPr>
            </a:defPPr>
          </a:lstStyle>
          <a:p xmlns:a="http://schemas.openxmlformats.org/drawingml/2006/main">
            <a:pPr>
              <a:buNone/>
              <a:defRPr sz="1800" b="1">
                <a:solidFill>
                  <a:srgbClr val="2447A6"/>
                </a:solidFill>
                <a:latin typeface="Arial"/>
                <a:ea typeface="Arial"/>
                <a:cs typeface="Arial"/>
              </a:defRPr>
            </a:pPr>
            <a:r>
              <a:rPr sz="1800" b="1">
                <a:solidFill>
                  <a:srgbClr val="2447A6"/>
                </a:solidFill>
                <a:latin typeface="Arial"/>
                <a:ea typeface="Arial"/>
                <a:cs typeface="Arial"/>
              </a:rPr>
              <a:t>Clarification</a:t>
            </a:r>
          </a:p>
        </p:txBody>
      </p:sp>
      <p:sp>
        <p:nvSpPr>
          <p:cNvPr id="9" name="">
            <a:extLst xmlns:a="http://schemas.openxmlformats.org/drawingml/2006/main">
              <a:ext uri="{FF2B5EF4-FFF2-40B4-BE49-F238E27FC236}">
                <a16:creationId xmlns:a16="http://schemas.microsoft.com/office/drawing/2014/main" id="{B4F323DA-B8D2-4980-95B5-C95729E05D29}"/>
              </a:ext>
            </a:extLst>
          </p:cNvPr>
          <p:cNvSpPr>
            <a:spLocks xmlns:a="http://schemas.openxmlformats.org/drawingml/2006/main" noGrp="1"/>
          </p:cNvSpPr>
          <p:nvPr/>
        </p:nvSpPr>
        <p:spPr>
          <a:xfrm xmlns:a="http://schemas.openxmlformats.org/drawingml/2006/main">
            <a:off x="685800" y="4076700"/>
            <a:ext cx="4524375"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22442"/>
                </a:solidFill>
                <a:latin typeface="Arial"/>
                <a:ea typeface="Arial"/>
                <a:cs typeface="Arial"/>
              </a:defRPr>
            </a:defPPr>
          </a:lstStyle>
          <a:p xmlns:a="http://schemas.openxmlformats.org/drawingml/2006/main">
            <a:pPr>
              <a:buNone/>
              <a:defRPr sz="2100" b="0">
                <a:solidFill>
                  <a:srgbClr val="122442"/>
                </a:solidFill>
                <a:latin typeface="Arial"/>
                <a:ea typeface="Arial"/>
                <a:cs typeface="Arial"/>
              </a:defRPr>
            </a:pPr>
            <a:r>
              <a:rPr sz="2100" b="0">
                <a:solidFill>
                  <a:srgbClr val="122442"/>
                </a:solidFill>
                <a:latin typeface="Arial"/>
                <a:ea typeface="Arial"/>
                <a:cs typeface="Arial"/>
              </a:rPr>
              <a:t>Which formats?</a:t>
            </a:r>
          </a:p>
          <a:p xmlns:a="http://schemas.openxmlformats.org/drawingml/2006/main">
            <a:pPr>
              <a:buNone/>
              <a:defRPr sz="2100" b="0">
                <a:solidFill>
                  <a:srgbClr val="122442"/>
                </a:solidFill>
                <a:latin typeface="Arial"/>
                <a:ea typeface="Arial"/>
                <a:cs typeface="Arial"/>
              </a:defRPr>
            </a:pPr>
            <a:r>
              <a:rPr sz="2100" b="0">
                <a:solidFill>
                  <a:srgbClr val="122442"/>
                </a:solidFill>
                <a:latin typeface="Arial"/>
                <a:ea typeface="Arial"/>
                <a:cs typeface="Arial"/>
              </a:rPr>
              <a:t>What size limit?</a:t>
            </a:r>
          </a:p>
          <a:p xmlns:a="http://schemas.openxmlformats.org/drawingml/2006/main">
            <a:pPr>
              <a:buNone/>
              <a:defRPr sz="2100" b="0">
                <a:solidFill>
                  <a:srgbClr val="122442"/>
                </a:solidFill>
                <a:latin typeface="Arial"/>
                <a:ea typeface="Arial"/>
                <a:cs typeface="Arial"/>
              </a:defRPr>
            </a:pPr>
            <a:r>
              <a:rPr sz="2100" b="0">
                <a:solidFill>
                  <a:srgbClr val="122442"/>
                </a:solidFill>
                <a:latin typeface="Arial"/>
                <a:ea typeface="Arial"/>
                <a:cs typeface="Arial"/>
              </a:rPr>
              <a:t>Who can delete photos?</a:t>
            </a:r>
          </a:p>
          <a:p xmlns:a="http://schemas.openxmlformats.org/drawingml/2006/main">
            <a:pPr>
              <a:buNone/>
              <a:defRPr sz="2100" b="0">
                <a:solidFill>
                  <a:srgbClr val="122442"/>
                </a:solidFill>
                <a:latin typeface="Arial"/>
                <a:ea typeface="Arial"/>
                <a:cs typeface="Arial"/>
              </a:defRPr>
            </a:pPr>
            <a:r>
              <a:rPr sz="2100" b="0">
                <a:solidFill>
                  <a:srgbClr val="122442"/>
                </a:solidFill>
                <a:latin typeface="Arial"/>
                <a:ea typeface="Arial"/>
                <a:cs typeface="Arial"/>
              </a:rPr>
              <a:t>Where do they live?</a:t>
            </a:r>
          </a:p>
        </p:txBody>
      </p:sp>
      <p:sp>
        <p:nvSpPr>
          <p:cNvPr id="10" name="">
            <a:extLst xmlns:a="http://schemas.openxmlformats.org/drawingml/2006/main">
              <a:ext uri="{FF2B5EF4-FFF2-40B4-BE49-F238E27FC236}">
                <a16:creationId xmlns:a16="http://schemas.microsoft.com/office/drawing/2014/main" id="{9C53CD74-253C-493E-8DE2-40527FD43763}"/>
              </a:ext>
            </a:extLst>
          </p:cNvPr>
          <p:cNvSpPr>
            <a:spLocks xmlns:a="http://schemas.openxmlformats.org/drawingml/2006/main" noGrp="1"/>
          </p:cNvSpPr>
          <p:nvPr/>
        </p:nvSpPr>
        <p:spPr>
          <a:xfrm xmlns:a="http://schemas.openxmlformats.org/drawingml/2006/main">
            <a:off x="6505575" y="4076700"/>
            <a:ext cx="5000625"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22442"/>
                </a:solidFill>
                <a:latin typeface="Arial"/>
                <a:ea typeface="Arial"/>
                <a:cs typeface="Arial"/>
              </a:defRPr>
            </a:defPPr>
          </a:lstStyle>
          <a:p xmlns:a="http://schemas.openxmlformats.org/drawingml/2006/main">
            <a:pPr>
              <a:buNone/>
              <a:defRPr sz="2025" b="0">
                <a:solidFill>
                  <a:srgbClr val="122442"/>
                </a:solidFill>
                <a:latin typeface="Arial"/>
                <a:ea typeface="Arial"/>
                <a:cs typeface="Arial"/>
              </a:defRPr>
            </a:pPr>
            <a:r>
              <a:rPr sz="2025" b="0">
                <a:solidFill>
                  <a:srgbClr val="122442"/>
                </a:solidFill>
                <a:latin typeface="Arial"/>
                <a:ea typeface="Arial"/>
                <a:cs typeface="Arial"/>
              </a:rPr>
              <a:t>JPEG or PNG, up to 10 MB.</a:t>
            </a:r>
          </a:p>
          <a:p xmlns:a="http://schemas.openxmlformats.org/drawingml/2006/main">
            <a:pPr>
              <a:buNone/>
              <a:defRPr sz="2025" b="0">
                <a:solidFill>
                  <a:srgbClr val="122442"/>
                </a:solidFill>
                <a:latin typeface="Arial"/>
                <a:ea typeface="Arial"/>
                <a:cs typeface="Arial"/>
              </a:defRPr>
            </a:pPr>
            <a:r>
              <a:rPr sz="2025" b="0">
                <a:solidFill>
                  <a:srgbClr val="122442"/>
                </a:solidFill>
                <a:latin typeface="Arial"/>
                <a:ea typeface="Arial"/>
                <a:cs typeface="Arial"/>
              </a:rPr>
              <a:t>Store in S3, scoped to each user.</a:t>
            </a:r>
          </a:p>
          <a:p xmlns:a="http://schemas.openxmlformats.org/drawingml/2006/main">
            <a:pPr>
              <a:buNone/>
              <a:defRPr sz="2025" b="0">
                <a:solidFill>
                  <a:srgbClr val="122442"/>
                </a:solidFill>
                <a:latin typeface="Arial"/>
                <a:ea typeface="Arial"/>
                <a:cs typeface="Arial"/>
              </a:defRPr>
            </a:pPr>
            <a:r>
              <a:rPr sz="2025" b="0">
                <a:solidFill>
                  <a:srgbClr val="122442"/>
                </a:solidFill>
                <a:latin typeface="Arial"/>
                <a:ea typeface="Arial"/>
                <a:cs typeface="Arial"/>
              </a:rPr>
              <a:t>Only the uploader can delete.</a:t>
            </a:r>
          </a:p>
          <a:p xmlns:a="http://schemas.openxmlformats.org/drawingml/2006/main">
            <a:pPr>
              <a:buNone/>
              <a:defRPr sz="2025" b="0">
                <a:solidFill>
                  <a:srgbClr val="122442"/>
                </a:solidFill>
                <a:latin typeface="Arial"/>
                <a:ea typeface="Arial"/>
                <a:cs typeface="Arial"/>
              </a:defRPr>
            </a:pPr>
            <a:r>
              <a:rPr sz="2025" b="0">
                <a:solidFill>
                  <a:srgbClr val="122442"/>
                </a:solidFill>
                <a:latin typeface="Arial"/>
                <a:ea typeface="Arial"/>
                <a:cs typeface="Arial"/>
              </a:rPr>
              <a:t>Longest side: up to 1024 px.</a:t>
            </a:r>
          </a:p>
        </p:txBody>
      </p:sp>
      <p:sp>
        <p:nvSpPr>
          <p:cNvPr id="11" name="">
            <a:extLst xmlns:a="http://schemas.openxmlformats.org/drawingml/2006/main">
              <a:ext uri="{FF2B5EF4-FFF2-40B4-BE49-F238E27FC236}">
                <a16:creationId xmlns:a16="http://schemas.microsoft.com/office/drawing/2014/main" id="{52934E18-5202-449C-97A1-AD430EC04809}"/>
              </a:ext>
            </a:extLst>
          </p:cNvPr>
          <p:cNvSpPr>
            <a:spLocks xmlns:a="http://schemas.openxmlformats.org/drawingml/2006/main" noGrp="1"/>
          </p:cNvSpPr>
          <p:nvPr/>
        </p:nvSpPr>
        <p:spPr>
          <a:xfrm xmlns:a="http://schemas.openxmlformats.org/drawingml/2006/main">
            <a:off x="685800" y="5981700"/>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2447A6"/>
                </a:solidFill>
                <a:latin typeface="Arial"/>
                <a:ea typeface="Arial"/>
                <a:cs typeface="Arial"/>
              </a:defRPr>
            </a:defPPr>
          </a:lstStyle>
          <a:p xmlns:a="http://schemas.openxmlformats.org/drawingml/2006/main">
            <a:pPr>
              <a:buNone/>
              <a:defRPr sz="2025" b="1">
                <a:solidFill>
                  <a:srgbClr val="2447A6"/>
                </a:solidFill>
                <a:latin typeface="Arial"/>
                <a:ea typeface="Arial"/>
                <a:cs typeface="Arial"/>
              </a:defRPr>
            </a:pPr>
            <a:r>
              <a:rPr sz="2025" b="1">
                <a:solidFill>
                  <a:srgbClr val="2447A6"/>
                </a:solidFill>
                <a:latin typeface="Arial"/>
                <a:ea typeface="Arial"/>
                <a:cs typeface="Arial"/>
              </a:rPr>
              <a:t>Less guesswork for the agent. Clear requirements the team can verify.</a:t>
            </a:r>
          </a:p>
        </p:txBody>
      </p:sp>
      <p:sp>
        <p:nvSpPr>
          <p:cNvPr id="12" name="">
            <a:extLst xmlns:a="http://schemas.openxmlformats.org/drawingml/2006/main">
              <a:ext uri="{FF2B5EF4-FFF2-40B4-BE49-F238E27FC236}">
                <a16:creationId xmlns:a16="http://schemas.microsoft.com/office/drawing/2014/main" id="{FECB38A5-F68B-4BBA-86DC-E609DE21A78C}"/>
              </a:ext>
            </a:extLst>
          </p:cNvPr>
          <p:cNvSpPr>
            <a:spLocks xmlns:a="http://schemas.openxmlformats.org/drawingml/2006/main" noGrp="1"/>
          </p:cNvSpPr>
          <p:nvPr/>
        </p:nvSpPr>
        <p:spPr>
          <a:xfrm xmlns:a="http://schemas.openxmlformats.org/drawingml/2006/main">
            <a:off x="11049000" y="64008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4D5C74"/>
                </a:solidFill>
                <a:latin typeface="Arial"/>
                <a:ea typeface="Arial"/>
                <a:cs typeface="Arial"/>
              </a:defRPr>
            </a:defPPr>
          </a:lstStyle>
          <a:p xmlns:a="http://schemas.openxmlformats.org/drawingml/2006/main">
            <a:pPr>
              <a:buNone/>
              <a:defRPr sz="1275" b="0">
                <a:solidFill>
                  <a:srgbClr val="4D5C74"/>
                </a:solidFill>
                <a:latin typeface="Arial"/>
                <a:ea typeface="Arial"/>
                <a:cs typeface="Arial"/>
              </a:defRPr>
            </a:pPr>
            <a:r>
              <a:rPr sz="1275" b="0">
                <a:solidFill>
                  <a:srgbClr val="4D5C74"/>
                </a:solidFill>
                <a:latin typeface="Arial"/>
                <a:ea typeface="Arial"/>
                <a:cs typeface="Arial"/>
              </a:rPr>
              <a:t>03</a:t>
            </a:r>
          </a:p>
        </p:txBody>
      </p:sp>
    </p:spTree>
    <p:extLst>
      <p:ext uri="{BB962C8B-B14F-4D97-AF65-F5344CB8AC3E}">
        <p14:creationId xmlns:p14="http://schemas.microsoft.com/office/powerpoint/2010/main" val="1202031197"/>
      </p:ext>
    </p:extLst>
  </p:cSld>
</p:sld>
</file>

<file path=ppt/slides/slide4.xml><?xml version="1.0" encoding="utf-8"?>
<p:sld xmlns:p="http://schemas.openxmlformats.org/presentationml/2006/main">
  <p:cSld>
    <p:bg>
      <p:bgPr>
        <a:gradFill xmlns:a="http://schemas.openxmlformats.org/drawingml/2006/main">
          <a:gsLst>
            <a:gs pos="0">
              <a:srgbClr val="FFFFFF"/>
            </a:gs>
            <a:gs pos="60000">
              <a:srgbClr val="EDF4FF"/>
            </a:gs>
            <a:gs pos="100000">
              <a:srgbClr val="E5DAFA"/>
            </a:gs>
          </a:gsLst>
          <a:lin ang="1500000"/>
        </a:gra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135628E7-74BA-4E9C-8B32-B3B4D9D28B5A}"/>
              </a:ext>
            </a:extLst>
          </p:cNvPr>
          <p:cNvCxnSpPr>
            <a:stCxn xmlns:a="http://schemas.openxmlformats.org/drawingml/2006/main" id="5" idx="3"/>
            <a:endCxn xmlns:a="http://schemas.openxmlformats.org/drawingml/2006/main" id="7" idx="1"/>
          </p:cNvCxnSpPr>
          <p:nvPr/>
        </p:nvCxnSpPr>
        <p:spPr>
          <a:xfrm xmlns:a="http://schemas.openxmlformats.org/drawingml/2006/main">
            <a:off x="7667625" y="3267075"/>
            <a:ext cx="695325" cy="0"/>
          </a:xfrm>
          <a:prstGeom xmlns:a="http://schemas.openxmlformats.org/drawingml/2006/main" prst="straightConnector1">
            <a:avLst/>
          </a:prstGeom>
          <a:ln xmlns:a="http://schemas.openxmlformats.org/drawingml/2006/main" w="28575">
            <a:solidFill>
              <a:srgbClr val="2447A6"/>
            </a:solidFill>
            <a:tailEnd type="triangle" w="med" len="med"/>
          </a:ln>
        </p:spPr>
      </p:cxnSp>
      <p:cxnSp>
        <p:nvCxnSpPr>
          <p:cNvPr id="9" name="">
            <a:extLst xmlns:a="http://schemas.openxmlformats.org/drawingml/2006/main">
              <a:ext uri="{FF2B5EF4-FFF2-40B4-BE49-F238E27FC236}">
                <a16:creationId xmlns:a16="http://schemas.microsoft.com/office/drawing/2014/main" id="{2FED7BC5-2731-4AD3-92CA-C3D14F346530}"/>
              </a:ext>
            </a:extLst>
          </p:cNvPr>
          <p:cNvCxnSpPr>
            <a:stCxn xmlns:a="http://schemas.openxmlformats.org/drawingml/2006/main" id="3" idx="3"/>
            <a:endCxn xmlns:a="http://schemas.openxmlformats.org/drawingml/2006/main" id="5" idx="1"/>
          </p:cNvCxnSpPr>
          <p:nvPr/>
        </p:nvCxnSpPr>
        <p:spPr>
          <a:xfrm xmlns:a="http://schemas.openxmlformats.org/drawingml/2006/main">
            <a:off x="3829050" y="3267075"/>
            <a:ext cx="695325" cy="0"/>
          </a:xfrm>
          <a:prstGeom xmlns:a="http://schemas.openxmlformats.org/drawingml/2006/main" prst="straightConnector1">
            <a:avLst/>
          </a:prstGeom>
          <a:ln xmlns:a="http://schemas.openxmlformats.org/drawingml/2006/main" w="28575">
            <a:solidFill>
              <a:srgbClr val="2447A6"/>
            </a:solidFill>
            <a:tailEnd type="triangle" w="med" len="med"/>
          </a:ln>
        </p:spPr>
      </p:cxnSp>
      <p:sp>
        <p:nvSpPr>
          <p:cNvPr id="16" name="">
            <a:extLst xmlns:a="http://schemas.openxmlformats.org/drawingml/2006/main">
              <a:ext uri="{FF2B5EF4-FFF2-40B4-BE49-F238E27FC236}">
                <a16:creationId xmlns:a16="http://schemas.microsoft.com/office/drawing/2014/main" id="{89BDECF5-DBF4-43E8-AEA6-1093A7CBA06E}"/>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442"/>
                </a:solidFill>
                <a:latin typeface="Arial"/>
                <a:ea typeface="Arial"/>
                <a:cs typeface="Arial"/>
              </a:defRPr>
            </a:defPPr>
          </a:lstStyle>
          <a:p xmlns:a="http://schemas.openxmlformats.org/drawingml/2006/main">
            <a:pPr>
              <a:buNone/>
              <a:defRPr sz="3300" b="1">
                <a:solidFill>
                  <a:srgbClr val="122442"/>
                </a:solidFill>
                <a:latin typeface="Arial"/>
                <a:ea typeface="Arial"/>
                <a:cs typeface="Arial"/>
              </a:defRPr>
            </a:pPr>
            <a:r>
              <a:rPr sz="3300" b="1">
                <a:solidFill>
                  <a:srgbClr val="122442"/>
                </a:solidFill>
                <a:latin typeface="Arial"/>
                <a:ea typeface="Arial"/>
                <a:cs typeface="Arial"/>
              </a:rPr>
              <a:t>The demo: project time tracking</a:t>
            </a:r>
          </a:p>
        </p:txBody>
      </p:sp>
      <p:sp>
        <p:nvSpPr>
          <p:cNvPr id="2" name="">
            <a:extLst xmlns:a="http://schemas.openxmlformats.org/drawingml/2006/main">
              <a:ext uri="{FF2B5EF4-FFF2-40B4-BE49-F238E27FC236}">
                <a16:creationId xmlns:a16="http://schemas.microsoft.com/office/drawing/2014/main" id="{63203CBA-B1C1-47FF-B748-299310D993F2}"/>
              </a:ext>
            </a:extLst>
          </p:cNvPr>
          <p:cNvSpPr>
            <a:spLocks xmlns:a="http://schemas.openxmlformats.org/drawingml/2006/main" noGrp="1"/>
          </p:cNvSpPr>
          <p:nvPr/>
        </p:nvSpPr>
        <p:spPr>
          <a:xfrm xmlns:a="http://schemas.openxmlformats.org/drawingml/2006/main">
            <a:off x="685800" y="1590675"/>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22442"/>
                </a:solidFill>
                <a:latin typeface="Arial"/>
                <a:ea typeface="Arial"/>
                <a:cs typeface="Arial"/>
              </a:defRPr>
            </a:defPPr>
          </a:lstStyle>
          <a:p xmlns:a="http://schemas.openxmlformats.org/drawingml/2006/main">
            <a:pPr>
              <a:buNone/>
              <a:defRPr sz="2400" b="0">
                <a:solidFill>
                  <a:srgbClr val="122442"/>
                </a:solidFill>
                <a:latin typeface="Arial"/>
                <a:ea typeface="Arial"/>
                <a:cs typeface="Arial"/>
              </a:defRPr>
            </a:pPr>
            <a:r>
              <a:rPr sz="2400" b="0">
                <a:solidFill>
                  <a:srgbClr val="122442"/>
                </a:solidFill>
                <a:latin typeface="Arial"/>
                <a:ea typeface="Arial"/>
                <a:cs typeface="Arial"/>
              </a:rPr>
              <a:t>Timesheet lets employees log the hours</a:t>
            </a:r>
          </a:p>
          <a:p xmlns:a="http://schemas.openxmlformats.org/drawingml/2006/main">
            <a:pPr>
              <a:buNone/>
              <a:defRPr sz="2400" b="0">
                <a:solidFill>
                  <a:srgbClr val="122442"/>
                </a:solidFill>
                <a:latin typeface="Arial"/>
                <a:ea typeface="Arial"/>
                <a:cs typeface="Arial"/>
              </a:defRPr>
            </a:pPr>
            <a:r>
              <a:rPr sz="2400" b="0">
                <a:solidFill>
                  <a:srgbClr val="122442"/>
                </a:solidFill>
                <a:latin typeface="Arial"/>
                <a:ea typeface="Arial"/>
                <a:cs typeface="Arial"/>
              </a:rPr>
              <a:t>they spend on a project.</a:t>
            </a:r>
          </a:p>
        </p:txBody>
      </p:sp>
      <p:sp>
        <p:nvSpPr>
          <p:cNvPr id="3" name="">
            <a:extLst xmlns:a="http://schemas.openxmlformats.org/drawingml/2006/main">
              <a:ext uri="{FF2B5EF4-FFF2-40B4-BE49-F238E27FC236}">
                <a16:creationId xmlns:a16="http://schemas.microsoft.com/office/drawing/2014/main" id="{C7B02B2E-C5B2-4180-BC02-07CE622B6D3B}"/>
              </a:ext>
            </a:extLst>
          </p:cNvPr>
          <p:cNvSpPr>
            <a:spLocks xmlns:a="http://schemas.openxmlformats.org/drawingml/2006/main" noGrp="1"/>
          </p:cNvSpPr>
          <p:nvPr/>
        </p:nvSpPr>
        <p:spPr>
          <a:xfrm xmlns:a="http://schemas.openxmlformats.org/drawingml/2006/main">
            <a:off x="685800" y="2828925"/>
            <a:ext cx="3143250" cy="876300"/>
          </a:xfrm>
          <a:prstGeom xmlns:a="http://schemas.openxmlformats.org/drawingml/2006/main" prst="roundRect">
            <a:avLst>
              <a:gd name="adj" fmla="val 17391"/>
            </a:avLst>
          </a:prstGeom>
          <a:solidFill xmlns:a="http://schemas.openxmlformats.org/drawingml/2006/main">
            <a:srgbClr val="2447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F049611-F387-482F-B653-514F396DE2FE}"/>
              </a:ext>
            </a:extLst>
          </p:cNvPr>
          <p:cNvSpPr>
            <a:spLocks xmlns:a="http://schemas.openxmlformats.org/drawingml/2006/main" noGrp="1"/>
          </p:cNvSpPr>
          <p:nvPr/>
        </p:nvSpPr>
        <p:spPr>
          <a:xfrm xmlns:a="http://schemas.openxmlformats.org/drawingml/2006/main">
            <a:off x="857250" y="2990850"/>
            <a:ext cx="28003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Project and date</a:t>
            </a:r>
          </a:p>
        </p:txBody>
      </p:sp>
      <p:sp>
        <p:nvSpPr>
          <p:cNvPr id="5" name="">
            <a:extLst xmlns:a="http://schemas.openxmlformats.org/drawingml/2006/main">
              <a:ext uri="{FF2B5EF4-FFF2-40B4-BE49-F238E27FC236}">
                <a16:creationId xmlns:a16="http://schemas.microsoft.com/office/drawing/2014/main" id="{C6AB41A5-80A1-4B8E-8942-DC0F3F03B95B}"/>
              </a:ext>
            </a:extLst>
          </p:cNvPr>
          <p:cNvSpPr>
            <a:spLocks xmlns:a="http://schemas.openxmlformats.org/drawingml/2006/main" noGrp="1"/>
          </p:cNvSpPr>
          <p:nvPr/>
        </p:nvSpPr>
        <p:spPr>
          <a:xfrm xmlns:a="http://schemas.openxmlformats.org/drawingml/2006/main">
            <a:off x="4524375" y="2828925"/>
            <a:ext cx="3143250" cy="876300"/>
          </a:xfrm>
          <a:prstGeom xmlns:a="http://schemas.openxmlformats.org/drawingml/2006/main" prst="roundRect">
            <a:avLst>
              <a:gd name="adj" fmla="val 17391"/>
            </a:avLst>
          </a:prstGeom>
          <a:solidFill xmlns:a="http://schemas.openxmlformats.org/drawingml/2006/main">
            <a:srgbClr val="7041B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9C8AF9F-3F09-40BE-A8F7-10A09DADAC47}"/>
              </a:ext>
            </a:extLst>
          </p:cNvPr>
          <p:cNvSpPr>
            <a:spLocks xmlns:a="http://schemas.openxmlformats.org/drawingml/2006/main" noGrp="1"/>
          </p:cNvSpPr>
          <p:nvPr/>
        </p:nvSpPr>
        <p:spPr>
          <a:xfrm xmlns:a="http://schemas.openxmlformats.org/drawingml/2006/main">
            <a:off x="4695825" y="2990850"/>
            <a:ext cx="28003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Hours worked</a:t>
            </a:r>
          </a:p>
        </p:txBody>
      </p:sp>
      <p:sp>
        <p:nvSpPr>
          <p:cNvPr id="7" name="">
            <a:extLst xmlns:a="http://schemas.openxmlformats.org/drawingml/2006/main">
              <a:ext uri="{FF2B5EF4-FFF2-40B4-BE49-F238E27FC236}">
                <a16:creationId xmlns:a16="http://schemas.microsoft.com/office/drawing/2014/main" id="{6DBB98F9-B470-4919-9570-5F491BD3EE66}"/>
              </a:ext>
            </a:extLst>
          </p:cNvPr>
          <p:cNvSpPr>
            <a:spLocks xmlns:a="http://schemas.openxmlformats.org/drawingml/2006/main" noGrp="1"/>
          </p:cNvSpPr>
          <p:nvPr/>
        </p:nvSpPr>
        <p:spPr>
          <a:xfrm xmlns:a="http://schemas.openxmlformats.org/drawingml/2006/main">
            <a:off x="8362950" y="2828925"/>
            <a:ext cx="3143250" cy="876300"/>
          </a:xfrm>
          <a:prstGeom xmlns:a="http://schemas.openxmlformats.org/drawingml/2006/main" prst="roundRect">
            <a:avLst>
              <a:gd name="adj" fmla="val 17391"/>
            </a:avLst>
          </a:prstGeom>
          <a:solidFill xmlns:a="http://schemas.openxmlformats.org/drawingml/2006/main">
            <a:srgbClr val="2447A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6EB849F-C399-4F3E-98F8-12034D3DEFF0}"/>
              </a:ext>
            </a:extLst>
          </p:cNvPr>
          <p:cNvSpPr>
            <a:spLocks xmlns:a="http://schemas.openxmlformats.org/drawingml/2006/main" noGrp="1"/>
          </p:cNvSpPr>
          <p:nvPr/>
        </p:nvSpPr>
        <p:spPr>
          <a:xfrm xmlns:a="http://schemas.openxmlformats.org/drawingml/2006/main">
            <a:off x="8534400" y="2990850"/>
            <a:ext cx="28003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Entry in the list</a:t>
            </a:r>
          </a:p>
        </p:txBody>
      </p:sp>
      <p:sp>
        <p:nvSpPr>
          <p:cNvPr id="11" name="">
            <a:extLst xmlns:a="http://schemas.openxmlformats.org/drawingml/2006/main">
              <a:ext uri="{FF2B5EF4-FFF2-40B4-BE49-F238E27FC236}">
                <a16:creationId xmlns:a16="http://schemas.microsoft.com/office/drawing/2014/main" id="{70923750-5B61-4424-B26D-CDF6D34B4B3B}"/>
              </a:ext>
            </a:extLst>
          </p:cNvPr>
          <p:cNvSpPr>
            <a:spLocks xmlns:a="http://schemas.openxmlformats.org/drawingml/2006/main" noGrp="1"/>
          </p:cNvSpPr>
          <p:nvPr/>
        </p:nvSpPr>
        <p:spPr>
          <a:xfrm xmlns:a="http://schemas.openxmlformats.org/drawingml/2006/main">
            <a:off x="685800" y="4038600"/>
            <a:ext cx="3143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22442"/>
                </a:solidFill>
                <a:latin typeface="Arial"/>
                <a:ea typeface="Arial"/>
                <a:cs typeface="Arial"/>
              </a:defRPr>
            </a:defPPr>
          </a:lstStyle>
          <a:p xmlns:a="http://schemas.openxmlformats.org/drawingml/2006/main">
            <a:pPr>
              <a:buNone/>
              <a:defRPr sz="2100" b="0">
                <a:solidFill>
                  <a:srgbClr val="122442"/>
                </a:solidFill>
                <a:latin typeface="Arial"/>
                <a:ea typeface="Arial"/>
                <a:cs typeface="Arial"/>
              </a:defRPr>
            </a:pPr>
            <a:r>
              <a:rPr sz="2100" b="0">
                <a:solidFill>
                  <a:srgbClr val="122442"/>
                </a:solidFill>
                <a:latin typeface="Arial"/>
                <a:ea typeface="Arial"/>
                <a:cs typeface="Arial"/>
              </a:rPr>
              <a:t>Which project</a:t>
            </a:r>
          </a:p>
          <a:p xmlns:a="http://schemas.openxmlformats.org/drawingml/2006/main">
            <a:pPr>
              <a:buNone/>
              <a:defRPr sz="2100" b="0">
                <a:solidFill>
                  <a:srgbClr val="122442"/>
                </a:solidFill>
                <a:latin typeface="Arial"/>
                <a:ea typeface="Arial"/>
                <a:cs typeface="Arial"/>
              </a:defRPr>
            </a:pPr>
            <a:r>
              <a:rPr sz="2100" b="0">
                <a:solidFill>
                  <a:srgbClr val="122442"/>
                </a:solidFill>
                <a:latin typeface="Arial"/>
                <a:ea typeface="Arial"/>
                <a:cs typeface="Arial"/>
              </a:rPr>
              <a:t>and which date?</a:t>
            </a:r>
          </a:p>
        </p:txBody>
      </p:sp>
      <p:sp>
        <p:nvSpPr>
          <p:cNvPr id="12" name="">
            <a:extLst xmlns:a="http://schemas.openxmlformats.org/drawingml/2006/main">
              <a:ext uri="{FF2B5EF4-FFF2-40B4-BE49-F238E27FC236}">
                <a16:creationId xmlns:a16="http://schemas.microsoft.com/office/drawing/2014/main" id="{0EB47F3E-54AD-47CE-9689-58A1E6A2D604}"/>
              </a:ext>
            </a:extLst>
          </p:cNvPr>
          <p:cNvSpPr>
            <a:spLocks xmlns:a="http://schemas.openxmlformats.org/drawingml/2006/main" noGrp="1"/>
          </p:cNvSpPr>
          <p:nvPr/>
        </p:nvSpPr>
        <p:spPr>
          <a:xfrm xmlns:a="http://schemas.openxmlformats.org/drawingml/2006/main">
            <a:off x="4524375" y="4038600"/>
            <a:ext cx="3143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22442"/>
                </a:solidFill>
                <a:latin typeface="Arial"/>
                <a:ea typeface="Arial"/>
                <a:cs typeface="Arial"/>
              </a:defRPr>
            </a:defPPr>
          </a:lstStyle>
          <a:p xmlns:a="http://schemas.openxmlformats.org/drawingml/2006/main">
            <a:pPr>
              <a:buNone/>
              <a:defRPr sz="2100" b="0">
                <a:solidFill>
                  <a:srgbClr val="122442"/>
                </a:solidFill>
                <a:latin typeface="Arial"/>
                <a:ea typeface="Arial"/>
                <a:cs typeface="Arial"/>
              </a:defRPr>
            </a:pPr>
            <a:r>
              <a:rPr sz="2100" b="0">
                <a:solidFill>
                  <a:srgbClr val="122442"/>
                </a:solidFill>
                <a:latin typeface="Arial"/>
                <a:ea typeface="Arial"/>
                <a:cs typeface="Arial"/>
              </a:rPr>
              <a:t>How many hours</a:t>
            </a:r>
          </a:p>
          <a:p xmlns:a="http://schemas.openxmlformats.org/drawingml/2006/main">
            <a:pPr>
              <a:buNone/>
              <a:defRPr sz="2100" b="0">
                <a:solidFill>
                  <a:srgbClr val="122442"/>
                </a:solidFill>
                <a:latin typeface="Arial"/>
                <a:ea typeface="Arial"/>
                <a:cs typeface="Arial"/>
              </a:defRPr>
            </a:pPr>
            <a:r>
              <a:rPr sz="2100" b="0">
                <a:solidFill>
                  <a:srgbClr val="122442"/>
                </a:solidFill>
                <a:latin typeface="Arial"/>
                <a:ea typeface="Arial"/>
                <a:cs typeface="Arial"/>
              </a:rPr>
              <a:t>did the employee work?</a:t>
            </a:r>
          </a:p>
        </p:txBody>
      </p:sp>
      <p:sp>
        <p:nvSpPr>
          <p:cNvPr id="13" name="">
            <a:extLst xmlns:a="http://schemas.openxmlformats.org/drawingml/2006/main">
              <a:ext uri="{FF2B5EF4-FFF2-40B4-BE49-F238E27FC236}">
                <a16:creationId xmlns:a16="http://schemas.microsoft.com/office/drawing/2014/main" id="{A96D7BB8-5CF6-4A88-A2A1-2747C08B5C3E}"/>
              </a:ext>
            </a:extLst>
          </p:cNvPr>
          <p:cNvSpPr>
            <a:spLocks xmlns:a="http://schemas.openxmlformats.org/drawingml/2006/main" noGrp="1"/>
          </p:cNvSpPr>
          <p:nvPr/>
        </p:nvSpPr>
        <p:spPr>
          <a:xfrm xmlns:a="http://schemas.openxmlformats.org/drawingml/2006/main">
            <a:off x="8362950" y="4038600"/>
            <a:ext cx="3143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22442"/>
                </a:solidFill>
                <a:latin typeface="Arial"/>
                <a:ea typeface="Arial"/>
                <a:cs typeface="Arial"/>
              </a:defRPr>
            </a:defPPr>
          </a:lstStyle>
          <a:p xmlns:a="http://schemas.openxmlformats.org/drawingml/2006/main">
            <a:pPr>
              <a:buNone/>
              <a:defRPr sz="2100" b="0">
                <a:solidFill>
                  <a:srgbClr val="122442"/>
                </a:solidFill>
                <a:latin typeface="Arial"/>
                <a:ea typeface="Arial"/>
                <a:cs typeface="Arial"/>
              </a:defRPr>
            </a:pPr>
            <a:r>
              <a:rPr sz="2100" b="0">
                <a:solidFill>
                  <a:srgbClr val="122442"/>
                </a:solidFill>
                <a:latin typeface="Arial"/>
                <a:ea typeface="Arial"/>
                <a:cs typeface="Arial"/>
              </a:rPr>
              <a:t>The user sees</a:t>
            </a:r>
          </a:p>
          <a:p xmlns:a="http://schemas.openxmlformats.org/drawingml/2006/main">
            <a:pPr>
              <a:buNone/>
              <a:defRPr sz="2100" b="0">
                <a:solidFill>
                  <a:srgbClr val="122442"/>
                </a:solidFill>
                <a:latin typeface="Arial"/>
                <a:ea typeface="Arial"/>
                <a:cs typeface="Arial"/>
              </a:defRPr>
            </a:pPr>
            <a:r>
              <a:rPr sz="2100" b="0">
                <a:solidFill>
                  <a:srgbClr val="122442"/>
                </a:solidFill>
                <a:latin typeface="Arial"/>
                <a:ea typeface="Arial"/>
                <a:cs typeface="Arial"/>
              </a:rPr>
              <a:t>the logged time.</a:t>
            </a:r>
          </a:p>
        </p:txBody>
      </p:sp>
      <p:sp>
        <p:nvSpPr>
          <p:cNvPr id="14" name="">
            <a:extLst xmlns:a="http://schemas.openxmlformats.org/drawingml/2006/main">
              <a:ext uri="{FF2B5EF4-FFF2-40B4-BE49-F238E27FC236}">
                <a16:creationId xmlns:a16="http://schemas.microsoft.com/office/drawing/2014/main" id="{0CE087C4-6DA0-47E2-989C-6D5B7C081D64}"/>
              </a:ext>
            </a:extLst>
          </p:cNvPr>
          <p:cNvSpPr>
            <a:spLocks xmlns:a="http://schemas.openxmlformats.org/drawingml/2006/main" noGrp="1"/>
          </p:cNvSpPr>
          <p:nvPr/>
        </p:nvSpPr>
        <p:spPr>
          <a:xfrm xmlns:a="http://schemas.openxmlformats.org/drawingml/2006/main">
            <a:off x="685800" y="56483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2447A6"/>
                </a:solidFill>
                <a:latin typeface="Arial"/>
                <a:ea typeface="Arial"/>
                <a:cs typeface="Arial"/>
              </a:defRPr>
            </a:defPPr>
          </a:lstStyle>
          <a:p xmlns:a="http://schemas.openxmlformats.org/drawingml/2006/main">
            <a:pPr>
              <a:buNone/>
              <a:defRPr sz="2025" b="1">
                <a:solidFill>
                  <a:srgbClr val="2447A6"/>
                </a:solidFill>
                <a:latin typeface="Arial"/>
                <a:ea typeface="Arial"/>
                <a:cs typeface="Arial"/>
              </a:defRPr>
            </a:pPr>
            <a:r>
              <a:rPr sz="2025" b="1">
                <a:solidFill>
                  <a:srgbClr val="2447A6"/>
                </a:solidFill>
                <a:latin typeface="Arial"/>
                <a:ea typeface="Arial"/>
                <a:cs typeface="Arial"/>
              </a:rPr>
              <a:t>Example: 7.5 hours on the “Client Portal” project.</a:t>
            </a:r>
          </a:p>
        </p:txBody>
      </p:sp>
      <p:sp>
        <p:nvSpPr>
          <p:cNvPr id="15" name="">
            <a:extLst xmlns:a="http://schemas.openxmlformats.org/drawingml/2006/main">
              <a:ext uri="{FF2B5EF4-FFF2-40B4-BE49-F238E27FC236}">
                <a16:creationId xmlns:a16="http://schemas.microsoft.com/office/drawing/2014/main" id="{AEEA4D43-C0B1-40DA-B731-768524BD3E4D}"/>
              </a:ext>
            </a:extLst>
          </p:cNvPr>
          <p:cNvSpPr>
            <a:spLocks xmlns:a="http://schemas.openxmlformats.org/drawingml/2006/main" noGrp="1"/>
          </p:cNvSpPr>
          <p:nvPr/>
        </p:nvSpPr>
        <p:spPr>
          <a:xfrm xmlns:a="http://schemas.openxmlformats.org/drawingml/2006/main">
            <a:off x="11049000" y="64008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4D5C74"/>
                </a:solidFill>
                <a:latin typeface="Arial"/>
                <a:ea typeface="Arial"/>
                <a:cs typeface="Arial"/>
              </a:defRPr>
            </a:defPPr>
          </a:lstStyle>
          <a:p xmlns:a="http://schemas.openxmlformats.org/drawingml/2006/main">
            <a:pPr>
              <a:buNone/>
              <a:defRPr sz="1275" b="0">
                <a:solidFill>
                  <a:srgbClr val="4D5C74"/>
                </a:solidFill>
                <a:latin typeface="Arial"/>
                <a:ea typeface="Arial"/>
                <a:cs typeface="Arial"/>
              </a:defRPr>
            </a:pPr>
            <a:r>
              <a:rPr sz="1275" b="0">
                <a:solidFill>
                  <a:srgbClr val="4D5C74"/>
                </a:solidFill>
                <a:latin typeface="Arial"/>
                <a:ea typeface="Arial"/>
                <a:cs typeface="Arial"/>
              </a:rPr>
              <a:t>04</a:t>
            </a:r>
          </a:p>
        </p:txBody>
      </p:sp>
    </p:spTree>
    <p:extLst>
      <p:ext uri="{BB962C8B-B14F-4D97-AF65-F5344CB8AC3E}">
        <p14:creationId xmlns:p14="http://schemas.microsoft.com/office/powerpoint/2010/main" val="810868711"/>
      </p:ext>
    </p:extLst>
  </p:cSld>
</p:sld>
</file>

<file path=ppt/slides/slide5.xml><?xml version="1.0" encoding="utf-8"?>
<p:sld xmlns:p="http://schemas.openxmlformats.org/presentationml/2006/main">
  <p:cSld>
    <p:bg>
      <p:bgPr>
        <a:gradFill xmlns:a="http://schemas.openxmlformats.org/drawingml/2006/main">
          <a:gsLst>
            <a:gs pos="0">
              <a:srgbClr val="FFFFFF"/>
            </a:gs>
            <a:gs pos="60000">
              <a:srgbClr val="EDF4FF"/>
            </a:gs>
            <a:gs pos="100000">
              <a:srgbClr val="E5DAFA"/>
            </a:gs>
          </a:gsLst>
          <a:lin ang="1500000"/>
        </a:gra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93676A53-1216-41B1-997E-5288D82F6BF5}"/>
              </a:ext>
            </a:extLst>
          </p:cNvPr>
          <p:cNvCxnSpPr>
            <a:stCxn xmlns:a="http://schemas.openxmlformats.org/drawingml/2006/main" id="3" idx="3"/>
            <a:endCxn xmlns:a="http://schemas.openxmlformats.org/drawingml/2006/main" id="5" idx="1"/>
          </p:cNvCxnSpPr>
          <p:nvPr/>
        </p:nvCxnSpPr>
        <p:spPr>
          <a:xfrm xmlns:a="http://schemas.openxmlformats.org/drawingml/2006/main">
            <a:off x="5257800" y="3309938"/>
            <a:ext cx="1247775" cy="0"/>
          </a:xfrm>
          <a:prstGeom xmlns:a="http://schemas.openxmlformats.org/drawingml/2006/main" prst="straightConnector1">
            <a:avLst/>
          </a:prstGeom>
          <a:ln xmlns:a="http://schemas.openxmlformats.org/drawingml/2006/main" w="28575">
            <a:solidFill>
              <a:srgbClr val="2447A6"/>
            </a:solidFill>
            <a:tailEnd type="triangle" w="med" len="med"/>
          </a:ln>
        </p:spPr>
      </p:cxnSp>
      <p:sp>
        <p:nvSpPr>
          <p:cNvPr id="12" name="">
            <a:extLst xmlns:a="http://schemas.openxmlformats.org/drawingml/2006/main">
              <a:ext uri="{FF2B5EF4-FFF2-40B4-BE49-F238E27FC236}">
                <a16:creationId xmlns:a16="http://schemas.microsoft.com/office/drawing/2014/main" id="{5F8EC20A-C8E3-49BC-9C57-33AB19D5A002}"/>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442"/>
                </a:solidFill>
                <a:latin typeface="Arial"/>
                <a:ea typeface="Arial"/>
                <a:cs typeface="Arial"/>
              </a:defRPr>
            </a:defPPr>
          </a:lstStyle>
          <a:p xmlns:a="http://schemas.openxmlformats.org/drawingml/2006/main">
            <a:pPr>
              <a:buNone/>
              <a:defRPr sz="3300" b="1">
                <a:solidFill>
                  <a:srgbClr val="122442"/>
                </a:solidFill>
                <a:latin typeface="Arial"/>
                <a:ea typeface="Arial"/>
                <a:cs typeface="Arial"/>
              </a:defRPr>
            </a:pPr>
            <a:r>
              <a:rPr sz="3300" b="1">
                <a:solidFill>
                  <a:srgbClr val="122442"/>
                </a:solidFill>
                <a:latin typeface="Arial"/>
                <a:ea typeface="Arial"/>
                <a:cs typeface="Arial"/>
              </a:rPr>
              <a:t>Vague requirements leave agents guessing</a:t>
            </a:r>
          </a:p>
        </p:txBody>
      </p:sp>
      <p:sp>
        <p:nvSpPr>
          <p:cNvPr id="2" name="">
            <a:extLst xmlns:a="http://schemas.openxmlformats.org/drawingml/2006/main">
              <a:ext uri="{FF2B5EF4-FFF2-40B4-BE49-F238E27FC236}">
                <a16:creationId xmlns:a16="http://schemas.microsoft.com/office/drawing/2014/main" id="{3A84D47B-CFD8-40CC-858D-C256C45A3380}"/>
              </a:ext>
            </a:extLst>
          </p:cNvPr>
          <p:cNvSpPr>
            <a:spLocks xmlns:a="http://schemas.openxmlformats.org/drawingml/2006/main" noGrp="1"/>
          </p:cNvSpPr>
          <p:nvPr/>
        </p:nvSpPr>
        <p:spPr>
          <a:xfrm xmlns:a="http://schemas.openxmlformats.org/drawingml/2006/main">
            <a:off x="685800" y="15811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1">
                <a:solidFill>
                  <a:srgbClr val="7041B9"/>
                </a:solidFill>
                <a:latin typeface="Arial"/>
                <a:ea typeface="Arial"/>
                <a:cs typeface="Arial"/>
              </a:defRPr>
            </a:defPPr>
          </a:lstStyle>
          <a:p xmlns:a="http://schemas.openxmlformats.org/drawingml/2006/main">
            <a:pPr>
              <a:buNone/>
              <a:defRPr sz="2475" b="1">
                <a:solidFill>
                  <a:srgbClr val="7041B9"/>
                </a:solidFill>
                <a:latin typeface="Arial"/>
                <a:ea typeface="Arial"/>
                <a:cs typeface="Arial"/>
              </a:defRPr>
            </a:pPr>
            <a:r>
              <a:rPr sz="2475" b="1">
                <a:solidFill>
                  <a:srgbClr val="7041B9"/>
                </a:solidFill>
                <a:latin typeface="Arial"/>
                <a:ea typeface="Arial"/>
                <a:cs typeface="Arial"/>
              </a:rPr>
              <a:t>“Add a feature that lets employees log</a:t>
            </a:r>
          </a:p>
          <a:p xmlns:a="http://schemas.openxmlformats.org/drawingml/2006/main">
            <a:pPr>
              <a:buNone/>
              <a:defRPr sz="2475" b="1">
                <a:solidFill>
                  <a:srgbClr val="7041B9"/>
                </a:solidFill>
                <a:latin typeface="Arial"/>
                <a:ea typeface="Arial"/>
                <a:cs typeface="Arial"/>
              </a:defRPr>
            </a:pPr>
            <a:r>
              <a:rPr sz="2475" b="1">
                <a:solidFill>
                  <a:srgbClr val="7041B9"/>
                </a:solidFill>
                <a:latin typeface="Arial"/>
                <a:ea typeface="Arial"/>
                <a:cs typeface="Arial"/>
              </a:rPr>
              <a:t>the hours they spend on a project.”</a:t>
            </a:r>
          </a:p>
        </p:txBody>
      </p:sp>
      <p:sp>
        <p:nvSpPr>
          <p:cNvPr id="3" name="">
            <a:extLst xmlns:a="http://schemas.openxmlformats.org/drawingml/2006/main">
              <a:ext uri="{FF2B5EF4-FFF2-40B4-BE49-F238E27FC236}">
                <a16:creationId xmlns:a16="http://schemas.microsoft.com/office/drawing/2014/main" id="{A5A53F19-4031-4007-B3D3-3A5CCB81F69A}"/>
              </a:ext>
            </a:extLst>
          </p:cNvPr>
          <p:cNvSpPr>
            <a:spLocks xmlns:a="http://schemas.openxmlformats.org/drawingml/2006/main" noGrp="1"/>
          </p:cNvSpPr>
          <p:nvPr/>
        </p:nvSpPr>
        <p:spPr>
          <a:xfrm xmlns:a="http://schemas.openxmlformats.org/drawingml/2006/main">
            <a:off x="685800" y="2895600"/>
            <a:ext cx="4572000" cy="828675"/>
          </a:xfrm>
          <a:prstGeom xmlns:a="http://schemas.openxmlformats.org/drawingml/2006/main" prst="roundRect">
            <a:avLst>
              <a:gd name="adj" fmla="val 18391"/>
            </a:avLst>
          </a:prstGeom>
          <a:solidFill xmlns:a="http://schemas.openxmlformats.org/drawingml/2006/main">
            <a:srgbClr val="7041B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F0FB992-E159-4D0F-BCD6-4BA548EF03F5}"/>
              </a:ext>
            </a:extLst>
          </p:cNvPr>
          <p:cNvSpPr>
            <a:spLocks xmlns:a="http://schemas.openxmlformats.org/drawingml/2006/main" noGrp="1"/>
          </p:cNvSpPr>
          <p:nvPr/>
        </p:nvSpPr>
        <p:spPr>
          <a:xfrm xmlns:a="http://schemas.openxmlformats.org/drawingml/2006/main">
            <a:off x="857250" y="3057525"/>
            <a:ext cx="4229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Open questions</a:t>
            </a:r>
          </a:p>
        </p:txBody>
      </p:sp>
      <p:sp>
        <p:nvSpPr>
          <p:cNvPr id="5" name="">
            <a:extLst xmlns:a="http://schemas.openxmlformats.org/drawingml/2006/main">
              <a:ext uri="{FF2B5EF4-FFF2-40B4-BE49-F238E27FC236}">
                <a16:creationId xmlns:a16="http://schemas.microsoft.com/office/drawing/2014/main" id="{F02F1513-3AFC-41A1-8B8B-7AEE1AFBDD7C}"/>
              </a:ext>
            </a:extLst>
          </p:cNvPr>
          <p:cNvSpPr>
            <a:spLocks xmlns:a="http://schemas.openxmlformats.org/drawingml/2006/main" noGrp="1"/>
          </p:cNvSpPr>
          <p:nvPr/>
        </p:nvSpPr>
        <p:spPr>
          <a:xfrm xmlns:a="http://schemas.openxmlformats.org/drawingml/2006/main">
            <a:off x="6505575" y="2895600"/>
            <a:ext cx="5000625" cy="828675"/>
          </a:xfrm>
          <a:prstGeom xmlns:a="http://schemas.openxmlformats.org/drawingml/2006/main" prst="roundRect">
            <a:avLst>
              <a:gd name="adj" fmla="val 18391"/>
            </a:avLst>
          </a:prstGeom>
          <a:solidFill xmlns:a="http://schemas.openxmlformats.org/drawingml/2006/main">
            <a:srgbClr val="2447A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472D718-6B4F-4D63-BB77-63264870C755}"/>
              </a:ext>
            </a:extLst>
          </p:cNvPr>
          <p:cNvSpPr>
            <a:spLocks xmlns:a="http://schemas.openxmlformats.org/drawingml/2006/main" noGrp="1"/>
          </p:cNvSpPr>
          <p:nvPr/>
        </p:nvSpPr>
        <p:spPr>
          <a:xfrm xmlns:a="http://schemas.openxmlformats.org/drawingml/2006/main">
            <a:off x="6677025" y="3057525"/>
            <a:ext cx="46577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Rules in the spec</a:t>
            </a:r>
          </a:p>
        </p:txBody>
      </p:sp>
      <p:sp>
        <p:nvSpPr>
          <p:cNvPr id="8" name="">
            <a:extLst xmlns:a="http://schemas.openxmlformats.org/drawingml/2006/main">
              <a:ext uri="{FF2B5EF4-FFF2-40B4-BE49-F238E27FC236}">
                <a16:creationId xmlns:a16="http://schemas.microsoft.com/office/drawing/2014/main" id="{B178C9A2-4D4E-4CA2-BC39-2B4B0449E4EF}"/>
              </a:ext>
            </a:extLst>
          </p:cNvPr>
          <p:cNvSpPr>
            <a:spLocks xmlns:a="http://schemas.openxmlformats.org/drawingml/2006/main" noGrp="1"/>
          </p:cNvSpPr>
          <p:nvPr/>
        </p:nvSpPr>
        <p:spPr>
          <a:xfrm xmlns:a="http://schemas.openxmlformats.org/drawingml/2006/main">
            <a:off x="685800" y="4067175"/>
            <a:ext cx="45720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22442"/>
                </a:solidFill>
                <a:latin typeface="Arial"/>
                <a:ea typeface="Arial"/>
                <a:cs typeface="Arial"/>
              </a:defRPr>
            </a:defPPr>
          </a:lstStyle>
          <a:p xmlns:a="http://schemas.openxmlformats.org/drawingml/2006/main">
            <a:pPr>
              <a:buNone/>
              <a:defRPr sz="2100" b="0">
                <a:solidFill>
                  <a:srgbClr val="122442"/>
                </a:solidFill>
                <a:latin typeface="Arial"/>
                <a:ea typeface="Arial"/>
                <a:cs typeface="Arial"/>
              </a:defRPr>
            </a:pPr>
            <a:r>
              <a:rPr sz="2100" b="0">
                <a:solidFill>
                  <a:srgbClr val="122442"/>
                </a:solidFill>
                <a:latin typeface="Arial"/>
                <a:ea typeface="Arial"/>
                <a:cs typeface="Arial"/>
              </a:rPr>
              <a:t>What hours are valid?</a:t>
            </a:r>
          </a:p>
          <a:p xmlns:a="http://schemas.openxmlformats.org/drawingml/2006/main">
            <a:pPr>
              <a:buNone/>
              <a:defRPr sz="2100" b="0">
                <a:solidFill>
                  <a:srgbClr val="122442"/>
                </a:solidFill>
                <a:latin typeface="Arial"/>
                <a:ea typeface="Arial"/>
                <a:cs typeface="Arial"/>
              </a:defRPr>
            </a:pPr>
            <a:r>
              <a:rPr sz="2100" b="0">
                <a:solidFill>
                  <a:srgbClr val="122442"/>
                </a:solidFill>
                <a:latin typeface="Arial"/>
                <a:ea typeface="Arial"/>
                <a:cs typeface="Arial"/>
              </a:rPr>
              <a:t>Are project and date required?</a:t>
            </a:r>
          </a:p>
          <a:p xmlns:a="http://schemas.openxmlformats.org/drawingml/2006/main">
            <a:pPr>
              <a:buNone/>
              <a:defRPr sz="2100" b="0">
                <a:solidFill>
                  <a:srgbClr val="122442"/>
                </a:solidFill>
                <a:latin typeface="Arial"/>
                <a:ea typeface="Arial"/>
                <a:cs typeface="Arial"/>
              </a:defRPr>
            </a:pPr>
            <a:r>
              <a:rPr sz="2100" b="0">
                <a:solidFill>
                  <a:srgbClr val="122442"/>
                </a:solidFill>
                <a:latin typeface="Arial"/>
                <a:ea typeface="Arial"/>
                <a:cs typeface="Arial"/>
              </a:rPr>
              <a:t>What happens with invalid input?</a:t>
            </a:r>
          </a:p>
        </p:txBody>
      </p:sp>
      <p:sp>
        <p:nvSpPr>
          <p:cNvPr id="9" name="">
            <a:extLst xmlns:a="http://schemas.openxmlformats.org/drawingml/2006/main">
              <a:ext uri="{FF2B5EF4-FFF2-40B4-BE49-F238E27FC236}">
                <a16:creationId xmlns:a16="http://schemas.microsoft.com/office/drawing/2014/main" id="{4D2DB604-0774-44D0-B343-39A7D9297617}"/>
              </a:ext>
            </a:extLst>
          </p:cNvPr>
          <p:cNvSpPr>
            <a:spLocks xmlns:a="http://schemas.openxmlformats.org/drawingml/2006/main" noGrp="1"/>
          </p:cNvSpPr>
          <p:nvPr/>
        </p:nvSpPr>
        <p:spPr>
          <a:xfrm xmlns:a="http://schemas.openxmlformats.org/drawingml/2006/main">
            <a:off x="6505575" y="4067175"/>
            <a:ext cx="5000625"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22442"/>
                </a:solidFill>
                <a:latin typeface="Arial"/>
                <a:ea typeface="Arial"/>
                <a:cs typeface="Arial"/>
              </a:defRPr>
            </a:defPPr>
          </a:lstStyle>
          <a:p xmlns:a="http://schemas.openxmlformats.org/drawingml/2006/main">
            <a:pPr>
              <a:buNone/>
              <a:defRPr sz="2025" b="0">
                <a:solidFill>
                  <a:srgbClr val="122442"/>
                </a:solidFill>
                <a:latin typeface="Arial"/>
                <a:ea typeface="Arial"/>
                <a:cs typeface="Arial"/>
              </a:defRPr>
            </a:pPr>
            <a:r>
              <a:rPr sz="2025" b="0">
                <a:solidFill>
                  <a:srgbClr val="122442"/>
                </a:solidFill>
                <a:latin typeface="Arial"/>
                <a:ea typeface="Arial"/>
                <a:cs typeface="Arial"/>
              </a:rPr>
              <a:t>Per entry: more than 0, up to 24 hours.</a:t>
            </a:r>
          </a:p>
          <a:p xmlns:a="http://schemas.openxmlformats.org/drawingml/2006/main">
            <a:pPr>
              <a:buNone/>
              <a:defRPr sz="2025" b="0">
                <a:solidFill>
                  <a:srgbClr val="122442"/>
                </a:solidFill>
                <a:latin typeface="Arial"/>
                <a:ea typeface="Arial"/>
                <a:cs typeface="Arial"/>
              </a:defRPr>
            </a:pPr>
            <a:r>
              <a:rPr sz="2025" b="0">
                <a:solidFill>
                  <a:srgbClr val="122442"/>
                </a:solidFill>
                <a:latin typeface="Arial"/>
                <a:ea typeface="Arial"/>
                <a:cs typeface="Arial"/>
              </a:rPr>
              <a:t>Project and date are required.</a:t>
            </a:r>
          </a:p>
          <a:p xmlns:a="http://schemas.openxmlformats.org/drawingml/2006/main">
            <a:pPr>
              <a:buNone/>
              <a:defRPr sz="2025" b="0">
                <a:solidFill>
                  <a:srgbClr val="122442"/>
                </a:solidFill>
                <a:latin typeface="Arial"/>
                <a:ea typeface="Arial"/>
                <a:cs typeface="Arial"/>
              </a:defRPr>
            </a:pPr>
            <a:r>
              <a:rPr sz="2025" b="0">
                <a:solidFill>
                  <a:srgbClr val="122442"/>
                </a:solidFill>
                <a:latin typeface="Arial"/>
                <a:ea typeface="Arial"/>
                <a:cs typeface="Arial"/>
              </a:rPr>
              <a:t>Invalid input: show an error</a:t>
            </a:r>
          </a:p>
          <a:p xmlns:a="http://schemas.openxmlformats.org/drawingml/2006/main">
            <a:pPr>
              <a:buNone/>
              <a:defRPr sz="2025" b="0">
                <a:solidFill>
                  <a:srgbClr val="122442"/>
                </a:solidFill>
                <a:latin typeface="Arial"/>
                <a:ea typeface="Arial"/>
                <a:cs typeface="Arial"/>
              </a:defRPr>
            </a:pPr>
            <a:r>
              <a:rPr sz="2025" b="0">
                <a:solidFill>
                  <a:srgbClr val="122442"/>
                </a:solidFill>
                <a:latin typeface="Arial"/>
                <a:ea typeface="Arial"/>
                <a:cs typeface="Arial"/>
              </a:rPr>
              <a:t>and do not save the entry.</a:t>
            </a:r>
          </a:p>
        </p:txBody>
      </p:sp>
      <p:sp>
        <p:nvSpPr>
          <p:cNvPr id="10" name="">
            <a:extLst xmlns:a="http://schemas.openxmlformats.org/drawingml/2006/main">
              <a:ext uri="{FF2B5EF4-FFF2-40B4-BE49-F238E27FC236}">
                <a16:creationId xmlns:a16="http://schemas.microsoft.com/office/drawing/2014/main" id="{EFB4418F-B8A4-4D17-930F-A3ADFC040F8A}"/>
              </a:ext>
            </a:extLst>
          </p:cNvPr>
          <p:cNvSpPr>
            <a:spLocks xmlns:a="http://schemas.openxmlformats.org/drawingml/2006/main" noGrp="1"/>
          </p:cNvSpPr>
          <p:nvPr/>
        </p:nvSpPr>
        <p:spPr>
          <a:xfrm xmlns:a="http://schemas.openxmlformats.org/drawingml/2006/main">
            <a:off x="685800" y="5953125"/>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2447A6"/>
                </a:solidFill>
                <a:latin typeface="Arial"/>
                <a:ea typeface="Arial"/>
                <a:cs typeface="Arial"/>
              </a:defRPr>
            </a:defPPr>
          </a:lstStyle>
          <a:p xmlns:a="http://schemas.openxmlformats.org/drawingml/2006/main">
            <a:pPr>
              <a:buNone/>
              <a:defRPr sz="2100" b="1">
                <a:solidFill>
                  <a:srgbClr val="2447A6"/>
                </a:solidFill>
                <a:latin typeface="Arial"/>
                <a:ea typeface="Arial"/>
                <a:cs typeface="Arial"/>
              </a:defRPr>
            </a:pPr>
            <a:r>
              <a:rPr sz="2100" b="1">
                <a:solidFill>
                  <a:srgbClr val="2447A6"/>
                </a:solidFill>
                <a:latin typeface="Arial"/>
                <a:ea typeface="Arial"/>
                <a:cs typeface="Arial"/>
              </a:rPr>
              <a:t>The prompt captures the idea. The spec defines the behavior.</a:t>
            </a:r>
          </a:p>
        </p:txBody>
      </p:sp>
      <p:sp>
        <p:nvSpPr>
          <p:cNvPr id="11" name="">
            <a:extLst xmlns:a="http://schemas.openxmlformats.org/drawingml/2006/main">
              <a:ext uri="{FF2B5EF4-FFF2-40B4-BE49-F238E27FC236}">
                <a16:creationId xmlns:a16="http://schemas.microsoft.com/office/drawing/2014/main" id="{B33FDD14-1D5A-4FB0-8281-8509519F7C3A}"/>
              </a:ext>
            </a:extLst>
          </p:cNvPr>
          <p:cNvSpPr>
            <a:spLocks xmlns:a="http://schemas.openxmlformats.org/drawingml/2006/main" noGrp="1"/>
          </p:cNvSpPr>
          <p:nvPr/>
        </p:nvSpPr>
        <p:spPr>
          <a:xfrm xmlns:a="http://schemas.openxmlformats.org/drawingml/2006/main">
            <a:off x="11049000" y="64008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4D5C74"/>
                </a:solidFill>
                <a:latin typeface="Arial"/>
                <a:ea typeface="Arial"/>
                <a:cs typeface="Arial"/>
              </a:defRPr>
            </a:defPPr>
          </a:lstStyle>
          <a:p xmlns:a="http://schemas.openxmlformats.org/drawingml/2006/main">
            <a:pPr>
              <a:buNone/>
              <a:defRPr sz="1275" b="0">
                <a:solidFill>
                  <a:srgbClr val="4D5C74"/>
                </a:solidFill>
                <a:latin typeface="Arial"/>
                <a:ea typeface="Arial"/>
                <a:cs typeface="Arial"/>
              </a:defRPr>
            </a:pPr>
            <a:r>
              <a:rPr sz="1275" b="0">
                <a:solidFill>
                  <a:srgbClr val="4D5C74"/>
                </a:solidFill>
                <a:latin typeface="Arial"/>
                <a:ea typeface="Arial"/>
                <a:cs typeface="Arial"/>
              </a:rPr>
              <a:t>05</a:t>
            </a:r>
          </a:p>
        </p:txBody>
      </p:sp>
    </p:spTree>
    <p:extLst>
      <p:ext uri="{BB962C8B-B14F-4D97-AF65-F5344CB8AC3E}">
        <p14:creationId xmlns:p14="http://schemas.microsoft.com/office/powerpoint/2010/main" val="1317058418"/>
      </p:ext>
    </p:extLst>
  </p:cSld>
</p:sld>
</file>

<file path=ppt/slides/slide6.xml><?xml version="1.0" encoding="utf-8"?>
<p:sld xmlns:p="http://schemas.openxmlformats.org/presentationml/2006/main">
  <p:cSld>
    <p:bg>
      <p:bgPr>
        <a:gradFill xmlns:a="http://schemas.openxmlformats.org/drawingml/2006/main">
          <a:gsLst>
            <a:gs pos="0">
              <a:srgbClr val="FFFFFF"/>
            </a:gs>
            <a:gs pos="60000">
              <a:srgbClr val="EDF4FF"/>
            </a:gs>
            <a:gs pos="100000">
              <a:srgbClr val="E5DAFA"/>
            </a:gs>
          </a:gsLst>
          <a:lin ang="1500000"/>
        </a:gradFill>
      </p:bgPr>
    </p:bg>
    <p:spTree>
      <p:nvGrpSpPr>
        <p:cNvPr id="1" name=""/>
        <p:cNvGrpSpPr/>
        <p:nvPr/>
      </p:nvGrpSpPr>
      <p:grpSpPr>
        <a:xfrm xmlns:a="http://schemas.openxmlformats.org/drawingml/2006/main"/>
      </p:grpSpPr>
      <p:cxnSp>
        <p:nvCxnSpPr>
          <p:cNvPr id="22" name="">
            <a:extLst xmlns:a="http://schemas.openxmlformats.org/drawingml/2006/main">
              <a:ext uri="{FF2B5EF4-FFF2-40B4-BE49-F238E27FC236}">
                <a16:creationId xmlns:a16="http://schemas.microsoft.com/office/drawing/2014/main" id="{58637651-E2AE-4DEC-A1A7-6A84AFB879DA}"/>
              </a:ext>
            </a:extLst>
          </p:cNvPr>
          <p:cNvCxnSpPr>
            <a:stCxn xmlns:a="http://schemas.openxmlformats.org/drawingml/2006/main" id="16" idx="2"/>
            <a:endCxn xmlns:a="http://schemas.openxmlformats.org/drawingml/2006/main" id="4" idx="2"/>
          </p:cNvCxnSpPr>
          <p:nvPr/>
        </p:nvCxnSpPr>
        <p:spPr>
          <a:xfrm xmlns:a="http://schemas.openxmlformats.org/drawingml/2006/main" flipH="1">
            <a:off x="1866900" y="3305175"/>
            <a:ext cx="8458200" cy="0"/>
          </a:xfrm>
          <a:prstGeom xmlns:a="http://schemas.openxmlformats.org/drawingml/2006/main" prst="straightConnector1">
            <a:avLst/>
          </a:prstGeom>
          <a:ln xmlns:a="http://schemas.openxmlformats.org/drawingml/2006/main" w="28575">
            <a:solidFill>
              <a:srgbClr val="4D5C74"/>
            </a:solidFill>
            <a:tailEnd type="triangle" w="med" len="med"/>
          </a:ln>
        </p:spPr>
      </p:cxnSp>
      <p:cxnSp>
        <p:nvCxnSpPr>
          <p:cNvPr id="21" name="">
            <a:extLst xmlns:a="http://schemas.openxmlformats.org/drawingml/2006/main">
              <a:ext uri="{FF2B5EF4-FFF2-40B4-BE49-F238E27FC236}">
                <a16:creationId xmlns:a16="http://schemas.microsoft.com/office/drawing/2014/main" id="{C7C1CE0A-D88B-4CF6-911F-DA149E706A31}"/>
              </a:ext>
            </a:extLst>
          </p:cNvPr>
          <p:cNvCxnSpPr>
            <a:stCxn xmlns:a="http://schemas.openxmlformats.org/drawingml/2006/main" id="12" idx="3"/>
            <a:endCxn xmlns:a="http://schemas.openxmlformats.org/drawingml/2006/main" id="16" idx="1"/>
          </p:cNvCxnSpPr>
          <p:nvPr/>
        </p:nvCxnSpPr>
        <p:spPr>
          <a:xfrm xmlns:a="http://schemas.openxmlformats.org/drawingml/2006/main">
            <a:off x="8686800" y="2933700"/>
            <a:ext cx="457200" cy="0"/>
          </a:xfrm>
          <a:prstGeom xmlns:a="http://schemas.openxmlformats.org/drawingml/2006/main" prst="straightConnector1">
            <a:avLst/>
          </a:prstGeom>
          <a:ln xmlns:a="http://schemas.openxmlformats.org/drawingml/2006/main" w="28575">
            <a:solidFill>
              <a:srgbClr val="2447A6"/>
            </a:solidFill>
            <a:tailEnd type="triangle" w="med" len="med"/>
          </a:ln>
        </p:spPr>
      </p:cxnSp>
      <p:cxnSp>
        <p:nvCxnSpPr>
          <p:cNvPr id="20" name="">
            <a:extLst xmlns:a="http://schemas.openxmlformats.org/drawingml/2006/main">
              <a:ext uri="{FF2B5EF4-FFF2-40B4-BE49-F238E27FC236}">
                <a16:creationId xmlns:a16="http://schemas.microsoft.com/office/drawing/2014/main" id="{0924FF14-6B72-4775-88A9-E8E083D62417}"/>
              </a:ext>
            </a:extLst>
          </p:cNvPr>
          <p:cNvCxnSpPr>
            <a:stCxn xmlns:a="http://schemas.openxmlformats.org/drawingml/2006/main" id="8" idx="3"/>
            <a:endCxn xmlns:a="http://schemas.openxmlformats.org/drawingml/2006/main" id="12" idx="1"/>
          </p:cNvCxnSpPr>
          <p:nvPr/>
        </p:nvCxnSpPr>
        <p:spPr>
          <a:xfrm xmlns:a="http://schemas.openxmlformats.org/drawingml/2006/main">
            <a:off x="5867400" y="2933700"/>
            <a:ext cx="457200" cy="0"/>
          </a:xfrm>
          <a:prstGeom xmlns:a="http://schemas.openxmlformats.org/drawingml/2006/main" prst="straightConnector1">
            <a:avLst/>
          </a:prstGeom>
          <a:ln xmlns:a="http://schemas.openxmlformats.org/drawingml/2006/main" w="28575">
            <a:solidFill>
              <a:srgbClr val="2447A6"/>
            </a:solidFill>
            <a:tailEnd type="triangle" w="med" len="med"/>
          </a:ln>
        </p:spPr>
      </p:cxnSp>
      <p:cxnSp>
        <p:nvCxnSpPr>
          <p:cNvPr id="19" name="">
            <a:extLst xmlns:a="http://schemas.openxmlformats.org/drawingml/2006/main">
              <a:ext uri="{FF2B5EF4-FFF2-40B4-BE49-F238E27FC236}">
                <a16:creationId xmlns:a16="http://schemas.microsoft.com/office/drawing/2014/main" id="{2360FF92-B0DB-4B28-8F0D-CBEB84CF9997}"/>
              </a:ext>
            </a:extLst>
          </p:cNvPr>
          <p:cNvCxnSpPr>
            <a:stCxn xmlns:a="http://schemas.openxmlformats.org/drawingml/2006/main" id="4" idx="3"/>
            <a:endCxn xmlns:a="http://schemas.openxmlformats.org/drawingml/2006/main" id="8" idx="1"/>
          </p:cNvCxnSpPr>
          <p:nvPr/>
        </p:nvCxnSpPr>
        <p:spPr>
          <a:xfrm xmlns:a="http://schemas.openxmlformats.org/drawingml/2006/main">
            <a:off x="3048000" y="2933700"/>
            <a:ext cx="457200" cy="0"/>
          </a:xfrm>
          <a:prstGeom xmlns:a="http://schemas.openxmlformats.org/drawingml/2006/main" prst="straightConnector1">
            <a:avLst/>
          </a:prstGeom>
          <a:ln xmlns:a="http://schemas.openxmlformats.org/drawingml/2006/main" w="28575">
            <a:solidFill>
              <a:srgbClr val="2447A6"/>
            </a:solidFill>
            <a:tailEnd type="triangle" w="med" len="med"/>
          </a:ln>
        </p:spPr>
      </p:cxnSp>
      <p:sp>
        <p:nvSpPr>
          <p:cNvPr id="28" name="">
            <a:extLst xmlns:a="http://schemas.openxmlformats.org/drawingml/2006/main">
              <a:ext uri="{FF2B5EF4-FFF2-40B4-BE49-F238E27FC236}">
                <a16:creationId xmlns:a16="http://schemas.microsoft.com/office/drawing/2014/main" id="{3905A7DE-922A-465A-8B37-28F18BD29035}"/>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442"/>
                </a:solidFill>
                <a:latin typeface="Arial"/>
                <a:ea typeface="Arial"/>
                <a:cs typeface="Arial"/>
              </a:defRPr>
            </a:defPPr>
          </a:lstStyle>
          <a:p xmlns:a="http://schemas.openxmlformats.org/drawingml/2006/main">
            <a:pPr>
              <a:buNone/>
              <a:defRPr sz="3300" b="1">
                <a:solidFill>
                  <a:srgbClr val="122442"/>
                </a:solidFill>
                <a:latin typeface="Arial"/>
                <a:ea typeface="Arial"/>
                <a:cs typeface="Arial"/>
              </a:defRPr>
            </a:pPr>
            <a:r>
              <a:rPr sz="3300" b="1">
                <a:solidFill>
                  <a:srgbClr val="122442"/>
                </a:solidFill>
                <a:latin typeface="Arial"/>
                <a:ea typeface="Arial"/>
                <a:cs typeface="Arial"/>
              </a:rPr>
              <a:t>SDD: Specify, Plan, Implement, Verify</a:t>
            </a:r>
          </a:p>
        </p:txBody>
      </p:sp>
      <p:sp>
        <p:nvSpPr>
          <p:cNvPr id="2" name="">
            <a:extLst xmlns:a="http://schemas.openxmlformats.org/drawingml/2006/main">
              <a:ext uri="{FF2B5EF4-FFF2-40B4-BE49-F238E27FC236}">
                <a16:creationId xmlns:a16="http://schemas.microsoft.com/office/drawing/2014/main" id="{E599B1CC-3DD3-4AC5-8451-EEECC0FC1225}"/>
              </a:ext>
            </a:extLst>
          </p:cNvPr>
          <p:cNvSpPr>
            <a:spLocks xmlns:a="http://schemas.openxmlformats.org/drawingml/2006/main" noGrp="1"/>
          </p:cNvSpPr>
          <p:nvPr/>
        </p:nvSpPr>
        <p:spPr>
          <a:xfrm xmlns:a="http://schemas.openxmlformats.org/drawingml/2006/main">
            <a:off x="685800" y="1504950"/>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2447A6"/>
                </a:solidFill>
                <a:latin typeface="Arial"/>
                <a:ea typeface="Arial"/>
                <a:cs typeface="Arial"/>
              </a:defRPr>
            </a:defPPr>
          </a:lstStyle>
          <a:p xmlns:a="http://schemas.openxmlformats.org/drawingml/2006/main">
            <a:pPr>
              <a:buNone/>
              <a:defRPr sz="2100" b="1">
                <a:solidFill>
                  <a:srgbClr val="2447A6"/>
                </a:solidFill>
                <a:latin typeface="Arial"/>
                <a:ea typeface="Arial"/>
                <a:cs typeface="Arial"/>
              </a:defRPr>
            </a:pPr>
            <a:r>
              <a:rPr sz="2100" b="1">
                <a:solidFill>
                  <a:srgbClr val="2447A6"/>
                </a:solidFill>
                <a:latin typeface="Arial"/>
                <a:ea typeface="Arial"/>
                <a:cs typeface="Arial"/>
              </a:rPr>
              <a:t>Four stages connecting business intent to verified behavior.</a:t>
            </a:r>
          </a:p>
        </p:txBody>
      </p:sp>
      <p:sp>
        <p:nvSpPr>
          <p:cNvPr id="3" name="">
            <a:extLst xmlns:a="http://schemas.openxmlformats.org/drawingml/2006/main">
              <a:ext uri="{FF2B5EF4-FFF2-40B4-BE49-F238E27FC236}">
                <a16:creationId xmlns:a16="http://schemas.microsoft.com/office/drawing/2014/main" id="{1CB44DFB-4247-48B2-B91C-7489E4A61FD1}"/>
              </a:ext>
            </a:extLst>
          </p:cNvPr>
          <p:cNvSpPr>
            <a:spLocks xmlns:a="http://schemas.openxmlformats.org/drawingml/2006/main" noGrp="1"/>
          </p:cNvSpPr>
          <p:nvPr/>
        </p:nvSpPr>
        <p:spPr>
          <a:xfrm xmlns:a="http://schemas.openxmlformats.org/drawingml/2006/main">
            <a:off x="685800" y="2133600"/>
            <a:ext cx="2362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2447A6"/>
                </a:solidFill>
                <a:latin typeface="Arial"/>
                <a:ea typeface="Arial"/>
                <a:cs typeface="Arial"/>
              </a:defRPr>
            </a:defPPr>
          </a:lstStyle>
          <a:p xmlns:a="http://schemas.openxmlformats.org/drawingml/2006/main">
            <a:pPr>
              <a:buNone/>
              <a:defRPr sz="1425" b="1">
                <a:solidFill>
                  <a:srgbClr val="2447A6"/>
                </a:solidFill>
                <a:latin typeface="Arial"/>
                <a:ea typeface="Arial"/>
                <a:cs typeface="Arial"/>
              </a:defRPr>
            </a:pPr>
            <a:r>
              <a:rPr sz="1425" b="1">
                <a:solidFill>
                  <a:srgbClr val="2447A6"/>
                </a:solidFill>
                <a:latin typeface="Arial"/>
                <a:ea typeface="Arial"/>
                <a:cs typeface="Arial"/>
              </a:rPr>
              <a:t>Human review</a:t>
            </a:r>
          </a:p>
        </p:txBody>
      </p:sp>
      <p:sp>
        <p:nvSpPr>
          <p:cNvPr id="4" name="">
            <a:extLst xmlns:a="http://schemas.openxmlformats.org/drawingml/2006/main">
              <a:ext uri="{FF2B5EF4-FFF2-40B4-BE49-F238E27FC236}">
                <a16:creationId xmlns:a16="http://schemas.microsoft.com/office/drawing/2014/main" id="{1552B6AC-2CA2-47CA-AEBB-6025CFD99430}"/>
              </a:ext>
            </a:extLst>
          </p:cNvPr>
          <p:cNvSpPr>
            <a:spLocks xmlns:a="http://schemas.openxmlformats.org/drawingml/2006/main" noGrp="1"/>
          </p:cNvSpPr>
          <p:nvPr/>
        </p:nvSpPr>
        <p:spPr>
          <a:xfrm xmlns:a="http://schemas.openxmlformats.org/drawingml/2006/main">
            <a:off x="685800" y="2562225"/>
            <a:ext cx="2362200" cy="742950"/>
          </a:xfrm>
          <a:prstGeom xmlns:a="http://schemas.openxmlformats.org/drawingml/2006/main" prst="roundRect">
            <a:avLst>
              <a:gd name="adj" fmla="val 20513"/>
            </a:avLst>
          </a:prstGeom>
          <a:solidFill xmlns:a="http://schemas.openxmlformats.org/drawingml/2006/main">
            <a:srgbClr val="2447A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7337889-A703-4CDE-815C-C1F112AE9425}"/>
              </a:ext>
            </a:extLst>
          </p:cNvPr>
          <p:cNvSpPr>
            <a:spLocks xmlns:a="http://schemas.openxmlformats.org/drawingml/2006/main" noGrp="1"/>
          </p:cNvSpPr>
          <p:nvPr/>
        </p:nvSpPr>
        <p:spPr>
          <a:xfrm xmlns:a="http://schemas.openxmlformats.org/drawingml/2006/main">
            <a:off x="857250" y="2724150"/>
            <a:ext cx="20193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Specify</a:t>
            </a:r>
          </a:p>
        </p:txBody>
      </p:sp>
      <p:sp>
        <p:nvSpPr>
          <p:cNvPr id="6" name="">
            <a:extLst xmlns:a="http://schemas.openxmlformats.org/drawingml/2006/main">
              <a:ext uri="{FF2B5EF4-FFF2-40B4-BE49-F238E27FC236}">
                <a16:creationId xmlns:a16="http://schemas.microsoft.com/office/drawing/2014/main" id="{4C5A6890-BE6D-42E7-AE3A-8006BEAE279C}"/>
              </a:ext>
            </a:extLst>
          </p:cNvPr>
          <p:cNvSpPr>
            <a:spLocks xmlns:a="http://schemas.openxmlformats.org/drawingml/2006/main" noGrp="1"/>
          </p:cNvSpPr>
          <p:nvPr/>
        </p:nvSpPr>
        <p:spPr>
          <a:xfrm xmlns:a="http://schemas.openxmlformats.org/drawingml/2006/main">
            <a:off x="685800" y="3924300"/>
            <a:ext cx="23622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22442"/>
                </a:solidFill>
                <a:latin typeface="Arial"/>
                <a:ea typeface="Arial"/>
                <a:cs typeface="Arial"/>
              </a:defRPr>
            </a:defPPr>
          </a:lstStyle>
          <a:p xmlns:a="http://schemas.openxmlformats.org/drawingml/2006/main">
            <a:pPr>
              <a:buNone/>
              <a:defRPr sz="1725" b="0">
                <a:solidFill>
                  <a:srgbClr val="122442"/>
                </a:solidFill>
                <a:latin typeface="Arial"/>
                <a:ea typeface="Arial"/>
                <a:cs typeface="Arial"/>
              </a:defRPr>
            </a:pPr>
            <a:r>
              <a:rPr sz="1725" b="0">
                <a:solidFill>
                  <a:srgbClr val="122442"/>
                </a:solidFill>
                <a:latin typeface="Arial"/>
                <a:ea typeface="Arial"/>
                <a:cs typeface="Arial"/>
              </a:rPr>
              <a:t>What should it do?</a:t>
            </a:r>
          </a:p>
          <a:p xmlns:a="http://schemas.openxmlformats.org/drawingml/2006/main">
            <a:pPr>
              <a:buNone/>
              <a:defRPr sz="1725" b="0">
                <a:solidFill>
                  <a:srgbClr val="122442"/>
                </a:solidFill>
                <a:latin typeface="Arial"/>
                <a:ea typeface="Arial"/>
                <a:cs typeface="Arial"/>
              </a:defRPr>
            </a:pPr>
            <a:r>
              <a:rPr sz="1725" b="0">
                <a:solidFill>
                  <a:srgbClr val="122442"/>
                </a:solidFill>
                <a:latin typeface="Arial"/>
                <a:ea typeface="Arial"/>
                <a:cs typeface="Arial"/>
              </a:rPr>
              <a:t>Requirements, rules</a:t>
            </a:r>
          </a:p>
          <a:p xmlns:a="http://schemas.openxmlformats.org/drawingml/2006/main">
            <a:pPr>
              <a:buNone/>
              <a:defRPr sz="1725" b="0">
                <a:solidFill>
                  <a:srgbClr val="122442"/>
                </a:solidFill>
                <a:latin typeface="Arial"/>
                <a:ea typeface="Arial"/>
                <a:cs typeface="Arial"/>
              </a:defRPr>
            </a:pPr>
            <a:r>
              <a:rPr sz="1725" b="0">
                <a:solidFill>
                  <a:srgbClr val="122442"/>
                </a:solidFill>
                <a:latin typeface="Arial"/>
                <a:ea typeface="Arial"/>
                <a:cs typeface="Arial"/>
              </a:rPr>
              <a:t>and acceptance criteria.</a:t>
            </a:r>
          </a:p>
        </p:txBody>
      </p:sp>
      <p:sp>
        <p:nvSpPr>
          <p:cNvPr id="7" name="">
            <a:extLst xmlns:a="http://schemas.openxmlformats.org/drawingml/2006/main">
              <a:ext uri="{FF2B5EF4-FFF2-40B4-BE49-F238E27FC236}">
                <a16:creationId xmlns:a16="http://schemas.microsoft.com/office/drawing/2014/main" id="{937098A5-3609-4148-9866-11639B7D7000}"/>
              </a:ext>
            </a:extLst>
          </p:cNvPr>
          <p:cNvSpPr>
            <a:spLocks xmlns:a="http://schemas.openxmlformats.org/drawingml/2006/main" noGrp="1"/>
          </p:cNvSpPr>
          <p:nvPr/>
        </p:nvSpPr>
        <p:spPr>
          <a:xfrm xmlns:a="http://schemas.openxmlformats.org/drawingml/2006/main">
            <a:off x="3505200" y="2133600"/>
            <a:ext cx="2362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7041B9"/>
                </a:solidFill>
                <a:latin typeface="Arial"/>
                <a:ea typeface="Arial"/>
                <a:cs typeface="Arial"/>
              </a:defRPr>
            </a:defPPr>
          </a:lstStyle>
          <a:p xmlns:a="http://schemas.openxmlformats.org/drawingml/2006/main">
            <a:pPr>
              <a:buNone/>
              <a:defRPr sz="1425" b="1">
                <a:solidFill>
                  <a:srgbClr val="7041B9"/>
                </a:solidFill>
                <a:latin typeface="Arial"/>
                <a:ea typeface="Arial"/>
                <a:cs typeface="Arial"/>
              </a:defRPr>
            </a:pPr>
            <a:r>
              <a:rPr sz="1425" b="1">
                <a:solidFill>
                  <a:srgbClr val="7041B9"/>
                </a:solidFill>
                <a:latin typeface="Arial"/>
                <a:ea typeface="Arial"/>
                <a:cs typeface="Arial"/>
              </a:rPr>
              <a:t>Human review</a:t>
            </a:r>
          </a:p>
        </p:txBody>
      </p:sp>
      <p:sp>
        <p:nvSpPr>
          <p:cNvPr id="8" name="">
            <a:extLst xmlns:a="http://schemas.openxmlformats.org/drawingml/2006/main">
              <a:ext uri="{FF2B5EF4-FFF2-40B4-BE49-F238E27FC236}">
                <a16:creationId xmlns:a16="http://schemas.microsoft.com/office/drawing/2014/main" id="{88C196BA-62B0-4F07-BEB1-D1156C23D5DC}"/>
              </a:ext>
            </a:extLst>
          </p:cNvPr>
          <p:cNvSpPr>
            <a:spLocks xmlns:a="http://schemas.openxmlformats.org/drawingml/2006/main" noGrp="1"/>
          </p:cNvSpPr>
          <p:nvPr/>
        </p:nvSpPr>
        <p:spPr>
          <a:xfrm xmlns:a="http://schemas.openxmlformats.org/drawingml/2006/main">
            <a:off x="3505200" y="2562225"/>
            <a:ext cx="2362200" cy="742950"/>
          </a:xfrm>
          <a:prstGeom xmlns:a="http://schemas.openxmlformats.org/drawingml/2006/main" prst="roundRect">
            <a:avLst>
              <a:gd name="adj" fmla="val 20513"/>
            </a:avLst>
          </a:prstGeom>
          <a:solidFill xmlns:a="http://schemas.openxmlformats.org/drawingml/2006/main">
            <a:srgbClr val="7041B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A62F212-F1FF-4B06-A8DA-7704537FB964}"/>
              </a:ext>
            </a:extLst>
          </p:cNvPr>
          <p:cNvSpPr>
            <a:spLocks xmlns:a="http://schemas.openxmlformats.org/drawingml/2006/main" noGrp="1"/>
          </p:cNvSpPr>
          <p:nvPr/>
        </p:nvSpPr>
        <p:spPr>
          <a:xfrm xmlns:a="http://schemas.openxmlformats.org/drawingml/2006/main">
            <a:off x="3676650" y="2724150"/>
            <a:ext cx="20193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Plan</a:t>
            </a:r>
          </a:p>
        </p:txBody>
      </p:sp>
      <p:sp>
        <p:nvSpPr>
          <p:cNvPr id="10" name="">
            <a:extLst xmlns:a="http://schemas.openxmlformats.org/drawingml/2006/main">
              <a:ext uri="{FF2B5EF4-FFF2-40B4-BE49-F238E27FC236}">
                <a16:creationId xmlns:a16="http://schemas.microsoft.com/office/drawing/2014/main" id="{E8E1CD87-DEEA-4CCD-A04A-83376280BCC9}"/>
              </a:ext>
            </a:extLst>
          </p:cNvPr>
          <p:cNvSpPr>
            <a:spLocks xmlns:a="http://schemas.openxmlformats.org/drawingml/2006/main" noGrp="1"/>
          </p:cNvSpPr>
          <p:nvPr/>
        </p:nvSpPr>
        <p:spPr>
          <a:xfrm xmlns:a="http://schemas.openxmlformats.org/drawingml/2006/main">
            <a:off x="3505200" y="3924300"/>
            <a:ext cx="23622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22442"/>
                </a:solidFill>
                <a:latin typeface="Arial"/>
                <a:ea typeface="Arial"/>
                <a:cs typeface="Arial"/>
              </a:defRPr>
            </a:defPPr>
          </a:lstStyle>
          <a:p xmlns:a="http://schemas.openxmlformats.org/drawingml/2006/main">
            <a:pPr>
              <a:buNone/>
              <a:defRPr sz="1725" b="0">
                <a:solidFill>
                  <a:srgbClr val="122442"/>
                </a:solidFill>
                <a:latin typeface="Arial"/>
                <a:ea typeface="Arial"/>
                <a:cs typeface="Arial"/>
              </a:defRPr>
            </a:pPr>
            <a:r>
              <a:rPr sz="1725" b="0">
                <a:solidFill>
                  <a:srgbClr val="122442"/>
                </a:solidFill>
                <a:latin typeface="Arial"/>
                <a:ea typeface="Arial"/>
                <a:cs typeface="Arial"/>
              </a:rPr>
              <a:t>How will we build it?</a:t>
            </a:r>
          </a:p>
          <a:p xmlns:a="http://schemas.openxmlformats.org/drawingml/2006/main">
            <a:pPr>
              <a:buNone/>
              <a:defRPr sz="1725" b="0">
                <a:solidFill>
                  <a:srgbClr val="122442"/>
                </a:solidFill>
                <a:latin typeface="Arial"/>
                <a:ea typeface="Arial"/>
                <a:cs typeface="Arial"/>
              </a:defRPr>
            </a:pPr>
            <a:r>
              <a:rPr sz="1725" b="0">
                <a:solidFill>
                  <a:srgbClr val="122442"/>
                </a:solidFill>
                <a:latin typeface="Arial"/>
                <a:ea typeface="Arial"/>
                <a:cs typeface="Arial"/>
              </a:rPr>
              <a:t>Technical choices</a:t>
            </a:r>
          </a:p>
          <a:p xmlns:a="http://schemas.openxmlformats.org/drawingml/2006/main">
            <a:pPr>
              <a:buNone/>
              <a:defRPr sz="1725" b="0">
                <a:solidFill>
                  <a:srgbClr val="122442"/>
                </a:solidFill>
                <a:latin typeface="Arial"/>
                <a:ea typeface="Arial"/>
                <a:cs typeface="Arial"/>
              </a:defRPr>
            </a:pPr>
            <a:r>
              <a:rPr sz="1725" b="0">
                <a:solidFill>
                  <a:srgbClr val="122442"/>
                </a:solidFill>
                <a:latin typeface="Arial"/>
                <a:ea typeface="Arial"/>
                <a:cs typeface="Arial"/>
              </a:rPr>
              <a:t>and small tasks.</a:t>
            </a:r>
          </a:p>
        </p:txBody>
      </p:sp>
      <p:sp>
        <p:nvSpPr>
          <p:cNvPr id="11" name="">
            <a:extLst xmlns:a="http://schemas.openxmlformats.org/drawingml/2006/main">
              <a:ext uri="{FF2B5EF4-FFF2-40B4-BE49-F238E27FC236}">
                <a16:creationId xmlns:a16="http://schemas.microsoft.com/office/drawing/2014/main" id="{2707B06B-ECBD-4543-B268-12452437648F}"/>
              </a:ext>
            </a:extLst>
          </p:cNvPr>
          <p:cNvSpPr>
            <a:spLocks xmlns:a="http://schemas.openxmlformats.org/drawingml/2006/main" noGrp="1"/>
          </p:cNvSpPr>
          <p:nvPr/>
        </p:nvSpPr>
        <p:spPr>
          <a:xfrm xmlns:a="http://schemas.openxmlformats.org/drawingml/2006/main">
            <a:off x="6324600" y="2133600"/>
            <a:ext cx="2362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37957"/>
                </a:solidFill>
                <a:latin typeface="Arial"/>
                <a:ea typeface="Arial"/>
                <a:cs typeface="Arial"/>
              </a:defRPr>
            </a:defPPr>
          </a:lstStyle>
          <a:p xmlns:a="http://schemas.openxmlformats.org/drawingml/2006/main">
            <a:pPr>
              <a:buNone/>
              <a:defRPr sz="1425" b="1">
                <a:solidFill>
                  <a:srgbClr val="137957"/>
                </a:solidFill>
                <a:latin typeface="Arial"/>
                <a:ea typeface="Arial"/>
                <a:cs typeface="Arial"/>
              </a:defRPr>
            </a:pPr>
            <a:r>
              <a:rPr sz="1425" b="1">
                <a:solidFill>
                  <a:srgbClr val="137957"/>
                </a:solidFill>
                <a:latin typeface="Arial"/>
                <a:ea typeface="Arial"/>
                <a:cs typeface="Arial"/>
              </a:rPr>
              <a:t>Human review</a:t>
            </a:r>
          </a:p>
        </p:txBody>
      </p:sp>
      <p:sp>
        <p:nvSpPr>
          <p:cNvPr id="12" name="">
            <a:extLst xmlns:a="http://schemas.openxmlformats.org/drawingml/2006/main">
              <a:ext uri="{FF2B5EF4-FFF2-40B4-BE49-F238E27FC236}">
                <a16:creationId xmlns:a16="http://schemas.microsoft.com/office/drawing/2014/main" id="{07B8751A-335B-4F75-9279-CF40FACDFED5}"/>
              </a:ext>
            </a:extLst>
          </p:cNvPr>
          <p:cNvSpPr>
            <a:spLocks xmlns:a="http://schemas.openxmlformats.org/drawingml/2006/main" noGrp="1"/>
          </p:cNvSpPr>
          <p:nvPr/>
        </p:nvSpPr>
        <p:spPr>
          <a:xfrm xmlns:a="http://schemas.openxmlformats.org/drawingml/2006/main">
            <a:off x="6324600" y="2562225"/>
            <a:ext cx="2362200" cy="742950"/>
          </a:xfrm>
          <a:prstGeom xmlns:a="http://schemas.openxmlformats.org/drawingml/2006/main" prst="roundRect">
            <a:avLst>
              <a:gd name="adj" fmla="val 20513"/>
            </a:avLst>
          </a:prstGeom>
          <a:solidFill xmlns:a="http://schemas.openxmlformats.org/drawingml/2006/main">
            <a:srgbClr val="13795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294D2D0-0346-4703-88E5-1ED6239803F0}"/>
              </a:ext>
            </a:extLst>
          </p:cNvPr>
          <p:cNvSpPr>
            <a:spLocks xmlns:a="http://schemas.openxmlformats.org/drawingml/2006/main" noGrp="1"/>
          </p:cNvSpPr>
          <p:nvPr/>
        </p:nvSpPr>
        <p:spPr>
          <a:xfrm xmlns:a="http://schemas.openxmlformats.org/drawingml/2006/main">
            <a:off x="6496050" y="2724150"/>
            <a:ext cx="20193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Implement</a:t>
            </a:r>
          </a:p>
        </p:txBody>
      </p:sp>
      <p:sp>
        <p:nvSpPr>
          <p:cNvPr id="14" name="">
            <a:extLst xmlns:a="http://schemas.openxmlformats.org/drawingml/2006/main">
              <a:ext uri="{FF2B5EF4-FFF2-40B4-BE49-F238E27FC236}">
                <a16:creationId xmlns:a16="http://schemas.microsoft.com/office/drawing/2014/main" id="{0E0CF038-F5A8-4236-9519-23574D4F6269}"/>
              </a:ext>
            </a:extLst>
          </p:cNvPr>
          <p:cNvSpPr>
            <a:spLocks xmlns:a="http://schemas.openxmlformats.org/drawingml/2006/main" noGrp="1"/>
          </p:cNvSpPr>
          <p:nvPr/>
        </p:nvSpPr>
        <p:spPr>
          <a:xfrm xmlns:a="http://schemas.openxmlformats.org/drawingml/2006/main">
            <a:off x="6324600" y="3924300"/>
            <a:ext cx="23622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22442"/>
                </a:solidFill>
                <a:latin typeface="Arial"/>
                <a:ea typeface="Arial"/>
                <a:cs typeface="Arial"/>
              </a:defRPr>
            </a:defPPr>
          </a:lstStyle>
          <a:p xmlns:a="http://schemas.openxmlformats.org/drawingml/2006/main">
            <a:pPr>
              <a:buNone/>
              <a:defRPr sz="1725" b="0">
                <a:solidFill>
                  <a:srgbClr val="122442"/>
                </a:solidFill>
                <a:latin typeface="Arial"/>
                <a:ea typeface="Arial"/>
                <a:cs typeface="Arial"/>
              </a:defRPr>
            </a:pPr>
            <a:r>
              <a:rPr sz="1725" b="0">
                <a:solidFill>
                  <a:srgbClr val="122442"/>
                </a:solidFill>
                <a:latin typeface="Arial"/>
                <a:ea typeface="Arial"/>
                <a:cs typeface="Arial"/>
              </a:rPr>
              <a:t>The agent implements</a:t>
            </a:r>
          </a:p>
          <a:p xmlns:a="http://schemas.openxmlformats.org/drawingml/2006/main">
            <a:pPr>
              <a:buNone/>
              <a:defRPr sz="1725" b="0">
                <a:solidFill>
                  <a:srgbClr val="122442"/>
                </a:solidFill>
                <a:latin typeface="Arial"/>
                <a:ea typeface="Arial"/>
                <a:cs typeface="Arial"/>
              </a:defRPr>
            </a:pPr>
            <a:r>
              <a:rPr sz="1725" b="0">
                <a:solidFill>
                  <a:srgbClr val="122442"/>
                </a:solidFill>
                <a:latin typeface="Arial"/>
                <a:ea typeface="Arial"/>
                <a:cs typeface="Arial"/>
              </a:rPr>
              <a:t>the tasks and writes</a:t>
            </a:r>
          </a:p>
          <a:p xmlns:a="http://schemas.openxmlformats.org/drawingml/2006/main">
            <a:pPr>
              <a:buNone/>
              <a:defRPr sz="1725" b="0">
                <a:solidFill>
                  <a:srgbClr val="122442"/>
                </a:solidFill>
                <a:latin typeface="Arial"/>
                <a:ea typeface="Arial"/>
                <a:cs typeface="Arial"/>
              </a:defRPr>
            </a:pPr>
            <a:r>
              <a:rPr sz="1725" b="0">
                <a:solidFill>
                  <a:srgbClr val="122442"/>
                </a:solidFill>
                <a:latin typeface="Arial"/>
                <a:ea typeface="Arial"/>
                <a:cs typeface="Arial"/>
              </a:rPr>
              <a:t>unit tests.</a:t>
            </a:r>
          </a:p>
        </p:txBody>
      </p:sp>
      <p:sp>
        <p:nvSpPr>
          <p:cNvPr id="15" name="">
            <a:extLst xmlns:a="http://schemas.openxmlformats.org/drawingml/2006/main">
              <a:ext uri="{FF2B5EF4-FFF2-40B4-BE49-F238E27FC236}">
                <a16:creationId xmlns:a16="http://schemas.microsoft.com/office/drawing/2014/main" id="{5BB6AFA9-E1B7-4F31-BF9A-3593C5BEEE59}"/>
              </a:ext>
            </a:extLst>
          </p:cNvPr>
          <p:cNvSpPr>
            <a:spLocks xmlns:a="http://schemas.openxmlformats.org/drawingml/2006/main" noGrp="1"/>
          </p:cNvSpPr>
          <p:nvPr/>
        </p:nvSpPr>
        <p:spPr>
          <a:xfrm xmlns:a="http://schemas.openxmlformats.org/drawingml/2006/main">
            <a:off x="9144000" y="2133600"/>
            <a:ext cx="2362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067E96"/>
                </a:solidFill>
                <a:latin typeface="Arial"/>
                <a:ea typeface="Arial"/>
                <a:cs typeface="Arial"/>
              </a:defRPr>
            </a:defPPr>
          </a:lstStyle>
          <a:p xmlns:a="http://schemas.openxmlformats.org/drawingml/2006/main">
            <a:pPr>
              <a:buNone/>
              <a:defRPr sz="1425" b="1">
                <a:solidFill>
                  <a:srgbClr val="067E96"/>
                </a:solidFill>
                <a:latin typeface="Arial"/>
                <a:ea typeface="Arial"/>
                <a:cs typeface="Arial"/>
              </a:defRPr>
            </a:pPr>
            <a:r>
              <a:rPr sz="1425" b="1">
                <a:solidFill>
                  <a:srgbClr val="067E96"/>
                </a:solidFill>
                <a:latin typeface="Arial"/>
                <a:ea typeface="Arial"/>
                <a:cs typeface="Arial"/>
              </a:rPr>
              <a:t>Automated + human</a:t>
            </a:r>
          </a:p>
        </p:txBody>
      </p:sp>
      <p:sp>
        <p:nvSpPr>
          <p:cNvPr id="16" name="">
            <a:extLst xmlns:a="http://schemas.openxmlformats.org/drawingml/2006/main">
              <a:ext uri="{FF2B5EF4-FFF2-40B4-BE49-F238E27FC236}">
                <a16:creationId xmlns:a16="http://schemas.microsoft.com/office/drawing/2014/main" id="{7840C6B5-6111-4E04-9431-7F720608AB3F}"/>
              </a:ext>
            </a:extLst>
          </p:cNvPr>
          <p:cNvSpPr>
            <a:spLocks xmlns:a="http://schemas.openxmlformats.org/drawingml/2006/main" noGrp="1"/>
          </p:cNvSpPr>
          <p:nvPr/>
        </p:nvSpPr>
        <p:spPr>
          <a:xfrm xmlns:a="http://schemas.openxmlformats.org/drawingml/2006/main">
            <a:off x="9144000" y="2562225"/>
            <a:ext cx="2362200" cy="742950"/>
          </a:xfrm>
          <a:prstGeom xmlns:a="http://schemas.openxmlformats.org/drawingml/2006/main" prst="roundRect">
            <a:avLst>
              <a:gd name="adj" fmla="val 20513"/>
            </a:avLst>
          </a:prstGeom>
          <a:solidFill xmlns:a="http://schemas.openxmlformats.org/drawingml/2006/main">
            <a:srgbClr val="067E96"/>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A5B2357-AB60-4851-8B97-0E409009D76C}"/>
              </a:ext>
            </a:extLst>
          </p:cNvPr>
          <p:cNvSpPr>
            <a:spLocks xmlns:a="http://schemas.openxmlformats.org/drawingml/2006/main" noGrp="1"/>
          </p:cNvSpPr>
          <p:nvPr/>
        </p:nvSpPr>
        <p:spPr>
          <a:xfrm xmlns:a="http://schemas.openxmlformats.org/drawingml/2006/main">
            <a:off x="9315450" y="2724150"/>
            <a:ext cx="20193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Verify</a:t>
            </a:r>
          </a:p>
        </p:txBody>
      </p:sp>
      <p:sp>
        <p:nvSpPr>
          <p:cNvPr id="18" name="">
            <a:extLst xmlns:a="http://schemas.openxmlformats.org/drawingml/2006/main">
              <a:ext uri="{FF2B5EF4-FFF2-40B4-BE49-F238E27FC236}">
                <a16:creationId xmlns:a16="http://schemas.microsoft.com/office/drawing/2014/main" id="{596E06E4-CFE9-4210-BF11-72DEA8125994}"/>
              </a:ext>
            </a:extLst>
          </p:cNvPr>
          <p:cNvSpPr>
            <a:spLocks xmlns:a="http://schemas.openxmlformats.org/drawingml/2006/main" noGrp="1"/>
          </p:cNvSpPr>
          <p:nvPr/>
        </p:nvSpPr>
        <p:spPr>
          <a:xfrm xmlns:a="http://schemas.openxmlformats.org/drawingml/2006/main">
            <a:off x="9144000" y="3924300"/>
            <a:ext cx="23622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22442"/>
                </a:solidFill>
                <a:latin typeface="Arial"/>
                <a:ea typeface="Arial"/>
                <a:cs typeface="Arial"/>
              </a:defRPr>
            </a:defPPr>
          </a:lstStyle>
          <a:p xmlns:a="http://schemas.openxmlformats.org/drawingml/2006/main">
            <a:pPr>
              <a:buNone/>
              <a:defRPr sz="1725" b="0">
                <a:solidFill>
                  <a:srgbClr val="122442"/>
                </a:solidFill>
                <a:latin typeface="Arial"/>
                <a:ea typeface="Arial"/>
                <a:cs typeface="Arial"/>
              </a:defRPr>
            </a:pPr>
            <a:r>
              <a:rPr sz="1725" b="0">
                <a:solidFill>
                  <a:srgbClr val="122442"/>
                </a:solidFill>
                <a:latin typeface="Arial"/>
                <a:ea typeface="Arial"/>
                <a:cs typeface="Arial"/>
              </a:rPr>
              <a:t>Tests and human review</a:t>
            </a:r>
          </a:p>
          <a:p xmlns:a="http://schemas.openxmlformats.org/drawingml/2006/main">
            <a:pPr>
              <a:buNone/>
              <a:defRPr sz="1725" b="0">
                <a:solidFill>
                  <a:srgbClr val="122442"/>
                </a:solidFill>
                <a:latin typeface="Arial"/>
                <a:ea typeface="Arial"/>
                <a:cs typeface="Arial"/>
              </a:defRPr>
            </a:pPr>
            <a:r>
              <a:rPr sz="1725" b="0">
                <a:solidFill>
                  <a:srgbClr val="122442"/>
                </a:solidFill>
                <a:latin typeface="Arial"/>
                <a:ea typeface="Arial"/>
                <a:cs typeface="Arial"/>
              </a:rPr>
              <a:t>check the result</a:t>
            </a:r>
          </a:p>
          <a:p xmlns:a="http://schemas.openxmlformats.org/drawingml/2006/main">
            <a:pPr>
              <a:buNone/>
              <a:defRPr sz="1725" b="0">
                <a:solidFill>
                  <a:srgbClr val="122442"/>
                </a:solidFill>
                <a:latin typeface="Arial"/>
                <a:ea typeface="Arial"/>
                <a:cs typeface="Arial"/>
              </a:defRPr>
            </a:pPr>
            <a:r>
              <a:rPr sz="1725" b="0">
                <a:solidFill>
                  <a:srgbClr val="122442"/>
                </a:solidFill>
                <a:latin typeface="Arial"/>
                <a:ea typeface="Arial"/>
                <a:cs typeface="Arial"/>
              </a:rPr>
              <a:t>against the spec.</a:t>
            </a:r>
          </a:p>
        </p:txBody>
      </p:sp>
      <p:sp>
        <p:nvSpPr>
          <p:cNvPr id="23" name="">
            <a:extLst xmlns:a="http://schemas.openxmlformats.org/drawingml/2006/main">
              <a:ext uri="{FF2B5EF4-FFF2-40B4-BE49-F238E27FC236}">
                <a16:creationId xmlns:a16="http://schemas.microsoft.com/office/drawing/2014/main" id="{5F29045F-786A-4054-A1BB-E4A9449E9649}"/>
              </a:ext>
            </a:extLst>
          </p:cNvPr>
          <p:cNvSpPr>
            <a:spLocks xmlns:a="http://schemas.openxmlformats.org/drawingml/2006/main" noGrp="1"/>
          </p:cNvSpPr>
          <p:nvPr/>
        </p:nvSpPr>
        <p:spPr>
          <a:xfrm xmlns:a="http://schemas.openxmlformats.org/drawingml/2006/main">
            <a:off x="3105150" y="3467100"/>
            <a:ext cx="619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4D5C74"/>
                </a:solidFill>
                <a:latin typeface="Arial"/>
                <a:ea typeface="Arial"/>
                <a:cs typeface="Arial"/>
              </a:defRPr>
            </a:defPPr>
          </a:lstStyle>
          <a:p xmlns:a="http://schemas.openxmlformats.org/drawingml/2006/main">
            <a:pPr>
              <a:buNone/>
              <a:defRPr sz="1725" b="1">
                <a:solidFill>
                  <a:srgbClr val="4D5C74"/>
                </a:solidFill>
                <a:latin typeface="Arial"/>
                <a:ea typeface="Arial"/>
                <a:cs typeface="Arial"/>
              </a:defRPr>
            </a:pPr>
            <a:r>
              <a:rPr sz="1725" b="1">
                <a:solidFill>
                  <a:srgbClr val="4D5C74"/>
                </a:solidFill>
                <a:latin typeface="Arial"/>
                <a:ea typeface="Arial"/>
                <a:cs typeface="Arial"/>
              </a:rPr>
              <a:t>Revisit the spec when needed</a:t>
            </a:r>
          </a:p>
        </p:txBody>
      </p:sp>
      <p:sp>
        <p:nvSpPr>
          <p:cNvPr id="24" name="">
            <a:extLst xmlns:a="http://schemas.openxmlformats.org/drawingml/2006/main">
              <a:ext uri="{FF2B5EF4-FFF2-40B4-BE49-F238E27FC236}">
                <a16:creationId xmlns:a16="http://schemas.microsoft.com/office/drawing/2014/main" id="{26E10D2D-6096-4D26-A425-E27A13CC7DE9}"/>
              </a:ext>
            </a:extLst>
          </p:cNvPr>
          <p:cNvSpPr>
            <a:spLocks xmlns:a="http://schemas.openxmlformats.org/drawingml/2006/main" noGrp="1"/>
          </p:cNvSpPr>
          <p:nvPr/>
        </p:nvSpPr>
        <p:spPr>
          <a:xfrm xmlns:a="http://schemas.openxmlformats.org/drawingml/2006/main">
            <a:off x="685800" y="543877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2447A6"/>
                </a:solidFill>
                <a:latin typeface="Arial"/>
                <a:ea typeface="Arial"/>
                <a:cs typeface="Arial"/>
              </a:defRPr>
            </a:defPPr>
          </a:lstStyle>
          <a:p xmlns:a="http://schemas.openxmlformats.org/drawingml/2006/main">
            <a:pPr>
              <a:buNone/>
              <a:defRPr sz="2325" b="1">
                <a:solidFill>
                  <a:srgbClr val="2447A6"/>
                </a:solidFill>
                <a:latin typeface="Arial"/>
                <a:ea typeface="Arial"/>
                <a:cs typeface="Arial"/>
              </a:defRPr>
            </a:pPr>
            <a:r>
              <a:rPr sz="2325" b="1">
                <a:solidFill>
                  <a:srgbClr val="2447A6"/>
                </a:solidFill>
                <a:latin typeface="Arial"/>
                <a:ea typeface="Arial"/>
                <a:cs typeface="Arial"/>
              </a:rPr>
              <a:t>In the demo: one spec.md for the whole workflow</a:t>
            </a:r>
          </a:p>
        </p:txBody>
      </p:sp>
      <p:sp>
        <p:nvSpPr>
          <p:cNvPr id="25" name="">
            <a:extLst xmlns:a="http://schemas.openxmlformats.org/drawingml/2006/main">
              <a:ext uri="{FF2B5EF4-FFF2-40B4-BE49-F238E27FC236}">
                <a16:creationId xmlns:a16="http://schemas.microsoft.com/office/drawing/2014/main" id="{F5E5A1F3-787E-49EE-9CCB-6367BA449956}"/>
              </a:ext>
            </a:extLst>
          </p:cNvPr>
          <p:cNvSpPr>
            <a:spLocks xmlns:a="http://schemas.openxmlformats.org/drawingml/2006/main" noGrp="1"/>
          </p:cNvSpPr>
          <p:nvPr/>
        </p:nvSpPr>
        <p:spPr>
          <a:xfrm xmlns:a="http://schemas.openxmlformats.org/drawingml/2006/main">
            <a:off x="685800" y="592455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122442"/>
                </a:solidFill>
                <a:latin typeface="Arial"/>
                <a:ea typeface="Arial"/>
                <a:cs typeface="Arial"/>
              </a:defRPr>
            </a:defPPr>
          </a:lstStyle>
          <a:p xmlns:a="http://schemas.openxmlformats.org/drawingml/2006/main">
            <a:pPr>
              <a:buNone/>
              <a:defRPr sz="1875" b="0">
                <a:solidFill>
                  <a:srgbClr val="122442"/>
                </a:solidFill>
                <a:latin typeface="Arial"/>
                <a:ea typeface="Arial"/>
                <a:cs typeface="Arial"/>
              </a:defRPr>
            </a:pPr>
            <a:r>
              <a:rPr sz="1875" b="0">
                <a:solidFill>
                  <a:srgbClr val="122442"/>
                </a:solidFill>
                <a:latin typeface="Arial"/>
                <a:ea typeface="Arial"/>
                <a:cs typeface="Arial"/>
              </a:rPr>
              <a:t>Requirements, acceptance criteria, technical notes and tasks in one document.</a:t>
            </a:r>
          </a:p>
        </p:txBody>
      </p:sp>
      <p:sp>
        <p:nvSpPr>
          <p:cNvPr id="26" name="">
            <a:extLst xmlns:a="http://schemas.openxmlformats.org/drawingml/2006/main">
              <a:ext uri="{FF2B5EF4-FFF2-40B4-BE49-F238E27FC236}">
                <a16:creationId xmlns:a16="http://schemas.microsoft.com/office/drawing/2014/main" id="{B869A4C4-BE06-4FC1-99F5-53A54793FF28}"/>
              </a:ext>
            </a:extLst>
          </p:cNvPr>
          <p:cNvSpPr>
            <a:spLocks xmlns:a="http://schemas.openxmlformats.org/drawingml/2006/main" noGrp="1"/>
          </p:cNvSpPr>
          <p:nvPr/>
        </p:nvSpPr>
        <p:spPr>
          <a:xfrm xmlns:a="http://schemas.openxmlformats.org/drawingml/2006/main">
            <a:off x="685800" y="634365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4D5C74"/>
                </a:solidFill>
                <a:latin typeface="Arial"/>
                <a:ea typeface="Arial"/>
                <a:cs typeface="Arial"/>
              </a:defRPr>
            </a:defPPr>
          </a:lstStyle>
          <a:p xmlns:a="http://schemas.openxmlformats.org/drawingml/2006/main">
            <a:pPr>
              <a:buNone/>
              <a:defRPr sz="1425" b="0">
                <a:solidFill>
                  <a:srgbClr val="4D5C74"/>
                </a:solidFill>
                <a:latin typeface="Arial"/>
                <a:ea typeface="Arial"/>
                <a:cs typeface="Arial"/>
              </a:defRPr>
            </a:pPr>
            <a:r>
              <a:rPr sz="1425" b="0">
                <a:solidFill>
                  <a:srgbClr val="4D5C74"/>
                </a:solidFill>
                <a:latin typeface="Arial"/>
                <a:ea typeface="Arial"/>
                <a:cs typeface="Arial"/>
              </a:rPr>
              <a:t>Draft until human approval. Then: Ready for implementation.</a:t>
            </a:r>
          </a:p>
        </p:txBody>
      </p:sp>
      <p:sp>
        <p:nvSpPr>
          <p:cNvPr id="27" name="">
            <a:extLst xmlns:a="http://schemas.openxmlformats.org/drawingml/2006/main">
              <a:ext uri="{FF2B5EF4-FFF2-40B4-BE49-F238E27FC236}">
                <a16:creationId xmlns:a16="http://schemas.microsoft.com/office/drawing/2014/main" id="{ED22CD75-8CF3-4C26-93D0-87FB9A4F6BCA}"/>
              </a:ext>
            </a:extLst>
          </p:cNvPr>
          <p:cNvSpPr>
            <a:spLocks xmlns:a="http://schemas.openxmlformats.org/drawingml/2006/main" noGrp="1"/>
          </p:cNvSpPr>
          <p:nvPr/>
        </p:nvSpPr>
        <p:spPr>
          <a:xfrm xmlns:a="http://schemas.openxmlformats.org/drawingml/2006/main">
            <a:off x="11049000" y="64008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4D5C74"/>
                </a:solidFill>
                <a:latin typeface="Arial"/>
                <a:ea typeface="Arial"/>
                <a:cs typeface="Arial"/>
              </a:defRPr>
            </a:defPPr>
          </a:lstStyle>
          <a:p xmlns:a="http://schemas.openxmlformats.org/drawingml/2006/main">
            <a:pPr>
              <a:buNone/>
              <a:defRPr sz="1275" b="0">
                <a:solidFill>
                  <a:srgbClr val="4D5C74"/>
                </a:solidFill>
                <a:latin typeface="Arial"/>
                <a:ea typeface="Arial"/>
                <a:cs typeface="Arial"/>
              </a:defRPr>
            </a:pPr>
            <a:r>
              <a:rPr sz="1275" b="0">
                <a:solidFill>
                  <a:srgbClr val="4D5C74"/>
                </a:solidFill>
                <a:latin typeface="Arial"/>
                <a:ea typeface="Arial"/>
                <a:cs typeface="Arial"/>
              </a:rPr>
              <a:t>06</a:t>
            </a:r>
          </a:p>
        </p:txBody>
      </p:sp>
    </p:spTree>
    <p:extLst>
      <p:ext uri="{BB962C8B-B14F-4D97-AF65-F5344CB8AC3E}">
        <p14:creationId xmlns:p14="http://schemas.microsoft.com/office/powerpoint/2010/main" val="282994395"/>
      </p:ext>
    </p:extLst>
  </p:cSld>
</p:sld>
</file>

<file path=ppt/slides/slide7.xml><?xml version="1.0" encoding="utf-8"?>
<p:sld xmlns:p="http://schemas.openxmlformats.org/presentationml/2006/main">
  <p:cSld>
    <p:bg>
      <p:bgPr>
        <a:gradFill xmlns:a="http://schemas.openxmlformats.org/drawingml/2006/main">
          <a:gsLst>
            <a:gs pos="0">
              <a:srgbClr val="FFFFFF"/>
            </a:gs>
            <a:gs pos="60000">
              <a:srgbClr val="EDF4FF"/>
            </a:gs>
            <a:gs pos="100000">
              <a:srgbClr val="E5DAFA"/>
            </a:gs>
          </a:gsLst>
          <a:lin ang="1500000"/>
        </a:gra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CDD13A46-D666-4E15-9730-921D4615BE03}"/>
              </a:ext>
            </a:extLst>
          </p:cNvPr>
          <p:cNvCxnSpPr>
            <a:stCxn xmlns:a="http://schemas.openxmlformats.org/drawingml/2006/main" id="14" idx="3"/>
            <a:endCxn xmlns:a="http://schemas.openxmlformats.org/drawingml/2006/main" id="17" idx="2"/>
          </p:cNvCxnSpPr>
          <p:nvPr/>
        </p:nvCxnSpPr>
        <p:spPr>
          <a:xfrm xmlns:a="http://schemas.openxmlformats.org/drawingml/2006/main" flipV="1">
            <a:off x="5781675" y="4095750"/>
            <a:ext cx="4276725" cy="1557338"/>
          </a:xfrm>
          <a:prstGeom xmlns:a="http://schemas.openxmlformats.org/drawingml/2006/main" prst="bentConnector4">
            <a:avLst>
              <a:gd name="adj1" fmla="val 5345"/>
              <a:gd name="adj2" fmla="val 85321"/>
            </a:avLst>
          </a:prstGeom>
          <a:ln xmlns:a="http://schemas.openxmlformats.org/drawingml/2006/main" w="28575">
            <a:solidFill>
              <a:srgbClr val="067E96"/>
            </a:solidFill>
            <a:tailEnd type="triangle" w="med" len="med"/>
          </a:ln>
        </p:spPr>
      </p:cxnSp>
      <p:cxnSp>
        <p:nvCxnSpPr>
          <p:cNvPr id="22" name="">
            <a:extLst xmlns:a="http://schemas.openxmlformats.org/drawingml/2006/main">
              <a:ext uri="{FF2B5EF4-FFF2-40B4-BE49-F238E27FC236}">
                <a16:creationId xmlns:a16="http://schemas.microsoft.com/office/drawing/2014/main" id="{C49E280A-5E1E-45EC-9733-C3416E2A446E}"/>
              </a:ext>
            </a:extLst>
          </p:cNvPr>
          <p:cNvCxnSpPr>
            <a:stCxn xmlns:a="http://schemas.openxmlformats.org/drawingml/2006/main" id="11" idx="3"/>
            <a:endCxn xmlns:a="http://schemas.openxmlformats.org/drawingml/2006/main" id="17" idx="1"/>
          </p:cNvCxnSpPr>
          <p:nvPr/>
        </p:nvCxnSpPr>
        <p:spPr>
          <a:xfrm xmlns:a="http://schemas.openxmlformats.org/drawingml/2006/main" flipV="1">
            <a:off x="5781675" y="3562350"/>
            <a:ext cx="2828925" cy="1157288"/>
          </a:xfrm>
          <a:prstGeom xmlns:a="http://schemas.openxmlformats.org/drawingml/2006/main" prst="bentConnector3">
            <a:avLst>
              <a:gd name="adj1" fmla="val 50000"/>
            </a:avLst>
          </a:prstGeom>
          <a:ln xmlns:a="http://schemas.openxmlformats.org/drawingml/2006/main" w="28575">
            <a:solidFill>
              <a:srgbClr val="067E96"/>
            </a:solidFill>
            <a:tailEnd type="triangle" w="med" len="med"/>
          </a:ln>
        </p:spPr>
      </p:cxnSp>
      <p:cxnSp>
        <p:nvCxnSpPr>
          <p:cNvPr id="21" name="">
            <a:extLst xmlns:a="http://schemas.openxmlformats.org/drawingml/2006/main">
              <a:ext uri="{FF2B5EF4-FFF2-40B4-BE49-F238E27FC236}">
                <a16:creationId xmlns:a16="http://schemas.microsoft.com/office/drawing/2014/main" id="{A670D7B6-4590-4987-903E-2ED0B27F8D19}"/>
              </a:ext>
            </a:extLst>
          </p:cNvPr>
          <p:cNvCxnSpPr>
            <a:stCxn xmlns:a="http://schemas.openxmlformats.org/drawingml/2006/main" id="8" idx="3"/>
            <a:endCxn xmlns:a="http://schemas.openxmlformats.org/drawingml/2006/main" id="17" idx="1"/>
          </p:cNvCxnSpPr>
          <p:nvPr/>
        </p:nvCxnSpPr>
        <p:spPr>
          <a:xfrm xmlns:a="http://schemas.openxmlformats.org/drawingml/2006/main" flipV="1">
            <a:off x="5781675" y="3562350"/>
            <a:ext cx="2828925" cy="223838"/>
          </a:xfrm>
          <a:prstGeom xmlns:a="http://schemas.openxmlformats.org/drawingml/2006/main" prst="bentConnector3">
            <a:avLst>
              <a:gd name="adj1" fmla="val 50000"/>
            </a:avLst>
          </a:prstGeom>
          <a:ln xmlns:a="http://schemas.openxmlformats.org/drawingml/2006/main" w="28575">
            <a:solidFill>
              <a:srgbClr val="7041B9"/>
            </a:solidFill>
            <a:tailEnd type="triangle" w="med" len="med"/>
          </a:ln>
        </p:spPr>
      </p:cxnSp>
      <p:cxnSp>
        <p:nvCxnSpPr>
          <p:cNvPr id="20" name="">
            <a:extLst xmlns:a="http://schemas.openxmlformats.org/drawingml/2006/main">
              <a:ext uri="{FF2B5EF4-FFF2-40B4-BE49-F238E27FC236}">
                <a16:creationId xmlns:a16="http://schemas.microsoft.com/office/drawing/2014/main" id="{E7E62C6F-27A8-4830-A9FA-5E2C33021660}"/>
              </a:ext>
            </a:extLst>
          </p:cNvPr>
          <p:cNvCxnSpPr>
            <a:stCxn xmlns:a="http://schemas.openxmlformats.org/drawingml/2006/main" id="5" idx="3"/>
            <a:endCxn xmlns:a="http://schemas.openxmlformats.org/drawingml/2006/main" id="17" idx="1"/>
          </p:cNvCxnSpPr>
          <p:nvPr/>
        </p:nvCxnSpPr>
        <p:spPr>
          <a:xfrm xmlns:a="http://schemas.openxmlformats.org/drawingml/2006/main">
            <a:off x="5781675" y="2852738"/>
            <a:ext cx="2828925" cy="709613"/>
          </a:xfrm>
          <a:prstGeom xmlns:a="http://schemas.openxmlformats.org/drawingml/2006/main" prst="bentConnector3">
            <a:avLst>
              <a:gd name="adj1" fmla="val 50000"/>
            </a:avLst>
          </a:prstGeom>
          <a:ln xmlns:a="http://schemas.openxmlformats.org/drawingml/2006/main" w="28575">
            <a:solidFill>
              <a:srgbClr val="7041B9"/>
            </a:solidFill>
            <a:tailEnd type="triangle" w="med" len="med"/>
          </a:ln>
        </p:spPr>
      </p:cxnSp>
      <p:cxnSp>
        <p:nvCxnSpPr>
          <p:cNvPr id="19" name="">
            <a:extLst xmlns:a="http://schemas.openxmlformats.org/drawingml/2006/main">
              <a:ext uri="{FF2B5EF4-FFF2-40B4-BE49-F238E27FC236}">
                <a16:creationId xmlns:a16="http://schemas.microsoft.com/office/drawing/2014/main" id="{5883771D-26AC-4D42-838E-BA28298340AD}"/>
              </a:ext>
            </a:extLst>
          </p:cNvPr>
          <p:cNvCxnSpPr>
            <a:stCxn xmlns:a="http://schemas.openxmlformats.org/drawingml/2006/main" id="2" idx="3"/>
            <a:endCxn xmlns:a="http://schemas.openxmlformats.org/drawingml/2006/main" id="17" idx="0"/>
          </p:cNvCxnSpPr>
          <p:nvPr/>
        </p:nvCxnSpPr>
        <p:spPr>
          <a:xfrm xmlns:a="http://schemas.openxmlformats.org/drawingml/2006/main">
            <a:off x="5781675" y="1919288"/>
            <a:ext cx="4276725" cy="1109663"/>
          </a:xfrm>
          <a:prstGeom xmlns:a="http://schemas.openxmlformats.org/drawingml/2006/main" prst="bentConnector2">
            <a:avLst/>
          </a:prstGeom>
          <a:ln xmlns:a="http://schemas.openxmlformats.org/drawingml/2006/main" w="28575">
            <a:solidFill>
              <a:srgbClr val="2447A6"/>
            </a:solidFill>
            <a:tailEnd type="triangle" w="med" len="med"/>
          </a:ln>
        </p:spPr>
      </p:cxnSp>
      <p:sp>
        <p:nvSpPr>
          <p:cNvPr id="26" name="">
            <a:extLst xmlns:a="http://schemas.openxmlformats.org/drawingml/2006/main">
              <a:ext uri="{FF2B5EF4-FFF2-40B4-BE49-F238E27FC236}">
                <a16:creationId xmlns:a16="http://schemas.microsoft.com/office/drawing/2014/main" id="{6EBCFB49-1B06-47FF-969F-AFA940EE2207}"/>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442"/>
                </a:solidFill>
                <a:latin typeface="Arial"/>
                <a:ea typeface="Arial"/>
                <a:cs typeface="Arial"/>
              </a:defRPr>
            </a:defPPr>
          </a:lstStyle>
          <a:p xmlns:a="http://schemas.openxmlformats.org/drawingml/2006/main">
            <a:pPr>
              <a:buNone/>
              <a:defRPr sz="3300" b="1">
                <a:solidFill>
                  <a:srgbClr val="122442"/>
                </a:solidFill>
                <a:latin typeface="Arial"/>
                <a:ea typeface="Arial"/>
                <a:cs typeface="Arial"/>
              </a:defRPr>
            </a:pPr>
            <a:r>
              <a:rPr sz="3300" b="1">
                <a:solidFill>
                  <a:srgbClr val="122442"/>
                </a:solidFill>
                <a:latin typeface="Arial"/>
                <a:ea typeface="Arial"/>
                <a:cs typeface="Arial"/>
              </a:rPr>
              <a:t>Context engineering for coding agents</a:t>
            </a:r>
          </a:p>
        </p:txBody>
      </p:sp>
      <p:sp>
        <p:nvSpPr>
          <p:cNvPr id="2" name="">
            <a:extLst xmlns:a="http://schemas.openxmlformats.org/drawingml/2006/main">
              <a:ext uri="{FF2B5EF4-FFF2-40B4-BE49-F238E27FC236}">
                <a16:creationId xmlns:a16="http://schemas.microsoft.com/office/drawing/2014/main" id="{6D89582A-BF73-450F-BAAB-A83EE7547138}"/>
              </a:ext>
            </a:extLst>
          </p:cNvPr>
          <p:cNvSpPr>
            <a:spLocks xmlns:a="http://schemas.openxmlformats.org/drawingml/2006/main" noGrp="1"/>
          </p:cNvSpPr>
          <p:nvPr/>
        </p:nvSpPr>
        <p:spPr>
          <a:xfrm xmlns:a="http://schemas.openxmlformats.org/drawingml/2006/main">
            <a:off x="685800" y="1504950"/>
            <a:ext cx="5095875" cy="828675"/>
          </a:xfrm>
          <a:prstGeom xmlns:a="http://schemas.openxmlformats.org/drawingml/2006/main" prst="roundRect">
            <a:avLst>
              <a:gd name="adj" fmla="val 18391"/>
            </a:avLst>
          </a:prstGeom>
          <a:solidFill xmlns:a="http://schemas.openxmlformats.org/drawingml/2006/main">
            <a:srgbClr val="2447A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92D31B0-0D54-42E5-B2A8-935B90E9A849}"/>
              </a:ext>
            </a:extLst>
          </p:cNvPr>
          <p:cNvSpPr>
            <a:spLocks xmlns:a="http://schemas.openxmlformats.org/drawingml/2006/main" noGrp="1"/>
          </p:cNvSpPr>
          <p:nvPr/>
        </p:nvSpPr>
        <p:spPr>
          <a:xfrm xmlns:a="http://schemas.openxmlformats.org/drawingml/2006/main">
            <a:off x="876300" y="1600200"/>
            <a:ext cx="4714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spec.md</a:t>
            </a:r>
          </a:p>
        </p:txBody>
      </p:sp>
      <p:sp>
        <p:nvSpPr>
          <p:cNvPr id="4" name="">
            <a:extLst xmlns:a="http://schemas.openxmlformats.org/drawingml/2006/main">
              <a:ext uri="{FF2B5EF4-FFF2-40B4-BE49-F238E27FC236}">
                <a16:creationId xmlns:a16="http://schemas.microsoft.com/office/drawing/2014/main" id="{682BAD3F-6626-47BA-ABD4-9DE7C0FBC720}"/>
              </a:ext>
            </a:extLst>
          </p:cNvPr>
          <p:cNvSpPr>
            <a:spLocks xmlns:a="http://schemas.openxmlformats.org/drawingml/2006/main" noGrp="1"/>
          </p:cNvSpPr>
          <p:nvPr/>
        </p:nvSpPr>
        <p:spPr>
          <a:xfrm xmlns:a="http://schemas.openxmlformats.org/drawingml/2006/main">
            <a:off x="876300" y="1952625"/>
            <a:ext cx="4714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FFFFFF"/>
                </a:solidFill>
                <a:latin typeface="Arial"/>
                <a:ea typeface="Arial"/>
                <a:cs typeface="Arial"/>
              </a:defRPr>
            </a:defPPr>
          </a:lstStyle>
          <a:p xmlns:a="http://schemas.openxmlformats.org/drawingml/2006/main">
            <a:pPr>
              <a:buNone/>
              <a:defRPr sz="1725" b="0">
                <a:solidFill>
                  <a:srgbClr val="FFFFFF"/>
                </a:solidFill>
                <a:latin typeface="Arial"/>
                <a:ea typeface="Arial"/>
                <a:cs typeface="Arial"/>
              </a:defRPr>
            </a:pPr>
            <a:r>
              <a:rPr sz="1725" b="0">
                <a:solidFill>
                  <a:srgbClr val="FFFFFF"/>
                </a:solidFill>
                <a:latin typeface="Arial"/>
                <a:ea typeface="Arial"/>
                <a:cs typeface="Arial"/>
              </a:rPr>
              <a:t>Feature scope and explicit non-goals</a:t>
            </a:r>
          </a:p>
        </p:txBody>
      </p:sp>
      <p:sp>
        <p:nvSpPr>
          <p:cNvPr id="5" name="">
            <a:extLst xmlns:a="http://schemas.openxmlformats.org/drawingml/2006/main">
              <a:ext uri="{FF2B5EF4-FFF2-40B4-BE49-F238E27FC236}">
                <a16:creationId xmlns:a16="http://schemas.microsoft.com/office/drawing/2014/main" id="{FD4DAC27-C8FA-426A-BED3-F61C42D6EBBE}"/>
              </a:ext>
            </a:extLst>
          </p:cNvPr>
          <p:cNvSpPr>
            <a:spLocks xmlns:a="http://schemas.openxmlformats.org/drawingml/2006/main" noGrp="1"/>
          </p:cNvSpPr>
          <p:nvPr/>
        </p:nvSpPr>
        <p:spPr>
          <a:xfrm xmlns:a="http://schemas.openxmlformats.org/drawingml/2006/main">
            <a:off x="685800" y="2438400"/>
            <a:ext cx="5095875" cy="828675"/>
          </a:xfrm>
          <a:prstGeom xmlns:a="http://schemas.openxmlformats.org/drawingml/2006/main" prst="roundRect">
            <a:avLst>
              <a:gd name="adj" fmla="val 18391"/>
            </a:avLst>
          </a:prstGeom>
          <a:solidFill xmlns:a="http://schemas.openxmlformats.org/drawingml/2006/main">
            <a:srgbClr val="7041B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F9EFCB5-338E-4EA2-B776-7E344C037106}"/>
              </a:ext>
            </a:extLst>
          </p:cNvPr>
          <p:cNvSpPr>
            <a:spLocks xmlns:a="http://schemas.openxmlformats.org/drawingml/2006/main" noGrp="1"/>
          </p:cNvSpPr>
          <p:nvPr/>
        </p:nvSpPr>
        <p:spPr>
          <a:xfrm xmlns:a="http://schemas.openxmlformats.org/drawingml/2006/main">
            <a:off x="876300" y="2533650"/>
            <a:ext cx="4714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AGENTS.md</a:t>
            </a:r>
          </a:p>
        </p:txBody>
      </p:sp>
      <p:sp>
        <p:nvSpPr>
          <p:cNvPr id="7" name="">
            <a:extLst xmlns:a="http://schemas.openxmlformats.org/drawingml/2006/main">
              <a:ext uri="{FF2B5EF4-FFF2-40B4-BE49-F238E27FC236}">
                <a16:creationId xmlns:a16="http://schemas.microsoft.com/office/drawing/2014/main" id="{4AE93FE3-4829-45EE-A4A3-EDF62989550F}"/>
              </a:ext>
            </a:extLst>
          </p:cNvPr>
          <p:cNvSpPr>
            <a:spLocks xmlns:a="http://schemas.openxmlformats.org/drawingml/2006/main" noGrp="1"/>
          </p:cNvSpPr>
          <p:nvPr/>
        </p:nvSpPr>
        <p:spPr>
          <a:xfrm xmlns:a="http://schemas.openxmlformats.org/drawingml/2006/main">
            <a:off x="876300" y="2886075"/>
            <a:ext cx="4714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FFFFFF"/>
                </a:solidFill>
                <a:latin typeface="Arial"/>
                <a:ea typeface="Arial"/>
                <a:cs typeface="Arial"/>
              </a:defRPr>
            </a:defPPr>
          </a:lstStyle>
          <a:p xmlns:a="http://schemas.openxmlformats.org/drawingml/2006/main">
            <a:pPr>
              <a:buNone/>
              <a:defRPr sz="1725" b="0">
                <a:solidFill>
                  <a:srgbClr val="FFFFFF"/>
                </a:solidFill>
                <a:latin typeface="Arial"/>
                <a:ea typeface="Arial"/>
                <a:cs typeface="Arial"/>
              </a:defRPr>
            </a:pPr>
            <a:r>
              <a:rPr sz="1725" b="0">
                <a:solidFill>
                  <a:srgbClr val="FFFFFF"/>
                </a:solidFill>
                <a:latin typeface="Arial"/>
                <a:ea typeface="Arial"/>
                <a:cs typeface="Arial"/>
              </a:rPr>
              <a:t>Project rules and guardrails</a:t>
            </a:r>
          </a:p>
        </p:txBody>
      </p:sp>
      <p:sp>
        <p:nvSpPr>
          <p:cNvPr id="8" name="">
            <a:extLst xmlns:a="http://schemas.openxmlformats.org/drawingml/2006/main">
              <a:ext uri="{FF2B5EF4-FFF2-40B4-BE49-F238E27FC236}">
                <a16:creationId xmlns:a16="http://schemas.microsoft.com/office/drawing/2014/main" id="{C68106E2-4617-4B38-847D-DEAD8FC58580}"/>
              </a:ext>
            </a:extLst>
          </p:cNvPr>
          <p:cNvSpPr>
            <a:spLocks xmlns:a="http://schemas.openxmlformats.org/drawingml/2006/main" noGrp="1"/>
          </p:cNvSpPr>
          <p:nvPr/>
        </p:nvSpPr>
        <p:spPr>
          <a:xfrm xmlns:a="http://schemas.openxmlformats.org/drawingml/2006/main">
            <a:off x="685800" y="3371850"/>
            <a:ext cx="5095875" cy="828675"/>
          </a:xfrm>
          <a:prstGeom xmlns:a="http://schemas.openxmlformats.org/drawingml/2006/main" prst="roundRect">
            <a:avLst>
              <a:gd name="adj" fmla="val 18391"/>
            </a:avLst>
          </a:prstGeom>
          <a:solidFill xmlns:a="http://schemas.openxmlformats.org/drawingml/2006/main">
            <a:srgbClr val="7041B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33C99D0-B269-4924-813D-55B56C154E51}"/>
              </a:ext>
            </a:extLst>
          </p:cNvPr>
          <p:cNvSpPr>
            <a:spLocks xmlns:a="http://schemas.openxmlformats.org/drawingml/2006/main" noGrp="1"/>
          </p:cNvSpPr>
          <p:nvPr/>
        </p:nvSpPr>
        <p:spPr>
          <a:xfrm xmlns:a="http://schemas.openxmlformats.org/drawingml/2006/main">
            <a:off x="876300" y="3467100"/>
            <a:ext cx="4714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DESIGN.md</a:t>
            </a:r>
          </a:p>
        </p:txBody>
      </p:sp>
      <p:sp>
        <p:nvSpPr>
          <p:cNvPr id="10" name="">
            <a:extLst xmlns:a="http://schemas.openxmlformats.org/drawingml/2006/main">
              <a:ext uri="{FF2B5EF4-FFF2-40B4-BE49-F238E27FC236}">
                <a16:creationId xmlns:a16="http://schemas.microsoft.com/office/drawing/2014/main" id="{1C239210-2B07-4272-A2F5-2ACD5B4D8A2A}"/>
              </a:ext>
            </a:extLst>
          </p:cNvPr>
          <p:cNvSpPr>
            <a:spLocks xmlns:a="http://schemas.openxmlformats.org/drawingml/2006/main" noGrp="1"/>
          </p:cNvSpPr>
          <p:nvPr/>
        </p:nvSpPr>
        <p:spPr>
          <a:xfrm xmlns:a="http://schemas.openxmlformats.org/drawingml/2006/main">
            <a:off x="876300" y="3819525"/>
            <a:ext cx="4714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FFFFFF"/>
                </a:solidFill>
                <a:latin typeface="Arial"/>
                <a:ea typeface="Arial"/>
                <a:cs typeface="Arial"/>
              </a:defRPr>
            </a:defPPr>
          </a:lstStyle>
          <a:p xmlns:a="http://schemas.openxmlformats.org/drawingml/2006/main">
            <a:pPr>
              <a:buNone/>
              <a:defRPr sz="1725" b="0">
                <a:solidFill>
                  <a:srgbClr val="FFFFFF"/>
                </a:solidFill>
                <a:latin typeface="Arial"/>
                <a:ea typeface="Arial"/>
                <a:cs typeface="Arial"/>
              </a:defRPr>
            </a:pPr>
            <a:r>
              <a:rPr sz="1725" b="0">
                <a:solidFill>
                  <a:srgbClr val="FFFFFF"/>
                </a:solidFill>
                <a:latin typeface="Arial"/>
                <a:ea typeface="Arial"/>
                <a:cs typeface="Arial"/>
              </a:rPr>
              <a:t>The application’s design system</a:t>
            </a:r>
          </a:p>
        </p:txBody>
      </p:sp>
      <p:sp>
        <p:nvSpPr>
          <p:cNvPr id="11" name="">
            <a:extLst xmlns:a="http://schemas.openxmlformats.org/drawingml/2006/main">
              <a:ext uri="{FF2B5EF4-FFF2-40B4-BE49-F238E27FC236}">
                <a16:creationId xmlns:a16="http://schemas.microsoft.com/office/drawing/2014/main" id="{961557D2-AB0D-428D-ABCA-C6A8CA78ED66}"/>
              </a:ext>
            </a:extLst>
          </p:cNvPr>
          <p:cNvSpPr>
            <a:spLocks xmlns:a="http://schemas.openxmlformats.org/drawingml/2006/main" noGrp="1"/>
          </p:cNvSpPr>
          <p:nvPr/>
        </p:nvSpPr>
        <p:spPr>
          <a:xfrm xmlns:a="http://schemas.openxmlformats.org/drawingml/2006/main">
            <a:off x="685800" y="4305300"/>
            <a:ext cx="5095875" cy="828675"/>
          </a:xfrm>
          <a:prstGeom xmlns:a="http://schemas.openxmlformats.org/drawingml/2006/main" prst="roundRect">
            <a:avLst>
              <a:gd name="adj" fmla="val 18391"/>
            </a:avLst>
          </a:prstGeom>
          <a:solidFill xmlns:a="http://schemas.openxmlformats.org/drawingml/2006/main">
            <a:srgbClr val="067E9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0D1396B-28D5-4550-9DFA-8F277ECA3E91}"/>
              </a:ext>
            </a:extLst>
          </p:cNvPr>
          <p:cNvSpPr>
            <a:spLocks xmlns:a="http://schemas.openxmlformats.org/drawingml/2006/main" noGrp="1"/>
          </p:cNvSpPr>
          <p:nvPr/>
        </p:nvSpPr>
        <p:spPr>
          <a:xfrm xmlns:a="http://schemas.openxmlformats.org/drawingml/2006/main">
            <a:off x="876300" y="4400550"/>
            <a:ext cx="4714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Skills</a:t>
            </a:r>
          </a:p>
        </p:txBody>
      </p:sp>
      <p:sp>
        <p:nvSpPr>
          <p:cNvPr id="13" name="">
            <a:extLst xmlns:a="http://schemas.openxmlformats.org/drawingml/2006/main">
              <a:ext uri="{FF2B5EF4-FFF2-40B4-BE49-F238E27FC236}">
                <a16:creationId xmlns:a16="http://schemas.microsoft.com/office/drawing/2014/main" id="{F57A7B71-B878-4DA0-A679-3A0EB4F1B76F}"/>
              </a:ext>
            </a:extLst>
          </p:cNvPr>
          <p:cNvSpPr>
            <a:spLocks xmlns:a="http://schemas.openxmlformats.org/drawingml/2006/main" noGrp="1"/>
          </p:cNvSpPr>
          <p:nvPr/>
        </p:nvSpPr>
        <p:spPr>
          <a:xfrm xmlns:a="http://schemas.openxmlformats.org/drawingml/2006/main">
            <a:off x="876300" y="4752975"/>
            <a:ext cx="4714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FFFFFF"/>
                </a:solidFill>
                <a:latin typeface="Arial"/>
                <a:ea typeface="Arial"/>
                <a:cs typeface="Arial"/>
              </a:defRPr>
            </a:defPPr>
          </a:lstStyle>
          <a:p xmlns:a="http://schemas.openxmlformats.org/drawingml/2006/main">
            <a:pPr>
              <a:buNone/>
              <a:defRPr sz="1725" b="0">
                <a:solidFill>
                  <a:srgbClr val="FFFFFF"/>
                </a:solidFill>
                <a:latin typeface="Arial"/>
                <a:ea typeface="Arial"/>
                <a:cs typeface="Arial"/>
              </a:defRPr>
            </a:pPr>
            <a:r>
              <a:rPr sz="1725" b="0">
                <a:solidFill>
                  <a:srgbClr val="FFFFFF"/>
                </a:solidFill>
                <a:latin typeface="Arial"/>
                <a:ea typeface="Arial"/>
                <a:cs typeface="Arial"/>
              </a:rPr>
              <a:t>Reusable workflows for the task</a:t>
            </a:r>
          </a:p>
        </p:txBody>
      </p:sp>
      <p:sp>
        <p:nvSpPr>
          <p:cNvPr id="14" name="">
            <a:extLst xmlns:a="http://schemas.openxmlformats.org/drawingml/2006/main">
              <a:ext uri="{FF2B5EF4-FFF2-40B4-BE49-F238E27FC236}">
                <a16:creationId xmlns:a16="http://schemas.microsoft.com/office/drawing/2014/main" id="{DD2DEA1B-1F1E-4040-9CFA-24BA9FA37625}"/>
              </a:ext>
            </a:extLst>
          </p:cNvPr>
          <p:cNvSpPr>
            <a:spLocks xmlns:a="http://schemas.openxmlformats.org/drawingml/2006/main" noGrp="1"/>
          </p:cNvSpPr>
          <p:nvPr/>
        </p:nvSpPr>
        <p:spPr>
          <a:xfrm xmlns:a="http://schemas.openxmlformats.org/drawingml/2006/main">
            <a:off x="685800" y="5238750"/>
            <a:ext cx="5095875" cy="828675"/>
          </a:xfrm>
          <a:prstGeom xmlns:a="http://schemas.openxmlformats.org/drawingml/2006/main" prst="roundRect">
            <a:avLst>
              <a:gd name="adj" fmla="val 18391"/>
            </a:avLst>
          </a:prstGeom>
          <a:solidFill xmlns:a="http://schemas.openxmlformats.org/drawingml/2006/main">
            <a:srgbClr val="067E96"/>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D57AD71-C5A2-47E1-8B19-F5CC31C387EF}"/>
              </a:ext>
            </a:extLst>
          </p:cNvPr>
          <p:cNvSpPr>
            <a:spLocks xmlns:a="http://schemas.openxmlformats.org/drawingml/2006/main" noGrp="1"/>
          </p:cNvSpPr>
          <p:nvPr/>
        </p:nvSpPr>
        <p:spPr>
          <a:xfrm xmlns:a="http://schemas.openxmlformats.org/drawingml/2006/main">
            <a:off x="876300" y="5334000"/>
            <a:ext cx="4714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Existing code and tests</a:t>
            </a:r>
          </a:p>
        </p:txBody>
      </p:sp>
      <p:sp>
        <p:nvSpPr>
          <p:cNvPr id="16" name="">
            <a:extLst xmlns:a="http://schemas.openxmlformats.org/drawingml/2006/main">
              <a:ext uri="{FF2B5EF4-FFF2-40B4-BE49-F238E27FC236}">
                <a16:creationId xmlns:a16="http://schemas.microsoft.com/office/drawing/2014/main" id="{0AFABEBD-67CD-45D1-976E-6F556F5666DB}"/>
              </a:ext>
            </a:extLst>
          </p:cNvPr>
          <p:cNvSpPr>
            <a:spLocks xmlns:a="http://schemas.openxmlformats.org/drawingml/2006/main" noGrp="1"/>
          </p:cNvSpPr>
          <p:nvPr/>
        </p:nvSpPr>
        <p:spPr>
          <a:xfrm xmlns:a="http://schemas.openxmlformats.org/drawingml/2006/main">
            <a:off x="876300" y="5686425"/>
            <a:ext cx="4714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FFFFFF"/>
                </a:solidFill>
                <a:latin typeface="Arial"/>
                <a:ea typeface="Arial"/>
                <a:cs typeface="Arial"/>
              </a:defRPr>
            </a:defPPr>
          </a:lstStyle>
          <a:p xmlns:a="http://schemas.openxmlformats.org/drawingml/2006/main">
            <a:pPr>
              <a:buNone/>
              <a:defRPr sz="1725" b="0">
                <a:solidFill>
                  <a:srgbClr val="FFFFFF"/>
                </a:solidFill>
                <a:latin typeface="Arial"/>
                <a:ea typeface="Arial"/>
                <a:cs typeface="Arial"/>
              </a:defRPr>
            </a:pPr>
            <a:r>
              <a:rPr sz="1725" b="0">
                <a:solidFill>
                  <a:srgbClr val="FFFFFF"/>
                </a:solidFill>
                <a:latin typeface="Arial"/>
                <a:ea typeface="Arial"/>
                <a:cs typeface="Arial"/>
              </a:rPr>
              <a:t>Current behavior and how we verify it</a:t>
            </a:r>
          </a:p>
        </p:txBody>
      </p:sp>
      <p:sp>
        <p:nvSpPr>
          <p:cNvPr id="17" name="">
            <a:extLst xmlns:a="http://schemas.openxmlformats.org/drawingml/2006/main">
              <a:ext uri="{FF2B5EF4-FFF2-40B4-BE49-F238E27FC236}">
                <a16:creationId xmlns:a16="http://schemas.microsoft.com/office/drawing/2014/main" id="{FB5A9537-13D5-467A-AD2F-48DDE7C4C95F}"/>
              </a:ext>
            </a:extLst>
          </p:cNvPr>
          <p:cNvSpPr>
            <a:spLocks xmlns:a="http://schemas.openxmlformats.org/drawingml/2006/main" noGrp="1"/>
          </p:cNvSpPr>
          <p:nvPr/>
        </p:nvSpPr>
        <p:spPr>
          <a:xfrm xmlns:a="http://schemas.openxmlformats.org/drawingml/2006/main">
            <a:off x="8610600" y="3028950"/>
            <a:ext cx="2895600" cy="1066800"/>
          </a:xfrm>
          <a:prstGeom xmlns:a="http://schemas.openxmlformats.org/drawingml/2006/main" prst="roundRect">
            <a:avLst>
              <a:gd name="adj" fmla="val 14286"/>
            </a:avLst>
          </a:prstGeom>
          <a:solidFill xmlns:a="http://schemas.openxmlformats.org/drawingml/2006/main">
            <a:srgbClr val="2447A6"/>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F15C26D-6D8D-411F-8A3A-D88735113493}"/>
              </a:ext>
            </a:extLst>
          </p:cNvPr>
          <p:cNvSpPr>
            <a:spLocks xmlns:a="http://schemas.openxmlformats.org/drawingml/2006/main" noGrp="1"/>
          </p:cNvSpPr>
          <p:nvPr/>
        </p:nvSpPr>
        <p:spPr>
          <a:xfrm xmlns:a="http://schemas.openxmlformats.org/drawingml/2006/main">
            <a:off x="8782050" y="3190875"/>
            <a:ext cx="25527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AI agent</a:t>
            </a:r>
          </a:p>
        </p:txBody>
      </p:sp>
      <p:sp>
        <p:nvSpPr>
          <p:cNvPr id="24" name="">
            <a:extLst xmlns:a="http://schemas.openxmlformats.org/drawingml/2006/main">
              <a:ext uri="{FF2B5EF4-FFF2-40B4-BE49-F238E27FC236}">
                <a16:creationId xmlns:a16="http://schemas.microsoft.com/office/drawing/2014/main" id="{E0A4078B-FEF9-4702-A355-68D258F6D008}"/>
              </a:ext>
            </a:extLst>
          </p:cNvPr>
          <p:cNvSpPr>
            <a:spLocks xmlns:a="http://schemas.openxmlformats.org/drawingml/2006/main" noGrp="1"/>
          </p:cNvSpPr>
          <p:nvPr/>
        </p:nvSpPr>
        <p:spPr>
          <a:xfrm xmlns:a="http://schemas.openxmlformats.org/drawingml/2006/main">
            <a:off x="8524875" y="4438650"/>
            <a:ext cx="29813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2447A6"/>
                </a:solidFill>
                <a:latin typeface="Arial"/>
                <a:ea typeface="Arial"/>
                <a:cs typeface="Arial"/>
              </a:defRPr>
            </a:defPPr>
          </a:lstStyle>
          <a:p xmlns:a="http://schemas.openxmlformats.org/drawingml/2006/main">
            <a:pPr>
              <a:buNone/>
              <a:defRPr sz="1950" b="1">
                <a:solidFill>
                  <a:srgbClr val="2447A6"/>
                </a:solidFill>
                <a:latin typeface="Arial"/>
                <a:ea typeface="Arial"/>
                <a:cs typeface="Arial"/>
              </a:defRPr>
            </a:pPr>
            <a:r>
              <a:rPr sz="1950" b="1">
                <a:solidFill>
                  <a:srgbClr val="2447A6"/>
                </a:solidFill>
                <a:latin typeface="Arial"/>
                <a:ea typeface="Arial"/>
                <a:cs typeface="Arial"/>
              </a:rPr>
              <a:t>People set the goal.</a:t>
            </a:r>
          </a:p>
          <a:p xmlns:a="http://schemas.openxmlformats.org/drawingml/2006/main">
            <a:pPr>
              <a:buNone/>
              <a:defRPr sz="1950" b="1">
                <a:solidFill>
                  <a:srgbClr val="2447A6"/>
                </a:solidFill>
                <a:latin typeface="Arial"/>
                <a:ea typeface="Arial"/>
                <a:cs typeface="Arial"/>
              </a:defRPr>
            </a:pPr>
            <a:r>
              <a:rPr sz="1950" b="1">
                <a:solidFill>
                  <a:srgbClr val="2447A6"/>
                </a:solidFill>
                <a:latin typeface="Arial"/>
                <a:ea typeface="Arial"/>
                <a:cs typeface="Arial"/>
              </a:rPr>
              <a:t>Project files supply</a:t>
            </a:r>
          </a:p>
          <a:p xmlns:a="http://schemas.openxmlformats.org/drawingml/2006/main">
            <a:pPr>
              <a:buNone/>
              <a:defRPr sz="1950" b="1">
                <a:solidFill>
                  <a:srgbClr val="2447A6"/>
                </a:solidFill>
                <a:latin typeface="Arial"/>
                <a:ea typeface="Arial"/>
                <a:cs typeface="Arial"/>
              </a:defRPr>
            </a:pPr>
            <a:r>
              <a:rPr sz="1950" b="1">
                <a:solidFill>
                  <a:srgbClr val="2447A6"/>
                </a:solidFill>
                <a:latin typeface="Arial"/>
                <a:ea typeface="Arial"/>
                <a:cs typeface="Arial"/>
              </a:rPr>
              <a:t>the working context.</a:t>
            </a:r>
          </a:p>
        </p:txBody>
      </p:sp>
      <p:sp>
        <p:nvSpPr>
          <p:cNvPr id="25" name="">
            <a:extLst xmlns:a="http://schemas.openxmlformats.org/drawingml/2006/main">
              <a:ext uri="{FF2B5EF4-FFF2-40B4-BE49-F238E27FC236}">
                <a16:creationId xmlns:a16="http://schemas.microsoft.com/office/drawing/2014/main" id="{812B67DF-8AE2-42D4-9CDB-7075E58101A3}"/>
              </a:ext>
            </a:extLst>
          </p:cNvPr>
          <p:cNvSpPr>
            <a:spLocks xmlns:a="http://schemas.openxmlformats.org/drawingml/2006/main" noGrp="1"/>
          </p:cNvSpPr>
          <p:nvPr/>
        </p:nvSpPr>
        <p:spPr>
          <a:xfrm xmlns:a="http://schemas.openxmlformats.org/drawingml/2006/main">
            <a:off x="11049000" y="64008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4D5C74"/>
                </a:solidFill>
                <a:latin typeface="Arial"/>
                <a:ea typeface="Arial"/>
                <a:cs typeface="Arial"/>
              </a:defRPr>
            </a:defPPr>
          </a:lstStyle>
          <a:p xmlns:a="http://schemas.openxmlformats.org/drawingml/2006/main">
            <a:pPr>
              <a:buNone/>
              <a:defRPr sz="1275" b="0">
                <a:solidFill>
                  <a:srgbClr val="4D5C74"/>
                </a:solidFill>
                <a:latin typeface="Arial"/>
                <a:ea typeface="Arial"/>
                <a:cs typeface="Arial"/>
              </a:defRPr>
            </a:pPr>
            <a:r>
              <a:rPr sz="1275" b="0">
                <a:solidFill>
                  <a:srgbClr val="4D5C74"/>
                </a:solidFill>
                <a:latin typeface="Arial"/>
                <a:ea typeface="Arial"/>
                <a:cs typeface="Arial"/>
              </a:rPr>
              <a:t>07</a:t>
            </a:r>
          </a:p>
        </p:txBody>
      </p:sp>
    </p:spTree>
    <p:extLst>
      <p:ext uri="{BB962C8B-B14F-4D97-AF65-F5344CB8AC3E}">
        <p14:creationId xmlns:p14="http://schemas.microsoft.com/office/powerpoint/2010/main" val="1161417526"/>
      </p:ext>
    </p:extLst>
  </p:cSld>
</p:sld>
</file>

<file path=ppt/slides/slide8.xml><?xml version="1.0" encoding="utf-8"?>
<p:sld xmlns:p="http://schemas.openxmlformats.org/presentationml/2006/main">
  <p:cSld>
    <p:bg>
      <p:bgPr>
        <a:gradFill xmlns:a="http://schemas.openxmlformats.org/drawingml/2006/main">
          <a:gsLst>
            <a:gs pos="0">
              <a:srgbClr val="FFFFFF"/>
            </a:gs>
            <a:gs pos="60000">
              <a:srgbClr val="EDF4FF"/>
            </a:gs>
            <a:gs pos="100000">
              <a:srgbClr val="E5DAFA"/>
            </a:gs>
          </a:gsLst>
          <a:lin ang="1500000"/>
        </a:gra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C65F535E-6E38-4ACF-974B-71E247D745E0}"/>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442"/>
                </a:solidFill>
                <a:latin typeface="Arial"/>
                <a:ea typeface="Arial"/>
                <a:cs typeface="Arial"/>
              </a:defRPr>
            </a:defPPr>
          </a:lstStyle>
          <a:p xmlns:a="http://schemas.openxmlformats.org/drawingml/2006/main">
            <a:pPr>
              <a:buNone/>
              <a:defRPr sz="3300" b="1">
                <a:solidFill>
                  <a:srgbClr val="122442"/>
                </a:solidFill>
                <a:latin typeface="Arial"/>
                <a:ea typeface="Arial"/>
                <a:cs typeface="Arial"/>
              </a:defRPr>
            </a:pPr>
            <a:r>
              <a:rPr sz="3300" b="1">
                <a:solidFill>
                  <a:srgbClr val="122442"/>
                </a:solidFill>
                <a:latin typeface="Arial"/>
                <a:ea typeface="Arial"/>
                <a:cs typeface="Arial"/>
              </a:rPr>
              <a:t>Example: the demo spec.md</a:t>
            </a:r>
          </a:p>
        </p:txBody>
      </p:sp>
      <p:sp>
        <p:nvSpPr>
          <p:cNvPr id="2" name="">
            <a:extLst xmlns:a="http://schemas.openxmlformats.org/drawingml/2006/main">
              <a:ext uri="{FF2B5EF4-FFF2-40B4-BE49-F238E27FC236}">
                <a16:creationId xmlns:a16="http://schemas.microsoft.com/office/drawing/2014/main" id="{625C5ED9-BDE4-44BD-A0D1-B8904CB11010}"/>
              </a:ext>
            </a:extLst>
          </p:cNvPr>
          <p:cNvSpPr>
            <a:spLocks xmlns:a="http://schemas.openxmlformats.org/drawingml/2006/main" noGrp="1"/>
          </p:cNvSpPr>
          <p:nvPr/>
        </p:nvSpPr>
        <p:spPr>
          <a:xfrm xmlns:a="http://schemas.openxmlformats.org/drawingml/2006/main">
            <a:off x="685800" y="1457325"/>
            <a:ext cx="10820400" cy="4914900"/>
          </a:xfrm>
          <a:prstGeom xmlns:a="http://schemas.openxmlformats.org/drawingml/2006/main" prst="roundRect">
            <a:avLst>
              <a:gd name="adj" fmla="val 2713"/>
            </a:avLst>
          </a:prstGeom>
          <a:solidFill xmlns:a="http://schemas.openxmlformats.org/drawingml/2006/main">
            <a:srgbClr val="17223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AB77787-13B4-40E5-B8C9-BDE6594D1F29}"/>
              </a:ext>
            </a:extLst>
          </p:cNvPr>
          <p:cNvSpPr>
            <a:spLocks xmlns:a="http://schemas.openxmlformats.org/drawingml/2006/main" noGrp="1"/>
          </p:cNvSpPr>
          <p:nvPr/>
        </p:nvSpPr>
        <p:spPr>
          <a:xfrm xmlns:a="http://schemas.openxmlformats.org/drawingml/2006/main">
            <a:off x="685800" y="1457325"/>
            <a:ext cx="10820400" cy="419100"/>
          </a:xfrm>
          <a:prstGeom xmlns:a="http://schemas.openxmlformats.org/drawingml/2006/main" prst="rect">
            <a:avLst/>
          </a:prstGeom>
          <a:solidFill xmlns:a="http://schemas.openxmlformats.org/drawingml/2006/main">
            <a:srgbClr val="26334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7233485-1003-42B8-9971-3290E46AF2FB}"/>
              </a:ext>
            </a:extLst>
          </p:cNvPr>
          <p:cNvSpPr>
            <a:spLocks xmlns:a="http://schemas.openxmlformats.org/drawingml/2006/main" noGrp="1"/>
          </p:cNvSpPr>
          <p:nvPr/>
        </p:nvSpPr>
        <p:spPr>
          <a:xfrm xmlns:a="http://schemas.openxmlformats.org/drawingml/2006/main">
            <a:off x="904875" y="1552575"/>
            <a:ext cx="3810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FFFFFF"/>
                </a:solidFill>
                <a:latin typeface="Courier New"/>
                <a:ea typeface="Courier New"/>
                <a:cs typeface="Courier New"/>
              </a:defRPr>
            </a:defPPr>
          </a:lstStyle>
          <a:p xmlns:a="http://schemas.openxmlformats.org/drawingml/2006/main">
            <a:pPr>
              <a:buNone/>
              <a:defRPr sz="1650" b="1">
                <a:solidFill>
                  <a:srgbClr val="FFFFFF"/>
                </a:solidFill>
                <a:latin typeface="Courier New"/>
                <a:ea typeface="Courier New"/>
                <a:cs typeface="Courier New"/>
              </a:defRPr>
            </a:pPr>
            <a:r>
              <a:rPr sz="1650" b="1">
                <a:solidFill>
                  <a:srgbClr val="FFFFFF"/>
                </a:solidFill>
                <a:latin typeface="Courier New"/>
                <a:ea typeface="Courier New"/>
                <a:cs typeface="Courier New"/>
              </a:rPr>
              <a:t>spec.md</a:t>
            </a:r>
          </a:p>
        </p:txBody>
      </p:sp>
      <p:sp>
        <p:nvSpPr>
          <p:cNvPr id="5" name="">
            <a:extLst xmlns:a="http://schemas.openxmlformats.org/drawingml/2006/main">
              <a:ext uri="{FF2B5EF4-FFF2-40B4-BE49-F238E27FC236}">
                <a16:creationId xmlns:a16="http://schemas.microsoft.com/office/drawing/2014/main" id="{66659D99-0F14-43A8-9EB6-0ED86E3D32C1}"/>
              </a:ext>
            </a:extLst>
          </p:cNvPr>
          <p:cNvSpPr>
            <a:spLocks xmlns:a="http://schemas.openxmlformats.org/drawingml/2006/main" noGrp="1"/>
          </p:cNvSpPr>
          <p:nvPr/>
        </p:nvSpPr>
        <p:spPr>
          <a:xfrm xmlns:a="http://schemas.openxmlformats.org/drawingml/2006/main">
            <a:off x="8524875" y="1552575"/>
            <a:ext cx="2714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C8D5EC"/>
                </a:solidFill>
                <a:latin typeface="Arial"/>
                <a:ea typeface="Arial"/>
                <a:cs typeface="Arial"/>
              </a:defRPr>
            </a:defPPr>
          </a:lstStyle>
          <a:p xmlns:a="http://schemas.openxmlformats.org/drawingml/2006/main">
            <a:pPr>
              <a:buNone/>
              <a:defRPr sz="1425" b="0">
                <a:solidFill>
                  <a:srgbClr val="C8D5EC"/>
                </a:solidFill>
                <a:latin typeface="Arial"/>
                <a:ea typeface="Arial"/>
                <a:cs typeface="Arial"/>
              </a:defRPr>
            </a:pPr>
            <a:r>
              <a:rPr sz="1425" b="0">
                <a:solidFill>
                  <a:srgbClr val="C8D5EC"/>
                </a:solidFill>
                <a:latin typeface="Arial"/>
                <a:ea typeface="Arial"/>
                <a:cs typeface="Arial"/>
              </a:rPr>
              <a:t>Simplified workshop example</a:t>
            </a:r>
          </a:p>
        </p:txBody>
      </p:sp>
      <p:sp>
        <p:nvSpPr>
          <p:cNvPr id="6" name="">
            <a:extLst xmlns:a="http://schemas.openxmlformats.org/drawingml/2006/main">
              <a:ext uri="{FF2B5EF4-FFF2-40B4-BE49-F238E27FC236}">
                <a16:creationId xmlns:a16="http://schemas.microsoft.com/office/drawing/2014/main" id="{80AD8C93-F709-4D4D-892E-248DB908CCB3}"/>
              </a:ext>
            </a:extLst>
          </p:cNvPr>
          <p:cNvSpPr>
            <a:spLocks xmlns:a="http://schemas.openxmlformats.org/drawingml/2006/main" noGrp="1"/>
          </p:cNvSpPr>
          <p:nvPr/>
        </p:nvSpPr>
        <p:spPr>
          <a:xfrm xmlns:a="http://schemas.openxmlformats.org/drawingml/2006/main">
            <a:off x="819150" y="19812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F91AC"/>
                </a:solidFill>
                <a:latin typeface="Courier New"/>
                <a:ea typeface="Courier New"/>
                <a:cs typeface="Courier New"/>
              </a:defRPr>
            </a:defPPr>
          </a:lstStyle>
          <a:p xmlns:a="http://schemas.openxmlformats.org/drawingml/2006/main">
            <a:pPr>
              <a:buNone/>
              <a:defRPr sz="1200" b="0">
                <a:solidFill>
                  <a:srgbClr val="7F91AC"/>
                </a:solidFill>
                <a:latin typeface="Courier New"/>
                <a:ea typeface="Courier New"/>
                <a:cs typeface="Courier New"/>
              </a:defRPr>
            </a:pPr>
            <a:r>
              <a:rPr sz="1200" b="0">
                <a:solidFill>
                  <a:srgbClr val="7F91AC"/>
                </a:solidFill>
                <a:latin typeface="Courier New"/>
                <a:ea typeface="Courier New"/>
                <a:cs typeface="Courier New"/>
              </a:rPr>
              <a:t>1</a:t>
            </a:r>
          </a:p>
        </p:txBody>
      </p:sp>
      <p:sp>
        <p:nvSpPr>
          <p:cNvPr id="7" name="">
            <a:extLst xmlns:a="http://schemas.openxmlformats.org/drawingml/2006/main">
              <a:ext uri="{FF2B5EF4-FFF2-40B4-BE49-F238E27FC236}">
                <a16:creationId xmlns:a16="http://schemas.microsoft.com/office/drawing/2014/main" id="{ABF0116B-CEF8-4503-B669-F5A1BC156D4C}"/>
              </a:ext>
            </a:extLst>
          </p:cNvPr>
          <p:cNvSpPr>
            <a:spLocks xmlns:a="http://schemas.openxmlformats.org/drawingml/2006/main" noGrp="1"/>
          </p:cNvSpPr>
          <p:nvPr/>
        </p:nvSpPr>
        <p:spPr>
          <a:xfrm xmlns:a="http://schemas.openxmlformats.org/drawingml/2006/main">
            <a:off x="1362075" y="1981200"/>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93DCEF"/>
                </a:solidFill>
                <a:latin typeface="Courier New"/>
                <a:ea typeface="Courier New"/>
                <a:cs typeface="Courier New"/>
              </a:defRPr>
            </a:defPPr>
          </a:lstStyle>
          <a:p xmlns:a="http://schemas.openxmlformats.org/drawingml/2006/main">
            <a:pPr>
              <a:buNone/>
              <a:defRPr sz="1500" b="1">
                <a:solidFill>
                  <a:srgbClr val="93DCEF"/>
                </a:solidFill>
                <a:latin typeface="Courier New"/>
                <a:ea typeface="Courier New"/>
                <a:cs typeface="Courier New"/>
              </a:defRPr>
            </a:pPr>
            <a:r>
              <a:rPr sz="1500" b="1">
                <a:solidFill>
                  <a:srgbClr val="93DCEF"/>
                </a:solidFill>
                <a:latin typeface="Courier New"/>
                <a:ea typeface="Courier New"/>
                <a:cs typeface="Courier New"/>
              </a:rPr>
              <a:t># Logging time</a:t>
            </a:r>
          </a:p>
        </p:txBody>
      </p:sp>
      <p:sp>
        <p:nvSpPr>
          <p:cNvPr id="8" name="">
            <a:extLst xmlns:a="http://schemas.openxmlformats.org/drawingml/2006/main">
              <a:ext uri="{FF2B5EF4-FFF2-40B4-BE49-F238E27FC236}">
                <a16:creationId xmlns:a16="http://schemas.microsoft.com/office/drawing/2014/main" id="{FD4B9538-CDFF-4055-88B8-00008597E234}"/>
              </a:ext>
            </a:extLst>
          </p:cNvPr>
          <p:cNvSpPr>
            <a:spLocks xmlns:a="http://schemas.openxmlformats.org/drawingml/2006/main" noGrp="1"/>
          </p:cNvSpPr>
          <p:nvPr/>
        </p:nvSpPr>
        <p:spPr>
          <a:xfrm xmlns:a="http://schemas.openxmlformats.org/drawingml/2006/main">
            <a:off x="819150" y="22002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F91AC"/>
                </a:solidFill>
                <a:latin typeface="Courier New"/>
                <a:ea typeface="Courier New"/>
                <a:cs typeface="Courier New"/>
              </a:defRPr>
            </a:defPPr>
          </a:lstStyle>
          <a:p xmlns:a="http://schemas.openxmlformats.org/drawingml/2006/main">
            <a:pPr>
              <a:buNone/>
              <a:defRPr sz="1200" b="0">
                <a:solidFill>
                  <a:srgbClr val="7F91AC"/>
                </a:solidFill>
                <a:latin typeface="Courier New"/>
                <a:ea typeface="Courier New"/>
                <a:cs typeface="Courier New"/>
              </a:defRPr>
            </a:pPr>
            <a:r>
              <a:rPr sz="1200" b="0">
                <a:solidFill>
                  <a:srgbClr val="7F91AC"/>
                </a:solidFill>
                <a:latin typeface="Courier New"/>
                <a:ea typeface="Courier New"/>
                <a:cs typeface="Courier New"/>
              </a:rPr>
              <a:t>2</a:t>
            </a:r>
          </a:p>
        </p:txBody>
      </p:sp>
      <p:sp>
        <p:nvSpPr>
          <p:cNvPr id="9" name="">
            <a:extLst xmlns:a="http://schemas.openxmlformats.org/drawingml/2006/main">
              <a:ext uri="{FF2B5EF4-FFF2-40B4-BE49-F238E27FC236}">
                <a16:creationId xmlns:a16="http://schemas.microsoft.com/office/drawing/2014/main" id="{A4B578DD-A034-4201-BD45-7B175F5B0508}"/>
              </a:ext>
            </a:extLst>
          </p:cNvPr>
          <p:cNvSpPr>
            <a:spLocks xmlns:a="http://schemas.openxmlformats.org/drawingml/2006/main" noGrp="1"/>
          </p:cNvSpPr>
          <p:nvPr/>
        </p:nvSpPr>
        <p:spPr>
          <a:xfrm xmlns:a="http://schemas.openxmlformats.org/drawingml/2006/main">
            <a:off x="1362075" y="2200275"/>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D9B8FF"/>
                </a:solidFill>
                <a:latin typeface="Courier New"/>
                <a:ea typeface="Courier New"/>
                <a:cs typeface="Courier New"/>
              </a:defRPr>
            </a:defPPr>
          </a:lstStyle>
          <a:p xmlns:a="http://schemas.openxmlformats.org/drawingml/2006/main">
            <a:pPr>
              <a:buNone/>
              <a:defRPr sz="1500" b="0">
                <a:solidFill>
                  <a:srgbClr val="D9B8FF"/>
                </a:solidFill>
                <a:latin typeface="Courier New"/>
                <a:ea typeface="Courier New"/>
                <a:cs typeface="Courier New"/>
              </a:defRPr>
            </a:pPr>
            <a:r>
              <a:rPr sz="1500" b="0">
                <a:solidFill>
                  <a:srgbClr val="D9B8FF"/>
                </a:solidFill>
                <a:latin typeface="Courier New"/>
                <a:ea typeface="Courier New"/>
                <a:cs typeface="Courier New"/>
              </a:rPr>
              <a:t>**Status:** Draft</a:t>
            </a:r>
          </a:p>
        </p:txBody>
      </p:sp>
      <p:sp>
        <p:nvSpPr>
          <p:cNvPr id="10" name="">
            <a:extLst xmlns:a="http://schemas.openxmlformats.org/drawingml/2006/main">
              <a:ext uri="{FF2B5EF4-FFF2-40B4-BE49-F238E27FC236}">
                <a16:creationId xmlns:a16="http://schemas.microsoft.com/office/drawing/2014/main" id="{4CB3788F-8A55-4B1D-82C3-9975D21E8D39}"/>
              </a:ext>
            </a:extLst>
          </p:cNvPr>
          <p:cNvSpPr>
            <a:spLocks xmlns:a="http://schemas.openxmlformats.org/drawingml/2006/main" noGrp="1"/>
          </p:cNvSpPr>
          <p:nvPr/>
        </p:nvSpPr>
        <p:spPr>
          <a:xfrm xmlns:a="http://schemas.openxmlformats.org/drawingml/2006/main">
            <a:off x="819150" y="24193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F91AC"/>
                </a:solidFill>
                <a:latin typeface="Courier New"/>
                <a:ea typeface="Courier New"/>
                <a:cs typeface="Courier New"/>
              </a:defRPr>
            </a:defPPr>
          </a:lstStyle>
          <a:p xmlns:a="http://schemas.openxmlformats.org/drawingml/2006/main">
            <a:pPr>
              <a:buNone/>
              <a:defRPr sz="1200" b="0">
                <a:solidFill>
                  <a:srgbClr val="7F91AC"/>
                </a:solidFill>
                <a:latin typeface="Courier New"/>
                <a:ea typeface="Courier New"/>
                <a:cs typeface="Courier New"/>
              </a:defRPr>
            </a:pPr>
            <a:r>
              <a:rPr sz="1200" b="0">
                <a:solidFill>
                  <a:srgbClr val="7F91AC"/>
                </a:solidFill>
                <a:latin typeface="Courier New"/>
                <a:ea typeface="Courier New"/>
                <a:cs typeface="Courier New"/>
              </a:rPr>
              <a:t>3</a:t>
            </a:r>
          </a:p>
        </p:txBody>
      </p:sp>
      <p:sp>
        <p:nvSpPr>
          <p:cNvPr id="11" name="">
            <a:extLst xmlns:a="http://schemas.openxmlformats.org/drawingml/2006/main">
              <a:ext uri="{FF2B5EF4-FFF2-40B4-BE49-F238E27FC236}">
                <a16:creationId xmlns:a16="http://schemas.microsoft.com/office/drawing/2014/main" id="{B4572FAB-8496-4E07-A5B3-3D210B564D11}"/>
              </a:ext>
            </a:extLst>
          </p:cNvPr>
          <p:cNvSpPr>
            <a:spLocks xmlns:a="http://schemas.openxmlformats.org/drawingml/2006/main" noGrp="1"/>
          </p:cNvSpPr>
          <p:nvPr/>
        </p:nvSpPr>
        <p:spPr>
          <a:xfrm xmlns:a="http://schemas.openxmlformats.org/drawingml/2006/main">
            <a:off x="1362075" y="2419350"/>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F0F4FC"/>
                </a:solidFill>
                <a:latin typeface="Courier New"/>
                <a:ea typeface="Courier New"/>
                <a:cs typeface="Courier New"/>
              </a:defRPr>
            </a:defPPr>
          </a:lstStyle>
          <a:p xmlns:a="http://schemas.openxmlformats.org/drawingml/2006/main">
            <a:r>
              <a:t/>
            </a:r>
          </a:p>
        </p:txBody>
      </p:sp>
      <p:sp>
        <p:nvSpPr>
          <p:cNvPr id="12" name="">
            <a:extLst xmlns:a="http://schemas.openxmlformats.org/drawingml/2006/main">
              <a:ext uri="{FF2B5EF4-FFF2-40B4-BE49-F238E27FC236}">
                <a16:creationId xmlns:a16="http://schemas.microsoft.com/office/drawing/2014/main" id="{08C6F0AB-AAD7-4AA6-9667-0A4428BFA57D}"/>
              </a:ext>
            </a:extLst>
          </p:cNvPr>
          <p:cNvSpPr>
            <a:spLocks xmlns:a="http://schemas.openxmlformats.org/drawingml/2006/main" noGrp="1"/>
          </p:cNvSpPr>
          <p:nvPr/>
        </p:nvSpPr>
        <p:spPr>
          <a:xfrm xmlns:a="http://schemas.openxmlformats.org/drawingml/2006/main">
            <a:off x="819150" y="26384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F91AC"/>
                </a:solidFill>
                <a:latin typeface="Courier New"/>
                <a:ea typeface="Courier New"/>
                <a:cs typeface="Courier New"/>
              </a:defRPr>
            </a:defPPr>
          </a:lstStyle>
          <a:p xmlns:a="http://schemas.openxmlformats.org/drawingml/2006/main">
            <a:pPr>
              <a:buNone/>
              <a:defRPr sz="1200" b="0">
                <a:solidFill>
                  <a:srgbClr val="7F91AC"/>
                </a:solidFill>
                <a:latin typeface="Courier New"/>
                <a:ea typeface="Courier New"/>
                <a:cs typeface="Courier New"/>
              </a:defRPr>
            </a:pPr>
            <a:r>
              <a:rPr sz="1200" b="0">
                <a:solidFill>
                  <a:srgbClr val="7F91AC"/>
                </a:solidFill>
                <a:latin typeface="Courier New"/>
                <a:ea typeface="Courier New"/>
                <a:cs typeface="Courier New"/>
              </a:rPr>
              <a:t>4</a:t>
            </a:r>
          </a:p>
        </p:txBody>
      </p:sp>
      <p:sp>
        <p:nvSpPr>
          <p:cNvPr id="13" name="">
            <a:extLst xmlns:a="http://schemas.openxmlformats.org/drawingml/2006/main">
              <a:ext uri="{FF2B5EF4-FFF2-40B4-BE49-F238E27FC236}">
                <a16:creationId xmlns:a16="http://schemas.microsoft.com/office/drawing/2014/main" id="{7E6BCEEF-4A3F-4DDA-90FB-F93ADD241C8A}"/>
              </a:ext>
            </a:extLst>
          </p:cNvPr>
          <p:cNvSpPr>
            <a:spLocks xmlns:a="http://schemas.openxmlformats.org/drawingml/2006/main" noGrp="1"/>
          </p:cNvSpPr>
          <p:nvPr/>
        </p:nvSpPr>
        <p:spPr>
          <a:xfrm xmlns:a="http://schemas.openxmlformats.org/drawingml/2006/main">
            <a:off x="1362075" y="2638425"/>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93DCEF"/>
                </a:solidFill>
                <a:latin typeface="Courier New"/>
                <a:ea typeface="Courier New"/>
                <a:cs typeface="Courier New"/>
              </a:defRPr>
            </a:defPPr>
          </a:lstStyle>
          <a:p xmlns:a="http://schemas.openxmlformats.org/drawingml/2006/main">
            <a:pPr>
              <a:buNone/>
              <a:defRPr sz="1500" b="1">
                <a:solidFill>
                  <a:srgbClr val="93DCEF"/>
                </a:solidFill>
                <a:latin typeface="Courier New"/>
                <a:ea typeface="Courier New"/>
                <a:cs typeface="Courier New"/>
              </a:defRPr>
            </a:pPr>
            <a:r>
              <a:rPr sz="1500" b="1">
                <a:solidFill>
                  <a:srgbClr val="93DCEF"/>
                </a:solidFill>
                <a:latin typeface="Courier New"/>
                <a:ea typeface="Courier New"/>
                <a:cs typeface="Courier New"/>
              </a:rPr>
              <a:t>## Goal</a:t>
            </a:r>
          </a:p>
        </p:txBody>
      </p:sp>
      <p:sp>
        <p:nvSpPr>
          <p:cNvPr id="14" name="">
            <a:extLst xmlns:a="http://schemas.openxmlformats.org/drawingml/2006/main">
              <a:ext uri="{FF2B5EF4-FFF2-40B4-BE49-F238E27FC236}">
                <a16:creationId xmlns:a16="http://schemas.microsoft.com/office/drawing/2014/main" id="{0F36A100-3E52-4C57-80C9-EC7DCF64E3A6}"/>
              </a:ext>
            </a:extLst>
          </p:cNvPr>
          <p:cNvSpPr>
            <a:spLocks xmlns:a="http://schemas.openxmlformats.org/drawingml/2006/main" noGrp="1"/>
          </p:cNvSpPr>
          <p:nvPr/>
        </p:nvSpPr>
        <p:spPr>
          <a:xfrm xmlns:a="http://schemas.openxmlformats.org/drawingml/2006/main">
            <a:off x="819150" y="28575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F91AC"/>
                </a:solidFill>
                <a:latin typeface="Courier New"/>
                <a:ea typeface="Courier New"/>
                <a:cs typeface="Courier New"/>
              </a:defRPr>
            </a:defPPr>
          </a:lstStyle>
          <a:p xmlns:a="http://schemas.openxmlformats.org/drawingml/2006/main">
            <a:pPr>
              <a:buNone/>
              <a:defRPr sz="1200" b="0">
                <a:solidFill>
                  <a:srgbClr val="7F91AC"/>
                </a:solidFill>
                <a:latin typeface="Courier New"/>
                <a:ea typeface="Courier New"/>
                <a:cs typeface="Courier New"/>
              </a:defRPr>
            </a:pPr>
            <a:r>
              <a:rPr sz="1200" b="0">
                <a:solidFill>
                  <a:srgbClr val="7F91AC"/>
                </a:solidFill>
                <a:latin typeface="Courier New"/>
                <a:ea typeface="Courier New"/>
                <a:cs typeface="Courier New"/>
              </a:rPr>
              <a:t>5</a:t>
            </a:r>
          </a:p>
        </p:txBody>
      </p:sp>
      <p:sp>
        <p:nvSpPr>
          <p:cNvPr id="15" name="">
            <a:extLst xmlns:a="http://schemas.openxmlformats.org/drawingml/2006/main">
              <a:ext uri="{FF2B5EF4-FFF2-40B4-BE49-F238E27FC236}">
                <a16:creationId xmlns:a16="http://schemas.microsoft.com/office/drawing/2014/main" id="{B5573A2C-1E56-4372-A2F6-F53FEFB3C711}"/>
              </a:ext>
            </a:extLst>
          </p:cNvPr>
          <p:cNvSpPr>
            <a:spLocks xmlns:a="http://schemas.openxmlformats.org/drawingml/2006/main" noGrp="1"/>
          </p:cNvSpPr>
          <p:nvPr/>
        </p:nvSpPr>
        <p:spPr>
          <a:xfrm xmlns:a="http://schemas.openxmlformats.org/drawingml/2006/main">
            <a:off x="1362075" y="2857500"/>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F0F4FC"/>
                </a:solidFill>
                <a:latin typeface="Courier New"/>
                <a:ea typeface="Courier New"/>
                <a:cs typeface="Courier New"/>
              </a:defRPr>
            </a:defPPr>
          </a:lstStyle>
          <a:p xmlns:a="http://schemas.openxmlformats.org/drawingml/2006/main">
            <a:pPr>
              <a:buNone/>
              <a:defRPr sz="1500" b="0">
                <a:solidFill>
                  <a:srgbClr val="F0F4FC"/>
                </a:solidFill>
                <a:latin typeface="Courier New"/>
                <a:ea typeface="Courier New"/>
                <a:cs typeface="Courier New"/>
              </a:defRPr>
            </a:pPr>
            <a:r>
              <a:rPr sz="1500" b="0">
                <a:solidFill>
                  <a:srgbClr val="F0F4FC"/>
                </a:solidFill>
                <a:latin typeface="Courier New"/>
                <a:ea typeface="Courier New"/>
                <a:cs typeface="Courier New"/>
              </a:rPr>
              <a:t>Users log project hours and see their entries.</a:t>
            </a:r>
          </a:p>
        </p:txBody>
      </p:sp>
      <p:sp>
        <p:nvSpPr>
          <p:cNvPr id="16" name="">
            <a:extLst xmlns:a="http://schemas.openxmlformats.org/drawingml/2006/main">
              <a:ext uri="{FF2B5EF4-FFF2-40B4-BE49-F238E27FC236}">
                <a16:creationId xmlns:a16="http://schemas.microsoft.com/office/drawing/2014/main" id="{477D1134-E317-4297-9BCB-4D243EFE7F28}"/>
              </a:ext>
            </a:extLst>
          </p:cNvPr>
          <p:cNvSpPr>
            <a:spLocks xmlns:a="http://schemas.openxmlformats.org/drawingml/2006/main" noGrp="1"/>
          </p:cNvSpPr>
          <p:nvPr/>
        </p:nvSpPr>
        <p:spPr>
          <a:xfrm xmlns:a="http://schemas.openxmlformats.org/drawingml/2006/main">
            <a:off x="819150" y="30765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F91AC"/>
                </a:solidFill>
                <a:latin typeface="Courier New"/>
                <a:ea typeface="Courier New"/>
                <a:cs typeface="Courier New"/>
              </a:defRPr>
            </a:defPPr>
          </a:lstStyle>
          <a:p xmlns:a="http://schemas.openxmlformats.org/drawingml/2006/main">
            <a:pPr>
              <a:buNone/>
              <a:defRPr sz="1200" b="0">
                <a:solidFill>
                  <a:srgbClr val="7F91AC"/>
                </a:solidFill>
                <a:latin typeface="Courier New"/>
                <a:ea typeface="Courier New"/>
                <a:cs typeface="Courier New"/>
              </a:defRPr>
            </a:pPr>
            <a:r>
              <a:rPr sz="1200" b="0">
                <a:solidFill>
                  <a:srgbClr val="7F91AC"/>
                </a:solidFill>
                <a:latin typeface="Courier New"/>
                <a:ea typeface="Courier New"/>
                <a:cs typeface="Courier New"/>
              </a:rPr>
              <a:t>6</a:t>
            </a:r>
          </a:p>
        </p:txBody>
      </p:sp>
      <p:sp>
        <p:nvSpPr>
          <p:cNvPr id="17" name="">
            <a:extLst xmlns:a="http://schemas.openxmlformats.org/drawingml/2006/main">
              <a:ext uri="{FF2B5EF4-FFF2-40B4-BE49-F238E27FC236}">
                <a16:creationId xmlns:a16="http://schemas.microsoft.com/office/drawing/2014/main" id="{511556E3-5699-440C-9312-515735304459}"/>
              </a:ext>
            </a:extLst>
          </p:cNvPr>
          <p:cNvSpPr>
            <a:spLocks xmlns:a="http://schemas.openxmlformats.org/drawingml/2006/main" noGrp="1"/>
          </p:cNvSpPr>
          <p:nvPr/>
        </p:nvSpPr>
        <p:spPr>
          <a:xfrm xmlns:a="http://schemas.openxmlformats.org/drawingml/2006/main">
            <a:off x="1362075" y="3076575"/>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93DCEF"/>
                </a:solidFill>
                <a:latin typeface="Courier New"/>
                <a:ea typeface="Courier New"/>
                <a:cs typeface="Courier New"/>
              </a:defRPr>
            </a:defPPr>
          </a:lstStyle>
          <a:p xmlns:a="http://schemas.openxmlformats.org/drawingml/2006/main">
            <a:pPr>
              <a:buNone/>
              <a:defRPr sz="1500" b="1">
                <a:solidFill>
                  <a:srgbClr val="93DCEF"/>
                </a:solidFill>
                <a:latin typeface="Courier New"/>
                <a:ea typeface="Courier New"/>
                <a:cs typeface="Courier New"/>
              </a:defRPr>
            </a:pPr>
            <a:r>
              <a:rPr sz="1500" b="1">
                <a:solidFill>
                  <a:srgbClr val="93DCEF"/>
                </a:solidFill>
                <a:latin typeface="Courier New"/>
                <a:ea typeface="Courier New"/>
                <a:cs typeface="Courier New"/>
              </a:rPr>
              <a:t>## Requirements</a:t>
            </a:r>
          </a:p>
        </p:txBody>
      </p:sp>
      <p:sp>
        <p:nvSpPr>
          <p:cNvPr id="18" name="">
            <a:extLst xmlns:a="http://schemas.openxmlformats.org/drawingml/2006/main">
              <a:ext uri="{FF2B5EF4-FFF2-40B4-BE49-F238E27FC236}">
                <a16:creationId xmlns:a16="http://schemas.microsoft.com/office/drawing/2014/main" id="{0145C4E7-DD6B-463E-B99D-B62A8F6FB69D}"/>
              </a:ext>
            </a:extLst>
          </p:cNvPr>
          <p:cNvSpPr>
            <a:spLocks xmlns:a="http://schemas.openxmlformats.org/drawingml/2006/main" noGrp="1"/>
          </p:cNvSpPr>
          <p:nvPr/>
        </p:nvSpPr>
        <p:spPr>
          <a:xfrm xmlns:a="http://schemas.openxmlformats.org/drawingml/2006/main">
            <a:off x="819150" y="3295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F91AC"/>
                </a:solidFill>
                <a:latin typeface="Courier New"/>
                <a:ea typeface="Courier New"/>
                <a:cs typeface="Courier New"/>
              </a:defRPr>
            </a:defPPr>
          </a:lstStyle>
          <a:p xmlns:a="http://schemas.openxmlformats.org/drawingml/2006/main">
            <a:pPr>
              <a:buNone/>
              <a:defRPr sz="1200" b="0">
                <a:solidFill>
                  <a:srgbClr val="7F91AC"/>
                </a:solidFill>
                <a:latin typeface="Courier New"/>
                <a:ea typeface="Courier New"/>
                <a:cs typeface="Courier New"/>
              </a:defRPr>
            </a:pPr>
            <a:r>
              <a:rPr sz="1200" b="0">
                <a:solidFill>
                  <a:srgbClr val="7F91AC"/>
                </a:solidFill>
                <a:latin typeface="Courier New"/>
                <a:ea typeface="Courier New"/>
                <a:cs typeface="Courier New"/>
              </a:rPr>
              <a:t>7</a:t>
            </a:r>
          </a:p>
        </p:txBody>
      </p:sp>
      <p:sp>
        <p:nvSpPr>
          <p:cNvPr id="19" name="">
            <a:extLst xmlns:a="http://schemas.openxmlformats.org/drawingml/2006/main">
              <a:ext uri="{FF2B5EF4-FFF2-40B4-BE49-F238E27FC236}">
                <a16:creationId xmlns:a16="http://schemas.microsoft.com/office/drawing/2014/main" id="{CB4D550E-C47C-4081-A5D4-79A7C056C308}"/>
              </a:ext>
            </a:extLst>
          </p:cNvPr>
          <p:cNvSpPr>
            <a:spLocks xmlns:a="http://schemas.openxmlformats.org/drawingml/2006/main" noGrp="1"/>
          </p:cNvSpPr>
          <p:nvPr/>
        </p:nvSpPr>
        <p:spPr>
          <a:xfrm xmlns:a="http://schemas.openxmlformats.org/drawingml/2006/main">
            <a:off x="1362075" y="3295650"/>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F0F4FC"/>
                </a:solidFill>
                <a:latin typeface="Courier New"/>
                <a:ea typeface="Courier New"/>
                <a:cs typeface="Courier New"/>
              </a:defRPr>
            </a:defPPr>
          </a:lstStyle>
          <a:p xmlns:a="http://schemas.openxmlformats.org/drawingml/2006/main">
            <a:pPr>
              <a:buNone/>
              <a:defRPr sz="1500" b="0">
                <a:solidFill>
                  <a:srgbClr val="F0F4FC"/>
                </a:solidFill>
                <a:latin typeface="Courier New"/>
                <a:ea typeface="Courier New"/>
                <a:cs typeface="Courier New"/>
              </a:defRPr>
            </a:pPr>
            <a:r>
              <a:rPr sz="1500" b="0">
                <a:solidFill>
                  <a:srgbClr val="F0F4FC"/>
                </a:solidFill>
                <a:latin typeface="Courier New"/>
                <a:ea typeface="Courier New"/>
                <a:cs typeface="Courier New"/>
              </a:rPr>
              <a:t>1. Date and project required. Description optional.</a:t>
            </a:r>
          </a:p>
        </p:txBody>
      </p:sp>
      <p:sp>
        <p:nvSpPr>
          <p:cNvPr id="20" name="">
            <a:extLst xmlns:a="http://schemas.openxmlformats.org/drawingml/2006/main">
              <a:ext uri="{FF2B5EF4-FFF2-40B4-BE49-F238E27FC236}">
                <a16:creationId xmlns:a16="http://schemas.microsoft.com/office/drawing/2014/main" id="{3AE5F32E-05E0-467C-A3D9-13D43C8DB4EF}"/>
              </a:ext>
            </a:extLst>
          </p:cNvPr>
          <p:cNvSpPr>
            <a:spLocks xmlns:a="http://schemas.openxmlformats.org/drawingml/2006/main" noGrp="1"/>
          </p:cNvSpPr>
          <p:nvPr/>
        </p:nvSpPr>
        <p:spPr>
          <a:xfrm xmlns:a="http://schemas.openxmlformats.org/drawingml/2006/main">
            <a:off x="819150" y="35147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F91AC"/>
                </a:solidFill>
                <a:latin typeface="Courier New"/>
                <a:ea typeface="Courier New"/>
                <a:cs typeface="Courier New"/>
              </a:defRPr>
            </a:defPPr>
          </a:lstStyle>
          <a:p xmlns:a="http://schemas.openxmlformats.org/drawingml/2006/main">
            <a:pPr>
              <a:buNone/>
              <a:defRPr sz="1200" b="0">
                <a:solidFill>
                  <a:srgbClr val="7F91AC"/>
                </a:solidFill>
                <a:latin typeface="Courier New"/>
                <a:ea typeface="Courier New"/>
                <a:cs typeface="Courier New"/>
              </a:defRPr>
            </a:pPr>
            <a:r>
              <a:rPr sz="1200" b="0">
                <a:solidFill>
                  <a:srgbClr val="7F91AC"/>
                </a:solidFill>
                <a:latin typeface="Courier New"/>
                <a:ea typeface="Courier New"/>
                <a:cs typeface="Courier New"/>
              </a:rPr>
              <a:t>8</a:t>
            </a:r>
          </a:p>
        </p:txBody>
      </p:sp>
      <p:sp>
        <p:nvSpPr>
          <p:cNvPr id="21" name="">
            <a:extLst xmlns:a="http://schemas.openxmlformats.org/drawingml/2006/main">
              <a:ext uri="{FF2B5EF4-FFF2-40B4-BE49-F238E27FC236}">
                <a16:creationId xmlns:a16="http://schemas.microsoft.com/office/drawing/2014/main" id="{01033412-0F6B-4816-AC21-3C1A3D7C9BF0}"/>
              </a:ext>
            </a:extLst>
          </p:cNvPr>
          <p:cNvSpPr>
            <a:spLocks xmlns:a="http://schemas.openxmlformats.org/drawingml/2006/main" noGrp="1"/>
          </p:cNvSpPr>
          <p:nvPr/>
        </p:nvSpPr>
        <p:spPr>
          <a:xfrm xmlns:a="http://schemas.openxmlformats.org/drawingml/2006/main">
            <a:off x="1362075" y="3514725"/>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F0F4FC"/>
                </a:solidFill>
                <a:latin typeface="Courier New"/>
                <a:ea typeface="Courier New"/>
                <a:cs typeface="Courier New"/>
              </a:defRPr>
            </a:defPPr>
          </a:lstStyle>
          <a:p xmlns:a="http://schemas.openxmlformats.org/drawingml/2006/main">
            <a:pPr>
              <a:buNone/>
              <a:defRPr sz="1500" b="0">
                <a:solidFill>
                  <a:srgbClr val="F0F4FC"/>
                </a:solidFill>
                <a:latin typeface="Courier New"/>
                <a:ea typeface="Courier New"/>
                <a:cs typeface="Courier New"/>
              </a:defRPr>
            </a:pPr>
            <a:r>
              <a:rPr sz="1500" b="0">
                <a:solidFill>
                  <a:srgbClr val="F0F4FC"/>
                </a:solidFill>
                <a:latin typeface="Courier New"/>
                <a:ea typeface="Courier New"/>
                <a:cs typeface="Courier New"/>
              </a:rPr>
              <a:t>2. Hours &gt; 0 and &lt;= 24. Reject invalid input.</a:t>
            </a:r>
          </a:p>
        </p:txBody>
      </p:sp>
      <p:sp>
        <p:nvSpPr>
          <p:cNvPr id="22" name="">
            <a:extLst xmlns:a="http://schemas.openxmlformats.org/drawingml/2006/main">
              <a:ext uri="{FF2B5EF4-FFF2-40B4-BE49-F238E27FC236}">
                <a16:creationId xmlns:a16="http://schemas.microsoft.com/office/drawing/2014/main" id="{C0EFFE40-F88B-4FB6-9D1B-FBC2CA5C6FEC}"/>
              </a:ext>
            </a:extLst>
          </p:cNvPr>
          <p:cNvSpPr>
            <a:spLocks xmlns:a="http://schemas.openxmlformats.org/drawingml/2006/main" noGrp="1"/>
          </p:cNvSpPr>
          <p:nvPr/>
        </p:nvSpPr>
        <p:spPr>
          <a:xfrm xmlns:a="http://schemas.openxmlformats.org/drawingml/2006/main">
            <a:off x="819150" y="3733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F91AC"/>
                </a:solidFill>
                <a:latin typeface="Courier New"/>
                <a:ea typeface="Courier New"/>
                <a:cs typeface="Courier New"/>
              </a:defRPr>
            </a:defPPr>
          </a:lstStyle>
          <a:p xmlns:a="http://schemas.openxmlformats.org/drawingml/2006/main">
            <a:pPr>
              <a:buNone/>
              <a:defRPr sz="1200" b="0">
                <a:solidFill>
                  <a:srgbClr val="7F91AC"/>
                </a:solidFill>
                <a:latin typeface="Courier New"/>
                <a:ea typeface="Courier New"/>
                <a:cs typeface="Courier New"/>
              </a:defRPr>
            </a:pPr>
            <a:r>
              <a:rPr sz="1200" b="0">
                <a:solidFill>
                  <a:srgbClr val="7F91AC"/>
                </a:solidFill>
                <a:latin typeface="Courier New"/>
                <a:ea typeface="Courier New"/>
                <a:cs typeface="Courier New"/>
              </a:rPr>
              <a:t>9</a:t>
            </a:r>
          </a:p>
        </p:txBody>
      </p:sp>
      <p:sp>
        <p:nvSpPr>
          <p:cNvPr id="23" name="">
            <a:extLst xmlns:a="http://schemas.openxmlformats.org/drawingml/2006/main">
              <a:ext uri="{FF2B5EF4-FFF2-40B4-BE49-F238E27FC236}">
                <a16:creationId xmlns:a16="http://schemas.microsoft.com/office/drawing/2014/main" id="{0B8CFD65-DA5A-40D0-BDE1-E6F5201BCC67}"/>
              </a:ext>
            </a:extLst>
          </p:cNvPr>
          <p:cNvSpPr>
            <a:spLocks xmlns:a="http://schemas.openxmlformats.org/drawingml/2006/main" noGrp="1"/>
          </p:cNvSpPr>
          <p:nvPr/>
        </p:nvSpPr>
        <p:spPr>
          <a:xfrm xmlns:a="http://schemas.openxmlformats.org/drawingml/2006/main">
            <a:off x="1362075" y="3733800"/>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F0F4FC"/>
                </a:solidFill>
                <a:latin typeface="Courier New"/>
                <a:ea typeface="Courier New"/>
                <a:cs typeface="Courier New"/>
              </a:defRPr>
            </a:defPPr>
          </a:lstStyle>
          <a:p xmlns:a="http://schemas.openxmlformats.org/drawingml/2006/main">
            <a:pPr>
              <a:buNone/>
              <a:defRPr sz="1500" b="0">
                <a:solidFill>
                  <a:srgbClr val="F0F4FC"/>
                </a:solidFill>
                <a:latin typeface="Courier New"/>
                <a:ea typeface="Courier New"/>
                <a:cs typeface="Courier New"/>
              </a:defRPr>
            </a:pPr>
            <a:r>
              <a:rPr sz="1500" b="0">
                <a:solidFill>
                  <a:srgbClr val="F0F4FC"/>
                </a:solidFill>
                <a:latin typeface="Courier New"/>
                <a:ea typeface="Courier New"/>
                <a:cs typeface="Courier New"/>
              </a:rPr>
              <a:t>3. Entry list with loading, empty and error states.</a:t>
            </a:r>
          </a:p>
        </p:txBody>
      </p:sp>
      <p:sp>
        <p:nvSpPr>
          <p:cNvPr id="24" name="">
            <a:extLst xmlns:a="http://schemas.openxmlformats.org/drawingml/2006/main">
              <a:ext uri="{FF2B5EF4-FFF2-40B4-BE49-F238E27FC236}">
                <a16:creationId xmlns:a16="http://schemas.microsoft.com/office/drawing/2014/main" id="{6172BBBA-6C03-4DFB-A3C8-3C217B54E064}"/>
              </a:ext>
            </a:extLst>
          </p:cNvPr>
          <p:cNvSpPr>
            <a:spLocks xmlns:a="http://schemas.openxmlformats.org/drawingml/2006/main" noGrp="1"/>
          </p:cNvSpPr>
          <p:nvPr/>
        </p:nvSpPr>
        <p:spPr>
          <a:xfrm xmlns:a="http://schemas.openxmlformats.org/drawingml/2006/main">
            <a:off x="819150" y="39528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F91AC"/>
                </a:solidFill>
                <a:latin typeface="Courier New"/>
                <a:ea typeface="Courier New"/>
                <a:cs typeface="Courier New"/>
              </a:defRPr>
            </a:defPPr>
          </a:lstStyle>
          <a:p xmlns:a="http://schemas.openxmlformats.org/drawingml/2006/main">
            <a:pPr>
              <a:buNone/>
              <a:defRPr sz="1200" b="0">
                <a:solidFill>
                  <a:srgbClr val="7F91AC"/>
                </a:solidFill>
                <a:latin typeface="Courier New"/>
                <a:ea typeface="Courier New"/>
                <a:cs typeface="Courier New"/>
              </a:defRPr>
            </a:pPr>
            <a:r>
              <a:rPr sz="1200" b="0">
                <a:solidFill>
                  <a:srgbClr val="7F91AC"/>
                </a:solidFill>
                <a:latin typeface="Courier New"/>
                <a:ea typeface="Courier New"/>
                <a:cs typeface="Courier New"/>
              </a:rPr>
              <a:t>10</a:t>
            </a:r>
          </a:p>
        </p:txBody>
      </p:sp>
      <p:sp>
        <p:nvSpPr>
          <p:cNvPr id="25" name="">
            <a:extLst xmlns:a="http://schemas.openxmlformats.org/drawingml/2006/main">
              <a:ext uri="{FF2B5EF4-FFF2-40B4-BE49-F238E27FC236}">
                <a16:creationId xmlns:a16="http://schemas.microsoft.com/office/drawing/2014/main" id="{323DBF8E-1C84-4616-8FE2-1944CE0C2C4C}"/>
              </a:ext>
            </a:extLst>
          </p:cNvPr>
          <p:cNvSpPr>
            <a:spLocks xmlns:a="http://schemas.openxmlformats.org/drawingml/2006/main" noGrp="1"/>
          </p:cNvSpPr>
          <p:nvPr/>
        </p:nvSpPr>
        <p:spPr>
          <a:xfrm xmlns:a="http://schemas.openxmlformats.org/drawingml/2006/main">
            <a:off x="1362075" y="3952875"/>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93DCEF"/>
                </a:solidFill>
                <a:latin typeface="Courier New"/>
                <a:ea typeface="Courier New"/>
                <a:cs typeface="Courier New"/>
              </a:defRPr>
            </a:defPPr>
          </a:lstStyle>
          <a:p xmlns:a="http://schemas.openxmlformats.org/drawingml/2006/main">
            <a:pPr>
              <a:buNone/>
              <a:defRPr sz="1500" b="1">
                <a:solidFill>
                  <a:srgbClr val="93DCEF"/>
                </a:solidFill>
                <a:latin typeface="Courier New"/>
                <a:ea typeface="Courier New"/>
                <a:cs typeface="Courier New"/>
              </a:defRPr>
            </a:pPr>
            <a:r>
              <a:rPr sz="1500" b="1">
                <a:solidFill>
                  <a:srgbClr val="93DCEF"/>
                </a:solidFill>
                <a:latin typeface="Courier New"/>
                <a:ea typeface="Courier New"/>
                <a:cs typeface="Courier New"/>
              </a:rPr>
              <a:t>## Out of scope</a:t>
            </a:r>
          </a:p>
        </p:txBody>
      </p:sp>
      <p:sp>
        <p:nvSpPr>
          <p:cNvPr id="26" name="">
            <a:extLst xmlns:a="http://schemas.openxmlformats.org/drawingml/2006/main">
              <a:ext uri="{FF2B5EF4-FFF2-40B4-BE49-F238E27FC236}">
                <a16:creationId xmlns:a16="http://schemas.microsoft.com/office/drawing/2014/main" id="{0283AD37-A960-4687-BE3C-EEF339927EDE}"/>
              </a:ext>
            </a:extLst>
          </p:cNvPr>
          <p:cNvSpPr>
            <a:spLocks xmlns:a="http://schemas.openxmlformats.org/drawingml/2006/main" noGrp="1"/>
          </p:cNvSpPr>
          <p:nvPr/>
        </p:nvSpPr>
        <p:spPr>
          <a:xfrm xmlns:a="http://schemas.openxmlformats.org/drawingml/2006/main">
            <a:off x="819150" y="41719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F91AC"/>
                </a:solidFill>
                <a:latin typeface="Courier New"/>
                <a:ea typeface="Courier New"/>
                <a:cs typeface="Courier New"/>
              </a:defRPr>
            </a:defPPr>
          </a:lstStyle>
          <a:p xmlns:a="http://schemas.openxmlformats.org/drawingml/2006/main">
            <a:pPr>
              <a:buNone/>
              <a:defRPr sz="1200" b="0">
                <a:solidFill>
                  <a:srgbClr val="7F91AC"/>
                </a:solidFill>
                <a:latin typeface="Courier New"/>
                <a:ea typeface="Courier New"/>
                <a:cs typeface="Courier New"/>
              </a:defRPr>
            </a:pPr>
            <a:r>
              <a:rPr sz="1200" b="0">
                <a:solidFill>
                  <a:srgbClr val="7F91AC"/>
                </a:solidFill>
                <a:latin typeface="Courier New"/>
                <a:ea typeface="Courier New"/>
                <a:cs typeface="Courier New"/>
              </a:rPr>
              <a:t>11</a:t>
            </a:r>
          </a:p>
        </p:txBody>
      </p:sp>
      <p:sp>
        <p:nvSpPr>
          <p:cNvPr id="27" name="">
            <a:extLst xmlns:a="http://schemas.openxmlformats.org/drawingml/2006/main">
              <a:ext uri="{FF2B5EF4-FFF2-40B4-BE49-F238E27FC236}">
                <a16:creationId xmlns:a16="http://schemas.microsoft.com/office/drawing/2014/main" id="{C7DE5E0E-33B4-46CB-A2F5-D9A953F1C73D}"/>
              </a:ext>
            </a:extLst>
          </p:cNvPr>
          <p:cNvSpPr>
            <a:spLocks xmlns:a="http://schemas.openxmlformats.org/drawingml/2006/main" noGrp="1"/>
          </p:cNvSpPr>
          <p:nvPr/>
        </p:nvSpPr>
        <p:spPr>
          <a:xfrm xmlns:a="http://schemas.openxmlformats.org/drawingml/2006/main">
            <a:off x="1362075" y="4171950"/>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F0F4FC"/>
                </a:solidFill>
                <a:latin typeface="Courier New"/>
                <a:ea typeface="Courier New"/>
                <a:cs typeface="Courier New"/>
              </a:defRPr>
            </a:defPPr>
          </a:lstStyle>
          <a:p xmlns:a="http://schemas.openxmlformats.org/drawingml/2006/main">
            <a:pPr>
              <a:buNone/>
              <a:defRPr sz="1500" b="0">
                <a:solidFill>
                  <a:srgbClr val="F0F4FC"/>
                </a:solidFill>
                <a:latin typeface="Courier New"/>
                <a:ea typeface="Courier New"/>
                <a:cs typeface="Courier New"/>
              </a:defRPr>
            </a:pPr>
            <a:r>
              <a:rPr sz="1500" b="0">
                <a:solidFill>
                  <a:srgbClr val="F0F4FC"/>
                </a:solidFill>
                <a:latin typeface="Courier New"/>
                <a:ea typeface="Courier New"/>
                <a:cs typeface="Courier New"/>
              </a:rPr>
              <a:t>- Editing, deletion and reports.</a:t>
            </a:r>
          </a:p>
        </p:txBody>
      </p:sp>
      <p:sp>
        <p:nvSpPr>
          <p:cNvPr id="28" name="">
            <a:extLst xmlns:a="http://schemas.openxmlformats.org/drawingml/2006/main">
              <a:ext uri="{FF2B5EF4-FFF2-40B4-BE49-F238E27FC236}">
                <a16:creationId xmlns:a16="http://schemas.microsoft.com/office/drawing/2014/main" id="{97B4A083-2320-474F-9FEA-BE0C42DF6130}"/>
              </a:ext>
            </a:extLst>
          </p:cNvPr>
          <p:cNvSpPr>
            <a:spLocks xmlns:a="http://schemas.openxmlformats.org/drawingml/2006/main" noGrp="1"/>
          </p:cNvSpPr>
          <p:nvPr/>
        </p:nvSpPr>
        <p:spPr>
          <a:xfrm xmlns:a="http://schemas.openxmlformats.org/drawingml/2006/main">
            <a:off x="819150" y="43910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F91AC"/>
                </a:solidFill>
                <a:latin typeface="Courier New"/>
                <a:ea typeface="Courier New"/>
                <a:cs typeface="Courier New"/>
              </a:defRPr>
            </a:defPPr>
          </a:lstStyle>
          <a:p xmlns:a="http://schemas.openxmlformats.org/drawingml/2006/main">
            <a:pPr>
              <a:buNone/>
              <a:defRPr sz="1200" b="0">
                <a:solidFill>
                  <a:srgbClr val="7F91AC"/>
                </a:solidFill>
                <a:latin typeface="Courier New"/>
                <a:ea typeface="Courier New"/>
                <a:cs typeface="Courier New"/>
              </a:defRPr>
            </a:pPr>
            <a:r>
              <a:rPr sz="1200" b="0">
                <a:solidFill>
                  <a:srgbClr val="7F91AC"/>
                </a:solidFill>
                <a:latin typeface="Courier New"/>
                <a:ea typeface="Courier New"/>
                <a:cs typeface="Courier New"/>
              </a:rPr>
              <a:t>12</a:t>
            </a:r>
          </a:p>
        </p:txBody>
      </p:sp>
      <p:sp>
        <p:nvSpPr>
          <p:cNvPr id="29" name="">
            <a:extLst xmlns:a="http://schemas.openxmlformats.org/drawingml/2006/main">
              <a:ext uri="{FF2B5EF4-FFF2-40B4-BE49-F238E27FC236}">
                <a16:creationId xmlns:a16="http://schemas.microsoft.com/office/drawing/2014/main" id="{9F44DC82-F12B-4EC9-B868-312B61C52904}"/>
              </a:ext>
            </a:extLst>
          </p:cNvPr>
          <p:cNvSpPr>
            <a:spLocks xmlns:a="http://schemas.openxmlformats.org/drawingml/2006/main" noGrp="1"/>
          </p:cNvSpPr>
          <p:nvPr/>
        </p:nvSpPr>
        <p:spPr>
          <a:xfrm xmlns:a="http://schemas.openxmlformats.org/drawingml/2006/main">
            <a:off x="1362075" y="4391025"/>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93DCEF"/>
                </a:solidFill>
                <a:latin typeface="Courier New"/>
                <a:ea typeface="Courier New"/>
                <a:cs typeface="Courier New"/>
              </a:defRPr>
            </a:defPPr>
          </a:lstStyle>
          <a:p xmlns:a="http://schemas.openxmlformats.org/drawingml/2006/main">
            <a:pPr>
              <a:buNone/>
              <a:defRPr sz="1500" b="1">
                <a:solidFill>
                  <a:srgbClr val="93DCEF"/>
                </a:solidFill>
                <a:latin typeface="Courier New"/>
                <a:ea typeface="Courier New"/>
                <a:cs typeface="Courier New"/>
              </a:defRPr>
            </a:pPr>
            <a:r>
              <a:rPr sz="1500" b="1">
                <a:solidFill>
                  <a:srgbClr val="93DCEF"/>
                </a:solidFill>
                <a:latin typeface="Courier New"/>
                <a:ea typeface="Courier New"/>
                <a:cs typeface="Courier New"/>
              </a:rPr>
              <a:t>## Acceptance criteria</a:t>
            </a:r>
          </a:p>
        </p:txBody>
      </p:sp>
      <p:sp>
        <p:nvSpPr>
          <p:cNvPr id="30" name="">
            <a:extLst xmlns:a="http://schemas.openxmlformats.org/drawingml/2006/main">
              <a:ext uri="{FF2B5EF4-FFF2-40B4-BE49-F238E27FC236}">
                <a16:creationId xmlns:a16="http://schemas.microsoft.com/office/drawing/2014/main" id="{B00985C2-CCC0-4F40-A5D7-11F5ABF7DC49}"/>
              </a:ext>
            </a:extLst>
          </p:cNvPr>
          <p:cNvSpPr>
            <a:spLocks xmlns:a="http://schemas.openxmlformats.org/drawingml/2006/main" noGrp="1"/>
          </p:cNvSpPr>
          <p:nvPr/>
        </p:nvSpPr>
        <p:spPr>
          <a:xfrm xmlns:a="http://schemas.openxmlformats.org/drawingml/2006/main">
            <a:off x="819150" y="46101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F91AC"/>
                </a:solidFill>
                <a:latin typeface="Courier New"/>
                <a:ea typeface="Courier New"/>
                <a:cs typeface="Courier New"/>
              </a:defRPr>
            </a:defPPr>
          </a:lstStyle>
          <a:p xmlns:a="http://schemas.openxmlformats.org/drawingml/2006/main">
            <a:pPr>
              <a:buNone/>
              <a:defRPr sz="1200" b="0">
                <a:solidFill>
                  <a:srgbClr val="7F91AC"/>
                </a:solidFill>
                <a:latin typeface="Courier New"/>
                <a:ea typeface="Courier New"/>
                <a:cs typeface="Courier New"/>
              </a:defRPr>
            </a:pPr>
            <a:r>
              <a:rPr sz="1200" b="0">
                <a:solidFill>
                  <a:srgbClr val="7F91AC"/>
                </a:solidFill>
                <a:latin typeface="Courier New"/>
                <a:ea typeface="Courier New"/>
                <a:cs typeface="Courier New"/>
              </a:rPr>
              <a:t>13</a:t>
            </a:r>
          </a:p>
        </p:txBody>
      </p:sp>
      <p:sp>
        <p:nvSpPr>
          <p:cNvPr id="31" name="">
            <a:extLst xmlns:a="http://schemas.openxmlformats.org/drawingml/2006/main">
              <a:ext uri="{FF2B5EF4-FFF2-40B4-BE49-F238E27FC236}">
                <a16:creationId xmlns:a16="http://schemas.microsoft.com/office/drawing/2014/main" id="{499DE037-9EE4-4985-BE03-71A17644CEA6}"/>
              </a:ext>
            </a:extLst>
          </p:cNvPr>
          <p:cNvSpPr>
            <a:spLocks xmlns:a="http://schemas.openxmlformats.org/drawingml/2006/main" noGrp="1"/>
          </p:cNvSpPr>
          <p:nvPr/>
        </p:nvSpPr>
        <p:spPr>
          <a:xfrm xmlns:a="http://schemas.openxmlformats.org/drawingml/2006/main">
            <a:off x="1362075" y="4610100"/>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F0F4FC"/>
                </a:solidFill>
                <a:latin typeface="Courier New"/>
                <a:ea typeface="Courier New"/>
                <a:cs typeface="Courier New"/>
              </a:defRPr>
            </a:defPPr>
          </a:lstStyle>
          <a:p xmlns:a="http://schemas.openxmlformats.org/drawingml/2006/main">
            <a:pPr>
              <a:buNone/>
              <a:defRPr sz="1500" b="0">
                <a:solidFill>
                  <a:srgbClr val="F0F4FC"/>
                </a:solidFill>
                <a:latin typeface="Courier New"/>
                <a:ea typeface="Courier New"/>
                <a:cs typeface="Courier New"/>
              </a:defRPr>
            </a:pPr>
            <a:r>
              <a:rPr sz="1500" b="0">
                <a:solidFill>
                  <a:srgbClr val="F0F4FC"/>
                </a:solidFill>
                <a:latin typeface="Courier New"/>
                <a:ea typeface="Courier New"/>
                <a:cs typeface="Courier New"/>
              </a:rPr>
              <a:t>- [ ] 7.5 or 24 hours: the new entry appears in the list.</a:t>
            </a:r>
          </a:p>
        </p:txBody>
      </p:sp>
      <p:sp>
        <p:nvSpPr>
          <p:cNvPr id="32" name="">
            <a:extLst xmlns:a="http://schemas.openxmlformats.org/drawingml/2006/main">
              <a:ext uri="{FF2B5EF4-FFF2-40B4-BE49-F238E27FC236}">
                <a16:creationId xmlns:a16="http://schemas.microsoft.com/office/drawing/2014/main" id="{8F031DC1-FBAD-47FE-B1F7-C2BFC28CB6B8}"/>
              </a:ext>
            </a:extLst>
          </p:cNvPr>
          <p:cNvSpPr>
            <a:spLocks xmlns:a="http://schemas.openxmlformats.org/drawingml/2006/main" noGrp="1"/>
          </p:cNvSpPr>
          <p:nvPr/>
        </p:nvSpPr>
        <p:spPr>
          <a:xfrm xmlns:a="http://schemas.openxmlformats.org/drawingml/2006/main">
            <a:off x="819150" y="48291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F91AC"/>
                </a:solidFill>
                <a:latin typeface="Courier New"/>
                <a:ea typeface="Courier New"/>
                <a:cs typeface="Courier New"/>
              </a:defRPr>
            </a:defPPr>
          </a:lstStyle>
          <a:p xmlns:a="http://schemas.openxmlformats.org/drawingml/2006/main">
            <a:pPr>
              <a:buNone/>
              <a:defRPr sz="1200" b="0">
                <a:solidFill>
                  <a:srgbClr val="7F91AC"/>
                </a:solidFill>
                <a:latin typeface="Courier New"/>
                <a:ea typeface="Courier New"/>
                <a:cs typeface="Courier New"/>
              </a:defRPr>
            </a:pPr>
            <a:r>
              <a:rPr sz="1200" b="0">
                <a:solidFill>
                  <a:srgbClr val="7F91AC"/>
                </a:solidFill>
                <a:latin typeface="Courier New"/>
                <a:ea typeface="Courier New"/>
                <a:cs typeface="Courier New"/>
              </a:rPr>
              <a:t>14</a:t>
            </a:r>
          </a:p>
        </p:txBody>
      </p:sp>
      <p:sp>
        <p:nvSpPr>
          <p:cNvPr id="33" name="">
            <a:extLst xmlns:a="http://schemas.openxmlformats.org/drawingml/2006/main">
              <a:ext uri="{FF2B5EF4-FFF2-40B4-BE49-F238E27FC236}">
                <a16:creationId xmlns:a16="http://schemas.microsoft.com/office/drawing/2014/main" id="{FF3DC246-939E-454D-BB2F-0B12113A772F}"/>
              </a:ext>
            </a:extLst>
          </p:cNvPr>
          <p:cNvSpPr>
            <a:spLocks xmlns:a="http://schemas.openxmlformats.org/drawingml/2006/main" noGrp="1"/>
          </p:cNvSpPr>
          <p:nvPr/>
        </p:nvSpPr>
        <p:spPr>
          <a:xfrm xmlns:a="http://schemas.openxmlformats.org/drawingml/2006/main">
            <a:off x="1362075" y="4829175"/>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F0F4FC"/>
                </a:solidFill>
                <a:latin typeface="Courier New"/>
                <a:ea typeface="Courier New"/>
                <a:cs typeface="Courier New"/>
              </a:defRPr>
            </a:defPPr>
          </a:lstStyle>
          <a:p xmlns:a="http://schemas.openxmlformats.org/drawingml/2006/main">
            <a:pPr>
              <a:buNone/>
              <a:defRPr sz="1500" b="0">
                <a:solidFill>
                  <a:srgbClr val="F0F4FC"/>
                </a:solidFill>
                <a:latin typeface="Courier New"/>
                <a:ea typeface="Courier New"/>
                <a:cs typeface="Courier New"/>
              </a:defRPr>
            </a:pPr>
            <a:r>
              <a:rPr sz="1500" b="0">
                <a:solidFill>
                  <a:srgbClr val="F0F4FC"/>
                </a:solidFill>
                <a:latin typeface="Courier New"/>
                <a:ea typeface="Courier New"/>
                <a:cs typeface="Courier New"/>
              </a:rPr>
              <a:t>- [ ] 0 or 24.01 hours: show an error, save nothing.</a:t>
            </a:r>
          </a:p>
        </p:txBody>
      </p:sp>
      <p:sp>
        <p:nvSpPr>
          <p:cNvPr id="34" name="">
            <a:extLst xmlns:a="http://schemas.openxmlformats.org/drawingml/2006/main">
              <a:ext uri="{FF2B5EF4-FFF2-40B4-BE49-F238E27FC236}">
                <a16:creationId xmlns:a16="http://schemas.microsoft.com/office/drawing/2014/main" id="{1F38AC92-B615-4642-B1C8-B435AD534320}"/>
              </a:ext>
            </a:extLst>
          </p:cNvPr>
          <p:cNvSpPr>
            <a:spLocks xmlns:a="http://schemas.openxmlformats.org/drawingml/2006/main" noGrp="1"/>
          </p:cNvSpPr>
          <p:nvPr/>
        </p:nvSpPr>
        <p:spPr>
          <a:xfrm xmlns:a="http://schemas.openxmlformats.org/drawingml/2006/main">
            <a:off x="819150" y="50482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F91AC"/>
                </a:solidFill>
                <a:latin typeface="Courier New"/>
                <a:ea typeface="Courier New"/>
                <a:cs typeface="Courier New"/>
              </a:defRPr>
            </a:defPPr>
          </a:lstStyle>
          <a:p xmlns:a="http://schemas.openxmlformats.org/drawingml/2006/main">
            <a:pPr>
              <a:buNone/>
              <a:defRPr sz="1200" b="0">
                <a:solidFill>
                  <a:srgbClr val="7F91AC"/>
                </a:solidFill>
                <a:latin typeface="Courier New"/>
                <a:ea typeface="Courier New"/>
                <a:cs typeface="Courier New"/>
              </a:defRPr>
            </a:pPr>
            <a:r>
              <a:rPr sz="1200" b="0">
                <a:solidFill>
                  <a:srgbClr val="7F91AC"/>
                </a:solidFill>
                <a:latin typeface="Courier New"/>
                <a:ea typeface="Courier New"/>
                <a:cs typeface="Courier New"/>
              </a:rPr>
              <a:t>15</a:t>
            </a:r>
          </a:p>
        </p:txBody>
      </p:sp>
      <p:sp>
        <p:nvSpPr>
          <p:cNvPr id="35" name="">
            <a:extLst xmlns:a="http://schemas.openxmlformats.org/drawingml/2006/main">
              <a:ext uri="{FF2B5EF4-FFF2-40B4-BE49-F238E27FC236}">
                <a16:creationId xmlns:a16="http://schemas.microsoft.com/office/drawing/2014/main" id="{F54E52B9-A879-4691-9892-473E49622856}"/>
              </a:ext>
            </a:extLst>
          </p:cNvPr>
          <p:cNvSpPr>
            <a:spLocks xmlns:a="http://schemas.openxmlformats.org/drawingml/2006/main" noGrp="1"/>
          </p:cNvSpPr>
          <p:nvPr/>
        </p:nvSpPr>
        <p:spPr>
          <a:xfrm xmlns:a="http://schemas.openxmlformats.org/drawingml/2006/main">
            <a:off x="1362075" y="5048250"/>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F0F4FC"/>
                </a:solidFill>
                <a:latin typeface="Courier New"/>
                <a:ea typeface="Courier New"/>
                <a:cs typeface="Courier New"/>
              </a:defRPr>
            </a:defPPr>
          </a:lstStyle>
          <a:p xmlns:a="http://schemas.openxmlformats.org/drawingml/2006/main">
            <a:pPr>
              <a:buNone/>
              <a:defRPr sz="1500" b="0">
                <a:solidFill>
                  <a:srgbClr val="F0F4FC"/>
                </a:solidFill>
                <a:latin typeface="Courier New"/>
                <a:ea typeface="Courier New"/>
                <a:cs typeface="Courier New"/>
              </a:defRPr>
            </a:pPr>
            <a:r>
              <a:rPr sz="1500" b="0">
                <a:solidFill>
                  <a:srgbClr val="F0F4FC"/>
                </a:solidFill>
                <a:latin typeface="Courier New"/>
                <a:ea typeface="Courier New"/>
                <a:cs typeface="Courier New"/>
              </a:rPr>
              <a:t>- [ ] The list handles loading, empty and error states.</a:t>
            </a:r>
          </a:p>
        </p:txBody>
      </p:sp>
      <p:sp>
        <p:nvSpPr>
          <p:cNvPr id="36" name="">
            <a:extLst xmlns:a="http://schemas.openxmlformats.org/drawingml/2006/main">
              <a:ext uri="{FF2B5EF4-FFF2-40B4-BE49-F238E27FC236}">
                <a16:creationId xmlns:a16="http://schemas.microsoft.com/office/drawing/2014/main" id="{2F6477ED-9825-457C-99C7-D954CEAC9EB9}"/>
              </a:ext>
            </a:extLst>
          </p:cNvPr>
          <p:cNvSpPr>
            <a:spLocks xmlns:a="http://schemas.openxmlformats.org/drawingml/2006/main" noGrp="1"/>
          </p:cNvSpPr>
          <p:nvPr/>
        </p:nvSpPr>
        <p:spPr>
          <a:xfrm xmlns:a="http://schemas.openxmlformats.org/drawingml/2006/main">
            <a:off x="819150" y="52673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F91AC"/>
                </a:solidFill>
                <a:latin typeface="Courier New"/>
                <a:ea typeface="Courier New"/>
                <a:cs typeface="Courier New"/>
              </a:defRPr>
            </a:defPPr>
          </a:lstStyle>
          <a:p xmlns:a="http://schemas.openxmlformats.org/drawingml/2006/main">
            <a:pPr>
              <a:buNone/>
              <a:defRPr sz="1200" b="0">
                <a:solidFill>
                  <a:srgbClr val="7F91AC"/>
                </a:solidFill>
                <a:latin typeface="Courier New"/>
                <a:ea typeface="Courier New"/>
                <a:cs typeface="Courier New"/>
              </a:defRPr>
            </a:pPr>
            <a:r>
              <a:rPr sz="1200" b="0">
                <a:solidFill>
                  <a:srgbClr val="7F91AC"/>
                </a:solidFill>
                <a:latin typeface="Courier New"/>
                <a:ea typeface="Courier New"/>
                <a:cs typeface="Courier New"/>
              </a:rPr>
              <a:t>16</a:t>
            </a:r>
          </a:p>
        </p:txBody>
      </p:sp>
      <p:sp>
        <p:nvSpPr>
          <p:cNvPr id="37" name="">
            <a:extLst xmlns:a="http://schemas.openxmlformats.org/drawingml/2006/main">
              <a:ext uri="{FF2B5EF4-FFF2-40B4-BE49-F238E27FC236}">
                <a16:creationId xmlns:a16="http://schemas.microsoft.com/office/drawing/2014/main" id="{4B227258-F748-4CD9-9385-2F881773E868}"/>
              </a:ext>
            </a:extLst>
          </p:cNvPr>
          <p:cNvSpPr>
            <a:spLocks xmlns:a="http://schemas.openxmlformats.org/drawingml/2006/main" noGrp="1"/>
          </p:cNvSpPr>
          <p:nvPr/>
        </p:nvSpPr>
        <p:spPr>
          <a:xfrm xmlns:a="http://schemas.openxmlformats.org/drawingml/2006/main">
            <a:off x="1362075" y="5267325"/>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93DCEF"/>
                </a:solidFill>
                <a:latin typeface="Courier New"/>
                <a:ea typeface="Courier New"/>
                <a:cs typeface="Courier New"/>
              </a:defRPr>
            </a:defPPr>
          </a:lstStyle>
          <a:p xmlns:a="http://schemas.openxmlformats.org/drawingml/2006/main">
            <a:pPr>
              <a:buNone/>
              <a:defRPr sz="1500" b="1">
                <a:solidFill>
                  <a:srgbClr val="93DCEF"/>
                </a:solidFill>
                <a:latin typeface="Courier New"/>
                <a:ea typeface="Courier New"/>
                <a:cs typeface="Courier New"/>
              </a:defRPr>
            </a:pPr>
            <a:r>
              <a:rPr sz="1500" b="1">
                <a:solidFill>
                  <a:srgbClr val="93DCEF"/>
                </a:solidFill>
                <a:latin typeface="Courier New"/>
                <a:ea typeface="Courier New"/>
                <a:cs typeface="Courier New"/>
              </a:rPr>
              <a:t>## Technical notes</a:t>
            </a:r>
          </a:p>
        </p:txBody>
      </p:sp>
      <p:sp>
        <p:nvSpPr>
          <p:cNvPr id="38" name="">
            <a:extLst xmlns:a="http://schemas.openxmlformats.org/drawingml/2006/main">
              <a:ext uri="{FF2B5EF4-FFF2-40B4-BE49-F238E27FC236}">
                <a16:creationId xmlns:a16="http://schemas.microsoft.com/office/drawing/2014/main" id="{281C6066-37C5-4D02-9350-E33F1BEE4888}"/>
              </a:ext>
            </a:extLst>
          </p:cNvPr>
          <p:cNvSpPr>
            <a:spLocks xmlns:a="http://schemas.openxmlformats.org/drawingml/2006/main" noGrp="1"/>
          </p:cNvSpPr>
          <p:nvPr/>
        </p:nvSpPr>
        <p:spPr>
          <a:xfrm xmlns:a="http://schemas.openxmlformats.org/drawingml/2006/main">
            <a:off x="819150" y="54864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F91AC"/>
                </a:solidFill>
                <a:latin typeface="Courier New"/>
                <a:ea typeface="Courier New"/>
                <a:cs typeface="Courier New"/>
              </a:defRPr>
            </a:defPPr>
          </a:lstStyle>
          <a:p xmlns:a="http://schemas.openxmlformats.org/drawingml/2006/main">
            <a:pPr>
              <a:buNone/>
              <a:defRPr sz="1200" b="0">
                <a:solidFill>
                  <a:srgbClr val="7F91AC"/>
                </a:solidFill>
                <a:latin typeface="Courier New"/>
                <a:ea typeface="Courier New"/>
                <a:cs typeface="Courier New"/>
              </a:defRPr>
            </a:pPr>
            <a:r>
              <a:rPr sz="1200" b="0">
                <a:solidFill>
                  <a:srgbClr val="7F91AC"/>
                </a:solidFill>
                <a:latin typeface="Courier New"/>
                <a:ea typeface="Courier New"/>
                <a:cs typeface="Courier New"/>
              </a:rPr>
              <a:t>17</a:t>
            </a:r>
          </a:p>
        </p:txBody>
      </p:sp>
      <p:sp>
        <p:nvSpPr>
          <p:cNvPr id="39" name="">
            <a:extLst xmlns:a="http://schemas.openxmlformats.org/drawingml/2006/main">
              <a:ext uri="{FF2B5EF4-FFF2-40B4-BE49-F238E27FC236}">
                <a16:creationId xmlns:a16="http://schemas.microsoft.com/office/drawing/2014/main" id="{0E5C0238-098A-463B-9BDE-0BBCCA77D39C}"/>
              </a:ext>
            </a:extLst>
          </p:cNvPr>
          <p:cNvSpPr>
            <a:spLocks xmlns:a="http://schemas.openxmlformats.org/drawingml/2006/main" noGrp="1"/>
          </p:cNvSpPr>
          <p:nvPr/>
        </p:nvSpPr>
        <p:spPr>
          <a:xfrm xmlns:a="http://schemas.openxmlformats.org/drawingml/2006/main">
            <a:off x="1362075" y="5486400"/>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F0F4FC"/>
                </a:solidFill>
                <a:latin typeface="Courier New"/>
                <a:ea typeface="Courier New"/>
                <a:cs typeface="Courier New"/>
              </a:defRPr>
            </a:defPPr>
          </a:lstStyle>
          <a:p xmlns:a="http://schemas.openxmlformats.org/drawingml/2006/main">
            <a:pPr>
              <a:buNone/>
              <a:defRPr sz="1500" b="0">
                <a:solidFill>
                  <a:srgbClr val="F0F4FC"/>
                </a:solidFill>
                <a:latin typeface="Courier New"/>
                <a:ea typeface="Courier New"/>
                <a:cs typeface="Courier New"/>
              </a:defRPr>
            </a:pPr>
            <a:r>
              <a:rPr sz="1500" b="0">
                <a:solidFill>
                  <a:srgbClr val="F0F4FC"/>
                </a:solidFill>
                <a:latin typeface="Courier New"/>
                <a:ea typeface="Courier New"/>
                <a:cs typeface="Courier New"/>
              </a:rPr>
              <a:t>- Minimal API + Blazor. Shared DTOs. UI follows DESIGN.md.</a:t>
            </a:r>
          </a:p>
        </p:txBody>
      </p:sp>
      <p:sp>
        <p:nvSpPr>
          <p:cNvPr id="40" name="">
            <a:extLst xmlns:a="http://schemas.openxmlformats.org/drawingml/2006/main">
              <a:ext uri="{FF2B5EF4-FFF2-40B4-BE49-F238E27FC236}">
                <a16:creationId xmlns:a16="http://schemas.microsoft.com/office/drawing/2014/main" id="{73F746F7-4C01-4782-AA25-66A71D71CB0D}"/>
              </a:ext>
            </a:extLst>
          </p:cNvPr>
          <p:cNvSpPr>
            <a:spLocks xmlns:a="http://schemas.openxmlformats.org/drawingml/2006/main" noGrp="1"/>
          </p:cNvSpPr>
          <p:nvPr/>
        </p:nvSpPr>
        <p:spPr>
          <a:xfrm xmlns:a="http://schemas.openxmlformats.org/drawingml/2006/main">
            <a:off x="819150" y="57054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F91AC"/>
                </a:solidFill>
                <a:latin typeface="Courier New"/>
                <a:ea typeface="Courier New"/>
                <a:cs typeface="Courier New"/>
              </a:defRPr>
            </a:defPPr>
          </a:lstStyle>
          <a:p xmlns:a="http://schemas.openxmlformats.org/drawingml/2006/main">
            <a:pPr>
              <a:buNone/>
              <a:defRPr sz="1200" b="0">
                <a:solidFill>
                  <a:srgbClr val="7F91AC"/>
                </a:solidFill>
                <a:latin typeface="Courier New"/>
                <a:ea typeface="Courier New"/>
                <a:cs typeface="Courier New"/>
              </a:defRPr>
            </a:pPr>
            <a:r>
              <a:rPr sz="1200" b="0">
                <a:solidFill>
                  <a:srgbClr val="7F91AC"/>
                </a:solidFill>
                <a:latin typeface="Courier New"/>
                <a:ea typeface="Courier New"/>
                <a:cs typeface="Courier New"/>
              </a:rPr>
              <a:t>18</a:t>
            </a:r>
          </a:p>
        </p:txBody>
      </p:sp>
      <p:sp>
        <p:nvSpPr>
          <p:cNvPr id="41" name="">
            <a:extLst xmlns:a="http://schemas.openxmlformats.org/drawingml/2006/main">
              <a:ext uri="{FF2B5EF4-FFF2-40B4-BE49-F238E27FC236}">
                <a16:creationId xmlns:a16="http://schemas.microsoft.com/office/drawing/2014/main" id="{CFD05742-DB57-46F8-8ECF-1230D4B2557A}"/>
              </a:ext>
            </a:extLst>
          </p:cNvPr>
          <p:cNvSpPr>
            <a:spLocks xmlns:a="http://schemas.openxmlformats.org/drawingml/2006/main" noGrp="1"/>
          </p:cNvSpPr>
          <p:nvPr/>
        </p:nvSpPr>
        <p:spPr>
          <a:xfrm xmlns:a="http://schemas.openxmlformats.org/drawingml/2006/main">
            <a:off x="1362075" y="5705475"/>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93DCEF"/>
                </a:solidFill>
                <a:latin typeface="Courier New"/>
                <a:ea typeface="Courier New"/>
                <a:cs typeface="Courier New"/>
              </a:defRPr>
            </a:defPPr>
          </a:lstStyle>
          <a:p xmlns:a="http://schemas.openxmlformats.org/drawingml/2006/main">
            <a:pPr>
              <a:buNone/>
              <a:defRPr sz="1500" b="1">
                <a:solidFill>
                  <a:srgbClr val="93DCEF"/>
                </a:solidFill>
                <a:latin typeface="Courier New"/>
                <a:ea typeface="Courier New"/>
                <a:cs typeface="Courier New"/>
              </a:defRPr>
            </a:pPr>
            <a:r>
              <a:rPr sz="1500" b="1">
                <a:solidFill>
                  <a:srgbClr val="93DCEF"/>
                </a:solidFill>
                <a:latin typeface="Courier New"/>
                <a:ea typeface="Courier New"/>
                <a:cs typeface="Courier New"/>
              </a:rPr>
              <a:t>## Tasks</a:t>
            </a:r>
          </a:p>
        </p:txBody>
      </p:sp>
      <p:sp>
        <p:nvSpPr>
          <p:cNvPr id="42" name="">
            <a:extLst xmlns:a="http://schemas.openxmlformats.org/drawingml/2006/main">
              <a:ext uri="{FF2B5EF4-FFF2-40B4-BE49-F238E27FC236}">
                <a16:creationId xmlns:a16="http://schemas.microsoft.com/office/drawing/2014/main" id="{CEF63D97-82D4-44D3-AC63-9BD5945A738E}"/>
              </a:ext>
            </a:extLst>
          </p:cNvPr>
          <p:cNvSpPr>
            <a:spLocks xmlns:a="http://schemas.openxmlformats.org/drawingml/2006/main" noGrp="1"/>
          </p:cNvSpPr>
          <p:nvPr/>
        </p:nvSpPr>
        <p:spPr>
          <a:xfrm xmlns:a="http://schemas.openxmlformats.org/drawingml/2006/main">
            <a:off x="819150" y="59245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7F91AC"/>
                </a:solidFill>
                <a:latin typeface="Courier New"/>
                <a:ea typeface="Courier New"/>
                <a:cs typeface="Courier New"/>
              </a:defRPr>
            </a:defPPr>
          </a:lstStyle>
          <a:p xmlns:a="http://schemas.openxmlformats.org/drawingml/2006/main">
            <a:pPr>
              <a:buNone/>
              <a:defRPr sz="1200" b="0">
                <a:solidFill>
                  <a:srgbClr val="7F91AC"/>
                </a:solidFill>
                <a:latin typeface="Courier New"/>
                <a:ea typeface="Courier New"/>
                <a:cs typeface="Courier New"/>
              </a:defRPr>
            </a:pPr>
            <a:r>
              <a:rPr sz="1200" b="0">
                <a:solidFill>
                  <a:srgbClr val="7F91AC"/>
                </a:solidFill>
                <a:latin typeface="Courier New"/>
                <a:ea typeface="Courier New"/>
                <a:cs typeface="Courier New"/>
              </a:rPr>
              <a:t>19</a:t>
            </a:r>
          </a:p>
        </p:txBody>
      </p:sp>
      <p:sp>
        <p:nvSpPr>
          <p:cNvPr id="43" name="">
            <a:extLst xmlns:a="http://schemas.openxmlformats.org/drawingml/2006/main">
              <a:ext uri="{FF2B5EF4-FFF2-40B4-BE49-F238E27FC236}">
                <a16:creationId xmlns:a16="http://schemas.microsoft.com/office/drawing/2014/main" id="{F7801A1F-F66F-4BB2-ACB8-23D8E56ABDAF}"/>
              </a:ext>
            </a:extLst>
          </p:cNvPr>
          <p:cNvSpPr>
            <a:spLocks xmlns:a="http://schemas.openxmlformats.org/drawingml/2006/main" noGrp="1"/>
          </p:cNvSpPr>
          <p:nvPr/>
        </p:nvSpPr>
        <p:spPr>
          <a:xfrm xmlns:a="http://schemas.openxmlformats.org/drawingml/2006/main">
            <a:off x="1362075" y="5924550"/>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F0F4FC"/>
                </a:solidFill>
                <a:latin typeface="Courier New"/>
                <a:ea typeface="Courier New"/>
                <a:cs typeface="Courier New"/>
              </a:defRPr>
            </a:defPPr>
          </a:lstStyle>
          <a:p xmlns:a="http://schemas.openxmlformats.org/drawingml/2006/main">
            <a:pPr>
              <a:buNone/>
              <a:defRPr sz="1500" b="0">
                <a:solidFill>
                  <a:srgbClr val="F0F4FC"/>
                </a:solidFill>
                <a:latin typeface="Courier New"/>
                <a:ea typeface="Courier New"/>
                <a:cs typeface="Courier New"/>
              </a:defRPr>
            </a:pPr>
            <a:r>
              <a:rPr sz="1500" b="0">
                <a:solidFill>
                  <a:srgbClr val="F0F4FC"/>
                </a:solidFill>
                <a:latin typeface="Courier New"/>
                <a:ea typeface="Courier New"/>
                <a:cs typeface="Courier New"/>
              </a:rPr>
              <a:t>- [ ] API + unit tests. Form + list. Human review.</a:t>
            </a:r>
          </a:p>
        </p:txBody>
      </p:sp>
      <p:sp>
        <p:nvSpPr>
          <p:cNvPr id="44" name="">
            <a:extLst xmlns:a="http://schemas.openxmlformats.org/drawingml/2006/main">
              <a:ext uri="{FF2B5EF4-FFF2-40B4-BE49-F238E27FC236}">
                <a16:creationId xmlns:a16="http://schemas.microsoft.com/office/drawing/2014/main" id="{124D4FB5-B34D-4322-B85C-6731D8E2BA6F}"/>
              </a:ext>
            </a:extLst>
          </p:cNvPr>
          <p:cNvSpPr>
            <a:spLocks xmlns:a="http://schemas.openxmlformats.org/drawingml/2006/main" noGrp="1"/>
          </p:cNvSpPr>
          <p:nvPr/>
        </p:nvSpPr>
        <p:spPr>
          <a:xfrm xmlns:a="http://schemas.openxmlformats.org/drawingml/2006/main">
            <a:off x="11049000" y="64008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4D5C74"/>
                </a:solidFill>
                <a:latin typeface="Arial"/>
                <a:ea typeface="Arial"/>
                <a:cs typeface="Arial"/>
              </a:defRPr>
            </a:defPPr>
          </a:lstStyle>
          <a:p xmlns:a="http://schemas.openxmlformats.org/drawingml/2006/main">
            <a:pPr>
              <a:buNone/>
              <a:defRPr sz="1275" b="0">
                <a:solidFill>
                  <a:srgbClr val="4D5C74"/>
                </a:solidFill>
                <a:latin typeface="Arial"/>
                <a:ea typeface="Arial"/>
                <a:cs typeface="Arial"/>
              </a:defRPr>
            </a:pPr>
            <a:r>
              <a:rPr sz="1275" b="0">
                <a:solidFill>
                  <a:srgbClr val="4D5C74"/>
                </a:solidFill>
                <a:latin typeface="Arial"/>
                <a:ea typeface="Arial"/>
                <a:cs typeface="Arial"/>
              </a:rPr>
              <a:t>08</a:t>
            </a:r>
          </a:p>
        </p:txBody>
      </p:sp>
    </p:spTree>
    <p:extLst>
      <p:ext uri="{BB962C8B-B14F-4D97-AF65-F5344CB8AC3E}">
        <p14:creationId xmlns:p14="http://schemas.microsoft.com/office/powerpoint/2010/main" val="742038515"/>
      </p:ext>
    </p:extLst>
  </p:cSld>
</p:sld>
</file>

<file path=ppt/slides/slide9.xml><?xml version="1.0" encoding="utf-8"?>
<p:sld xmlns:p="http://schemas.openxmlformats.org/presentationml/2006/main">
  <p:cSld>
    <p:bg>
      <p:bgPr>
        <a:gradFill xmlns:a="http://schemas.openxmlformats.org/drawingml/2006/main">
          <a:gsLst>
            <a:gs pos="0">
              <a:srgbClr val="FFFFFF"/>
            </a:gs>
            <a:gs pos="60000">
              <a:srgbClr val="EDF4FF"/>
            </a:gs>
            <a:gs pos="100000">
              <a:srgbClr val="E5DAFA"/>
            </a:gs>
          </a:gsLst>
          <a:lin ang="1500000"/>
        </a:gra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8AF303BF-17B8-47B9-A72C-3C5A55BE5260}"/>
              </a:ext>
            </a:extLst>
          </p:cNvPr>
          <p:cNvCxnSpPr>
            <a:stCxn xmlns:a="http://schemas.openxmlformats.org/drawingml/2006/main" id="19" idx="3"/>
            <a:endCxn xmlns:a="http://schemas.openxmlformats.org/drawingml/2006/main" id="21" idx="1"/>
          </p:cNvCxnSpPr>
          <p:nvPr/>
        </p:nvCxnSpPr>
        <p:spPr>
          <a:xfrm xmlns:a="http://schemas.openxmlformats.org/drawingml/2006/main" flipV="1">
            <a:off x="5800725" y="5229225"/>
            <a:ext cx="704850" cy="38100"/>
          </a:xfrm>
          <a:prstGeom xmlns:a="http://schemas.openxmlformats.org/drawingml/2006/main" prst="straightConnector1">
            <a:avLst/>
          </a:prstGeom>
          <a:ln xmlns:a="http://schemas.openxmlformats.org/drawingml/2006/main" w="28575">
            <a:solidFill>
              <a:srgbClr val="7041B9"/>
            </a:solidFill>
            <a:tailEnd type="triangle" w="med" len="med"/>
          </a:ln>
        </p:spPr>
      </p:cxnSp>
      <p:cxnSp>
        <p:nvCxnSpPr>
          <p:cNvPr id="17" name="">
            <a:extLst xmlns:a="http://schemas.openxmlformats.org/drawingml/2006/main">
              <a:ext uri="{FF2B5EF4-FFF2-40B4-BE49-F238E27FC236}">
                <a16:creationId xmlns:a16="http://schemas.microsoft.com/office/drawing/2014/main" id="{FE93BD7A-3647-4651-A07E-8785914C024E}"/>
              </a:ext>
            </a:extLst>
          </p:cNvPr>
          <p:cNvCxnSpPr>
            <a:stCxn xmlns:a="http://schemas.openxmlformats.org/drawingml/2006/main" id="13" idx="3"/>
            <a:endCxn xmlns:a="http://schemas.openxmlformats.org/drawingml/2006/main" id="15" idx="1"/>
          </p:cNvCxnSpPr>
          <p:nvPr/>
        </p:nvCxnSpPr>
        <p:spPr>
          <a:xfrm xmlns:a="http://schemas.openxmlformats.org/drawingml/2006/main">
            <a:off x="5800725" y="3724275"/>
            <a:ext cx="704850" cy="0"/>
          </a:xfrm>
          <a:prstGeom xmlns:a="http://schemas.openxmlformats.org/drawingml/2006/main" prst="straightConnector1">
            <a:avLst/>
          </a:prstGeom>
          <a:ln xmlns:a="http://schemas.openxmlformats.org/drawingml/2006/main" w="28575">
            <a:solidFill>
              <a:srgbClr val="137957"/>
            </a:solidFill>
            <a:headEnd type="triangle" w="med" len="med"/>
            <a:tailEnd type="triangle" w="med" len="med"/>
          </a:ln>
        </p:spPr>
      </p:cxnSp>
      <p:cxnSp>
        <p:nvCxnSpPr>
          <p:cNvPr id="12" name="">
            <a:extLst xmlns:a="http://schemas.openxmlformats.org/drawingml/2006/main">
              <a:ext uri="{FF2B5EF4-FFF2-40B4-BE49-F238E27FC236}">
                <a16:creationId xmlns:a16="http://schemas.microsoft.com/office/drawing/2014/main" id="{53C3899C-04D5-49FE-A3B2-9BD75D7B1D58}"/>
              </a:ext>
            </a:extLst>
          </p:cNvPr>
          <p:cNvCxnSpPr>
            <a:stCxn xmlns:a="http://schemas.openxmlformats.org/drawingml/2006/main" id="8" idx="3"/>
            <a:endCxn xmlns:a="http://schemas.openxmlformats.org/drawingml/2006/main" id="10" idx="1"/>
          </p:cNvCxnSpPr>
          <p:nvPr/>
        </p:nvCxnSpPr>
        <p:spPr>
          <a:xfrm xmlns:a="http://schemas.openxmlformats.org/drawingml/2006/main">
            <a:off x="5800725" y="2219325"/>
            <a:ext cx="704850" cy="0"/>
          </a:xfrm>
          <a:prstGeom xmlns:a="http://schemas.openxmlformats.org/drawingml/2006/main" prst="straightConnector1">
            <a:avLst/>
          </a:prstGeom>
          <a:ln xmlns:a="http://schemas.openxmlformats.org/drawingml/2006/main" w="28575">
            <a:solidFill>
              <a:srgbClr val="2447A6"/>
            </a:solidFill>
            <a:tailEnd type="triangle" w="med" len="med"/>
          </a:ln>
        </p:spPr>
      </p:cxnSp>
      <p:sp>
        <p:nvSpPr>
          <p:cNvPr id="30" name="">
            <a:extLst xmlns:a="http://schemas.openxmlformats.org/drawingml/2006/main">
              <a:ext uri="{FF2B5EF4-FFF2-40B4-BE49-F238E27FC236}">
                <a16:creationId xmlns:a16="http://schemas.microsoft.com/office/drawing/2014/main" id="{0998837A-8CEB-41E6-993B-79C3FBF81D39}"/>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442"/>
                </a:solidFill>
                <a:latin typeface="Arial"/>
                <a:ea typeface="Arial"/>
                <a:cs typeface="Arial"/>
              </a:defRPr>
            </a:defPPr>
          </a:lstStyle>
          <a:p xmlns:a="http://schemas.openxmlformats.org/drawingml/2006/main">
            <a:pPr>
              <a:buNone/>
              <a:defRPr sz="3300" b="1">
                <a:solidFill>
                  <a:srgbClr val="122442"/>
                </a:solidFill>
                <a:latin typeface="Arial"/>
                <a:ea typeface="Arial"/>
                <a:cs typeface="Arial"/>
              </a:defRPr>
            </a:pPr>
            <a:r>
              <a:rPr sz="3300" b="1">
                <a:solidFill>
                  <a:srgbClr val="122442"/>
                </a:solidFill>
                <a:latin typeface="Arial"/>
                <a:ea typeface="Arial"/>
                <a:cs typeface="Arial"/>
              </a:rPr>
              <a:t>Three ways to use a spec</a:t>
            </a:r>
          </a:p>
        </p:txBody>
      </p:sp>
      <p:sp>
        <p:nvSpPr>
          <p:cNvPr id="2" name="">
            <a:extLst xmlns:a="http://schemas.openxmlformats.org/drawingml/2006/main">
              <a:ext uri="{FF2B5EF4-FFF2-40B4-BE49-F238E27FC236}">
                <a16:creationId xmlns:a16="http://schemas.microsoft.com/office/drawing/2014/main" id="{47F66157-3255-48F3-93E1-0D291C78AB84}"/>
              </a:ext>
            </a:extLst>
          </p:cNvPr>
          <p:cNvSpPr>
            <a:spLocks xmlns:a="http://schemas.openxmlformats.org/drawingml/2006/main" noGrp="1"/>
          </p:cNvSpPr>
          <p:nvPr/>
        </p:nvSpPr>
        <p:spPr>
          <a:xfrm xmlns:a="http://schemas.openxmlformats.org/drawingml/2006/main">
            <a:off x="685800" y="1657350"/>
            <a:ext cx="2714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447A6"/>
                </a:solidFill>
                <a:latin typeface="Arial"/>
                <a:ea typeface="Arial"/>
                <a:cs typeface="Arial"/>
              </a:defRPr>
            </a:defPPr>
          </a:lstStyle>
          <a:p xmlns:a="http://schemas.openxmlformats.org/drawingml/2006/main">
            <a:pPr>
              <a:buNone/>
              <a:defRPr sz="2250" b="1">
                <a:solidFill>
                  <a:srgbClr val="2447A6"/>
                </a:solidFill>
                <a:latin typeface="Arial"/>
                <a:ea typeface="Arial"/>
                <a:cs typeface="Arial"/>
              </a:defRPr>
            </a:pPr>
            <a:r>
              <a:rPr sz="2250" b="1">
                <a:solidFill>
                  <a:srgbClr val="2447A6"/>
                </a:solidFill>
                <a:latin typeface="Arial"/>
                <a:ea typeface="Arial"/>
                <a:cs typeface="Arial"/>
              </a:rPr>
              <a:t>Spec-first</a:t>
            </a:r>
          </a:p>
        </p:txBody>
      </p:sp>
      <p:sp>
        <p:nvSpPr>
          <p:cNvPr id="3" name="">
            <a:extLst xmlns:a="http://schemas.openxmlformats.org/drawingml/2006/main">
              <a:ext uri="{FF2B5EF4-FFF2-40B4-BE49-F238E27FC236}">
                <a16:creationId xmlns:a16="http://schemas.microsoft.com/office/drawing/2014/main" id="{C72C4EE9-D26F-48D4-9B97-81501B46E762}"/>
              </a:ext>
            </a:extLst>
          </p:cNvPr>
          <p:cNvSpPr>
            <a:spLocks xmlns:a="http://schemas.openxmlformats.org/drawingml/2006/main" noGrp="1"/>
          </p:cNvSpPr>
          <p:nvPr/>
        </p:nvSpPr>
        <p:spPr>
          <a:xfrm xmlns:a="http://schemas.openxmlformats.org/drawingml/2006/main">
            <a:off x="685800" y="21621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22442"/>
                </a:solidFill>
                <a:latin typeface="Arial"/>
                <a:ea typeface="Arial"/>
                <a:cs typeface="Arial"/>
              </a:defRPr>
            </a:defPPr>
          </a:lstStyle>
          <a:p xmlns:a="http://schemas.openxmlformats.org/drawingml/2006/main">
            <a:pPr>
              <a:buNone/>
              <a:defRPr sz="1725" b="0">
                <a:solidFill>
                  <a:srgbClr val="122442"/>
                </a:solidFill>
                <a:latin typeface="Arial"/>
                <a:ea typeface="Arial"/>
                <a:cs typeface="Arial"/>
              </a:defRPr>
            </a:pPr>
            <a:r>
              <a:rPr sz="1725" b="0">
                <a:solidFill>
                  <a:srgbClr val="122442"/>
                </a:solidFill>
                <a:latin typeface="Arial"/>
                <a:ea typeface="Arial"/>
                <a:cs typeface="Arial"/>
              </a:rPr>
              <a:t>Spec first,</a:t>
            </a:r>
          </a:p>
          <a:p xmlns:a="http://schemas.openxmlformats.org/drawingml/2006/main">
            <a:pPr>
              <a:buNone/>
              <a:defRPr sz="1725" b="0">
                <a:solidFill>
                  <a:srgbClr val="122442"/>
                </a:solidFill>
                <a:latin typeface="Arial"/>
                <a:ea typeface="Arial"/>
                <a:cs typeface="Arial"/>
              </a:defRPr>
            </a:pPr>
            <a:r>
              <a:rPr sz="1725" b="0">
                <a:solidFill>
                  <a:srgbClr val="122442"/>
                </a:solidFill>
                <a:latin typeface="Arial"/>
                <a:ea typeface="Arial"/>
                <a:cs typeface="Arial"/>
              </a:rPr>
              <a:t>then code.</a:t>
            </a:r>
          </a:p>
        </p:txBody>
      </p:sp>
      <p:sp>
        <p:nvSpPr>
          <p:cNvPr id="4" name="">
            <a:extLst xmlns:a="http://schemas.openxmlformats.org/drawingml/2006/main">
              <a:ext uri="{FF2B5EF4-FFF2-40B4-BE49-F238E27FC236}">
                <a16:creationId xmlns:a16="http://schemas.microsoft.com/office/drawing/2014/main" id="{BD5928FB-259C-4350-8387-E0C48625FD90}"/>
              </a:ext>
            </a:extLst>
          </p:cNvPr>
          <p:cNvSpPr>
            <a:spLocks xmlns:a="http://schemas.openxmlformats.org/drawingml/2006/main" noGrp="1"/>
          </p:cNvSpPr>
          <p:nvPr/>
        </p:nvSpPr>
        <p:spPr>
          <a:xfrm xmlns:a="http://schemas.openxmlformats.org/drawingml/2006/main">
            <a:off x="685800" y="3162300"/>
            <a:ext cx="2714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137957"/>
                </a:solidFill>
                <a:latin typeface="Arial"/>
                <a:ea typeface="Arial"/>
                <a:cs typeface="Arial"/>
              </a:defRPr>
            </a:defPPr>
          </a:lstStyle>
          <a:p xmlns:a="http://schemas.openxmlformats.org/drawingml/2006/main">
            <a:pPr>
              <a:buNone/>
              <a:defRPr sz="2250" b="1">
                <a:solidFill>
                  <a:srgbClr val="137957"/>
                </a:solidFill>
                <a:latin typeface="Arial"/>
                <a:ea typeface="Arial"/>
                <a:cs typeface="Arial"/>
              </a:defRPr>
            </a:pPr>
            <a:r>
              <a:rPr sz="2250" b="1">
                <a:solidFill>
                  <a:srgbClr val="137957"/>
                </a:solidFill>
                <a:latin typeface="Arial"/>
                <a:ea typeface="Arial"/>
                <a:cs typeface="Arial"/>
              </a:rPr>
              <a:t>Spec-anchored</a:t>
            </a:r>
          </a:p>
        </p:txBody>
      </p:sp>
      <p:sp>
        <p:nvSpPr>
          <p:cNvPr id="5" name="">
            <a:extLst xmlns:a="http://schemas.openxmlformats.org/drawingml/2006/main">
              <a:ext uri="{FF2B5EF4-FFF2-40B4-BE49-F238E27FC236}">
                <a16:creationId xmlns:a16="http://schemas.microsoft.com/office/drawing/2014/main" id="{CB1D88AB-ABEF-49A0-A5B0-8FF00B2FAB92}"/>
              </a:ext>
            </a:extLst>
          </p:cNvPr>
          <p:cNvSpPr>
            <a:spLocks xmlns:a="http://schemas.openxmlformats.org/drawingml/2006/main" noGrp="1"/>
          </p:cNvSpPr>
          <p:nvPr/>
        </p:nvSpPr>
        <p:spPr>
          <a:xfrm xmlns:a="http://schemas.openxmlformats.org/drawingml/2006/main">
            <a:off x="685800" y="366712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22442"/>
                </a:solidFill>
                <a:latin typeface="Arial"/>
                <a:ea typeface="Arial"/>
                <a:cs typeface="Arial"/>
              </a:defRPr>
            </a:defPPr>
          </a:lstStyle>
          <a:p xmlns:a="http://schemas.openxmlformats.org/drawingml/2006/main">
            <a:pPr>
              <a:buNone/>
              <a:defRPr sz="1725" b="0">
                <a:solidFill>
                  <a:srgbClr val="122442"/>
                </a:solidFill>
                <a:latin typeface="Arial"/>
                <a:ea typeface="Arial"/>
                <a:cs typeface="Arial"/>
              </a:defRPr>
            </a:pPr>
            <a:r>
              <a:rPr sz="1725" b="0">
                <a:solidFill>
                  <a:srgbClr val="122442"/>
                </a:solidFill>
                <a:latin typeface="Arial"/>
                <a:ea typeface="Arial"/>
                <a:cs typeface="Arial"/>
              </a:rPr>
              <a:t>Living documentation</a:t>
            </a:r>
          </a:p>
          <a:p xmlns:a="http://schemas.openxmlformats.org/drawingml/2006/main">
            <a:pPr>
              <a:buNone/>
              <a:defRPr sz="1725" b="0">
                <a:solidFill>
                  <a:srgbClr val="122442"/>
                </a:solidFill>
                <a:latin typeface="Arial"/>
                <a:ea typeface="Arial"/>
                <a:cs typeface="Arial"/>
              </a:defRPr>
            </a:pPr>
            <a:r>
              <a:rPr sz="1725" b="0">
                <a:solidFill>
                  <a:srgbClr val="122442"/>
                </a:solidFill>
                <a:latin typeface="Arial"/>
                <a:ea typeface="Arial"/>
                <a:cs typeface="Arial"/>
              </a:rPr>
              <a:t>throughout the</a:t>
            </a:r>
          </a:p>
          <a:p xmlns:a="http://schemas.openxmlformats.org/drawingml/2006/main">
            <a:pPr>
              <a:buNone/>
              <a:defRPr sz="1725" b="0">
                <a:solidFill>
                  <a:srgbClr val="122442"/>
                </a:solidFill>
                <a:latin typeface="Arial"/>
                <a:ea typeface="Arial"/>
                <a:cs typeface="Arial"/>
              </a:defRPr>
            </a:pPr>
            <a:r>
              <a:rPr sz="1725" b="0">
                <a:solidFill>
                  <a:srgbClr val="122442"/>
                </a:solidFill>
                <a:latin typeface="Arial"/>
                <a:ea typeface="Arial"/>
                <a:cs typeface="Arial"/>
              </a:rPr>
              <a:t>application lifecycle.</a:t>
            </a:r>
          </a:p>
        </p:txBody>
      </p:sp>
      <p:sp>
        <p:nvSpPr>
          <p:cNvPr id="6" name="">
            <a:extLst xmlns:a="http://schemas.openxmlformats.org/drawingml/2006/main">
              <a:ext uri="{FF2B5EF4-FFF2-40B4-BE49-F238E27FC236}">
                <a16:creationId xmlns:a16="http://schemas.microsoft.com/office/drawing/2014/main" id="{7686640C-AB74-4251-BA7B-EE9875D6B129}"/>
              </a:ext>
            </a:extLst>
          </p:cNvPr>
          <p:cNvSpPr>
            <a:spLocks xmlns:a="http://schemas.openxmlformats.org/drawingml/2006/main" noGrp="1"/>
          </p:cNvSpPr>
          <p:nvPr/>
        </p:nvSpPr>
        <p:spPr>
          <a:xfrm xmlns:a="http://schemas.openxmlformats.org/drawingml/2006/main">
            <a:off x="685800" y="4667250"/>
            <a:ext cx="2714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7041B9"/>
                </a:solidFill>
                <a:latin typeface="Arial"/>
                <a:ea typeface="Arial"/>
                <a:cs typeface="Arial"/>
              </a:defRPr>
            </a:defPPr>
          </a:lstStyle>
          <a:p xmlns:a="http://schemas.openxmlformats.org/drawingml/2006/main">
            <a:pPr>
              <a:buNone/>
              <a:defRPr sz="2250" b="1">
                <a:solidFill>
                  <a:srgbClr val="7041B9"/>
                </a:solidFill>
                <a:latin typeface="Arial"/>
                <a:ea typeface="Arial"/>
                <a:cs typeface="Arial"/>
              </a:defRPr>
            </a:pPr>
            <a:r>
              <a:rPr sz="2250" b="1">
                <a:solidFill>
                  <a:srgbClr val="7041B9"/>
                </a:solidFill>
                <a:latin typeface="Arial"/>
                <a:ea typeface="Arial"/>
                <a:cs typeface="Arial"/>
              </a:rPr>
              <a:t>Spec-as-source</a:t>
            </a:r>
          </a:p>
        </p:txBody>
      </p:sp>
      <p:sp>
        <p:nvSpPr>
          <p:cNvPr id="7" name="">
            <a:extLst xmlns:a="http://schemas.openxmlformats.org/drawingml/2006/main">
              <a:ext uri="{FF2B5EF4-FFF2-40B4-BE49-F238E27FC236}">
                <a16:creationId xmlns:a16="http://schemas.microsoft.com/office/drawing/2014/main" id="{CCBBD4A0-E05A-43D3-BA4C-233DBF13C510}"/>
              </a:ext>
            </a:extLst>
          </p:cNvPr>
          <p:cNvSpPr>
            <a:spLocks xmlns:a="http://schemas.openxmlformats.org/drawingml/2006/main" noGrp="1"/>
          </p:cNvSpPr>
          <p:nvPr/>
        </p:nvSpPr>
        <p:spPr>
          <a:xfrm xmlns:a="http://schemas.openxmlformats.org/drawingml/2006/main">
            <a:off x="685800" y="51720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22442"/>
                </a:solidFill>
                <a:latin typeface="Arial"/>
                <a:ea typeface="Arial"/>
                <a:cs typeface="Arial"/>
              </a:defRPr>
            </a:defPPr>
          </a:lstStyle>
          <a:p xmlns:a="http://schemas.openxmlformats.org/drawingml/2006/main">
            <a:pPr>
              <a:buNone/>
              <a:defRPr sz="1725" b="0">
                <a:solidFill>
                  <a:srgbClr val="122442"/>
                </a:solidFill>
                <a:latin typeface="Arial"/>
                <a:ea typeface="Arial"/>
                <a:cs typeface="Arial"/>
              </a:defRPr>
            </a:pPr>
            <a:r>
              <a:rPr sz="1725" b="0">
                <a:solidFill>
                  <a:srgbClr val="122442"/>
                </a:solidFill>
                <a:latin typeface="Arial"/>
                <a:ea typeface="Arial"/>
                <a:cs typeface="Arial"/>
              </a:rPr>
              <a:t>The most radical form</a:t>
            </a:r>
          </a:p>
          <a:p xmlns:a="http://schemas.openxmlformats.org/drawingml/2006/main">
            <a:pPr>
              <a:buNone/>
              <a:defRPr sz="1725" b="0">
                <a:solidFill>
                  <a:srgbClr val="122442"/>
                </a:solidFill>
                <a:latin typeface="Arial"/>
                <a:ea typeface="Arial"/>
                <a:cs typeface="Arial"/>
              </a:defRPr>
            </a:pPr>
            <a:r>
              <a:rPr sz="1725" b="0">
                <a:solidFill>
                  <a:srgbClr val="122442"/>
                </a:solidFill>
                <a:latin typeface="Arial"/>
                <a:ea typeface="Arial"/>
                <a:cs typeface="Arial"/>
              </a:rPr>
              <a:t>of SDD. The spec is</a:t>
            </a:r>
          </a:p>
          <a:p xmlns:a="http://schemas.openxmlformats.org/drawingml/2006/main">
            <a:pPr>
              <a:buNone/>
              <a:defRPr sz="1725" b="0">
                <a:solidFill>
                  <a:srgbClr val="122442"/>
                </a:solidFill>
                <a:latin typeface="Arial"/>
                <a:ea typeface="Arial"/>
                <a:cs typeface="Arial"/>
              </a:defRPr>
            </a:pPr>
            <a:r>
              <a:rPr sz="1725" b="0">
                <a:solidFill>
                  <a:srgbClr val="122442"/>
                </a:solidFill>
                <a:latin typeface="Arial"/>
                <a:ea typeface="Arial"/>
                <a:cs typeface="Arial"/>
              </a:rPr>
              <a:t>higher-level code.</a:t>
            </a:r>
          </a:p>
        </p:txBody>
      </p:sp>
      <p:sp>
        <p:nvSpPr>
          <p:cNvPr id="8" name="">
            <a:extLst xmlns:a="http://schemas.openxmlformats.org/drawingml/2006/main">
              <a:ext uri="{FF2B5EF4-FFF2-40B4-BE49-F238E27FC236}">
                <a16:creationId xmlns:a16="http://schemas.microsoft.com/office/drawing/2014/main" id="{7E7B36EC-2A93-4552-A92B-81318E9802D4}"/>
              </a:ext>
            </a:extLst>
          </p:cNvPr>
          <p:cNvSpPr>
            <a:spLocks xmlns:a="http://schemas.openxmlformats.org/drawingml/2006/main" noGrp="1"/>
          </p:cNvSpPr>
          <p:nvPr/>
        </p:nvSpPr>
        <p:spPr>
          <a:xfrm xmlns:a="http://schemas.openxmlformats.org/drawingml/2006/main">
            <a:off x="4162425" y="1809750"/>
            <a:ext cx="1638300" cy="819150"/>
          </a:xfrm>
          <a:prstGeom xmlns:a="http://schemas.openxmlformats.org/drawingml/2006/main" prst="roundRect">
            <a:avLst>
              <a:gd name="adj" fmla="val 18605"/>
            </a:avLst>
          </a:prstGeom>
          <a:solidFill xmlns:a="http://schemas.openxmlformats.org/drawingml/2006/main">
            <a:srgbClr val="2447A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13D21D3-70B2-4D0C-9243-CF5883B4E731}"/>
              </a:ext>
            </a:extLst>
          </p:cNvPr>
          <p:cNvSpPr>
            <a:spLocks xmlns:a="http://schemas.openxmlformats.org/drawingml/2006/main" noGrp="1"/>
          </p:cNvSpPr>
          <p:nvPr/>
        </p:nvSpPr>
        <p:spPr>
          <a:xfrm xmlns:a="http://schemas.openxmlformats.org/drawingml/2006/main">
            <a:off x="4333875" y="1971675"/>
            <a:ext cx="1295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Spec</a:t>
            </a:r>
          </a:p>
        </p:txBody>
      </p:sp>
      <p:sp>
        <p:nvSpPr>
          <p:cNvPr id="10" name="">
            <a:extLst xmlns:a="http://schemas.openxmlformats.org/drawingml/2006/main">
              <a:ext uri="{FF2B5EF4-FFF2-40B4-BE49-F238E27FC236}">
                <a16:creationId xmlns:a16="http://schemas.microsoft.com/office/drawing/2014/main" id="{304035EE-5E1C-4DF5-99F7-328454E305DC}"/>
              </a:ext>
            </a:extLst>
          </p:cNvPr>
          <p:cNvSpPr>
            <a:spLocks xmlns:a="http://schemas.openxmlformats.org/drawingml/2006/main" noGrp="1"/>
          </p:cNvSpPr>
          <p:nvPr/>
        </p:nvSpPr>
        <p:spPr>
          <a:xfrm xmlns:a="http://schemas.openxmlformats.org/drawingml/2006/main">
            <a:off x="6505575" y="1809750"/>
            <a:ext cx="1638300" cy="819150"/>
          </a:xfrm>
          <a:prstGeom xmlns:a="http://schemas.openxmlformats.org/drawingml/2006/main" prst="roundRect">
            <a:avLst>
              <a:gd name="adj" fmla="val 18605"/>
            </a:avLst>
          </a:prstGeom>
          <a:solidFill xmlns:a="http://schemas.openxmlformats.org/drawingml/2006/main">
            <a:srgbClr val="2447A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D7D1D3C-FC53-40C9-B9BE-D3DD4A9CE246}"/>
              </a:ext>
            </a:extLst>
          </p:cNvPr>
          <p:cNvSpPr>
            <a:spLocks xmlns:a="http://schemas.openxmlformats.org/drawingml/2006/main" noGrp="1"/>
          </p:cNvSpPr>
          <p:nvPr/>
        </p:nvSpPr>
        <p:spPr>
          <a:xfrm xmlns:a="http://schemas.openxmlformats.org/drawingml/2006/main">
            <a:off x="6677025" y="1971675"/>
            <a:ext cx="1295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Code</a:t>
            </a:r>
          </a:p>
        </p:txBody>
      </p:sp>
      <p:sp>
        <p:nvSpPr>
          <p:cNvPr id="13" name="">
            <a:extLst xmlns:a="http://schemas.openxmlformats.org/drawingml/2006/main">
              <a:ext uri="{FF2B5EF4-FFF2-40B4-BE49-F238E27FC236}">
                <a16:creationId xmlns:a16="http://schemas.microsoft.com/office/drawing/2014/main" id="{D4AF346A-8C1A-4338-87E3-6650A25CA5FC}"/>
              </a:ext>
            </a:extLst>
          </p:cNvPr>
          <p:cNvSpPr>
            <a:spLocks xmlns:a="http://schemas.openxmlformats.org/drawingml/2006/main" noGrp="1"/>
          </p:cNvSpPr>
          <p:nvPr/>
        </p:nvSpPr>
        <p:spPr>
          <a:xfrm xmlns:a="http://schemas.openxmlformats.org/drawingml/2006/main">
            <a:off x="4162425" y="3314700"/>
            <a:ext cx="1638300" cy="819150"/>
          </a:xfrm>
          <a:prstGeom xmlns:a="http://schemas.openxmlformats.org/drawingml/2006/main" prst="roundRect">
            <a:avLst>
              <a:gd name="adj" fmla="val 18605"/>
            </a:avLst>
          </a:prstGeom>
          <a:solidFill xmlns:a="http://schemas.openxmlformats.org/drawingml/2006/main">
            <a:srgbClr val="13795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E9C5493-32CE-4B4A-8735-3F22C945DC0A}"/>
              </a:ext>
            </a:extLst>
          </p:cNvPr>
          <p:cNvSpPr>
            <a:spLocks xmlns:a="http://schemas.openxmlformats.org/drawingml/2006/main" noGrp="1"/>
          </p:cNvSpPr>
          <p:nvPr/>
        </p:nvSpPr>
        <p:spPr>
          <a:xfrm xmlns:a="http://schemas.openxmlformats.org/drawingml/2006/main">
            <a:off x="4333875" y="3476625"/>
            <a:ext cx="1295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Spec</a:t>
            </a:r>
          </a:p>
        </p:txBody>
      </p:sp>
      <p:sp>
        <p:nvSpPr>
          <p:cNvPr id="15" name="">
            <a:extLst xmlns:a="http://schemas.openxmlformats.org/drawingml/2006/main">
              <a:ext uri="{FF2B5EF4-FFF2-40B4-BE49-F238E27FC236}">
                <a16:creationId xmlns:a16="http://schemas.microsoft.com/office/drawing/2014/main" id="{92328078-159F-4B3C-A082-0A23B36ADC2A}"/>
              </a:ext>
            </a:extLst>
          </p:cNvPr>
          <p:cNvSpPr>
            <a:spLocks xmlns:a="http://schemas.openxmlformats.org/drawingml/2006/main" noGrp="1"/>
          </p:cNvSpPr>
          <p:nvPr/>
        </p:nvSpPr>
        <p:spPr>
          <a:xfrm xmlns:a="http://schemas.openxmlformats.org/drawingml/2006/main">
            <a:off x="6505575" y="3314700"/>
            <a:ext cx="1638300" cy="819150"/>
          </a:xfrm>
          <a:prstGeom xmlns:a="http://schemas.openxmlformats.org/drawingml/2006/main" prst="roundRect">
            <a:avLst>
              <a:gd name="adj" fmla="val 18605"/>
            </a:avLst>
          </a:prstGeom>
          <a:solidFill xmlns:a="http://schemas.openxmlformats.org/drawingml/2006/main">
            <a:srgbClr val="137957"/>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C1FA2E6-B67B-48CD-B551-246699D7CE5C}"/>
              </a:ext>
            </a:extLst>
          </p:cNvPr>
          <p:cNvSpPr>
            <a:spLocks xmlns:a="http://schemas.openxmlformats.org/drawingml/2006/main" noGrp="1"/>
          </p:cNvSpPr>
          <p:nvPr/>
        </p:nvSpPr>
        <p:spPr>
          <a:xfrm xmlns:a="http://schemas.openxmlformats.org/drawingml/2006/main">
            <a:off x="6677025" y="3476625"/>
            <a:ext cx="1295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Code</a:t>
            </a:r>
          </a:p>
        </p:txBody>
      </p:sp>
      <p:sp>
        <p:nvSpPr>
          <p:cNvPr id="18" name="">
            <a:extLst xmlns:a="http://schemas.openxmlformats.org/drawingml/2006/main">
              <a:ext uri="{FF2B5EF4-FFF2-40B4-BE49-F238E27FC236}">
                <a16:creationId xmlns:a16="http://schemas.microsoft.com/office/drawing/2014/main" id="{8220F22B-0D03-4B37-ACB1-D27F980C107F}"/>
              </a:ext>
            </a:extLst>
          </p:cNvPr>
          <p:cNvSpPr>
            <a:spLocks xmlns:a="http://schemas.openxmlformats.org/drawingml/2006/main" noGrp="1"/>
          </p:cNvSpPr>
          <p:nvPr/>
        </p:nvSpPr>
        <p:spPr>
          <a:xfrm xmlns:a="http://schemas.openxmlformats.org/drawingml/2006/main">
            <a:off x="4162425" y="4229100"/>
            <a:ext cx="3981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137957"/>
                </a:solidFill>
                <a:latin typeface="Arial"/>
                <a:ea typeface="Arial"/>
                <a:cs typeface="Arial"/>
              </a:defRPr>
            </a:defPPr>
          </a:lstStyle>
          <a:p xmlns:a="http://schemas.openxmlformats.org/drawingml/2006/main">
            <a:pPr>
              <a:buNone/>
              <a:defRPr sz="1650" b="1">
                <a:solidFill>
                  <a:srgbClr val="137957"/>
                </a:solidFill>
                <a:latin typeface="Arial"/>
                <a:ea typeface="Arial"/>
                <a:cs typeface="Arial"/>
              </a:defRPr>
            </a:pPr>
            <a:r>
              <a:rPr sz="1650" b="1">
                <a:solidFill>
                  <a:srgbClr val="137957"/>
                </a:solidFill>
                <a:latin typeface="Arial"/>
                <a:ea typeface="Arial"/>
                <a:cs typeface="Arial"/>
              </a:rPr>
              <a:t>Evolve together</a:t>
            </a:r>
          </a:p>
        </p:txBody>
      </p:sp>
      <p:sp>
        <p:nvSpPr>
          <p:cNvPr id="19" name="">
            <a:extLst xmlns:a="http://schemas.openxmlformats.org/drawingml/2006/main">
              <a:ext uri="{FF2B5EF4-FFF2-40B4-BE49-F238E27FC236}">
                <a16:creationId xmlns:a16="http://schemas.microsoft.com/office/drawing/2014/main" id="{2E2F3D78-B2BF-47B3-9083-F740ECBE031C}"/>
              </a:ext>
            </a:extLst>
          </p:cNvPr>
          <p:cNvSpPr>
            <a:spLocks xmlns:a="http://schemas.openxmlformats.org/drawingml/2006/main" noGrp="1"/>
          </p:cNvSpPr>
          <p:nvPr/>
        </p:nvSpPr>
        <p:spPr>
          <a:xfrm xmlns:a="http://schemas.openxmlformats.org/drawingml/2006/main">
            <a:off x="4162425" y="4819650"/>
            <a:ext cx="1638300" cy="895350"/>
          </a:xfrm>
          <a:prstGeom xmlns:a="http://schemas.openxmlformats.org/drawingml/2006/main" prst="roundRect">
            <a:avLst>
              <a:gd name="adj" fmla="val 17021"/>
            </a:avLst>
          </a:prstGeom>
          <a:solidFill xmlns:a="http://schemas.openxmlformats.org/drawingml/2006/main">
            <a:srgbClr val="7041B9"/>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22B2950-8033-49A7-8FCF-E1B5BC43BA85}"/>
              </a:ext>
            </a:extLst>
          </p:cNvPr>
          <p:cNvSpPr>
            <a:spLocks xmlns:a="http://schemas.openxmlformats.org/drawingml/2006/main" noGrp="1"/>
          </p:cNvSpPr>
          <p:nvPr/>
        </p:nvSpPr>
        <p:spPr>
          <a:xfrm xmlns:a="http://schemas.openxmlformats.org/drawingml/2006/main">
            <a:off x="4333875" y="4981575"/>
            <a:ext cx="12954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Spec</a:t>
            </a:r>
          </a:p>
        </p:txBody>
      </p:sp>
      <p:sp>
        <p:nvSpPr>
          <p:cNvPr id="21" name="">
            <a:extLst xmlns:a="http://schemas.openxmlformats.org/drawingml/2006/main">
              <a:ext uri="{FF2B5EF4-FFF2-40B4-BE49-F238E27FC236}">
                <a16:creationId xmlns:a16="http://schemas.microsoft.com/office/drawing/2014/main" id="{7C38CE8E-45EF-4A1B-AA71-6EBF44CB4E09}"/>
              </a:ext>
            </a:extLst>
          </p:cNvPr>
          <p:cNvSpPr>
            <a:spLocks xmlns:a="http://schemas.openxmlformats.org/drawingml/2006/main" noGrp="1"/>
          </p:cNvSpPr>
          <p:nvPr/>
        </p:nvSpPr>
        <p:spPr>
          <a:xfrm xmlns:a="http://schemas.openxmlformats.org/drawingml/2006/main">
            <a:off x="6505575" y="4819650"/>
            <a:ext cx="1638300" cy="819150"/>
          </a:xfrm>
          <a:prstGeom xmlns:a="http://schemas.openxmlformats.org/drawingml/2006/main" prst="roundRect">
            <a:avLst>
              <a:gd name="adj" fmla="val 18605"/>
            </a:avLst>
          </a:prstGeom>
          <a:solidFill xmlns:a="http://schemas.openxmlformats.org/drawingml/2006/main">
            <a:srgbClr val="7041B9"/>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7F173F34-C89D-4FDD-96D1-D0B5D8871645}"/>
              </a:ext>
            </a:extLst>
          </p:cNvPr>
          <p:cNvSpPr>
            <a:spLocks xmlns:a="http://schemas.openxmlformats.org/drawingml/2006/main" noGrp="1"/>
          </p:cNvSpPr>
          <p:nvPr/>
        </p:nvSpPr>
        <p:spPr>
          <a:xfrm xmlns:a="http://schemas.openxmlformats.org/drawingml/2006/main">
            <a:off x="6677025" y="4981575"/>
            <a:ext cx="1295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Code</a:t>
            </a:r>
          </a:p>
        </p:txBody>
      </p:sp>
      <p:sp>
        <p:nvSpPr>
          <p:cNvPr id="24" name="">
            <a:extLst xmlns:a="http://schemas.openxmlformats.org/drawingml/2006/main">
              <a:ext uri="{FF2B5EF4-FFF2-40B4-BE49-F238E27FC236}">
                <a16:creationId xmlns:a16="http://schemas.microsoft.com/office/drawing/2014/main" id="{ED5706B6-3F63-4019-A385-C2EB6F94B7B0}"/>
              </a:ext>
            </a:extLst>
          </p:cNvPr>
          <p:cNvSpPr>
            <a:spLocks xmlns:a="http://schemas.openxmlformats.org/drawingml/2006/main" noGrp="1"/>
          </p:cNvSpPr>
          <p:nvPr/>
        </p:nvSpPr>
        <p:spPr>
          <a:xfrm xmlns:a="http://schemas.openxmlformats.org/drawingml/2006/main">
            <a:off x="4162425" y="5753100"/>
            <a:ext cx="3981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7041B9"/>
                </a:solidFill>
                <a:latin typeface="Arial"/>
                <a:ea typeface="Arial"/>
                <a:cs typeface="Arial"/>
              </a:defRPr>
            </a:defPPr>
          </a:lstStyle>
          <a:p xmlns:a="http://schemas.openxmlformats.org/drawingml/2006/main">
            <a:pPr>
              <a:buNone/>
              <a:defRPr sz="1650" b="1">
                <a:solidFill>
                  <a:srgbClr val="7041B9"/>
                </a:solidFill>
                <a:latin typeface="Arial"/>
                <a:ea typeface="Arial"/>
                <a:cs typeface="Arial"/>
              </a:defRPr>
            </a:pPr>
            <a:r>
              <a:rPr sz="1650" b="1">
                <a:solidFill>
                  <a:srgbClr val="7041B9"/>
                </a:solidFill>
                <a:latin typeface="Arial"/>
                <a:ea typeface="Arial"/>
                <a:cs typeface="Arial"/>
              </a:rPr>
              <a:t>Generate from spec</a:t>
            </a:r>
          </a:p>
        </p:txBody>
      </p:sp>
      <p:sp>
        <p:nvSpPr>
          <p:cNvPr id="25" name="">
            <a:extLst xmlns:a="http://schemas.openxmlformats.org/drawingml/2006/main">
              <a:ext uri="{FF2B5EF4-FFF2-40B4-BE49-F238E27FC236}">
                <a16:creationId xmlns:a16="http://schemas.microsoft.com/office/drawing/2014/main" id="{C3335505-C364-4018-8236-7D29A395BE1C}"/>
              </a:ext>
            </a:extLst>
          </p:cNvPr>
          <p:cNvSpPr>
            <a:spLocks xmlns:a="http://schemas.openxmlformats.org/drawingml/2006/main" noGrp="1"/>
          </p:cNvSpPr>
          <p:nvPr/>
        </p:nvSpPr>
        <p:spPr>
          <a:xfrm xmlns:a="http://schemas.openxmlformats.org/drawingml/2006/main">
            <a:off x="8524875" y="1657350"/>
            <a:ext cx="2981325"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122442"/>
                </a:solidFill>
                <a:latin typeface="Arial"/>
                <a:ea typeface="Arial"/>
                <a:cs typeface="Arial"/>
              </a:defRPr>
            </a:defPPr>
          </a:lstStyle>
          <a:p xmlns:a="http://schemas.openxmlformats.org/drawingml/2006/main">
            <a:pPr>
              <a:buNone/>
              <a:defRPr sz="1650" b="0">
                <a:solidFill>
                  <a:srgbClr val="122442"/>
                </a:solidFill>
                <a:latin typeface="Arial"/>
                <a:ea typeface="Arial"/>
                <a:cs typeface="Arial"/>
              </a:defRPr>
            </a:pPr>
            <a:r>
              <a:rPr sz="1650" b="0">
                <a:solidFill>
                  <a:srgbClr val="122442"/>
                </a:solidFill>
                <a:latin typeface="Arial"/>
                <a:ea typeface="Arial"/>
                <a:cs typeface="Arial"/>
              </a:rPr>
              <a:t>A time-entry form.</a:t>
            </a:r>
          </a:p>
          <a:p xmlns:a="http://schemas.openxmlformats.org/drawingml/2006/main">
            <a:pPr>
              <a:buNone/>
              <a:defRPr sz="1650" b="0">
                <a:solidFill>
                  <a:srgbClr val="122442"/>
                </a:solidFill>
                <a:latin typeface="Arial"/>
                <a:ea typeface="Arial"/>
                <a:cs typeface="Arial"/>
              </a:defRPr>
            </a:pPr>
            <a:r>
              <a:rPr sz="1650" b="0">
                <a:solidFill>
                  <a:srgbClr val="122442"/>
                </a:solidFill>
                <a:latin typeface="Arial"/>
                <a:ea typeface="Arial"/>
                <a:cs typeface="Arial"/>
              </a:rPr>
              <a:t>The spec guides version one.</a:t>
            </a:r>
          </a:p>
          <a:p xmlns:a="http://schemas.openxmlformats.org/drawingml/2006/main">
            <a:pPr>
              <a:buNone/>
              <a:defRPr sz="1650" b="0">
                <a:solidFill>
                  <a:srgbClr val="122442"/>
                </a:solidFill>
                <a:latin typeface="Arial"/>
                <a:ea typeface="Arial"/>
                <a:cs typeface="Arial"/>
              </a:defRPr>
            </a:pPr>
            <a:r>
              <a:rPr sz="1650" b="0">
                <a:solidFill>
                  <a:srgbClr val="122442"/>
                </a:solidFill>
                <a:latin typeface="Arial"/>
                <a:ea typeface="Arial"/>
                <a:cs typeface="Arial"/>
              </a:rPr>
              <a:t>It may then drift.</a:t>
            </a:r>
          </a:p>
        </p:txBody>
      </p:sp>
      <p:sp>
        <p:nvSpPr>
          <p:cNvPr id="26" name="">
            <a:extLst xmlns:a="http://schemas.openxmlformats.org/drawingml/2006/main">
              <a:ext uri="{FF2B5EF4-FFF2-40B4-BE49-F238E27FC236}">
                <a16:creationId xmlns:a16="http://schemas.microsoft.com/office/drawing/2014/main" id="{F4F2D05B-40FD-4ED4-9512-F5DE7E61E161}"/>
              </a:ext>
            </a:extLst>
          </p:cNvPr>
          <p:cNvSpPr>
            <a:spLocks xmlns:a="http://schemas.openxmlformats.org/drawingml/2006/main" noGrp="1"/>
          </p:cNvSpPr>
          <p:nvPr/>
        </p:nvSpPr>
        <p:spPr>
          <a:xfrm xmlns:a="http://schemas.openxmlformats.org/drawingml/2006/main">
            <a:off x="8524875" y="3162300"/>
            <a:ext cx="2981325"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122442"/>
                </a:solidFill>
                <a:latin typeface="Arial"/>
                <a:ea typeface="Arial"/>
                <a:cs typeface="Arial"/>
              </a:defRPr>
            </a:defPPr>
          </a:lstStyle>
          <a:p xmlns:a="http://schemas.openxmlformats.org/drawingml/2006/main">
            <a:pPr>
              <a:buNone/>
              <a:defRPr sz="1650" b="0">
                <a:solidFill>
                  <a:srgbClr val="122442"/>
                </a:solidFill>
                <a:latin typeface="Arial"/>
                <a:ea typeface="Arial"/>
                <a:cs typeface="Arial"/>
              </a:defRPr>
            </a:pPr>
            <a:r>
              <a:rPr sz="1650" b="0">
                <a:solidFill>
                  <a:srgbClr val="122442"/>
                </a:solidFill>
                <a:latin typeface="Arial"/>
                <a:ea typeface="Arial"/>
                <a:cs typeface="Arial"/>
              </a:rPr>
              <a:t>Add time-entry editing.</a:t>
            </a:r>
          </a:p>
          <a:p xmlns:a="http://schemas.openxmlformats.org/drawingml/2006/main">
            <a:pPr>
              <a:buNone/>
              <a:defRPr sz="1650" b="0">
                <a:solidFill>
                  <a:srgbClr val="122442"/>
                </a:solidFill>
                <a:latin typeface="Arial"/>
                <a:ea typeface="Arial"/>
                <a:cs typeface="Arial"/>
              </a:defRPr>
            </a:pPr>
            <a:r>
              <a:rPr sz="1650" b="0">
                <a:solidFill>
                  <a:srgbClr val="122442"/>
                </a:solidFill>
                <a:latin typeface="Arial"/>
                <a:ea typeface="Arial"/>
                <a:cs typeface="Arial"/>
              </a:rPr>
              <a:t>Update the spec, code</a:t>
            </a:r>
          </a:p>
          <a:p xmlns:a="http://schemas.openxmlformats.org/drawingml/2006/main">
            <a:pPr>
              <a:buNone/>
              <a:defRPr sz="1650" b="0">
                <a:solidFill>
                  <a:srgbClr val="122442"/>
                </a:solidFill>
                <a:latin typeface="Arial"/>
                <a:ea typeface="Arial"/>
                <a:cs typeface="Arial"/>
              </a:defRPr>
            </a:pPr>
            <a:r>
              <a:rPr sz="1650" b="0">
                <a:solidFill>
                  <a:srgbClr val="122442"/>
                </a:solidFill>
                <a:latin typeface="Arial"/>
                <a:ea typeface="Arial"/>
                <a:cs typeface="Arial"/>
              </a:rPr>
              <a:t>and tests together.</a:t>
            </a:r>
          </a:p>
        </p:txBody>
      </p:sp>
      <p:sp>
        <p:nvSpPr>
          <p:cNvPr id="27" name="">
            <a:extLst xmlns:a="http://schemas.openxmlformats.org/drawingml/2006/main">
              <a:ext uri="{FF2B5EF4-FFF2-40B4-BE49-F238E27FC236}">
                <a16:creationId xmlns:a16="http://schemas.microsoft.com/office/drawing/2014/main" id="{076D4202-BC7F-42B0-9062-9F8139F9B7AC}"/>
              </a:ext>
            </a:extLst>
          </p:cNvPr>
          <p:cNvSpPr>
            <a:spLocks xmlns:a="http://schemas.openxmlformats.org/drawingml/2006/main" noGrp="1"/>
          </p:cNvSpPr>
          <p:nvPr/>
        </p:nvSpPr>
        <p:spPr>
          <a:xfrm xmlns:a="http://schemas.openxmlformats.org/drawingml/2006/main">
            <a:off x="8524875" y="4667250"/>
            <a:ext cx="29813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22442"/>
                </a:solidFill>
                <a:latin typeface="Arial"/>
                <a:ea typeface="Arial"/>
                <a:cs typeface="Arial"/>
              </a:defRPr>
            </a:defPPr>
          </a:lstStyle>
          <a:p xmlns:a="http://schemas.openxmlformats.org/drawingml/2006/main">
            <a:pPr>
              <a:buNone/>
              <a:defRPr sz="1500" b="0">
                <a:solidFill>
                  <a:srgbClr val="122442"/>
                </a:solidFill>
                <a:latin typeface="Arial"/>
                <a:ea typeface="Arial"/>
                <a:cs typeface="Arial"/>
              </a:defRPr>
            </a:pPr>
            <a:r>
              <a:rPr sz="1500" b="0">
                <a:solidFill>
                  <a:srgbClr val="122442"/>
                </a:solidFill>
                <a:latin typeface="Arial"/>
                <a:ea typeface="Arial"/>
                <a:cs typeface="Arial"/>
              </a:rPr>
              <a:t>Describe the behavior.</a:t>
            </a:r>
          </a:p>
          <a:p xmlns:a="http://schemas.openxmlformats.org/drawingml/2006/main">
            <a:pPr>
              <a:buNone/>
              <a:defRPr sz="1500" b="0">
                <a:solidFill>
                  <a:srgbClr val="122442"/>
                </a:solidFill>
                <a:latin typeface="Arial"/>
                <a:ea typeface="Arial"/>
                <a:cs typeface="Arial"/>
              </a:defRPr>
            </a:pPr>
            <a:r>
              <a:rPr sz="1500" b="0">
                <a:solidFill>
                  <a:srgbClr val="122442"/>
                </a:solidFill>
                <a:latin typeface="Arial"/>
                <a:ea typeface="Arial"/>
                <a:cs typeface="Arial"/>
              </a:rPr>
              <a:t>Generate the code.</a:t>
            </a:r>
          </a:p>
          <a:p xmlns:a="http://schemas.openxmlformats.org/drawingml/2006/main">
            <a:pPr>
              <a:buNone/>
              <a:defRPr sz="1500" b="0">
                <a:solidFill>
                  <a:srgbClr val="122442"/>
                </a:solidFill>
                <a:latin typeface="Arial"/>
                <a:ea typeface="Arial"/>
                <a:cs typeface="Arial"/>
              </a:defRPr>
            </a:pPr>
            <a:r>
              <a:rPr sz="1500" b="0">
                <a:solidFill>
                  <a:srgbClr val="122442"/>
                </a:solidFill>
                <a:latin typeface="Arial"/>
                <a:ea typeface="Arial"/>
                <a:cs typeface="Arial"/>
              </a:rPr>
              <a:t>Change the spec</a:t>
            </a:r>
          </a:p>
          <a:p xmlns:a="http://schemas.openxmlformats.org/drawingml/2006/main">
            <a:pPr>
              <a:buNone/>
              <a:defRPr sz="1500" b="0">
                <a:solidFill>
                  <a:srgbClr val="122442"/>
                </a:solidFill>
                <a:latin typeface="Arial"/>
                <a:ea typeface="Arial"/>
                <a:cs typeface="Arial"/>
              </a:defRPr>
            </a:pPr>
            <a:r>
              <a:rPr sz="1500" b="0">
                <a:solidFill>
                  <a:srgbClr val="122442"/>
                </a:solidFill>
                <a:latin typeface="Arial"/>
                <a:ea typeface="Arial"/>
                <a:cs typeface="Arial"/>
              </a:rPr>
              <a:t>and regenerate.</a:t>
            </a:r>
          </a:p>
          <a:p xmlns:a="http://schemas.openxmlformats.org/drawingml/2006/main">
            <a:pPr>
              <a:buNone/>
              <a:defRPr sz="1500" b="0">
                <a:solidFill>
                  <a:srgbClr val="122442"/>
                </a:solidFill>
                <a:latin typeface="Arial"/>
                <a:ea typeface="Arial"/>
                <a:cs typeface="Arial"/>
              </a:defRPr>
            </a:pPr>
            <a:r>
              <a:rPr sz="1500" b="0">
                <a:solidFill>
                  <a:srgbClr val="122442"/>
                </a:solidFill>
                <a:latin typeface="Arial"/>
                <a:ea typeface="Arial"/>
                <a:cs typeface="Arial"/>
              </a:rPr>
              <a:t>No manual code edits.</a:t>
            </a:r>
          </a:p>
        </p:txBody>
      </p:sp>
      <p:sp>
        <p:nvSpPr>
          <p:cNvPr id="28" name="">
            <a:extLst xmlns:a="http://schemas.openxmlformats.org/drawingml/2006/main">
              <a:ext uri="{FF2B5EF4-FFF2-40B4-BE49-F238E27FC236}">
                <a16:creationId xmlns:a16="http://schemas.microsoft.com/office/drawing/2014/main" id="{5DCA6AF4-50FA-47D1-9EB8-73587624E54D}"/>
              </a:ext>
            </a:extLst>
          </p:cNvPr>
          <p:cNvSpPr>
            <a:spLocks xmlns:a="http://schemas.openxmlformats.org/drawingml/2006/main" noGrp="1"/>
          </p:cNvSpPr>
          <p:nvPr/>
        </p:nvSpPr>
        <p:spPr>
          <a:xfrm xmlns:a="http://schemas.openxmlformats.org/drawingml/2006/main">
            <a:off x="685800" y="62007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37957"/>
                </a:solidFill>
                <a:latin typeface="Arial"/>
                <a:ea typeface="Arial"/>
                <a:cs typeface="Arial"/>
              </a:defRPr>
            </a:defPPr>
          </a:lstStyle>
          <a:p xmlns:a="http://schemas.openxmlformats.org/drawingml/2006/main">
            <a:pPr>
              <a:buNone/>
              <a:defRPr sz="1875" b="1">
                <a:solidFill>
                  <a:srgbClr val="137957"/>
                </a:solidFill>
                <a:latin typeface="Arial"/>
                <a:ea typeface="Arial"/>
                <a:cs typeface="Arial"/>
              </a:defRPr>
            </a:pPr>
            <a:r>
              <a:rPr sz="1875" b="1">
                <a:solidFill>
                  <a:srgbClr val="137957"/>
                </a:solidFill>
                <a:latin typeface="Arial"/>
                <a:ea typeface="Arial"/>
                <a:cs typeface="Arial"/>
              </a:rPr>
              <a:t>Spec-anchored: the paper’s recommended balance for most production systems.</a:t>
            </a:r>
          </a:p>
        </p:txBody>
      </p:sp>
      <p:sp>
        <p:nvSpPr>
          <p:cNvPr id="29" name="">
            <a:extLst xmlns:a="http://schemas.openxmlformats.org/drawingml/2006/main">
              <a:ext uri="{FF2B5EF4-FFF2-40B4-BE49-F238E27FC236}">
                <a16:creationId xmlns:a16="http://schemas.microsoft.com/office/drawing/2014/main" id="{83AE46A6-756F-49FB-8CCA-5A1EEC9F8CBB}"/>
              </a:ext>
            </a:extLst>
          </p:cNvPr>
          <p:cNvSpPr>
            <a:spLocks xmlns:a="http://schemas.openxmlformats.org/drawingml/2006/main" noGrp="1"/>
          </p:cNvSpPr>
          <p:nvPr/>
        </p:nvSpPr>
        <p:spPr>
          <a:xfrm xmlns:a="http://schemas.openxmlformats.org/drawingml/2006/main">
            <a:off x="11049000" y="64008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4D5C74"/>
                </a:solidFill>
                <a:latin typeface="Arial"/>
                <a:ea typeface="Arial"/>
                <a:cs typeface="Arial"/>
              </a:defRPr>
            </a:defPPr>
          </a:lstStyle>
          <a:p xmlns:a="http://schemas.openxmlformats.org/drawingml/2006/main">
            <a:pPr>
              <a:buNone/>
              <a:defRPr sz="1275" b="0">
                <a:solidFill>
                  <a:srgbClr val="4D5C74"/>
                </a:solidFill>
                <a:latin typeface="Arial"/>
                <a:ea typeface="Arial"/>
                <a:cs typeface="Arial"/>
              </a:defRPr>
            </a:pPr>
            <a:r>
              <a:rPr sz="1275" b="0">
                <a:solidFill>
                  <a:srgbClr val="4D5C74"/>
                </a:solidFill>
                <a:latin typeface="Arial"/>
                <a:ea typeface="Arial"/>
                <a:cs typeface="Arial"/>
              </a:rPr>
              <a:t>09</a:t>
            </a:r>
          </a:p>
        </p:txBody>
      </p:sp>
    </p:spTree>
    <p:extLst>
      <p:ext uri="{BB962C8B-B14F-4D97-AF65-F5344CB8AC3E}">
        <p14:creationId xmlns:p14="http://schemas.microsoft.com/office/powerpoint/2010/main" val="755553671"/>
      </p:ext>
    </p:extLst>
  </p:cSld>
</p:sld>
</file>

<file path=ppt/slides/slide10.xml><?xml version="1.0" encoding="utf-8"?>
<p:sld xmlns:p="http://schemas.openxmlformats.org/presentationml/2006/main">
  <p:cSld>
    <p:bg>
      <p:bgPr>
        <a:gradFill xmlns:a="http://schemas.openxmlformats.org/drawingml/2006/main">
          <a:gsLst>
            <a:gs pos="0">
              <a:srgbClr val="FFFFFF"/>
            </a:gs>
            <a:gs pos="60000">
              <a:srgbClr val="EDF4FF"/>
            </a:gs>
            <a:gs pos="100000">
              <a:srgbClr val="E5DAFA"/>
            </a:gs>
          </a:gsLst>
          <a:lin ang="1500000"/>
        </a:gra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82923C19-5B8B-4DF7-95F2-481FB3A1BA75}"/>
              </a:ext>
            </a:extLst>
          </p:cNvPr>
          <p:cNvCxnSpPr>
            <a:stCxn xmlns:a="http://schemas.openxmlformats.org/drawingml/2006/main" id="4" idx="3"/>
            <a:endCxn xmlns:a="http://schemas.openxmlformats.org/drawingml/2006/main" id="6" idx="1"/>
          </p:cNvCxnSpPr>
          <p:nvPr/>
        </p:nvCxnSpPr>
        <p:spPr>
          <a:xfrm xmlns:a="http://schemas.openxmlformats.org/drawingml/2006/main">
            <a:off x="7667625" y="2543175"/>
            <a:ext cx="695325" cy="0"/>
          </a:xfrm>
          <a:prstGeom xmlns:a="http://schemas.openxmlformats.org/drawingml/2006/main" prst="straightConnector1">
            <a:avLst/>
          </a:prstGeom>
          <a:ln xmlns:a="http://schemas.openxmlformats.org/drawingml/2006/main" w="28575">
            <a:solidFill>
              <a:srgbClr val="2447A6"/>
            </a:solidFill>
            <a:tailEnd type="triangle" w="med" len="med"/>
          </a:ln>
        </p:spPr>
      </p:cxnSp>
      <p:cxnSp>
        <p:nvCxnSpPr>
          <p:cNvPr id="8" name="">
            <a:extLst xmlns:a="http://schemas.openxmlformats.org/drawingml/2006/main">
              <a:ext uri="{FF2B5EF4-FFF2-40B4-BE49-F238E27FC236}">
                <a16:creationId xmlns:a16="http://schemas.microsoft.com/office/drawing/2014/main" id="{EA9E7FC0-FE91-4360-85B1-4CF3C172F36B}"/>
              </a:ext>
            </a:extLst>
          </p:cNvPr>
          <p:cNvCxnSpPr>
            <a:stCxn xmlns:a="http://schemas.openxmlformats.org/drawingml/2006/main" id="2" idx="3"/>
            <a:endCxn xmlns:a="http://schemas.openxmlformats.org/drawingml/2006/main" id="4" idx="1"/>
          </p:cNvCxnSpPr>
          <p:nvPr/>
        </p:nvCxnSpPr>
        <p:spPr>
          <a:xfrm xmlns:a="http://schemas.openxmlformats.org/drawingml/2006/main">
            <a:off x="3829050" y="2543175"/>
            <a:ext cx="695325" cy="0"/>
          </a:xfrm>
          <a:prstGeom xmlns:a="http://schemas.openxmlformats.org/drawingml/2006/main" prst="straightConnector1">
            <a:avLst/>
          </a:prstGeom>
          <a:ln xmlns:a="http://schemas.openxmlformats.org/drawingml/2006/main" w="28575">
            <a:solidFill>
              <a:srgbClr val="2447A6"/>
            </a:solidFill>
            <a:tailEnd type="triangle" w="med" len="med"/>
          </a:ln>
        </p:spPr>
      </p:cxnSp>
      <p:sp>
        <p:nvSpPr>
          <p:cNvPr id="18" name="">
            <a:extLst xmlns:a="http://schemas.openxmlformats.org/drawingml/2006/main">
              <a:ext uri="{FF2B5EF4-FFF2-40B4-BE49-F238E27FC236}">
                <a16:creationId xmlns:a16="http://schemas.microsoft.com/office/drawing/2014/main" id="{39F91F50-CFD8-4119-81C7-4C08C23BAB49}"/>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442"/>
                </a:solidFill>
                <a:latin typeface="Arial"/>
                <a:ea typeface="Arial"/>
                <a:cs typeface="Arial"/>
              </a:defRPr>
            </a:defPPr>
          </a:lstStyle>
          <a:p xmlns:a="http://schemas.openxmlformats.org/drawingml/2006/main">
            <a:pPr>
              <a:buNone/>
              <a:defRPr sz="3300" b="1">
                <a:solidFill>
                  <a:srgbClr val="122442"/>
                </a:solidFill>
                <a:latin typeface="Arial"/>
                <a:ea typeface="Arial"/>
                <a:cs typeface="Arial"/>
              </a:defRPr>
            </a:pPr>
            <a:r>
              <a:rPr sz="3300" b="1">
                <a:solidFill>
                  <a:srgbClr val="122442"/>
                </a:solidFill>
                <a:latin typeface="Arial"/>
                <a:ea typeface="Arial"/>
                <a:cs typeface="Arial"/>
              </a:rPr>
              <a:t>Human oversight and sign-off</a:t>
            </a:r>
          </a:p>
        </p:txBody>
      </p:sp>
      <p:sp>
        <p:nvSpPr>
          <p:cNvPr id="2" name="">
            <a:extLst xmlns:a="http://schemas.openxmlformats.org/drawingml/2006/main">
              <a:ext uri="{FF2B5EF4-FFF2-40B4-BE49-F238E27FC236}">
                <a16:creationId xmlns:a16="http://schemas.microsoft.com/office/drawing/2014/main" id="{86211894-9483-4F53-BB14-5C947F31490E}"/>
              </a:ext>
            </a:extLst>
          </p:cNvPr>
          <p:cNvSpPr>
            <a:spLocks xmlns:a="http://schemas.openxmlformats.org/drawingml/2006/main" noGrp="1"/>
          </p:cNvSpPr>
          <p:nvPr/>
        </p:nvSpPr>
        <p:spPr>
          <a:xfrm xmlns:a="http://schemas.openxmlformats.org/drawingml/2006/main">
            <a:off x="685800" y="2133600"/>
            <a:ext cx="3143250" cy="819150"/>
          </a:xfrm>
          <a:prstGeom xmlns:a="http://schemas.openxmlformats.org/drawingml/2006/main" prst="roundRect">
            <a:avLst>
              <a:gd name="adj" fmla="val 18605"/>
            </a:avLst>
          </a:prstGeom>
          <a:solidFill xmlns:a="http://schemas.openxmlformats.org/drawingml/2006/main">
            <a:srgbClr val="2447A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A60F87A-FEBC-48F1-975D-48AC4637092B}"/>
              </a:ext>
            </a:extLst>
          </p:cNvPr>
          <p:cNvSpPr>
            <a:spLocks xmlns:a="http://schemas.openxmlformats.org/drawingml/2006/main" noGrp="1"/>
          </p:cNvSpPr>
          <p:nvPr/>
        </p:nvSpPr>
        <p:spPr>
          <a:xfrm xmlns:a="http://schemas.openxmlformats.org/drawingml/2006/main">
            <a:off x="857250" y="2295525"/>
            <a:ext cx="2800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Human</a:t>
            </a:r>
          </a:p>
        </p:txBody>
      </p:sp>
      <p:sp>
        <p:nvSpPr>
          <p:cNvPr id="4" name="">
            <a:extLst xmlns:a="http://schemas.openxmlformats.org/drawingml/2006/main">
              <a:ext uri="{FF2B5EF4-FFF2-40B4-BE49-F238E27FC236}">
                <a16:creationId xmlns:a16="http://schemas.microsoft.com/office/drawing/2014/main" id="{FDFE29C3-31B3-474D-B29A-CD5F0E8658D4}"/>
              </a:ext>
            </a:extLst>
          </p:cNvPr>
          <p:cNvSpPr>
            <a:spLocks xmlns:a="http://schemas.openxmlformats.org/drawingml/2006/main" noGrp="1"/>
          </p:cNvSpPr>
          <p:nvPr/>
        </p:nvSpPr>
        <p:spPr>
          <a:xfrm xmlns:a="http://schemas.openxmlformats.org/drawingml/2006/main">
            <a:off x="4524375" y="2133600"/>
            <a:ext cx="3143250" cy="819150"/>
          </a:xfrm>
          <a:prstGeom xmlns:a="http://schemas.openxmlformats.org/drawingml/2006/main" prst="roundRect">
            <a:avLst>
              <a:gd name="adj" fmla="val 18605"/>
            </a:avLst>
          </a:prstGeom>
          <a:solidFill xmlns:a="http://schemas.openxmlformats.org/drawingml/2006/main">
            <a:srgbClr val="7041B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CEC766D-4019-4C49-9369-E1B1EF1A3878}"/>
              </a:ext>
            </a:extLst>
          </p:cNvPr>
          <p:cNvSpPr>
            <a:spLocks xmlns:a="http://schemas.openxmlformats.org/drawingml/2006/main" noGrp="1"/>
          </p:cNvSpPr>
          <p:nvPr/>
        </p:nvSpPr>
        <p:spPr>
          <a:xfrm xmlns:a="http://schemas.openxmlformats.org/drawingml/2006/main">
            <a:off x="4695825" y="2295525"/>
            <a:ext cx="2800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Agent</a:t>
            </a:r>
          </a:p>
        </p:txBody>
      </p:sp>
      <p:sp>
        <p:nvSpPr>
          <p:cNvPr id="6" name="">
            <a:extLst xmlns:a="http://schemas.openxmlformats.org/drawingml/2006/main">
              <a:ext uri="{FF2B5EF4-FFF2-40B4-BE49-F238E27FC236}">
                <a16:creationId xmlns:a16="http://schemas.microsoft.com/office/drawing/2014/main" id="{F565EB09-0BDF-47C4-9404-3F75871954EC}"/>
              </a:ext>
            </a:extLst>
          </p:cNvPr>
          <p:cNvSpPr>
            <a:spLocks xmlns:a="http://schemas.openxmlformats.org/drawingml/2006/main" noGrp="1"/>
          </p:cNvSpPr>
          <p:nvPr/>
        </p:nvSpPr>
        <p:spPr>
          <a:xfrm xmlns:a="http://schemas.openxmlformats.org/drawingml/2006/main">
            <a:off x="8362950" y="2133600"/>
            <a:ext cx="3143250" cy="819150"/>
          </a:xfrm>
          <a:prstGeom xmlns:a="http://schemas.openxmlformats.org/drawingml/2006/main" prst="roundRect">
            <a:avLst>
              <a:gd name="adj" fmla="val 18605"/>
            </a:avLst>
          </a:prstGeom>
          <a:solidFill xmlns:a="http://schemas.openxmlformats.org/drawingml/2006/main">
            <a:srgbClr val="2447A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964160F-C323-47CE-90E5-6085450963A0}"/>
              </a:ext>
            </a:extLst>
          </p:cNvPr>
          <p:cNvSpPr>
            <a:spLocks xmlns:a="http://schemas.openxmlformats.org/drawingml/2006/main" noGrp="1"/>
          </p:cNvSpPr>
          <p:nvPr/>
        </p:nvSpPr>
        <p:spPr>
          <a:xfrm xmlns:a="http://schemas.openxmlformats.org/drawingml/2006/main">
            <a:off x="8534400" y="2295525"/>
            <a:ext cx="2800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Human</a:t>
            </a:r>
          </a:p>
        </p:txBody>
      </p:sp>
      <p:sp>
        <p:nvSpPr>
          <p:cNvPr id="10" name="">
            <a:extLst xmlns:a="http://schemas.openxmlformats.org/drawingml/2006/main">
              <a:ext uri="{FF2B5EF4-FFF2-40B4-BE49-F238E27FC236}">
                <a16:creationId xmlns:a16="http://schemas.microsoft.com/office/drawing/2014/main" id="{96DDBE0B-73D7-406F-9BD2-3A21683E95D7}"/>
              </a:ext>
            </a:extLst>
          </p:cNvPr>
          <p:cNvSpPr>
            <a:spLocks xmlns:a="http://schemas.openxmlformats.org/drawingml/2006/main" noGrp="1"/>
          </p:cNvSpPr>
          <p:nvPr/>
        </p:nvSpPr>
        <p:spPr>
          <a:xfrm xmlns:a="http://schemas.openxmlformats.org/drawingml/2006/main">
            <a:off x="685800" y="3286125"/>
            <a:ext cx="314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447A6"/>
                </a:solidFill>
                <a:latin typeface="Arial"/>
                <a:ea typeface="Arial"/>
                <a:cs typeface="Arial"/>
              </a:defRPr>
            </a:defPPr>
          </a:lstStyle>
          <a:p xmlns:a="http://schemas.openxmlformats.org/drawingml/2006/main">
            <a:pPr>
              <a:buNone/>
              <a:defRPr sz="2250" b="1">
                <a:solidFill>
                  <a:srgbClr val="2447A6"/>
                </a:solidFill>
                <a:latin typeface="Arial"/>
                <a:ea typeface="Arial"/>
                <a:cs typeface="Arial"/>
              </a:defRPr>
            </a:pPr>
            <a:r>
              <a:rPr sz="2250" b="1">
                <a:solidFill>
                  <a:srgbClr val="2447A6"/>
                </a:solidFill>
                <a:latin typeface="Arial"/>
                <a:ea typeface="Arial"/>
                <a:cs typeface="Arial"/>
              </a:rPr>
              <a:t>Spec authoring</a:t>
            </a:r>
          </a:p>
        </p:txBody>
      </p:sp>
      <p:sp>
        <p:nvSpPr>
          <p:cNvPr id="11" name="">
            <a:extLst xmlns:a="http://schemas.openxmlformats.org/drawingml/2006/main">
              <a:ext uri="{FF2B5EF4-FFF2-40B4-BE49-F238E27FC236}">
                <a16:creationId xmlns:a16="http://schemas.microsoft.com/office/drawing/2014/main" id="{58A8E302-208A-4378-A180-2B1B33285A6C}"/>
              </a:ext>
            </a:extLst>
          </p:cNvPr>
          <p:cNvSpPr>
            <a:spLocks xmlns:a="http://schemas.openxmlformats.org/drawingml/2006/main" noGrp="1"/>
          </p:cNvSpPr>
          <p:nvPr/>
        </p:nvSpPr>
        <p:spPr>
          <a:xfrm xmlns:a="http://schemas.openxmlformats.org/drawingml/2006/main">
            <a:off x="685800" y="4029075"/>
            <a:ext cx="314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122442"/>
                </a:solidFill>
                <a:latin typeface="Arial"/>
                <a:ea typeface="Arial"/>
                <a:cs typeface="Arial"/>
              </a:defRPr>
            </a:defPPr>
          </a:lstStyle>
          <a:p xmlns:a="http://schemas.openxmlformats.org/drawingml/2006/main">
            <a:pPr>
              <a:buNone/>
              <a:defRPr sz="1875" b="0">
                <a:solidFill>
                  <a:srgbClr val="122442"/>
                </a:solidFill>
                <a:latin typeface="Arial"/>
                <a:ea typeface="Arial"/>
                <a:cs typeface="Arial"/>
              </a:defRPr>
            </a:pPr>
            <a:r>
              <a:rPr sz="1875" b="0">
                <a:solidFill>
                  <a:srgbClr val="122442"/>
                </a:solidFill>
                <a:latin typeface="Arial"/>
                <a:ea typeface="Arial"/>
                <a:cs typeface="Arial"/>
              </a:rPr>
              <a:t>Turns business needs</a:t>
            </a:r>
          </a:p>
          <a:p xmlns:a="http://schemas.openxmlformats.org/drawingml/2006/main">
            <a:pPr>
              <a:buNone/>
              <a:defRPr sz="1875" b="0">
                <a:solidFill>
                  <a:srgbClr val="122442"/>
                </a:solidFill>
                <a:latin typeface="Arial"/>
                <a:ea typeface="Arial"/>
                <a:cs typeface="Arial"/>
              </a:defRPr>
            </a:pPr>
            <a:r>
              <a:rPr sz="1875" b="0">
                <a:solidFill>
                  <a:srgbClr val="122442"/>
                </a:solidFill>
                <a:latin typeface="Arial"/>
                <a:ea typeface="Arial"/>
                <a:cs typeface="Arial"/>
              </a:rPr>
              <a:t>into a spec.</a:t>
            </a:r>
          </a:p>
          <a:p xmlns:a="http://schemas.openxmlformats.org/drawingml/2006/main">
            <a:pPr>
              <a:buNone/>
              <a:defRPr sz="1875" b="0">
                <a:solidFill>
                  <a:srgbClr val="122442"/>
                </a:solidFill>
                <a:latin typeface="Arial"/>
                <a:ea typeface="Arial"/>
                <a:cs typeface="Arial"/>
              </a:defRPr>
            </a:pPr>
            <a:r>
              <a:rPr sz="1875" b="0">
                <a:solidFill>
                  <a:srgbClr val="122442"/>
                </a:solidFill>
                <a:latin typeface="Arial"/>
                <a:ea typeface="Arial"/>
                <a:cs typeface="Arial"/>
              </a:rPr>
              <a:t>Reviews and approves it</a:t>
            </a:r>
          </a:p>
          <a:p xmlns:a="http://schemas.openxmlformats.org/drawingml/2006/main">
            <a:pPr>
              <a:buNone/>
              <a:defRPr sz="1875" b="0">
                <a:solidFill>
                  <a:srgbClr val="122442"/>
                </a:solidFill>
                <a:latin typeface="Arial"/>
                <a:ea typeface="Arial"/>
                <a:cs typeface="Arial"/>
              </a:defRPr>
            </a:pPr>
            <a:r>
              <a:rPr sz="1875" b="0">
                <a:solidFill>
                  <a:srgbClr val="122442"/>
                </a:solidFill>
                <a:latin typeface="Arial"/>
                <a:ea typeface="Arial"/>
                <a:cs typeface="Arial"/>
              </a:rPr>
              <a:t>before implementation.</a:t>
            </a:r>
          </a:p>
        </p:txBody>
      </p:sp>
      <p:sp>
        <p:nvSpPr>
          <p:cNvPr id="12" name="">
            <a:extLst xmlns:a="http://schemas.openxmlformats.org/drawingml/2006/main">
              <a:ext uri="{FF2B5EF4-FFF2-40B4-BE49-F238E27FC236}">
                <a16:creationId xmlns:a16="http://schemas.microsoft.com/office/drawing/2014/main" id="{3C9F91D1-A87E-4CEB-9DF9-416A50A33FB5}"/>
              </a:ext>
            </a:extLst>
          </p:cNvPr>
          <p:cNvSpPr>
            <a:spLocks xmlns:a="http://schemas.openxmlformats.org/drawingml/2006/main" noGrp="1"/>
          </p:cNvSpPr>
          <p:nvPr/>
        </p:nvSpPr>
        <p:spPr>
          <a:xfrm xmlns:a="http://schemas.openxmlformats.org/drawingml/2006/main">
            <a:off x="4524375" y="3286125"/>
            <a:ext cx="314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7041B9"/>
                </a:solidFill>
                <a:latin typeface="Arial"/>
                <a:ea typeface="Arial"/>
                <a:cs typeface="Arial"/>
              </a:defRPr>
            </a:defPPr>
          </a:lstStyle>
          <a:p xmlns:a="http://schemas.openxmlformats.org/drawingml/2006/main">
            <a:pPr>
              <a:buNone/>
              <a:defRPr sz="2250" b="1">
                <a:solidFill>
                  <a:srgbClr val="7041B9"/>
                </a:solidFill>
                <a:latin typeface="Arial"/>
                <a:ea typeface="Arial"/>
                <a:cs typeface="Arial"/>
              </a:defRPr>
            </a:pPr>
            <a:r>
              <a:rPr sz="2250" b="1">
                <a:solidFill>
                  <a:srgbClr val="7041B9"/>
                </a:solidFill>
                <a:latin typeface="Arial"/>
                <a:ea typeface="Arial"/>
                <a:cs typeface="Arial"/>
              </a:rPr>
              <a:t>Code and tests</a:t>
            </a:r>
          </a:p>
        </p:txBody>
      </p:sp>
      <p:sp>
        <p:nvSpPr>
          <p:cNvPr id="13" name="">
            <a:extLst xmlns:a="http://schemas.openxmlformats.org/drawingml/2006/main">
              <a:ext uri="{FF2B5EF4-FFF2-40B4-BE49-F238E27FC236}">
                <a16:creationId xmlns:a16="http://schemas.microsoft.com/office/drawing/2014/main" id="{3ECEB89C-8D03-4813-9717-B511FCFC4FA3}"/>
              </a:ext>
            </a:extLst>
          </p:cNvPr>
          <p:cNvSpPr>
            <a:spLocks xmlns:a="http://schemas.openxmlformats.org/drawingml/2006/main" noGrp="1"/>
          </p:cNvSpPr>
          <p:nvPr/>
        </p:nvSpPr>
        <p:spPr>
          <a:xfrm xmlns:a="http://schemas.openxmlformats.org/drawingml/2006/main">
            <a:off x="4524375" y="4029075"/>
            <a:ext cx="314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122442"/>
                </a:solidFill>
                <a:latin typeface="Arial"/>
                <a:ea typeface="Arial"/>
                <a:cs typeface="Arial"/>
              </a:defRPr>
            </a:defPPr>
          </a:lstStyle>
          <a:p xmlns:a="http://schemas.openxmlformats.org/drawingml/2006/main">
            <a:pPr>
              <a:buNone/>
              <a:defRPr sz="1875" b="0">
                <a:solidFill>
                  <a:srgbClr val="122442"/>
                </a:solidFill>
                <a:latin typeface="Arial"/>
                <a:ea typeface="Arial"/>
                <a:cs typeface="Arial"/>
              </a:defRPr>
            </a:pPr>
            <a:r>
              <a:rPr sz="1875" b="0">
                <a:solidFill>
                  <a:srgbClr val="122442"/>
                </a:solidFill>
                <a:latin typeface="Arial"/>
                <a:ea typeface="Arial"/>
                <a:cs typeface="Arial"/>
              </a:rPr>
              <a:t>Implements the</a:t>
            </a:r>
          </a:p>
          <a:p xmlns:a="http://schemas.openxmlformats.org/drawingml/2006/main">
            <a:pPr>
              <a:buNone/>
              <a:defRPr sz="1875" b="0">
                <a:solidFill>
                  <a:srgbClr val="122442"/>
                </a:solidFill>
                <a:latin typeface="Arial"/>
                <a:ea typeface="Arial"/>
                <a:cs typeface="Arial"/>
              </a:defRPr>
            </a:pPr>
            <a:r>
              <a:rPr sz="1875" b="0">
                <a:solidFill>
                  <a:srgbClr val="122442"/>
                </a:solidFill>
                <a:latin typeface="Arial"/>
                <a:ea typeface="Arial"/>
                <a:cs typeface="Arial"/>
              </a:rPr>
              <a:t>approved spec.</a:t>
            </a:r>
          </a:p>
          <a:p xmlns:a="http://schemas.openxmlformats.org/drawingml/2006/main">
            <a:pPr>
              <a:buNone/>
              <a:defRPr sz="1875" b="0">
                <a:solidFill>
                  <a:srgbClr val="122442"/>
                </a:solidFill>
                <a:latin typeface="Arial"/>
                <a:ea typeface="Arial"/>
                <a:cs typeface="Arial"/>
              </a:defRPr>
            </a:pPr>
            <a:r>
              <a:rPr sz="1875" b="0">
                <a:solidFill>
                  <a:srgbClr val="122442"/>
                </a:solidFill>
                <a:latin typeface="Arial"/>
                <a:ea typeface="Arial"/>
                <a:cs typeface="Arial"/>
              </a:rPr>
              <a:t>Adds unit tests for</a:t>
            </a:r>
          </a:p>
          <a:p xmlns:a="http://schemas.openxmlformats.org/drawingml/2006/main">
            <a:pPr>
              <a:buNone/>
              <a:defRPr sz="1875" b="0">
                <a:solidFill>
                  <a:srgbClr val="122442"/>
                </a:solidFill>
                <a:latin typeface="Arial"/>
                <a:ea typeface="Arial"/>
                <a:cs typeface="Arial"/>
              </a:defRPr>
            </a:pPr>
            <a:r>
              <a:rPr sz="1875" b="0">
                <a:solidFill>
                  <a:srgbClr val="122442"/>
                </a:solidFill>
                <a:latin typeface="Arial"/>
                <a:ea typeface="Arial"/>
                <a:cs typeface="Arial"/>
              </a:rPr>
              <a:t>key business rules.</a:t>
            </a:r>
          </a:p>
        </p:txBody>
      </p:sp>
      <p:sp>
        <p:nvSpPr>
          <p:cNvPr id="14" name="">
            <a:extLst xmlns:a="http://schemas.openxmlformats.org/drawingml/2006/main">
              <a:ext uri="{FF2B5EF4-FFF2-40B4-BE49-F238E27FC236}">
                <a16:creationId xmlns:a16="http://schemas.microsoft.com/office/drawing/2014/main" id="{D0406239-5CB4-4B6E-8554-E8DD30C644EA}"/>
              </a:ext>
            </a:extLst>
          </p:cNvPr>
          <p:cNvSpPr>
            <a:spLocks xmlns:a="http://schemas.openxmlformats.org/drawingml/2006/main" noGrp="1"/>
          </p:cNvSpPr>
          <p:nvPr/>
        </p:nvSpPr>
        <p:spPr>
          <a:xfrm xmlns:a="http://schemas.openxmlformats.org/drawingml/2006/main">
            <a:off x="8362950" y="3286125"/>
            <a:ext cx="314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447A6"/>
                </a:solidFill>
                <a:latin typeface="Arial"/>
                <a:ea typeface="Arial"/>
                <a:cs typeface="Arial"/>
              </a:defRPr>
            </a:defPPr>
          </a:lstStyle>
          <a:p xmlns:a="http://schemas.openxmlformats.org/drawingml/2006/main">
            <a:pPr>
              <a:buNone/>
              <a:defRPr sz="2250" b="1">
                <a:solidFill>
                  <a:srgbClr val="2447A6"/>
                </a:solidFill>
                <a:latin typeface="Arial"/>
                <a:ea typeface="Arial"/>
                <a:cs typeface="Arial"/>
              </a:defRPr>
            </a:pPr>
            <a:r>
              <a:rPr sz="2250" b="1">
                <a:solidFill>
                  <a:srgbClr val="2447A6"/>
                </a:solidFill>
                <a:latin typeface="Arial"/>
                <a:ea typeface="Arial"/>
                <a:cs typeface="Arial"/>
              </a:rPr>
              <a:t>Review and sign-off</a:t>
            </a:r>
          </a:p>
        </p:txBody>
      </p:sp>
      <p:sp>
        <p:nvSpPr>
          <p:cNvPr id="15" name="">
            <a:extLst xmlns:a="http://schemas.openxmlformats.org/drawingml/2006/main">
              <a:ext uri="{FF2B5EF4-FFF2-40B4-BE49-F238E27FC236}">
                <a16:creationId xmlns:a16="http://schemas.microsoft.com/office/drawing/2014/main" id="{1CB481E9-F2EE-4BAD-B6A8-C1CD32FF3F3E}"/>
              </a:ext>
            </a:extLst>
          </p:cNvPr>
          <p:cNvSpPr>
            <a:spLocks xmlns:a="http://schemas.openxmlformats.org/drawingml/2006/main" noGrp="1"/>
          </p:cNvSpPr>
          <p:nvPr/>
        </p:nvSpPr>
        <p:spPr>
          <a:xfrm xmlns:a="http://schemas.openxmlformats.org/drawingml/2006/main">
            <a:off x="8362950" y="4029075"/>
            <a:ext cx="314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122442"/>
                </a:solidFill>
                <a:latin typeface="Arial"/>
                <a:ea typeface="Arial"/>
                <a:cs typeface="Arial"/>
              </a:defRPr>
            </a:defPPr>
          </a:lstStyle>
          <a:p xmlns:a="http://schemas.openxmlformats.org/drawingml/2006/main">
            <a:pPr>
              <a:buNone/>
              <a:defRPr sz="1875" b="0">
                <a:solidFill>
                  <a:srgbClr val="122442"/>
                </a:solidFill>
                <a:latin typeface="Arial"/>
                <a:ea typeface="Arial"/>
                <a:cs typeface="Arial"/>
              </a:defRPr>
            </a:pPr>
            <a:r>
              <a:rPr sz="1875" b="0">
                <a:solidFill>
                  <a:srgbClr val="122442"/>
                </a:solidFill>
                <a:latin typeface="Arial"/>
                <a:ea typeface="Arial"/>
                <a:cs typeface="Arial"/>
              </a:rPr>
              <a:t>Reviews the behavior,</a:t>
            </a:r>
          </a:p>
          <a:p xmlns:a="http://schemas.openxmlformats.org/drawingml/2006/main">
            <a:pPr>
              <a:buNone/>
              <a:defRPr sz="1875" b="0">
                <a:solidFill>
                  <a:srgbClr val="122442"/>
                </a:solidFill>
                <a:latin typeface="Arial"/>
                <a:ea typeface="Arial"/>
                <a:cs typeface="Arial"/>
              </a:defRPr>
            </a:pPr>
            <a:r>
              <a:rPr sz="1875" b="0">
                <a:solidFill>
                  <a:srgbClr val="122442"/>
                </a:solidFill>
                <a:latin typeface="Arial"/>
                <a:ea typeface="Arial"/>
                <a:cs typeface="Arial"/>
              </a:rPr>
              <a:t>code and tests.</a:t>
            </a:r>
          </a:p>
          <a:p xmlns:a="http://schemas.openxmlformats.org/drawingml/2006/main">
            <a:pPr>
              <a:buNone/>
              <a:defRPr sz="1875" b="0">
                <a:solidFill>
                  <a:srgbClr val="122442"/>
                </a:solidFill>
                <a:latin typeface="Arial"/>
                <a:ea typeface="Arial"/>
                <a:cs typeface="Arial"/>
              </a:defRPr>
            </a:pPr>
            <a:r>
              <a:rPr sz="1875" b="0">
                <a:solidFill>
                  <a:srgbClr val="122442"/>
                </a:solidFill>
                <a:latin typeface="Arial"/>
                <a:ea typeface="Arial"/>
                <a:cs typeface="Arial"/>
              </a:rPr>
              <a:t>Decides whether the</a:t>
            </a:r>
          </a:p>
          <a:p xmlns:a="http://schemas.openxmlformats.org/drawingml/2006/main">
            <a:pPr>
              <a:buNone/>
              <a:defRPr sz="1875" b="0">
                <a:solidFill>
                  <a:srgbClr val="122442"/>
                </a:solidFill>
                <a:latin typeface="Arial"/>
                <a:ea typeface="Arial"/>
                <a:cs typeface="Arial"/>
              </a:defRPr>
            </a:pPr>
            <a:r>
              <a:rPr sz="1875" b="0">
                <a:solidFill>
                  <a:srgbClr val="122442"/>
                </a:solidFill>
                <a:latin typeface="Arial"/>
                <a:ea typeface="Arial"/>
                <a:cs typeface="Arial"/>
              </a:rPr>
              <a:t>work meets the need.</a:t>
            </a:r>
          </a:p>
        </p:txBody>
      </p:sp>
      <p:sp>
        <p:nvSpPr>
          <p:cNvPr id="16" name="">
            <a:extLst xmlns:a="http://schemas.openxmlformats.org/drawingml/2006/main">
              <a:ext uri="{FF2B5EF4-FFF2-40B4-BE49-F238E27FC236}">
                <a16:creationId xmlns:a16="http://schemas.microsoft.com/office/drawing/2014/main" id="{D845CB98-E129-44A6-8C63-ED135CC43AA9}"/>
              </a:ext>
            </a:extLst>
          </p:cNvPr>
          <p:cNvSpPr>
            <a:spLocks xmlns:a="http://schemas.openxmlformats.org/drawingml/2006/main" noGrp="1"/>
          </p:cNvSpPr>
          <p:nvPr/>
        </p:nvSpPr>
        <p:spPr>
          <a:xfrm xmlns:a="http://schemas.openxmlformats.org/drawingml/2006/main">
            <a:off x="685800" y="56483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2447A6"/>
                </a:solidFill>
                <a:latin typeface="Arial"/>
                <a:ea typeface="Arial"/>
                <a:cs typeface="Arial"/>
              </a:defRPr>
            </a:defPPr>
          </a:lstStyle>
          <a:p xmlns:a="http://schemas.openxmlformats.org/drawingml/2006/main">
            <a:pPr>
              <a:buNone/>
              <a:defRPr sz="2025" b="1">
                <a:solidFill>
                  <a:srgbClr val="2447A6"/>
                </a:solidFill>
                <a:latin typeface="Arial"/>
                <a:ea typeface="Arial"/>
                <a:cs typeface="Arial"/>
              </a:defRPr>
            </a:pPr>
            <a:r>
              <a:rPr sz="2025" b="1">
                <a:solidFill>
                  <a:srgbClr val="2447A6"/>
                </a:solidFill>
                <a:latin typeface="Arial"/>
                <a:ea typeface="Arial"/>
                <a:cs typeface="Arial"/>
              </a:rPr>
              <a:t>A person decides whether the product solves the intended problem.</a:t>
            </a:r>
          </a:p>
        </p:txBody>
      </p:sp>
      <p:sp>
        <p:nvSpPr>
          <p:cNvPr id="17" name="">
            <a:extLst xmlns:a="http://schemas.openxmlformats.org/drawingml/2006/main">
              <a:ext uri="{FF2B5EF4-FFF2-40B4-BE49-F238E27FC236}">
                <a16:creationId xmlns:a16="http://schemas.microsoft.com/office/drawing/2014/main" id="{1ACB9EF1-83D6-41C1-95A3-3EB02C7A92C1}"/>
              </a:ext>
            </a:extLst>
          </p:cNvPr>
          <p:cNvSpPr>
            <a:spLocks xmlns:a="http://schemas.openxmlformats.org/drawingml/2006/main" noGrp="1"/>
          </p:cNvSpPr>
          <p:nvPr/>
        </p:nvSpPr>
        <p:spPr>
          <a:xfrm xmlns:a="http://schemas.openxmlformats.org/drawingml/2006/main">
            <a:off x="11049000" y="64008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4D5C74"/>
                </a:solidFill>
                <a:latin typeface="Arial"/>
                <a:ea typeface="Arial"/>
                <a:cs typeface="Arial"/>
              </a:defRPr>
            </a:defPPr>
          </a:lstStyle>
          <a:p xmlns:a="http://schemas.openxmlformats.org/drawingml/2006/main">
            <a:pPr>
              <a:buNone/>
              <a:defRPr sz="1275" b="0">
                <a:solidFill>
                  <a:srgbClr val="4D5C74"/>
                </a:solidFill>
                <a:latin typeface="Arial"/>
                <a:ea typeface="Arial"/>
                <a:cs typeface="Arial"/>
              </a:defRPr>
            </a:pPr>
            <a:r>
              <a:rPr sz="1275" b="0">
                <a:solidFill>
                  <a:srgbClr val="4D5C74"/>
                </a:solidFill>
                <a:latin typeface="Arial"/>
                <a:ea typeface="Arial"/>
                <a:cs typeface="Arial"/>
              </a:rPr>
              <a:t>10</a:t>
            </a:r>
          </a:p>
        </p:txBody>
      </p:sp>
    </p:spTree>
    <p:extLst>
      <p:ext uri="{BB962C8B-B14F-4D97-AF65-F5344CB8AC3E}">
        <p14:creationId xmlns:p14="http://schemas.microsoft.com/office/powerpoint/2010/main" val="172843798"/>
      </p:ext>
    </p:extLst>
  </p:cSld>
</p:sld>
</file>

<file path=ppt/slides/slide11.xml><?xml version="1.0" encoding="utf-8"?>
<p:sld xmlns:p="http://schemas.openxmlformats.org/presentationml/2006/main">
  <p:cSld>
    <p:bg>
      <p:bgPr>
        <a:gradFill xmlns:a="http://schemas.openxmlformats.org/drawingml/2006/main">
          <a:gsLst>
            <a:gs pos="0">
              <a:srgbClr val="FFFFFF"/>
            </a:gs>
            <a:gs pos="60000">
              <a:srgbClr val="EDF4FF"/>
            </a:gs>
            <a:gs pos="100000">
              <a:srgbClr val="E5DAFA"/>
            </a:gs>
          </a:gsLst>
          <a:lin ang="1500000"/>
        </a:gra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6F4E0648-9699-4298-A219-60AA16B1F653}"/>
              </a:ext>
            </a:extLst>
          </p:cNvPr>
          <p:cNvCxnSpPr>
            <a:stCxn xmlns:a="http://schemas.openxmlformats.org/drawingml/2006/main" id="8" idx="3"/>
            <a:endCxn xmlns:a="http://schemas.openxmlformats.org/drawingml/2006/main" id="10" idx="1"/>
          </p:cNvCxnSpPr>
          <p:nvPr/>
        </p:nvCxnSpPr>
        <p:spPr>
          <a:xfrm xmlns:a="http://schemas.openxmlformats.org/drawingml/2006/main">
            <a:off x="8667750" y="3614738"/>
            <a:ext cx="533400" cy="0"/>
          </a:xfrm>
          <a:prstGeom xmlns:a="http://schemas.openxmlformats.org/drawingml/2006/main" prst="straightConnector1">
            <a:avLst/>
          </a:prstGeom>
          <a:ln xmlns:a="http://schemas.openxmlformats.org/drawingml/2006/main" w="28575">
            <a:solidFill>
              <a:srgbClr val="2447A6"/>
            </a:solidFill>
            <a:tailEnd type="triangle" w="med" len="med"/>
          </a:ln>
        </p:spPr>
      </p:cxnSp>
      <p:cxnSp>
        <p:nvCxnSpPr>
          <p:cNvPr id="13" name="">
            <a:extLst xmlns:a="http://schemas.openxmlformats.org/drawingml/2006/main">
              <a:ext uri="{FF2B5EF4-FFF2-40B4-BE49-F238E27FC236}">
                <a16:creationId xmlns:a16="http://schemas.microsoft.com/office/drawing/2014/main" id="{6F3F2065-95BE-473A-A145-630B14872031}"/>
              </a:ext>
            </a:extLst>
          </p:cNvPr>
          <p:cNvCxnSpPr>
            <a:stCxn xmlns:a="http://schemas.openxmlformats.org/drawingml/2006/main" id="6" idx="3"/>
            <a:endCxn xmlns:a="http://schemas.openxmlformats.org/drawingml/2006/main" id="8" idx="1"/>
          </p:cNvCxnSpPr>
          <p:nvPr/>
        </p:nvCxnSpPr>
        <p:spPr>
          <a:xfrm xmlns:a="http://schemas.openxmlformats.org/drawingml/2006/main">
            <a:off x="5829300" y="3614738"/>
            <a:ext cx="533400" cy="0"/>
          </a:xfrm>
          <a:prstGeom xmlns:a="http://schemas.openxmlformats.org/drawingml/2006/main" prst="straightConnector1">
            <a:avLst/>
          </a:prstGeom>
          <a:ln xmlns:a="http://schemas.openxmlformats.org/drawingml/2006/main" w="28575">
            <a:solidFill>
              <a:srgbClr val="2447A6"/>
            </a:solidFill>
            <a:tailEnd type="triangle" w="med" len="med"/>
          </a:ln>
        </p:spPr>
      </p:cxnSp>
      <p:cxnSp>
        <p:nvCxnSpPr>
          <p:cNvPr id="12" name="">
            <a:extLst xmlns:a="http://schemas.openxmlformats.org/drawingml/2006/main">
              <a:ext uri="{FF2B5EF4-FFF2-40B4-BE49-F238E27FC236}">
                <a16:creationId xmlns:a16="http://schemas.microsoft.com/office/drawing/2014/main" id="{FCA9FA4E-EDD5-4FDB-9B48-12CA0677AAB6}"/>
              </a:ext>
            </a:extLst>
          </p:cNvPr>
          <p:cNvCxnSpPr>
            <a:stCxn xmlns:a="http://schemas.openxmlformats.org/drawingml/2006/main" id="4" idx="3"/>
            <a:endCxn xmlns:a="http://schemas.openxmlformats.org/drawingml/2006/main" id="6" idx="1"/>
          </p:cNvCxnSpPr>
          <p:nvPr/>
        </p:nvCxnSpPr>
        <p:spPr>
          <a:xfrm xmlns:a="http://schemas.openxmlformats.org/drawingml/2006/main">
            <a:off x="2990850" y="3614738"/>
            <a:ext cx="533400" cy="0"/>
          </a:xfrm>
          <a:prstGeom xmlns:a="http://schemas.openxmlformats.org/drawingml/2006/main" prst="straightConnector1">
            <a:avLst/>
          </a:prstGeom>
          <a:ln xmlns:a="http://schemas.openxmlformats.org/drawingml/2006/main" w="28575">
            <a:solidFill>
              <a:srgbClr val="2447A6"/>
            </a:solidFill>
            <a:tailEnd type="triangle" w="med" len="med"/>
          </a:ln>
        </p:spPr>
      </p:cxnSp>
      <p:sp>
        <p:nvSpPr>
          <p:cNvPr id="22" name="">
            <a:extLst xmlns:a="http://schemas.openxmlformats.org/drawingml/2006/main">
              <a:ext uri="{FF2B5EF4-FFF2-40B4-BE49-F238E27FC236}">
                <a16:creationId xmlns:a16="http://schemas.microsoft.com/office/drawing/2014/main" id="{A09182D1-D6B1-4327-96D6-97A724EB16D2}"/>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442"/>
                </a:solidFill>
                <a:latin typeface="Arial"/>
                <a:ea typeface="Arial"/>
                <a:cs typeface="Arial"/>
              </a:defRPr>
            </a:defPPr>
          </a:lstStyle>
          <a:p xmlns:a="http://schemas.openxmlformats.org/drawingml/2006/main">
            <a:pPr>
              <a:buNone/>
              <a:defRPr sz="3300" b="1">
                <a:solidFill>
                  <a:srgbClr val="122442"/>
                </a:solidFill>
                <a:latin typeface="Arial"/>
                <a:ea typeface="Arial"/>
                <a:cs typeface="Arial"/>
              </a:defRPr>
            </a:pPr>
            <a:r>
              <a:rPr sz="3300" b="1">
                <a:solidFill>
                  <a:srgbClr val="122442"/>
                </a:solidFill>
                <a:latin typeface="Arial"/>
                <a:ea typeface="Arial"/>
                <a:cs typeface="Arial"/>
              </a:rPr>
              <a:t>Executable specs protect intent</a:t>
            </a:r>
          </a:p>
        </p:txBody>
      </p:sp>
      <p:sp>
        <p:nvSpPr>
          <p:cNvPr id="2" name="">
            <a:extLst xmlns:a="http://schemas.openxmlformats.org/drawingml/2006/main">
              <a:ext uri="{FF2B5EF4-FFF2-40B4-BE49-F238E27FC236}">
                <a16:creationId xmlns:a16="http://schemas.microsoft.com/office/drawing/2014/main" id="{8D51E895-51B9-426A-BD79-6FD68A43887D}"/>
              </a:ext>
            </a:extLst>
          </p:cNvPr>
          <p:cNvSpPr>
            <a:spLocks xmlns:a="http://schemas.openxmlformats.org/drawingml/2006/main" noGrp="1"/>
          </p:cNvSpPr>
          <p:nvPr/>
        </p:nvSpPr>
        <p:spPr>
          <a:xfrm xmlns:a="http://schemas.openxmlformats.org/drawingml/2006/main">
            <a:off x="685800" y="1571625"/>
            <a:ext cx="108204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22442"/>
                </a:solidFill>
                <a:latin typeface="Arial"/>
                <a:ea typeface="Arial"/>
                <a:cs typeface="Arial"/>
              </a:defRPr>
            </a:defPPr>
          </a:lstStyle>
          <a:p xmlns:a="http://schemas.openxmlformats.org/drawingml/2006/main">
            <a:pPr>
              <a:buNone/>
              <a:defRPr sz="2175" b="0">
                <a:solidFill>
                  <a:srgbClr val="122442"/>
                </a:solidFill>
                <a:latin typeface="Arial"/>
                <a:ea typeface="Arial"/>
                <a:cs typeface="Arial"/>
              </a:defRPr>
            </a:pPr>
            <a:r>
              <a:rPr sz="2175" b="0">
                <a:solidFill>
                  <a:srgbClr val="122442"/>
                </a:solidFill>
                <a:latin typeface="Arial"/>
                <a:ea typeface="Arial"/>
                <a:cs typeface="Arial"/>
              </a:rPr>
              <a:t>Documentation can drift.</a:t>
            </a:r>
          </a:p>
          <a:p xmlns:a="http://schemas.openxmlformats.org/drawingml/2006/main">
            <a:pPr>
              <a:buNone/>
              <a:defRPr sz="2175" b="0">
                <a:solidFill>
                  <a:srgbClr val="122442"/>
                </a:solidFill>
                <a:latin typeface="Arial"/>
                <a:ea typeface="Arial"/>
                <a:cs typeface="Arial"/>
              </a:defRPr>
            </a:pPr>
            <a:r>
              <a:rPr sz="2175" b="0">
                <a:solidFill>
                  <a:srgbClr val="122442"/>
                </a:solidFill>
                <a:latin typeface="Arial"/>
                <a:ea typeface="Arial"/>
                <a:cs typeface="Arial"/>
              </a:rPr>
              <a:t>Tests check that critical requirements still hold.</a:t>
            </a:r>
          </a:p>
        </p:txBody>
      </p:sp>
      <p:sp>
        <p:nvSpPr>
          <p:cNvPr id="3" name="">
            <a:extLst xmlns:a="http://schemas.openxmlformats.org/drawingml/2006/main">
              <a:ext uri="{FF2B5EF4-FFF2-40B4-BE49-F238E27FC236}">
                <a16:creationId xmlns:a16="http://schemas.microsoft.com/office/drawing/2014/main" id="{D6E6257C-6B1E-40C0-ADAC-F86B4CE8FDB6}"/>
              </a:ext>
            </a:extLst>
          </p:cNvPr>
          <p:cNvSpPr>
            <a:spLocks xmlns:a="http://schemas.openxmlformats.org/drawingml/2006/main" noGrp="1"/>
          </p:cNvSpPr>
          <p:nvPr/>
        </p:nvSpPr>
        <p:spPr>
          <a:xfrm xmlns:a="http://schemas.openxmlformats.org/drawingml/2006/main">
            <a:off x="685800" y="2390775"/>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2447A6"/>
                </a:solidFill>
                <a:latin typeface="Arial"/>
                <a:ea typeface="Arial"/>
                <a:cs typeface="Arial"/>
              </a:defRPr>
            </a:defPPr>
          </a:lstStyle>
          <a:p xmlns:a="http://schemas.openxmlformats.org/drawingml/2006/main">
            <a:pPr>
              <a:buNone/>
              <a:defRPr sz="2025" b="1">
                <a:solidFill>
                  <a:srgbClr val="2447A6"/>
                </a:solidFill>
                <a:latin typeface="Arial"/>
                <a:ea typeface="Arial"/>
                <a:cs typeface="Arial"/>
              </a:defRPr>
            </a:pPr>
            <a:r>
              <a:rPr sz="2025" b="1">
                <a:solidFill>
                  <a:srgbClr val="2447A6"/>
                </a:solidFill>
                <a:latin typeface="Arial"/>
                <a:ea typeface="Arial"/>
                <a:cs typeface="Arial"/>
              </a:rPr>
              <a:t>Specification by Example: concrete scenarios make expected behavior explicit.</a:t>
            </a:r>
          </a:p>
        </p:txBody>
      </p:sp>
      <p:sp>
        <p:nvSpPr>
          <p:cNvPr id="4" name="">
            <a:extLst xmlns:a="http://schemas.openxmlformats.org/drawingml/2006/main">
              <a:ext uri="{FF2B5EF4-FFF2-40B4-BE49-F238E27FC236}">
                <a16:creationId xmlns:a16="http://schemas.microsoft.com/office/drawing/2014/main" id="{4793ACB6-EB11-4824-9FB6-53144B8E2AB9}"/>
              </a:ext>
            </a:extLst>
          </p:cNvPr>
          <p:cNvSpPr>
            <a:spLocks xmlns:a="http://schemas.openxmlformats.org/drawingml/2006/main" noGrp="1"/>
          </p:cNvSpPr>
          <p:nvPr/>
        </p:nvSpPr>
        <p:spPr>
          <a:xfrm xmlns:a="http://schemas.openxmlformats.org/drawingml/2006/main">
            <a:off x="685800" y="3133725"/>
            <a:ext cx="2305050" cy="962025"/>
          </a:xfrm>
          <a:prstGeom xmlns:a="http://schemas.openxmlformats.org/drawingml/2006/main" prst="roundRect">
            <a:avLst>
              <a:gd name="adj" fmla="val 15842"/>
            </a:avLst>
          </a:prstGeom>
          <a:solidFill xmlns:a="http://schemas.openxmlformats.org/drawingml/2006/main">
            <a:srgbClr val="2447A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D65790C-896C-4FE8-B6C4-C60801E7E1D4}"/>
              </a:ext>
            </a:extLst>
          </p:cNvPr>
          <p:cNvSpPr>
            <a:spLocks xmlns:a="http://schemas.openxmlformats.org/drawingml/2006/main" noGrp="1"/>
          </p:cNvSpPr>
          <p:nvPr/>
        </p:nvSpPr>
        <p:spPr>
          <a:xfrm xmlns:a="http://schemas.openxmlformats.org/drawingml/2006/main">
            <a:off x="857250" y="3295650"/>
            <a:ext cx="19621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Tests</a:t>
            </a:r>
          </a:p>
        </p:txBody>
      </p:sp>
      <p:sp>
        <p:nvSpPr>
          <p:cNvPr id="6" name="">
            <a:extLst xmlns:a="http://schemas.openxmlformats.org/drawingml/2006/main">
              <a:ext uri="{FF2B5EF4-FFF2-40B4-BE49-F238E27FC236}">
                <a16:creationId xmlns:a16="http://schemas.microsoft.com/office/drawing/2014/main" id="{C686AF29-32F3-4479-9230-66F81BAC30BB}"/>
              </a:ext>
            </a:extLst>
          </p:cNvPr>
          <p:cNvSpPr>
            <a:spLocks xmlns:a="http://schemas.openxmlformats.org/drawingml/2006/main" noGrp="1"/>
          </p:cNvSpPr>
          <p:nvPr/>
        </p:nvSpPr>
        <p:spPr>
          <a:xfrm xmlns:a="http://schemas.openxmlformats.org/drawingml/2006/main">
            <a:off x="3524250" y="3133725"/>
            <a:ext cx="2305050" cy="962025"/>
          </a:xfrm>
          <a:prstGeom xmlns:a="http://schemas.openxmlformats.org/drawingml/2006/main" prst="roundRect">
            <a:avLst>
              <a:gd name="adj" fmla="val 15842"/>
            </a:avLst>
          </a:prstGeom>
          <a:solidFill xmlns:a="http://schemas.openxmlformats.org/drawingml/2006/main">
            <a:srgbClr val="7041B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446AF13-FCDC-49DC-B1AA-59106EF07ED6}"/>
              </a:ext>
            </a:extLst>
          </p:cNvPr>
          <p:cNvSpPr>
            <a:spLocks xmlns:a="http://schemas.openxmlformats.org/drawingml/2006/main" noGrp="1"/>
          </p:cNvSpPr>
          <p:nvPr/>
        </p:nvSpPr>
        <p:spPr>
          <a:xfrm xmlns:a="http://schemas.openxmlformats.org/drawingml/2006/main">
            <a:off x="3695700" y="3295650"/>
            <a:ext cx="19621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Agent</a:t>
            </a:r>
          </a:p>
        </p:txBody>
      </p:sp>
      <p:sp>
        <p:nvSpPr>
          <p:cNvPr id="8" name="">
            <a:extLst xmlns:a="http://schemas.openxmlformats.org/drawingml/2006/main">
              <a:ext uri="{FF2B5EF4-FFF2-40B4-BE49-F238E27FC236}">
                <a16:creationId xmlns:a16="http://schemas.microsoft.com/office/drawing/2014/main" id="{DFB98C63-E9BF-433A-9458-A0CB1C7B78B0}"/>
              </a:ext>
            </a:extLst>
          </p:cNvPr>
          <p:cNvSpPr>
            <a:spLocks xmlns:a="http://schemas.openxmlformats.org/drawingml/2006/main" noGrp="1"/>
          </p:cNvSpPr>
          <p:nvPr/>
        </p:nvSpPr>
        <p:spPr>
          <a:xfrm xmlns:a="http://schemas.openxmlformats.org/drawingml/2006/main">
            <a:off x="6362700" y="3133725"/>
            <a:ext cx="2305050" cy="962025"/>
          </a:xfrm>
          <a:prstGeom xmlns:a="http://schemas.openxmlformats.org/drawingml/2006/main" prst="roundRect">
            <a:avLst>
              <a:gd name="adj" fmla="val 15842"/>
            </a:avLst>
          </a:prstGeom>
          <a:solidFill xmlns:a="http://schemas.openxmlformats.org/drawingml/2006/main">
            <a:srgbClr val="7041B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22DE95E-7D2F-4D41-B49F-B51BFB536E4A}"/>
              </a:ext>
            </a:extLst>
          </p:cNvPr>
          <p:cNvSpPr>
            <a:spLocks xmlns:a="http://schemas.openxmlformats.org/drawingml/2006/main" noGrp="1"/>
          </p:cNvSpPr>
          <p:nvPr/>
        </p:nvSpPr>
        <p:spPr>
          <a:xfrm xmlns:a="http://schemas.openxmlformats.org/drawingml/2006/main">
            <a:off x="6534150" y="3295650"/>
            <a:ext cx="19621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Agent</a:t>
            </a:r>
          </a:p>
        </p:txBody>
      </p:sp>
      <p:sp>
        <p:nvSpPr>
          <p:cNvPr id="10" name="">
            <a:extLst xmlns:a="http://schemas.openxmlformats.org/drawingml/2006/main">
              <a:ext uri="{FF2B5EF4-FFF2-40B4-BE49-F238E27FC236}">
                <a16:creationId xmlns:a16="http://schemas.microsoft.com/office/drawing/2014/main" id="{DCF2A66B-9D4B-4948-AC6E-E2E79918D6F7}"/>
              </a:ext>
            </a:extLst>
          </p:cNvPr>
          <p:cNvSpPr>
            <a:spLocks xmlns:a="http://schemas.openxmlformats.org/drawingml/2006/main" noGrp="1"/>
          </p:cNvSpPr>
          <p:nvPr/>
        </p:nvSpPr>
        <p:spPr>
          <a:xfrm xmlns:a="http://schemas.openxmlformats.org/drawingml/2006/main">
            <a:off x="9201150" y="3133725"/>
            <a:ext cx="2305050" cy="962025"/>
          </a:xfrm>
          <a:prstGeom xmlns:a="http://schemas.openxmlformats.org/drawingml/2006/main" prst="roundRect">
            <a:avLst>
              <a:gd name="adj" fmla="val 15842"/>
            </a:avLst>
          </a:prstGeom>
          <a:solidFill xmlns:a="http://schemas.openxmlformats.org/drawingml/2006/main">
            <a:srgbClr val="2447A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6B5F543-23BF-49B0-A222-A53604CA0441}"/>
              </a:ext>
            </a:extLst>
          </p:cNvPr>
          <p:cNvSpPr>
            <a:spLocks xmlns:a="http://schemas.openxmlformats.org/drawingml/2006/main" noGrp="1"/>
          </p:cNvSpPr>
          <p:nvPr/>
        </p:nvSpPr>
        <p:spPr>
          <a:xfrm xmlns:a="http://schemas.openxmlformats.org/drawingml/2006/main">
            <a:off x="9372600" y="3295650"/>
            <a:ext cx="19621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Human</a:t>
            </a:r>
          </a:p>
        </p:txBody>
      </p:sp>
      <p:sp>
        <p:nvSpPr>
          <p:cNvPr id="15" name="">
            <a:extLst xmlns:a="http://schemas.openxmlformats.org/drawingml/2006/main">
              <a:ext uri="{FF2B5EF4-FFF2-40B4-BE49-F238E27FC236}">
                <a16:creationId xmlns:a16="http://schemas.microsoft.com/office/drawing/2014/main" id="{8346C497-2BB2-4A80-9FE7-19F35FE47BF4}"/>
              </a:ext>
            </a:extLst>
          </p:cNvPr>
          <p:cNvSpPr>
            <a:spLocks xmlns:a="http://schemas.openxmlformats.org/drawingml/2006/main" noGrp="1"/>
          </p:cNvSpPr>
          <p:nvPr/>
        </p:nvSpPr>
        <p:spPr>
          <a:xfrm xmlns:a="http://schemas.openxmlformats.org/drawingml/2006/main">
            <a:off x="685800" y="437197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22442"/>
                </a:solidFill>
                <a:latin typeface="Arial"/>
                <a:ea typeface="Arial"/>
                <a:cs typeface="Arial"/>
              </a:defRPr>
            </a:defPPr>
          </a:lstStyle>
          <a:p xmlns:a="http://schemas.openxmlformats.org/drawingml/2006/main">
            <a:pPr>
              <a:buNone/>
              <a:defRPr sz="1800" b="0">
                <a:solidFill>
                  <a:srgbClr val="122442"/>
                </a:solidFill>
                <a:latin typeface="Arial"/>
                <a:ea typeface="Arial"/>
                <a:cs typeface="Arial"/>
              </a:defRPr>
            </a:pPr>
            <a:r>
              <a:rPr sz="1800" b="0">
                <a:solidFill>
                  <a:srgbClr val="122442"/>
                </a:solidFill>
                <a:latin typeface="Arial"/>
                <a:ea typeface="Arial"/>
                <a:cs typeface="Arial"/>
              </a:rPr>
              <a:t>Check the app’s</a:t>
            </a:r>
          </a:p>
          <a:p xmlns:a="http://schemas.openxmlformats.org/drawingml/2006/main">
            <a:pPr>
              <a:buNone/>
              <a:defRPr sz="1800" b="0">
                <a:solidFill>
                  <a:srgbClr val="122442"/>
                </a:solidFill>
                <a:latin typeface="Arial"/>
                <a:ea typeface="Arial"/>
                <a:cs typeface="Arial"/>
              </a:defRPr>
            </a:pPr>
            <a:r>
              <a:rPr sz="1800" b="0">
                <a:solidFill>
                  <a:srgbClr val="122442"/>
                </a:solidFill>
                <a:latin typeface="Arial"/>
                <a:ea typeface="Arial"/>
                <a:cs typeface="Arial"/>
              </a:rPr>
              <a:t>business rules.</a:t>
            </a:r>
          </a:p>
        </p:txBody>
      </p:sp>
      <p:sp>
        <p:nvSpPr>
          <p:cNvPr id="16" name="">
            <a:extLst xmlns:a="http://schemas.openxmlformats.org/drawingml/2006/main">
              <a:ext uri="{FF2B5EF4-FFF2-40B4-BE49-F238E27FC236}">
                <a16:creationId xmlns:a16="http://schemas.microsoft.com/office/drawing/2014/main" id="{ECDA744E-DB79-4F2F-9FF5-25A9279299BD}"/>
              </a:ext>
            </a:extLst>
          </p:cNvPr>
          <p:cNvSpPr>
            <a:spLocks xmlns:a="http://schemas.openxmlformats.org/drawingml/2006/main" noGrp="1"/>
          </p:cNvSpPr>
          <p:nvPr/>
        </p:nvSpPr>
        <p:spPr>
          <a:xfrm xmlns:a="http://schemas.openxmlformats.org/drawingml/2006/main">
            <a:off x="3524250" y="437197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22442"/>
                </a:solidFill>
                <a:latin typeface="Arial"/>
                <a:ea typeface="Arial"/>
                <a:cs typeface="Arial"/>
              </a:defRPr>
            </a:defPPr>
          </a:lstStyle>
          <a:p xmlns:a="http://schemas.openxmlformats.org/drawingml/2006/main">
            <a:pPr>
              <a:buNone/>
              <a:defRPr sz="1800" b="0">
                <a:solidFill>
                  <a:srgbClr val="122442"/>
                </a:solidFill>
                <a:latin typeface="Arial"/>
                <a:ea typeface="Arial"/>
                <a:cs typeface="Arial"/>
              </a:defRPr>
            </a:pPr>
            <a:r>
              <a:rPr sz="1800" b="0">
                <a:solidFill>
                  <a:srgbClr val="122442"/>
                </a:solidFill>
                <a:latin typeface="Arial"/>
                <a:ea typeface="Arial"/>
                <a:cs typeface="Arial"/>
              </a:rPr>
              <a:t>Implements the</a:t>
            </a:r>
          </a:p>
          <a:p xmlns:a="http://schemas.openxmlformats.org/drawingml/2006/main">
            <a:pPr>
              <a:buNone/>
              <a:defRPr sz="1800" b="0">
                <a:solidFill>
                  <a:srgbClr val="122442"/>
                </a:solidFill>
                <a:latin typeface="Arial"/>
                <a:ea typeface="Arial"/>
                <a:cs typeface="Arial"/>
              </a:defRPr>
            </a:pPr>
            <a:r>
              <a:rPr sz="1800" b="0">
                <a:solidFill>
                  <a:srgbClr val="122442"/>
                </a:solidFill>
                <a:latin typeface="Arial"/>
                <a:ea typeface="Arial"/>
                <a:cs typeface="Arial"/>
              </a:rPr>
              <a:t>requirements.</a:t>
            </a:r>
          </a:p>
        </p:txBody>
      </p:sp>
      <p:sp>
        <p:nvSpPr>
          <p:cNvPr id="17" name="">
            <a:extLst xmlns:a="http://schemas.openxmlformats.org/drawingml/2006/main">
              <a:ext uri="{FF2B5EF4-FFF2-40B4-BE49-F238E27FC236}">
                <a16:creationId xmlns:a16="http://schemas.microsoft.com/office/drawing/2014/main" id="{76A8C72B-AA5A-4B18-8506-DCA2CD628A33}"/>
              </a:ext>
            </a:extLst>
          </p:cNvPr>
          <p:cNvSpPr>
            <a:spLocks xmlns:a="http://schemas.openxmlformats.org/drawingml/2006/main" noGrp="1"/>
          </p:cNvSpPr>
          <p:nvPr/>
        </p:nvSpPr>
        <p:spPr>
          <a:xfrm xmlns:a="http://schemas.openxmlformats.org/drawingml/2006/main">
            <a:off x="6362700" y="437197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22442"/>
                </a:solidFill>
                <a:latin typeface="Arial"/>
                <a:ea typeface="Arial"/>
                <a:cs typeface="Arial"/>
              </a:defRPr>
            </a:defPPr>
          </a:lstStyle>
          <a:p xmlns:a="http://schemas.openxmlformats.org/drawingml/2006/main">
            <a:pPr>
              <a:buNone/>
              <a:defRPr sz="1800" b="0">
                <a:solidFill>
                  <a:srgbClr val="122442"/>
                </a:solidFill>
                <a:latin typeface="Arial"/>
                <a:ea typeface="Arial"/>
                <a:cs typeface="Arial"/>
              </a:defRPr>
            </a:pPr>
            <a:r>
              <a:rPr sz="1800" b="0">
                <a:solidFill>
                  <a:srgbClr val="122442"/>
                </a:solidFill>
                <a:latin typeface="Arial"/>
                <a:ea typeface="Arial"/>
                <a:cs typeface="Arial"/>
              </a:rPr>
              <a:t>Cross-checks the</a:t>
            </a:r>
          </a:p>
          <a:p xmlns:a="http://schemas.openxmlformats.org/drawingml/2006/main">
            <a:pPr>
              <a:buNone/>
              <a:defRPr sz="1800" b="0">
                <a:solidFill>
                  <a:srgbClr val="122442"/>
                </a:solidFill>
                <a:latin typeface="Arial"/>
                <a:ea typeface="Arial"/>
                <a:cs typeface="Arial"/>
              </a:defRPr>
            </a:pPr>
            <a:r>
              <a:rPr sz="1800" b="0">
                <a:solidFill>
                  <a:srgbClr val="122442"/>
                </a:solidFill>
                <a:latin typeface="Arial"/>
                <a:ea typeface="Arial"/>
                <a:cs typeface="Arial"/>
              </a:rPr>
              <a:t>spec against tests.</a:t>
            </a:r>
          </a:p>
        </p:txBody>
      </p:sp>
      <p:sp>
        <p:nvSpPr>
          <p:cNvPr id="18" name="">
            <a:extLst xmlns:a="http://schemas.openxmlformats.org/drawingml/2006/main">
              <a:ext uri="{FF2B5EF4-FFF2-40B4-BE49-F238E27FC236}">
                <a16:creationId xmlns:a16="http://schemas.microsoft.com/office/drawing/2014/main" id="{E6337E5B-5A36-4683-9482-6B07CBCE80EB}"/>
              </a:ext>
            </a:extLst>
          </p:cNvPr>
          <p:cNvSpPr>
            <a:spLocks xmlns:a="http://schemas.openxmlformats.org/drawingml/2006/main" noGrp="1"/>
          </p:cNvSpPr>
          <p:nvPr/>
        </p:nvSpPr>
        <p:spPr>
          <a:xfrm xmlns:a="http://schemas.openxmlformats.org/drawingml/2006/main">
            <a:off x="9201150" y="437197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22442"/>
                </a:solidFill>
                <a:latin typeface="Arial"/>
                <a:ea typeface="Arial"/>
                <a:cs typeface="Arial"/>
              </a:defRPr>
            </a:defPPr>
          </a:lstStyle>
          <a:p xmlns:a="http://schemas.openxmlformats.org/drawingml/2006/main">
            <a:pPr>
              <a:buNone/>
              <a:defRPr sz="1800" b="0">
                <a:solidFill>
                  <a:srgbClr val="122442"/>
                </a:solidFill>
                <a:latin typeface="Arial"/>
                <a:ea typeface="Arial"/>
                <a:cs typeface="Arial"/>
              </a:defRPr>
            </a:pPr>
            <a:r>
              <a:rPr sz="1800" b="0">
                <a:solidFill>
                  <a:srgbClr val="122442"/>
                </a:solidFill>
                <a:latin typeface="Arial"/>
                <a:ea typeface="Arial"/>
                <a:cs typeface="Arial"/>
              </a:rPr>
              <a:t>Reviews the tests</a:t>
            </a:r>
          </a:p>
          <a:p xmlns:a="http://schemas.openxmlformats.org/drawingml/2006/main">
            <a:pPr>
              <a:buNone/>
              <a:defRPr sz="1800" b="0">
                <a:solidFill>
                  <a:srgbClr val="122442"/>
                </a:solidFill>
                <a:latin typeface="Arial"/>
                <a:ea typeface="Arial"/>
                <a:cs typeface="Arial"/>
              </a:defRPr>
            </a:pPr>
            <a:r>
              <a:rPr sz="1800" b="0">
                <a:solidFill>
                  <a:srgbClr val="122442"/>
                </a:solidFill>
                <a:latin typeface="Arial"/>
                <a:ea typeface="Arial"/>
                <a:cs typeface="Arial"/>
              </a:rPr>
              <a:t>and resolves gaps.</a:t>
            </a:r>
          </a:p>
        </p:txBody>
      </p:sp>
      <p:sp>
        <p:nvSpPr>
          <p:cNvPr id="19" name="">
            <a:extLst xmlns:a="http://schemas.openxmlformats.org/drawingml/2006/main">
              <a:ext uri="{FF2B5EF4-FFF2-40B4-BE49-F238E27FC236}">
                <a16:creationId xmlns:a16="http://schemas.microsoft.com/office/drawing/2014/main" id="{09F9C2DE-CF6F-4A6B-9FB4-ED2DF1DDF927}"/>
              </a:ext>
            </a:extLst>
          </p:cNvPr>
          <p:cNvSpPr>
            <a:spLocks xmlns:a="http://schemas.openxmlformats.org/drawingml/2006/main" noGrp="1"/>
          </p:cNvSpPr>
          <p:nvPr/>
        </p:nvSpPr>
        <p:spPr>
          <a:xfrm xmlns:a="http://schemas.openxmlformats.org/drawingml/2006/main">
            <a:off x="685800" y="5419725"/>
            <a:ext cx="108204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2447A6"/>
                </a:solidFill>
                <a:latin typeface="Arial"/>
                <a:ea typeface="Arial"/>
                <a:cs typeface="Arial"/>
              </a:defRPr>
            </a:defPPr>
          </a:lstStyle>
          <a:p xmlns:a="http://schemas.openxmlformats.org/drawingml/2006/main">
            <a:pPr>
              <a:buNone/>
              <a:defRPr sz="1950" b="1">
                <a:solidFill>
                  <a:srgbClr val="2447A6"/>
                </a:solidFill>
                <a:latin typeface="Arial"/>
                <a:ea typeface="Arial"/>
                <a:cs typeface="Arial"/>
              </a:defRPr>
            </a:pPr>
            <a:r>
              <a:rPr sz="1950" b="1">
                <a:solidFill>
                  <a:srgbClr val="2447A6"/>
                </a:solidFill>
                <a:latin typeface="Arial"/>
                <a:ea typeface="Arial"/>
                <a:cs typeface="Arial"/>
              </a:rPr>
              <a:t>A good test is readable, checks meaningful behavior and catches defects.</a:t>
            </a:r>
          </a:p>
        </p:txBody>
      </p:sp>
      <p:sp>
        <p:nvSpPr>
          <p:cNvPr id="20" name="">
            <a:extLst xmlns:a="http://schemas.openxmlformats.org/drawingml/2006/main">
              <a:ext uri="{FF2B5EF4-FFF2-40B4-BE49-F238E27FC236}">
                <a16:creationId xmlns:a16="http://schemas.microsoft.com/office/drawing/2014/main" id="{2E722F14-826D-4A93-9109-902FBC308EC1}"/>
              </a:ext>
            </a:extLst>
          </p:cNvPr>
          <p:cNvSpPr>
            <a:spLocks xmlns:a="http://schemas.openxmlformats.org/drawingml/2006/main" noGrp="1"/>
          </p:cNvSpPr>
          <p:nvPr/>
        </p:nvSpPr>
        <p:spPr>
          <a:xfrm xmlns:a="http://schemas.openxmlformats.org/drawingml/2006/main">
            <a:off x="685800" y="6096000"/>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4D5C74"/>
                </a:solidFill>
                <a:latin typeface="Arial"/>
                <a:ea typeface="Arial"/>
                <a:cs typeface="Arial"/>
              </a:defRPr>
            </a:defPPr>
          </a:lstStyle>
          <a:p xmlns:a="http://schemas.openxmlformats.org/drawingml/2006/main">
            <a:pPr>
              <a:buNone/>
              <a:defRPr sz="1650" b="0">
                <a:solidFill>
                  <a:srgbClr val="4D5C74"/>
                </a:solidFill>
                <a:latin typeface="Arial"/>
                <a:ea typeface="Arial"/>
                <a:cs typeface="Arial"/>
              </a:defRPr>
            </a:pPr>
            <a:r>
              <a:rPr sz="1650" b="0">
                <a:solidFill>
                  <a:srgbClr val="4D5C74"/>
                </a:solidFill>
                <a:latin typeface="Arial"/>
                <a:ea typeface="Arial"/>
                <a:cs typeface="Arial"/>
              </a:rPr>
              <a:t>Tests that only exercise mocks can miss failures in the real application.</a:t>
            </a:r>
          </a:p>
        </p:txBody>
      </p:sp>
      <p:sp>
        <p:nvSpPr>
          <p:cNvPr id="21" name="">
            <a:extLst xmlns:a="http://schemas.openxmlformats.org/drawingml/2006/main">
              <a:ext uri="{FF2B5EF4-FFF2-40B4-BE49-F238E27FC236}">
                <a16:creationId xmlns:a16="http://schemas.microsoft.com/office/drawing/2014/main" id="{6E74BD64-D096-4981-9DC8-69D6059F1F30}"/>
              </a:ext>
            </a:extLst>
          </p:cNvPr>
          <p:cNvSpPr>
            <a:spLocks xmlns:a="http://schemas.openxmlformats.org/drawingml/2006/main" noGrp="1"/>
          </p:cNvSpPr>
          <p:nvPr/>
        </p:nvSpPr>
        <p:spPr>
          <a:xfrm xmlns:a="http://schemas.openxmlformats.org/drawingml/2006/main">
            <a:off x="11049000" y="64008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4D5C74"/>
                </a:solidFill>
                <a:latin typeface="Arial"/>
                <a:ea typeface="Arial"/>
                <a:cs typeface="Arial"/>
              </a:defRPr>
            </a:defPPr>
          </a:lstStyle>
          <a:p xmlns:a="http://schemas.openxmlformats.org/drawingml/2006/main">
            <a:pPr>
              <a:buNone/>
              <a:defRPr sz="1275" b="0">
                <a:solidFill>
                  <a:srgbClr val="4D5C74"/>
                </a:solidFill>
                <a:latin typeface="Arial"/>
                <a:ea typeface="Arial"/>
                <a:cs typeface="Arial"/>
              </a:defRPr>
            </a:pPr>
            <a:r>
              <a:rPr sz="1275" b="0">
                <a:solidFill>
                  <a:srgbClr val="4D5C74"/>
                </a:solidFill>
                <a:latin typeface="Arial"/>
                <a:ea typeface="Arial"/>
                <a:cs typeface="Arial"/>
              </a:rPr>
              <a:t>11</a:t>
            </a:r>
          </a:p>
        </p:txBody>
      </p:sp>
    </p:spTree>
    <p:extLst>
      <p:ext uri="{BB962C8B-B14F-4D97-AF65-F5344CB8AC3E}">
        <p14:creationId xmlns:p14="http://schemas.microsoft.com/office/powerpoint/2010/main" val="1075143374"/>
      </p:ext>
    </p:extLst>
  </p:cSld>
</p:sld>
</file>

<file path=ppt/slides/slide12.xml><?xml version="1.0" encoding="utf-8"?>
<p:sld xmlns:p="http://schemas.openxmlformats.org/presentationml/2006/main">
  <p:cSld>
    <p:bg>
      <p:bgPr>
        <a:gradFill xmlns:a="http://schemas.openxmlformats.org/drawingml/2006/main">
          <a:gsLst>
            <a:gs pos="0">
              <a:srgbClr val="FFFFFF"/>
            </a:gs>
            <a:gs pos="60000">
              <a:srgbClr val="EDF4FF"/>
            </a:gs>
            <a:gs pos="100000">
              <a:srgbClr val="E5DAFA"/>
            </a:gs>
          </a:gsLst>
          <a:lin ang="1500000"/>
        </a:gra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352DB530-E5A0-4812-A0A7-9750723A9926}"/>
              </a:ext>
            </a:extLst>
          </p:cNvPr>
          <p:cNvCxnSpPr>
            <a:stCxn xmlns:a="http://schemas.openxmlformats.org/drawingml/2006/main" id="8" idx="3"/>
            <a:endCxn xmlns:a="http://schemas.openxmlformats.org/drawingml/2006/main" id="11" idx="1"/>
          </p:cNvCxnSpPr>
          <p:nvPr/>
        </p:nvCxnSpPr>
        <p:spPr>
          <a:xfrm xmlns:a="http://schemas.openxmlformats.org/drawingml/2006/main" flipV="1">
            <a:off x="7219950" y="4124325"/>
            <a:ext cx="1819275" cy="923925"/>
          </a:xfrm>
          <a:prstGeom xmlns:a="http://schemas.openxmlformats.org/drawingml/2006/main" prst="bentConnector3">
            <a:avLst>
              <a:gd name="adj1" fmla="val 50000"/>
            </a:avLst>
          </a:prstGeom>
          <a:ln xmlns:a="http://schemas.openxmlformats.org/drawingml/2006/main" w="28575">
            <a:solidFill>
              <a:srgbClr val="067E96"/>
            </a:solidFill>
            <a:tailEnd type="triangle" w="med" len="med"/>
          </a:ln>
        </p:spPr>
      </p:cxnSp>
      <p:cxnSp>
        <p:nvCxnSpPr>
          <p:cNvPr id="16" name="">
            <a:extLst xmlns:a="http://schemas.openxmlformats.org/drawingml/2006/main">
              <a:ext uri="{FF2B5EF4-FFF2-40B4-BE49-F238E27FC236}">
                <a16:creationId xmlns:a16="http://schemas.microsoft.com/office/drawing/2014/main" id="{6ED4671A-B6EA-48AC-B4E5-062A4C70D451}"/>
              </a:ext>
            </a:extLst>
          </p:cNvPr>
          <p:cNvCxnSpPr>
            <a:stCxn xmlns:a="http://schemas.openxmlformats.org/drawingml/2006/main" id="5" idx="3"/>
            <a:endCxn xmlns:a="http://schemas.openxmlformats.org/drawingml/2006/main" id="11" idx="1"/>
          </p:cNvCxnSpPr>
          <p:nvPr/>
        </p:nvCxnSpPr>
        <p:spPr>
          <a:xfrm xmlns:a="http://schemas.openxmlformats.org/drawingml/2006/main">
            <a:off x="7219950" y="3267075"/>
            <a:ext cx="1819275" cy="857250"/>
          </a:xfrm>
          <a:prstGeom xmlns:a="http://schemas.openxmlformats.org/drawingml/2006/main" prst="bentConnector3">
            <a:avLst>
              <a:gd name="adj1" fmla="val 50000"/>
            </a:avLst>
          </a:prstGeom>
          <a:ln xmlns:a="http://schemas.openxmlformats.org/drawingml/2006/main" w="28575">
            <a:solidFill>
              <a:srgbClr val="7041B9"/>
            </a:solidFill>
            <a:tailEnd type="triangle" w="med" len="med"/>
          </a:ln>
        </p:spPr>
      </p:cxnSp>
      <p:cxnSp>
        <p:nvCxnSpPr>
          <p:cNvPr id="15" name="">
            <a:extLst xmlns:a="http://schemas.openxmlformats.org/drawingml/2006/main">
              <a:ext uri="{FF2B5EF4-FFF2-40B4-BE49-F238E27FC236}">
                <a16:creationId xmlns:a16="http://schemas.microsoft.com/office/drawing/2014/main" id="{5A6341F1-2E2D-47A8-A398-7D2D01B0F4BA}"/>
              </a:ext>
            </a:extLst>
          </p:cNvPr>
          <p:cNvCxnSpPr>
            <a:stCxn xmlns:a="http://schemas.openxmlformats.org/drawingml/2006/main" id="3" idx="3"/>
            <a:endCxn xmlns:a="http://schemas.openxmlformats.org/drawingml/2006/main" id="8" idx="1"/>
          </p:cNvCxnSpPr>
          <p:nvPr/>
        </p:nvCxnSpPr>
        <p:spPr>
          <a:xfrm xmlns:a="http://schemas.openxmlformats.org/drawingml/2006/main">
            <a:off x="3400425" y="4124325"/>
            <a:ext cx="962025" cy="923925"/>
          </a:xfrm>
          <a:prstGeom xmlns:a="http://schemas.openxmlformats.org/drawingml/2006/main" prst="bentConnector3">
            <a:avLst>
              <a:gd name="adj1" fmla="val 50000"/>
            </a:avLst>
          </a:prstGeom>
          <a:ln xmlns:a="http://schemas.openxmlformats.org/drawingml/2006/main" w="28575">
            <a:solidFill>
              <a:srgbClr val="2447A6"/>
            </a:solidFill>
            <a:tailEnd type="triangle" w="med" len="med"/>
          </a:ln>
        </p:spPr>
      </p:cxnSp>
      <p:cxnSp>
        <p:nvCxnSpPr>
          <p:cNvPr id="14" name="">
            <a:extLst xmlns:a="http://schemas.openxmlformats.org/drawingml/2006/main">
              <a:ext uri="{FF2B5EF4-FFF2-40B4-BE49-F238E27FC236}">
                <a16:creationId xmlns:a16="http://schemas.microsoft.com/office/drawing/2014/main" id="{6C85E84D-445E-43EA-B221-D05CA9BF0BE0}"/>
              </a:ext>
            </a:extLst>
          </p:cNvPr>
          <p:cNvCxnSpPr>
            <a:stCxn xmlns:a="http://schemas.openxmlformats.org/drawingml/2006/main" id="3" idx="3"/>
            <a:endCxn xmlns:a="http://schemas.openxmlformats.org/drawingml/2006/main" id="5" idx="1"/>
          </p:cNvCxnSpPr>
          <p:nvPr/>
        </p:nvCxnSpPr>
        <p:spPr>
          <a:xfrm xmlns:a="http://schemas.openxmlformats.org/drawingml/2006/main" flipV="1">
            <a:off x="3400425" y="3267075"/>
            <a:ext cx="962025" cy="857250"/>
          </a:xfrm>
          <a:prstGeom xmlns:a="http://schemas.openxmlformats.org/drawingml/2006/main" prst="bentConnector3">
            <a:avLst>
              <a:gd name="adj1" fmla="val 50000"/>
            </a:avLst>
          </a:prstGeom>
          <a:ln xmlns:a="http://schemas.openxmlformats.org/drawingml/2006/main" w="28575">
            <a:solidFill>
              <a:srgbClr val="2447A6"/>
            </a:solidFill>
            <a:tailEnd type="triangle" w="med" len="med"/>
          </a:ln>
        </p:spPr>
      </p:cxnSp>
      <p:sp>
        <p:nvSpPr>
          <p:cNvPr id="21" name="">
            <a:extLst xmlns:a="http://schemas.openxmlformats.org/drawingml/2006/main">
              <a:ext uri="{FF2B5EF4-FFF2-40B4-BE49-F238E27FC236}">
                <a16:creationId xmlns:a16="http://schemas.microsoft.com/office/drawing/2014/main" id="{FBF59C52-C7F9-4584-8215-CF016B82135D}"/>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442"/>
                </a:solidFill>
                <a:latin typeface="Arial"/>
                <a:ea typeface="Arial"/>
                <a:cs typeface="Arial"/>
              </a:defRPr>
            </a:defPPr>
          </a:lstStyle>
          <a:p xmlns:a="http://schemas.openxmlformats.org/drawingml/2006/main">
            <a:pPr>
              <a:buNone/>
              <a:defRPr sz="3300" b="1">
                <a:solidFill>
                  <a:srgbClr val="122442"/>
                </a:solidFill>
                <a:latin typeface="Arial"/>
                <a:ea typeface="Arial"/>
                <a:cs typeface="Arial"/>
              </a:defRPr>
            </a:pPr>
            <a:r>
              <a:rPr sz="3300" b="1">
                <a:solidFill>
                  <a:srgbClr val="122442"/>
                </a:solidFill>
                <a:latin typeface="Arial"/>
                <a:ea typeface="Arial"/>
                <a:cs typeface="Arial"/>
              </a:rPr>
              <a:t>SDD and testing</a:t>
            </a:r>
          </a:p>
        </p:txBody>
      </p:sp>
      <p:sp>
        <p:nvSpPr>
          <p:cNvPr id="2" name="">
            <a:extLst xmlns:a="http://schemas.openxmlformats.org/drawingml/2006/main">
              <a:ext uri="{FF2B5EF4-FFF2-40B4-BE49-F238E27FC236}">
                <a16:creationId xmlns:a16="http://schemas.microsoft.com/office/drawing/2014/main" id="{FD477E1E-1554-4A5E-8D2E-4A25FF418CFC}"/>
              </a:ext>
            </a:extLst>
          </p:cNvPr>
          <p:cNvSpPr>
            <a:spLocks xmlns:a="http://schemas.openxmlformats.org/drawingml/2006/main" noGrp="1"/>
          </p:cNvSpPr>
          <p:nvPr/>
        </p:nvSpPr>
        <p:spPr>
          <a:xfrm xmlns:a="http://schemas.openxmlformats.org/drawingml/2006/main">
            <a:off x="685800" y="1571625"/>
            <a:ext cx="10820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447A6"/>
                </a:solidFill>
                <a:latin typeface="Arial"/>
                <a:ea typeface="Arial"/>
                <a:cs typeface="Arial"/>
              </a:defRPr>
            </a:defPPr>
          </a:lstStyle>
          <a:p xmlns:a="http://schemas.openxmlformats.org/drawingml/2006/main">
            <a:pPr>
              <a:buNone/>
              <a:defRPr sz="2400" b="1">
                <a:solidFill>
                  <a:srgbClr val="2447A6"/>
                </a:solidFill>
                <a:latin typeface="Arial"/>
                <a:ea typeface="Arial"/>
                <a:cs typeface="Arial"/>
              </a:defRPr>
            </a:pPr>
            <a:r>
              <a:rPr sz="2400" b="1">
                <a:solidFill>
                  <a:srgbClr val="2447A6"/>
                </a:solidFill>
                <a:latin typeface="Arial"/>
                <a:ea typeface="Arial"/>
                <a:cs typeface="Arial"/>
              </a:rPr>
              <a:t>The spec defines expected behavior.</a:t>
            </a:r>
          </a:p>
          <a:p xmlns:a="http://schemas.openxmlformats.org/drawingml/2006/main">
            <a:pPr>
              <a:buNone/>
              <a:defRPr sz="2400" b="1">
                <a:solidFill>
                  <a:srgbClr val="2447A6"/>
                </a:solidFill>
                <a:latin typeface="Arial"/>
                <a:ea typeface="Arial"/>
                <a:cs typeface="Arial"/>
              </a:defRPr>
            </a:pPr>
            <a:r>
              <a:rPr sz="2400" b="1">
                <a:solidFill>
                  <a:srgbClr val="2447A6"/>
                </a:solidFill>
                <a:latin typeface="Arial"/>
                <a:ea typeface="Arial"/>
                <a:cs typeface="Arial"/>
              </a:rPr>
              <a:t>Tests check whether the application delivers it.</a:t>
            </a:r>
          </a:p>
        </p:txBody>
      </p:sp>
      <p:sp>
        <p:nvSpPr>
          <p:cNvPr id="3" name="">
            <a:extLst xmlns:a="http://schemas.openxmlformats.org/drawingml/2006/main">
              <a:ext uri="{FF2B5EF4-FFF2-40B4-BE49-F238E27FC236}">
                <a16:creationId xmlns:a16="http://schemas.microsoft.com/office/drawing/2014/main" id="{1D0156B8-8885-4BA4-90ED-AB5DE9BD4DC8}"/>
              </a:ext>
            </a:extLst>
          </p:cNvPr>
          <p:cNvSpPr>
            <a:spLocks xmlns:a="http://schemas.openxmlformats.org/drawingml/2006/main" noGrp="1"/>
          </p:cNvSpPr>
          <p:nvPr/>
        </p:nvSpPr>
        <p:spPr>
          <a:xfrm xmlns:a="http://schemas.openxmlformats.org/drawingml/2006/main">
            <a:off x="685800" y="3609975"/>
            <a:ext cx="2714625" cy="1028700"/>
          </a:xfrm>
          <a:prstGeom xmlns:a="http://schemas.openxmlformats.org/drawingml/2006/main" prst="roundRect">
            <a:avLst>
              <a:gd name="adj" fmla="val 14815"/>
            </a:avLst>
          </a:prstGeom>
          <a:solidFill xmlns:a="http://schemas.openxmlformats.org/drawingml/2006/main">
            <a:srgbClr val="2447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A3AE989-EE11-4FC9-9D32-9C9E40D9C1C8}"/>
              </a:ext>
            </a:extLst>
          </p:cNvPr>
          <p:cNvSpPr>
            <a:spLocks xmlns:a="http://schemas.openxmlformats.org/drawingml/2006/main" noGrp="1"/>
          </p:cNvSpPr>
          <p:nvPr/>
        </p:nvSpPr>
        <p:spPr>
          <a:xfrm xmlns:a="http://schemas.openxmlformats.org/drawingml/2006/main">
            <a:off x="857250" y="3771900"/>
            <a:ext cx="23717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Business intent</a:t>
            </a:r>
          </a:p>
        </p:txBody>
      </p:sp>
      <p:sp>
        <p:nvSpPr>
          <p:cNvPr id="5" name="">
            <a:extLst xmlns:a="http://schemas.openxmlformats.org/drawingml/2006/main">
              <a:ext uri="{FF2B5EF4-FFF2-40B4-BE49-F238E27FC236}">
                <a16:creationId xmlns:a16="http://schemas.microsoft.com/office/drawing/2014/main" id="{F66194D5-4A43-434A-8317-C063ED5C1D2A}"/>
              </a:ext>
            </a:extLst>
          </p:cNvPr>
          <p:cNvSpPr>
            <a:spLocks xmlns:a="http://schemas.openxmlformats.org/drawingml/2006/main" noGrp="1"/>
          </p:cNvSpPr>
          <p:nvPr/>
        </p:nvSpPr>
        <p:spPr>
          <a:xfrm xmlns:a="http://schemas.openxmlformats.org/drawingml/2006/main">
            <a:off x="4362450" y="2752725"/>
            <a:ext cx="2857500" cy="1028700"/>
          </a:xfrm>
          <a:prstGeom xmlns:a="http://schemas.openxmlformats.org/drawingml/2006/main" prst="roundRect">
            <a:avLst>
              <a:gd name="adj" fmla="val 14815"/>
            </a:avLst>
          </a:prstGeom>
          <a:solidFill xmlns:a="http://schemas.openxmlformats.org/drawingml/2006/main">
            <a:srgbClr val="7041B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364EE36-524B-448D-902F-92D37BFFF413}"/>
              </a:ext>
            </a:extLst>
          </p:cNvPr>
          <p:cNvSpPr>
            <a:spLocks xmlns:a="http://schemas.openxmlformats.org/drawingml/2006/main" noGrp="1"/>
          </p:cNvSpPr>
          <p:nvPr/>
        </p:nvSpPr>
        <p:spPr>
          <a:xfrm xmlns:a="http://schemas.openxmlformats.org/drawingml/2006/main">
            <a:off x="4533900" y="2895600"/>
            <a:ext cx="251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FFFFFF"/>
                </a:solidFill>
                <a:latin typeface="Arial"/>
                <a:ea typeface="Arial"/>
                <a:cs typeface="Arial"/>
              </a:defRPr>
            </a:defPPr>
          </a:lstStyle>
          <a:p xmlns:a="http://schemas.openxmlformats.org/drawingml/2006/main">
            <a:pPr>
              <a:buNone/>
              <a:defRPr sz="2100" b="1">
                <a:solidFill>
                  <a:srgbClr val="FFFFFF"/>
                </a:solidFill>
                <a:latin typeface="Arial"/>
                <a:ea typeface="Arial"/>
                <a:cs typeface="Arial"/>
              </a:defRPr>
            </a:pPr>
            <a:r>
              <a:rPr sz="2100" b="1">
                <a:solidFill>
                  <a:srgbClr val="FFFFFF"/>
                </a:solidFill>
                <a:latin typeface="Arial"/>
                <a:ea typeface="Arial"/>
                <a:cs typeface="Arial"/>
              </a:rPr>
              <a:t>Application</a:t>
            </a:r>
          </a:p>
        </p:txBody>
      </p:sp>
      <p:sp>
        <p:nvSpPr>
          <p:cNvPr id="7" name="">
            <a:extLst xmlns:a="http://schemas.openxmlformats.org/drawingml/2006/main">
              <a:ext uri="{FF2B5EF4-FFF2-40B4-BE49-F238E27FC236}">
                <a16:creationId xmlns:a16="http://schemas.microsoft.com/office/drawing/2014/main" id="{471682FB-46E1-405C-8FDC-62C5F6A72936}"/>
              </a:ext>
            </a:extLst>
          </p:cNvPr>
          <p:cNvSpPr>
            <a:spLocks xmlns:a="http://schemas.openxmlformats.org/drawingml/2006/main" noGrp="1"/>
          </p:cNvSpPr>
          <p:nvPr/>
        </p:nvSpPr>
        <p:spPr>
          <a:xfrm xmlns:a="http://schemas.openxmlformats.org/drawingml/2006/main">
            <a:off x="4533900" y="3343275"/>
            <a:ext cx="2514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FFFFFF"/>
                </a:solidFill>
                <a:latin typeface="Arial"/>
                <a:ea typeface="Arial"/>
                <a:cs typeface="Arial"/>
              </a:defRPr>
            </a:defPPr>
          </a:lstStyle>
          <a:p xmlns:a="http://schemas.openxmlformats.org/drawingml/2006/main">
            <a:pPr>
              <a:buNone/>
              <a:defRPr sz="1725" b="0">
                <a:solidFill>
                  <a:srgbClr val="FFFFFF"/>
                </a:solidFill>
                <a:latin typeface="Arial"/>
                <a:ea typeface="Arial"/>
                <a:cs typeface="Arial"/>
              </a:defRPr>
            </a:pPr>
            <a:r>
              <a:rPr sz="1725" b="0">
                <a:solidFill>
                  <a:srgbClr val="FFFFFF"/>
                </a:solidFill>
                <a:latin typeface="Arial"/>
                <a:ea typeface="Arial"/>
                <a:cs typeface="Arial"/>
              </a:rPr>
              <a:t>Actual behavior</a:t>
            </a:r>
          </a:p>
        </p:txBody>
      </p:sp>
      <p:sp>
        <p:nvSpPr>
          <p:cNvPr id="8" name="">
            <a:extLst xmlns:a="http://schemas.openxmlformats.org/drawingml/2006/main">
              <a:ext uri="{FF2B5EF4-FFF2-40B4-BE49-F238E27FC236}">
                <a16:creationId xmlns:a16="http://schemas.microsoft.com/office/drawing/2014/main" id="{5662AD62-FC66-4055-8DF2-AD9CAABDFA91}"/>
              </a:ext>
            </a:extLst>
          </p:cNvPr>
          <p:cNvSpPr>
            <a:spLocks xmlns:a="http://schemas.openxmlformats.org/drawingml/2006/main" noGrp="1"/>
          </p:cNvSpPr>
          <p:nvPr/>
        </p:nvSpPr>
        <p:spPr>
          <a:xfrm xmlns:a="http://schemas.openxmlformats.org/drawingml/2006/main">
            <a:off x="4362450" y="4533900"/>
            <a:ext cx="2857500" cy="1028700"/>
          </a:xfrm>
          <a:prstGeom xmlns:a="http://schemas.openxmlformats.org/drawingml/2006/main" prst="roundRect">
            <a:avLst>
              <a:gd name="adj" fmla="val 14815"/>
            </a:avLst>
          </a:prstGeom>
          <a:solidFill xmlns:a="http://schemas.openxmlformats.org/drawingml/2006/main">
            <a:srgbClr val="067E9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44F5B6E-770B-4DD8-B3A9-B8C3F4CF7E94}"/>
              </a:ext>
            </a:extLst>
          </p:cNvPr>
          <p:cNvSpPr>
            <a:spLocks xmlns:a="http://schemas.openxmlformats.org/drawingml/2006/main" noGrp="1"/>
          </p:cNvSpPr>
          <p:nvPr/>
        </p:nvSpPr>
        <p:spPr>
          <a:xfrm xmlns:a="http://schemas.openxmlformats.org/drawingml/2006/main">
            <a:off x="4533900" y="4676775"/>
            <a:ext cx="251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FFFFFF"/>
                </a:solidFill>
                <a:latin typeface="Arial"/>
                <a:ea typeface="Arial"/>
                <a:cs typeface="Arial"/>
              </a:defRPr>
            </a:defPPr>
          </a:lstStyle>
          <a:p xmlns:a="http://schemas.openxmlformats.org/drawingml/2006/main">
            <a:pPr>
              <a:buNone/>
              <a:defRPr sz="2100" b="1">
                <a:solidFill>
                  <a:srgbClr val="FFFFFF"/>
                </a:solidFill>
                <a:latin typeface="Arial"/>
                <a:ea typeface="Arial"/>
                <a:cs typeface="Arial"/>
              </a:defRPr>
            </a:pPr>
            <a:r>
              <a:rPr sz="2100" b="1">
                <a:solidFill>
                  <a:srgbClr val="FFFFFF"/>
                </a:solidFill>
                <a:latin typeface="Arial"/>
                <a:ea typeface="Arial"/>
                <a:cs typeface="Arial"/>
              </a:rPr>
              <a:t>Tests</a:t>
            </a:r>
          </a:p>
        </p:txBody>
      </p:sp>
      <p:sp>
        <p:nvSpPr>
          <p:cNvPr id="10" name="">
            <a:extLst xmlns:a="http://schemas.openxmlformats.org/drawingml/2006/main">
              <a:ext uri="{FF2B5EF4-FFF2-40B4-BE49-F238E27FC236}">
                <a16:creationId xmlns:a16="http://schemas.microsoft.com/office/drawing/2014/main" id="{762A8333-55AA-4936-A63C-A5E287E2AD24}"/>
              </a:ext>
            </a:extLst>
          </p:cNvPr>
          <p:cNvSpPr>
            <a:spLocks xmlns:a="http://schemas.openxmlformats.org/drawingml/2006/main" noGrp="1"/>
          </p:cNvSpPr>
          <p:nvPr/>
        </p:nvSpPr>
        <p:spPr>
          <a:xfrm xmlns:a="http://schemas.openxmlformats.org/drawingml/2006/main">
            <a:off x="4533900" y="5124450"/>
            <a:ext cx="2514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FFFFFF"/>
                </a:solidFill>
                <a:latin typeface="Arial"/>
                <a:ea typeface="Arial"/>
                <a:cs typeface="Arial"/>
              </a:defRPr>
            </a:defPPr>
          </a:lstStyle>
          <a:p xmlns:a="http://schemas.openxmlformats.org/drawingml/2006/main">
            <a:pPr>
              <a:buNone/>
              <a:defRPr sz="1725" b="0">
                <a:solidFill>
                  <a:srgbClr val="FFFFFF"/>
                </a:solidFill>
                <a:latin typeface="Arial"/>
                <a:ea typeface="Arial"/>
                <a:cs typeface="Arial"/>
              </a:defRPr>
            </a:pPr>
            <a:r>
              <a:rPr sz="1725" b="0">
                <a:solidFill>
                  <a:srgbClr val="FFFFFF"/>
                </a:solidFill>
                <a:latin typeface="Arial"/>
                <a:ea typeface="Arial"/>
                <a:cs typeface="Arial"/>
              </a:rPr>
              <a:t>Expected behavior</a:t>
            </a:r>
          </a:p>
        </p:txBody>
      </p:sp>
      <p:sp>
        <p:nvSpPr>
          <p:cNvPr id="11" name="">
            <a:extLst xmlns:a="http://schemas.openxmlformats.org/drawingml/2006/main">
              <a:ext uri="{FF2B5EF4-FFF2-40B4-BE49-F238E27FC236}">
                <a16:creationId xmlns:a16="http://schemas.microsoft.com/office/drawing/2014/main" id="{BF6336E3-3D5B-47B3-AEA3-B399798A6783}"/>
              </a:ext>
            </a:extLst>
          </p:cNvPr>
          <p:cNvSpPr>
            <a:spLocks xmlns:a="http://schemas.openxmlformats.org/drawingml/2006/main" noGrp="1"/>
          </p:cNvSpPr>
          <p:nvPr/>
        </p:nvSpPr>
        <p:spPr>
          <a:xfrm xmlns:a="http://schemas.openxmlformats.org/drawingml/2006/main">
            <a:off x="9039225" y="3609975"/>
            <a:ext cx="2466975" cy="1028700"/>
          </a:xfrm>
          <a:prstGeom xmlns:a="http://schemas.openxmlformats.org/drawingml/2006/main" prst="roundRect">
            <a:avLst>
              <a:gd name="adj" fmla="val 14815"/>
            </a:avLst>
          </a:prstGeom>
          <a:solidFill xmlns:a="http://schemas.openxmlformats.org/drawingml/2006/main">
            <a:srgbClr val="13795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BFD2B9C-7A65-4E7C-B1D6-D460C69CE34C}"/>
              </a:ext>
            </a:extLst>
          </p:cNvPr>
          <p:cNvSpPr>
            <a:spLocks xmlns:a="http://schemas.openxmlformats.org/drawingml/2006/main" noGrp="1"/>
          </p:cNvSpPr>
          <p:nvPr/>
        </p:nvSpPr>
        <p:spPr>
          <a:xfrm xmlns:a="http://schemas.openxmlformats.org/drawingml/2006/main">
            <a:off x="9210675" y="3752850"/>
            <a:ext cx="2124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FFFFFF"/>
                </a:solidFill>
                <a:latin typeface="Arial"/>
                <a:ea typeface="Arial"/>
                <a:cs typeface="Arial"/>
              </a:defRPr>
            </a:defPPr>
          </a:lstStyle>
          <a:p xmlns:a="http://schemas.openxmlformats.org/drawingml/2006/main">
            <a:pPr>
              <a:buNone/>
              <a:defRPr sz="2100" b="1">
                <a:solidFill>
                  <a:srgbClr val="FFFFFF"/>
                </a:solidFill>
                <a:latin typeface="Arial"/>
                <a:ea typeface="Arial"/>
                <a:cs typeface="Arial"/>
              </a:defRPr>
            </a:pPr>
            <a:r>
              <a:rPr sz="2100" b="1">
                <a:solidFill>
                  <a:srgbClr val="FFFFFF"/>
                </a:solidFill>
                <a:latin typeface="Arial"/>
                <a:ea typeface="Arial"/>
                <a:cs typeface="Arial"/>
              </a:rPr>
              <a:t>Verification</a:t>
            </a:r>
          </a:p>
        </p:txBody>
      </p:sp>
      <p:sp>
        <p:nvSpPr>
          <p:cNvPr id="13" name="">
            <a:extLst xmlns:a="http://schemas.openxmlformats.org/drawingml/2006/main">
              <a:ext uri="{FF2B5EF4-FFF2-40B4-BE49-F238E27FC236}">
                <a16:creationId xmlns:a16="http://schemas.microsoft.com/office/drawing/2014/main" id="{238F1D13-67EA-4B9F-A3A9-BAB79557DD3D}"/>
              </a:ext>
            </a:extLst>
          </p:cNvPr>
          <p:cNvSpPr>
            <a:spLocks xmlns:a="http://schemas.openxmlformats.org/drawingml/2006/main" noGrp="1"/>
          </p:cNvSpPr>
          <p:nvPr/>
        </p:nvSpPr>
        <p:spPr>
          <a:xfrm xmlns:a="http://schemas.openxmlformats.org/drawingml/2006/main">
            <a:off x="9210675" y="4200525"/>
            <a:ext cx="2124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FFFFFF"/>
                </a:solidFill>
                <a:latin typeface="Arial"/>
                <a:ea typeface="Arial"/>
                <a:cs typeface="Arial"/>
              </a:defRPr>
            </a:defPPr>
          </a:lstStyle>
          <a:p xmlns:a="http://schemas.openxmlformats.org/drawingml/2006/main">
            <a:pPr>
              <a:buNone/>
              <a:defRPr sz="1725" b="0">
                <a:solidFill>
                  <a:srgbClr val="FFFFFF"/>
                </a:solidFill>
                <a:latin typeface="Arial"/>
                <a:ea typeface="Arial"/>
                <a:cs typeface="Arial"/>
              </a:defRPr>
            </a:pPr>
            <a:r>
              <a:rPr sz="1725" b="0">
                <a:solidFill>
                  <a:srgbClr val="FFFFFF"/>
                </a:solidFill>
                <a:latin typeface="Arial"/>
                <a:ea typeface="Arial"/>
                <a:cs typeface="Arial"/>
              </a:rPr>
              <a:t>Do they match?</a:t>
            </a:r>
          </a:p>
        </p:txBody>
      </p:sp>
      <p:sp>
        <p:nvSpPr>
          <p:cNvPr id="18" name="">
            <a:extLst xmlns:a="http://schemas.openxmlformats.org/drawingml/2006/main">
              <a:ext uri="{FF2B5EF4-FFF2-40B4-BE49-F238E27FC236}">
                <a16:creationId xmlns:a16="http://schemas.microsoft.com/office/drawing/2014/main" id="{840FB793-F539-4AEA-AFB2-887D91209D48}"/>
              </a:ext>
            </a:extLst>
          </p:cNvPr>
          <p:cNvSpPr>
            <a:spLocks xmlns:a="http://schemas.openxmlformats.org/drawingml/2006/main" noGrp="1"/>
          </p:cNvSpPr>
          <p:nvPr/>
        </p:nvSpPr>
        <p:spPr>
          <a:xfrm xmlns:a="http://schemas.openxmlformats.org/drawingml/2006/main">
            <a:off x="685800" y="5819775"/>
            <a:ext cx="108204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2447A6"/>
                </a:solidFill>
                <a:latin typeface="Arial"/>
                <a:ea typeface="Arial"/>
                <a:cs typeface="Arial"/>
              </a:defRPr>
            </a:defPPr>
          </a:lstStyle>
          <a:p xmlns:a="http://schemas.openxmlformats.org/drawingml/2006/main">
            <a:pPr>
              <a:buNone/>
              <a:defRPr sz="2025" b="1">
                <a:solidFill>
                  <a:srgbClr val="2447A6"/>
                </a:solidFill>
                <a:latin typeface="Arial"/>
                <a:ea typeface="Arial"/>
                <a:cs typeface="Arial"/>
              </a:defRPr>
            </a:pPr>
            <a:r>
              <a:rPr sz="2025" b="1">
                <a:solidFill>
                  <a:srgbClr val="2447A6"/>
                </a:solidFill>
                <a:latin typeface="Arial"/>
                <a:ea typeface="Arial"/>
                <a:cs typeface="Arial"/>
              </a:rPr>
              <a:t>Cover valid inputs, invalid inputs and boundary cases.</a:t>
            </a:r>
          </a:p>
        </p:txBody>
      </p:sp>
      <p:sp>
        <p:nvSpPr>
          <p:cNvPr id="19" name="">
            <a:extLst xmlns:a="http://schemas.openxmlformats.org/drawingml/2006/main">
              <a:ext uri="{FF2B5EF4-FFF2-40B4-BE49-F238E27FC236}">
                <a16:creationId xmlns:a16="http://schemas.microsoft.com/office/drawing/2014/main" id="{795C2E7A-3B02-4496-996C-3A7C3E35769D}"/>
              </a:ext>
            </a:extLst>
          </p:cNvPr>
          <p:cNvSpPr>
            <a:spLocks xmlns:a="http://schemas.openxmlformats.org/drawingml/2006/main" noGrp="1"/>
          </p:cNvSpPr>
          <p:nvPr/>
        </p:nvSpPr>
        <p:spPr>
          <a:xfrm xmlns:a="http://schemas.openxmlformats.org/drawingml/2006/main">
            <a:off x="685800" y="6257925"/>
            <a:ext cx="1028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4D5C74"/>
                </a:solidFill>
                <a:latin typeface="Arial"/>
                <a:ea typeface="Arial"/>
                <a:cs typeface="Arial"/>
              </a:defRPr>
            </a:defPPr>
          </a:lstStyle>
          <a:p xmlns:a="http://schemas.openxmlformats.org/drawingml/2006/main">
            <a:pPr>
              <a:buNone/>
              <a:defRPr sz="1650" b="0">
                <a:solidFill>
                  <a:srgbClr val="4D5C74"/>
                </a:solidFill>
                <a:latin typeface="Arial"/>
                <a:ea typeface="Arial"/>
                <a:cs typeface="Arial"/>
              </a:defRPr>
            </a:pPr>
            <a:r>
              <a:rPr sz="1650" b="0">
                <a:solidFill>
                  <a:srgbClr val="4D5C74"/>
                </a:solidFill>
                <a:latin typeface="Arial"/>
                <a:ea typeface="Arial"/>
                <a:cs typeface="Arial"/>
              </a:rPr>
              <a:t>Green tests only confirm the scenarios you actually checked.</a:t>
            </a:r>
          </a:p>
        </p:txBody>
      </p:sp>
      <p:sp>
        <p:nvSpPr>
          <p:cNvPr id="20" name="">
            <a:extLst xmlns:a="http://schemas.openxmlformats.org/drawingml/2006/main">
              <a:ext uri="{FF2B5EF4-FFF2-40B4-BE49-F238E27FC236}">
                <a16:creationId xmlns:a16="http://schemas.microsoft.com/office/drawing/2014/main" id="{1BD615D7-1BF8-4072-9D15-59DC43723958}"/>
              </a:ext>
            </a:extLst>
          </p:cNvPr>
          <p:cNvSpPr>
            <a:spLocks xmlns:a="http://schemas.openxmlformats.org/drawingml/2006/main" noGrp="1"/>
          </p:cNvSpPr>
          <p:nvPr/>
        </p:nvSpPr>
        <p:spPr>
          <a:xfrm xmlns:a="http://schemas.openxmlformats.org/drawingml/2006/main">
            <a:off x="11049000" y="64008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4D5C74"/>
                </a:solidFill>
                <a:latin typeface="Arial"/>
                <a:ea typeface="Arial"/>
                <a:cs typeface="Arial"/>
              </a:defRPr>
            </a:defPPr>
          </a:lstStyle>
          <a:p xmlns:a="http://schemas.openxmlformats.org/drawingml/2006/main">
            <a:pPr>
              <a:buNone/>
              <a:defRPr sz="1275" b="0">
                <a:solidFill>
                  <a:srgbClr val="4D5C74"/>
                </a:solidFill>
                <a:latin typeface="Arial"/>
                <a:ea typeface="Arial"/>
                <a:cs typeface="Arial"/>
              </a:defRPr>
            </a:pPr>
            <a:r>
              <a:rPr sz="1275" b="0">
                <a:solidFill>
                  <a:srgbClr val="4D5C74"/>
                </a:solidFill>
                <a:latin typeface="Arial"/>
                <a:ea typeface="Arial"/>
                <a:cs typeface="Arial"/>
              </a:rPr>
              <a:t>12</a:t>
            </a:r>
          </a:p>
        </p:txBody>
      </p:sp>
    </p:spTree>
    <p:extLst>
      <p:ext uri="{BB962C8B-B14F-4D97-AF65-F5344CB8AC3E}">
        <p14:creationId xmlns:p14="http://schemas.microsoft.com/office/powerpoint/2010/main" val="437672864"/>
      </p:ext>
    </p:extLst>
  </p:cSld>
</p:sld>
</file>

<file path=ppt/slides/slide13.xml><?xml version="1.0" encoding="utf-8"?>
<p:sld xmlns:p="http://schemas.openxmlformats.org/presentationml/2006/main">
  <p:cSld>
    <p:bg>
      <p:bgPr>
        <a:gradFill xmlns:a="http://schemas.openxmlformats.org/drawingml/2006/main">
          <a:gsLst>
            <a:gs pos="0">
              <a:srgbClr val="FFFFFF"/>
            </a:gs>
            <a:gs pos="60000">
              <a:srgbClr val="EDF4FF"/>
            </a:gs>
            <a:gs pos="100000">
              <a:srgbClr val="E5DAFA"/>
            </a:gs>
          </a:gsLst>
          <a:lin ang="1500000"/>
        </a:gra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F4C45246-80CB-4FB7-B3F7-67CF0E5142B1}"/>
              </a:ext>
            </a:extLst>
          </p:cNvPr>
          <p:cNvCxnSpPr>
            <a:stCxn xmlns:a="http://schemas.openxmlformats.org/drawingml/2006/main" id="5" idx="3"/>
            <a:endCxn xmlns:a="http://schemas.openxmlformats.org/drawingml/2006/main" id="7" idx="1"/>
          </p:cNvCxnSpPr>
          <p:nvPr/>
        </p:nvCxnSpPr>
        <p:spPr>
          <a:xfrm xmlns:a="http://schemas.openxmlformats.org/drawingml/2006/main">
            <a:off x="7667625" y="3181350"/>
            <a:ext cx="695325" cy="0"/>
          </a:xfrm>
          <a:prstGeom xmlns:a="http://schemas.openxmlformats.org/drawingml/2006/main" prst="straightConnector1">
            <a:avLst/>
          </a:prstGeom>
          <a:ln xmlns:a="http://schemas.openxmlformats.org/drawingml/2006/main" w="28575">
            <a:solidFill>
              <a:srgbClr val="2447A6"/>
            </a:solidFill>
            <a:tailEnd type="triangle" w="med" len="med"/>
          </a:ln>
        </p:spPr>
      </p:cxnSp>
      <p:cxnSp>
        <p:nvCxnSpPr>
          <p:cNvPr id="9" name="">
            <a:extLst xmlns:a="http://schemas.openxmlformats.org/drawingml/2006/main">
              <a:ext uri="{FF2B5EF4-FFF2-40B4-BE49-F238E27FC236}">
                <a16:creationId xmlns:a16="http://schemas.microsoft.com/office/drawing/2014/main" id="{1D9F237A-0170-46DE-AF16-229965BCFF65}"/>
              </a:ext>
            </a:extLst>
          </p:cNvPr>
          <p:cNvCxnSpPr>
            <a:stCxn xmlns:a="http://schemas.openxmlformats.org/drawingml/2006/main" id="3" idx="3"/>
            <a:endCxn xmlns:a="http://schemas.openxmlformats.org/drawingml/2006/main" id="5" idx="1"/>
          </p:cNvCxnSpPr>
          <p:nvPr/>
        </p:nvCxnSpPr>
        <p:spPr>
          <a:xfrm xmlns:a="http://schemas.openxmlformats.org/drawingml/2006/main">
            <a:off x="3829050" y="3181350"/>
            <a:ext cx="695325" cy="0"/>
          </a:xfrm>
          <a:prstGeom xmlns:a="http://schemas.openxmlformats.org/drawingml/2006/main" prst="straightConnector1">
            <a:avLst/>
          </a:prstGeom>
          <a:ln xmlns:a="http://schemas.openxmlformats.org/drawingml/2006/main" w="28575">
            <a:solidFill>
              <a:srgbClr val="2447A6"/>
            </a:solidFill>
            <a:tailEnd type="triangle" w="med" len="med"/>
          </a:ln>
        </p:spPr>
      </p:cxnSp>
      <p:sp>
        <p:nvSpPr>
          <p:cNvPr id="17" name="">
            <a:extLst xmlns:a="http://schemas.openxmlformats.org/drawingml/2006/main">
              <a:ext uri="{FF2B5EF4-FFF2-40B4-BE49-F238E27FC236}">
                <a16:creationId xmlns:a16="http://schemas.microsoft.com/office/drawing/2014/main" id="{CEF116F0-0116-495C-AC6F-7DC547D8E59C}"/>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442"/>
                </a:solidFill>
                <a:latin typeface="Arial"/>
                <a:ea typeface="Arial"/>
                <a:cs typeface="Arial"/>
              </a:defRPr>
            </a:defPPr>
          </a:lstStyle>
          <a:p xmlns:a="http://schemas.openxmlformats.org/drawingml/2006/main">
            <a:pPr>
              <a:buNone/>
              <a:defRPr sz="3300" b="1">
                <a:solidFill>
                  <a:srgbClr val="122442"/>
                </a:solidFill>
                <a:latin typeface="Arial"/>
                <a:ea typeface="Arial"/>
                <a:cs typeface="Arial"/>
              </a:defRPr>
            </a:pPr>
            <a:r>
              <a:rPr sz="3300" b="1">
                <a:solidFill>
                  <a:srgbClr val="122442"/>
                </a:solidFill>
                <a:latin typeface="Arial"/>
                <a:ea typeface="Arial"/>
                <a:cs typeface="Arial"/>
              </a:rPr>
              <a:t>Evals, evals, evals...</a:t>
            </a:r>
          </a:p>
        </p:txBody>
      </p:sp>
      <p:sp>
        <p:nvSpPr>
          <p:cNvPr id="2" name="">
            <a:extLst xmlns:a="http://schemas.openxmlformats.org/drawingml/2006/main">
              <a:ext uri="{FF2B5EF4-FFF2-40B4-BE49-F238E27FC236}">
                <a16:creationId xmlns:a16="http://schemas.microsoft.com/office/drawing/2014/main" id="{A122C1BC-BC3C-4FC7-AFD2-BBB8F816827B}"/>
              </a:ext>
            </a:extLst>
          </p:cNvPr>
          <p:cNvSpPr>
            <a:spLocks xmlns:a="http://schemas.openxmlformats.org/drawingml/2006/main" noGrp="1"/>
          </p:cNvSpPr>
          <p:nvPr/>
        </p:nvSpPr>
        <p:spPr>
          <a:xfrm xmlns:a="http://schemas.openxmlformats.org/drawingml/2006/main">
            <a:off x="685800" y="1562100"/>
            <a:ext cx="10820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447A6"/>
                </a:solidFill>
                <a:latin typeface="Arial"/>
                <a:ea typeface="Arial"/>
                <a:cs typeface="Arial"/>
              </a:defRPr>
            </a:defPPr>
          </a:lstStyle>
          <a:p xmlns:a="http://schemas.openxmlformats.org/drawingml/2006/main">
            <a:pPr>
              <a:buNone/>
              <a:defRPr sz="2250" b="1">
                <a:solidFill>
                  <a:srgbClr val="2447A6"/>
                </a:solidFill>
                <a:latin typeface="Arial"/>
                <a:ea typeface="Arial"/>
                <a:cs typeface="Arial"/>
              </a:defRPr>
            </a:pPr>
            <a:r>
              <a:rPr sz="2250" b="1">
                <a:solidFill>
                  <a:srgbClr val="2447A6"/>
                </a:solidFill>
                <a:latin typeface="Arial"/>
                <a:ea typeface="Arial"/>
                <a:cs typeface="Arial"/>
              </a:rPr>
              <a:t>Unit tests check the application.</a:t>
            </a:r>
          </a:p>
          <a:p xmlns:a="http://schemas.openxmlformats.org/drawingml/2006/main">
            <a:pPr>
              <a:buNone/>
              <a:defRPr sz="2250" b="1">
                <a:solidFill>
                  <a:srgbClr val="2447A6"/>
                </a:solidFill>
                <a:latin typeface="Arial"/>
                <a:ea typeface="Arial"/>
                <a:cs typeface="Arial"/>
              </a:defRPr>
            </a:pPr>
            <a:r>
              <a:rPr sz="2250" b="1">
                <a:solidFill>
                  <a:srgbClr val="2447A6"/>
                </a:solidFill>
                <a:latin typeface="Arial"/>
                <a:ea typeface="Arial"/>
                <a:cs typeface="Arial"/>
              </a:rPr>
              <a:t>Evals check how well the agent and its skills perform.</a:t>
            </a:r>
          </a:p>
        </p:txBody>
      </p:sp>
      <p:sp>
        <p:nvSpPr>
          <p:cNvPr id="3" name="">
            <a:extLst xmlns:a="http://schemas.openxmlformats.org/drawingml/2006/main">
              <a:ext uri="{FF2B5EF4-FFF2-40B4-BE49-F238E27FC236}">
                <a16:creationId xmlns:a16="http://schemas.microsoft.com/office/drawing/2014/main" id="{2270DBC2-66D5-4108-9E33-2DE7AD76D70A}"/>
              </a:ext>
            </a:extLst>
          </p:cNvPr>
          <p:cNvSpPr>
            <a:spLocks xmlns:a="http://schemas.openxmlformats.org/drawingml/2006/main" noGrp="1"/>
          </p:cNvSpPr>
          <p:nvPr/>
        </p:nvSpPr>
        <p:spPr>
          <a:xfrm xmlns:a="http://schemas.openxmlformats.org/drawingml/2006/main">
            <a:off x="685800" y="2733675"/>
            <a:ext cx="3143250" cy="895350"/>
          </a:xfrm>
          <a:prstGeom xmlns:a="http://schemas.openxmlformats.org/drawingml/2006/main" prst="roundRect">
            <a:avLst>
              <a:gd name="adj" fmla="val 17021"/>
            </a:avLst>
          </a:prstGeom>
          <a:solidFill xmlns:a="http://schemas.openxmlformats.org/drawingml/2006/main">
            <a:srgbClr val="2447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A185F25-F19C-4751-9AAD-58EAA3ED100B}"/>
              </a:ext>
            </a:extLst>
          </p:cNvPr>
          <p:cNvSpPr>
            <a:spLocks xmlns:a="http://schemas.openxmlformats.org/drawingml/2006/main" noGrp="1"/>
          </p:cNvSpPr>
          <p:nvPr/>
        </p:nvSpPr>
        <p:spPr>
          <a:xfrm xmlns:a="http://schemas.openxmlformats.org/drawingml/2006/main">
            <a:off x="857250" y="2895600"/>
            <a:ext cx="28003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Realistic tasks</a:t>
            </a:r>
          </a:p>
        </p:txBody>
      </p:sp>
      <p:sp>
        <p:nvSpPr>
          <p:cNvPr id="5" name="">
            <a:extLst xmlns:a="http://schemas.openxmlformats.org/drawingml/2006/main">
              <a:ext uri="{FF2B5EF4-FFF2-40B4-BE49-F238E27FC236}">
                <a16:creationId xmlns:a16="http://schemas.microsoft.com/office/drawing/2014/main" id="{F9DD7544-660A-43FB-B9B9-73627B688E0F}"/>
              </a:ext>
            </a:extLst>
          </p:cNvPr>
          <p:cNvSpPr>
            <a:spLocks xmlns:a="http://schemas.openxmlformats.org/drawingml/2006/main" noGrp="1"/>
          </p:cNvSpPr>
          <p:nvPr/>
        </p:nvSpPr>
        <p:spPr>
          <a:xfrm xmlns:a="http://schemas.openxmlformats.org/drawingml/2006/main">
            <a:off x="4524375" y="2733675"/>
            <a:ext cx="3143250" cy="895350"/>
          </a:xfrm>
          <a:prstGeom xmlns:a="http://schemas.openxmlformats.org/drawingml/2006/main" prst="roundRect">
            <a:avLst>
              <a:gd name="adj" fmla="val 17021"/>
            </a:avLst>
          </a:prstGeom>
          <a:solidFill xmlns:a="http://schemas.openxmlformats.org/drawingml/2006/main">
            <a:srgbClr val="7041B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60146F4-E7F7-4CFE-B1DD-FDBEDDFE7749}"/>
              </a:ext>
            </a:extLst>
          </p:cNvPr>
          <p:cNvSpPr>
            <a:spLocks xmlns:a="http://schemas.openxmlformats.org/drawingml/2006/main" noGrp="1"/>
          </p:cNvSpPr>
          <p:nvPr/>
        </p:nvSpPr>
        <p:spPr>
          <a:xfrm xmlns:a="http://schemas.openxmlformats.org/drawingml/2006/main">
            <a:off x="4695825" y="2895600"/>
            <a:ext cx="28003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Agent + skills</a:t>
            </a:r>
          </a:p>
        </p:txBody>
      </p:sp>
      <p:sp>
        <p:nvSpPr>
          <p:cNvPr id="7" name="">
            <a:extLst xmlns:a="http://schemas.openxmlformats.org/drawingml/2006/main">
              <a:ext uri="{FF2B5EF4-FFF2-40B4-BE49-F238E27FC236}">
                <a16:creationId xmlns:a16="http://schemas.microsoft.com/office/drawing/2014/main" id="{8FE7FAD8-4C78-4C04-9577-E99FEA9B9E84}"/>
              </a:ext>
            </a:extLst>
          </p:cNvPr>
          <p:cNvSpPr>
            <a:spLocks xmlns:a="http://schemas.openxmlformats.org/drawingml/2006/main" noGrp="1"/>
          </p:cNvSpPr>
          <p:nvPr/>
        </p:nvSpPr>
        <p:spPr>
          <a:xfrm xmlns:a="http://schemas.openxmlformats.org/drawingml/2006/main">
            <a:off x="8362950" y="2733675"/>
            <a:ext cx="3143250" cy="895350"/>
          </a:xfrm>
          <a:prstGeom xmlns:a="http://schemas.openxmlformats.org/drawingml/2006/main" prst="roundRect">
            <a:avLst>
              <a:gd name="adj" fmla="val 17021"/>
            </a:avLst>
          </a:prstGeom>
          <a:solidFill xmlns:a="http://schemas.openxmlformats.org/drawingml/2006/main">
            <a:srgbClr val="067E9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BA9A2F9-C151-4C07-8EB0-D4D05B18A20F}"/>
              </a:ext>
            </a:extLst>
          </p:cNvPr>
          <p:cNvSpPr>
            <a:spLocks xmlns:a="http://schemas.openxmlformats.org/drawingml/2006/main" noGrp="1"/>
          </p:cNvSpPr>
          <p:nvPr/>
        </p:nvSpPr>
        <p:spPr>
          <a:xfrm xmlns:a="http://schemas.openxmlformats.org/drawingml/2006/main">
            <a:off x="8534400" y="2895600"/>
            <a:ext cx="28003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Outcome grading</a:t>
            </a:r>
          </a:p>
        </p:txBody>
      </p:sp>
      <p:sp>
        <p:nvSpPr>
          <p:cNvPr id="11" name="">
            <a:extLst xmlns:a="http://schemas.openxmlformats.org/drawingml/2006/main">
              <a:ext uri="{FF2B5EF4-FFF2-40B4-BE49-F238E27FC236}">
                <a16:creationId xmlns:a16="http://schemas.microsoft.com/office/drawing/2014/main" id="{A8FC1257-10EF-4E7C-8F6C-F731615542A1}"/>
              </a:ext>
            </a:extLst>
          </p:cNvPr>
          <p:cNvSpPr>
            <a:spLocks xmlns:a="http://schemas.openxmlformats.org/drawingml/2006/main" noGrp="1"/>
          </p:cNvSpPr>
          <p:nvPr/>
        </p:nvSpPr>
        <p:spPr>
          <a:xfrm xmlns:a="http://schemas.openxmlformats.org/drawingml/2006/main">
            <a:off x="685800" y="3924300"/>
            <a:ext cx="3143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22442"/>
                </a:solidFill>
                <a:latin typeface="Arial"/>
                <a:ea typeface="Arial"/>
                <a:cs typeface="Arial"/>
              </a:defRPr>
            </a:defPPr>
          </a:lstStyle>
          <a:p xmlns:a="http://schemas.openxmlformats.org/drawingml/2006/main">
            <a:pPr>
              <a:buNone/>
              <a:defRPr sz="1950" b="0">
                <a:solidFill>
                  <a:srgbClr val="122442"/>
                </a:solidFill>
                <a:latin typeface="Arial"/>
                <a:ea typeface="Arial"/>
                <a:cs typeface="Arial"/>
              </a:defRPr>
            </a:pPr>
            <a:r>
              <a:rPr sz="1950" b="0">
                <a:solidFill>
                  <a:srgbClr val="122442"/>
                </a:solidFill>
                <a:latin typeface="Arial"/>
                <a:ea typeface="Arial"/>
                <a:cs typeface="Arial"/>
              </a:rPr>
              <a:t>Example: a Draft spec.</a:t>
            </a:r>
          </a:p>
          <a:p xmlns:a="http://schemas.openxmlformats.org/drawingml/2006/main">
            <a:pPr>
              <a:buNone/>
              <a:defRPr sz="1950" b="0">
                <a:solidFill>
                  <a:srgbClr val="122442"/>
                </a:solidFill>
                <a:latin typeface="Arial"/>
                <a:ea typeface="Arial"/>
                <a:cs typeface="Arial"/>
              </a:defRPr>
            </a:pPr>
            <a:r>
              <a:rPr sz="1950" b="0">
                <a:solidFill>
                  <a:srgbClr val="122442"/>
                </a:solidFill>
                <a:latin typeface="Arial"/>
                <a:ea typeface="Arial"/>
                <a:cs typeface="Arial"/>
              </a:rPr>
              <a:t>The agent must wait</a:t>
            </a:r>
          </a:p>
          <a:p xmlns:a="http://schemas.openxmlformats.org/drawingml/2006/main">
            <a:pPr>
              <a:buNone/>
              <a:defRPr sz="1950" b="0">
                <a:solidFill>
                  <a:srgbClr val="122442"/>
                </a:solidFill>
                <a:latin typeface="Arial"/>
                <a:ea typeface="Arial"/>
                <a:cs typeface="Arial"/>
              </a:defRPr>
            </a:pPr>
            <a:r>
              <a:rPr sz="1950" b="0">
                <a:solidFill>
                  <a:srgbClr val="122442"/>
                </a:solidFill>
                <a:latin typeface="Arial"/>
                <a:ea typeface="Arial"/>
                <a:cs typeface="Arial"/>
              </a:rPr>
              <a:t>for human approval.</a:t>
            </a:r>
          </a:p>
        </p:txBody>
      </p:sp>
      <p:sp>
        <p:nvSpPr>
          <p:cNvPr id="12" name="">
            <a:extLst xmlns:a="http://schemas.openxmlformats.org/drawingml/2006/main">
              <a:ext uri="{FF2B5EF4-FFF2-40B4-BE49-F238E27FC236}">
                <a16:creationId xmlns:a16="http://schemas.microsoft.com/office/drawing/2014/main" id="{A8799369-437C-4C3A-A134-063D7E384352}"/>
              </a:ext>
            </a:extLst>
          </p:cNvPr>
          <p:cNvSpPr>
            <a:spLocks xmlns:a="http://schemas.openxmlformats.org/drawingml/2006/main" noGrp="1"/>
          </p:cNvSpPr>
          <p:nvPr/>
        </p:nvSpPr>
        <p:spPr>
          <a:xfrm xmlns:a="http://schemas.openxmlformats.org/drawingml/2006/main">
            <a:off x="4524375" y="3924300"/>
            <a:ext cx="3143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22442"/>
                </a:solidFill>
                <a:latin typeface="Arial"/>
                <a:ea typeface="Arial"/>
                <a:cs typeface="Arial"/>
              </a:defRPr>
            </a:defPPr>
          </a:lstStyle>
          <a:p xmlns:a="http://schemas.openxmlformats.org/drawingml/2006/main">
            <a:pPr>
              <a:buNone/>
              <a:defRPr sz="1950" b="0">
                <a:solidFill>
                  <a:srgbClr val="122442"/>
                </a:solidFill>
                <a:latin typeface="Arial"/>
                <a:ea typeface="Arial"/>
                <a:cs typeface="Arial"/>
              </a:defRPr>
            </a:pPr>
            <a:r>
              <a:rPr sz="1950" b="0">
                <a:solidFill>
                  <a:srgbClr val="122442"/>
                </a:solidFill>
                <a:latin typeface="Arial"/>
                <a:ea typeface="Arial"/>
                <a:cs typeface="Arial"/>
              </a:rPr>
              <a:t>Does it follow guardrails?</a:t>
            </a:r>
          </a:p>
          <a:p xmlns:a="http://schemas.openxmlformats.org/drawingml/2006/main">
            <a:pPr>
              <a:buNone/>
              <a:defRPr sz="1950" b="0">
                <a:solidFill>
                  <a:srgbClr val="122442"/>
                </a:solidFill>
                <a:latin typeface="Arial"/>
                <a:ea typeface="Arial"/>
                <a:cs typeface="Arial"/>
              </a:defRPr>
            </a:pPr>
            <a:r>
              <a:rPr sz="1950" b="0">
                <a:solidFill>
                  <a:srgbClr val="122442"/>
                </a:solidFill>
                <a:latin typeface="Arial"/>
                <a:ea typeface="Arial"/>
                <a:cs typeface="Arial"/>
              </a:rPr>
              <a:t>Pick the right skill?</a:t>
            </a:r>
          </a:p>
          <a:p xmlns:a="http://schemas.openxmlformats.org/drawingml/2006/main">
            <a:pPr>
              <a:buNone/>
              <a:defRPr sz="1950" b="0">
                <a:solidFill>
                  <a:srgbClr val="122442"/>
                </a:solidFill>
                <a:latin typeface="Arial"/>
                <a:ea typeface="Arial"/>
                <a:cs typeface="Arial"/>
              </a:defRPr>
            </a:pPr>
            <a:r>
              <a:rPr sz="1950" b="0">
                <a:solidFill>
                  <a:srgbClr val="122442"/>
                </a:solidFill>
                <a:latin typeface="Arial"/>
                <a:ea typeface="Arial"/>
                <a:cs typeface="Arial"/>
              </a:rPr>
              <a:t>Use it only when</a:t>
            </a:r>
          </a:p>
          <a:p xmlns:a="http://schemas.openxmlformats.org/drawingml/2006/main">
            <a:pPr>
              <a:buNone/>
              <a:defRPr sz="1950" b="0">
                <a:solidFill>
                  <a:srgbClr val="122442"/>
                </a:solidFill>
                <a:latin typeface="Arial"/>
                <a:ea typeface="Arial"/>
                <a:cs typeface="Arial"/>
              </a:defRPr>
            </a:pPr>
            <a:r>
              <a:rPr sz="1950" b="0">
                <a:solidFill>
                  <a:srgbClr val="122442"/>
                </a:solidFill>
                <a:latin typeface="Arial"/>
                <a:ea typeface="Arial"/>
                <a:cs typeface="Arial"/>
              </a:rPr>
              <a:t>the task calls for it?</a:t>
            </a:r>
          </a:p>
        </p:txBody>
      </p:sp>
      <p:sp>
        <p:nvSpPr>
          <p:cNvPr id="13" name="">
            <a:extLst xmlns:a="http://schemas.openxmlformats.org/drawingml/2006/main">
              <a:ext uri="{FF2B5EF4-FFF2-40B4-BE49-F238E27FC236}">
                <a16:creationId xmlns:a16="http://schemas.microsoft.com/office/drawing/2014/main" id="{F9891A7B-7D9A-476D-9934-D0F6F9230987}"/>
              </a:ext>
            </a:extLst>
          </p:cNvPr>
          <p:cNvSpPr>
            <a:spLocks xmlns:a="http://schemas.openxmlformats.org/drawingml/2006/main" noGrp="1"/>
          </p:cNvSpPr>
          <p:nvPr/>
        </p:nvSpPr>
        <p:spPr>
          <a:xfrm xmlns:a="http://schemas.openxmlformats.org/drawingml/2006/main">
            <a:off x="8362950" y="3924300"/>
            <a:ext cx="3143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22442"/>
                </a:solidFill>
                <a:latin typeface="Arial"/>
                <a:ea typeface="Arial"/>
                <a:cs typeface="Arial"/>
              </a:defRPr>
            </a:defPPr>
          </a:lstStyle>
          <a:p xmlns:a="http://schemas.openxmlformats.org/drawingml/2006/main">
            <a:pPr>
              <a:buNone/>
              <a:defRPr sz="1950" b="0">
                <a:solidFill>
                  <a:srgbClr val="122442"/>
                </a:solidFill>
                <a:latin typeface="Arial"/>
                <a:ea typeface="Arial"/>
                <a:cs typeface="Arial"/>
              </a:defRPr>
            </a:pPr>
            <a:r>
              <a:rPr sz="1950" b="0">
                <a:solidFill>
                  <a:srgbClr val="122442"/>
                </a:solidFill>
                <a:latin typeface="Arial"/>
                <a:ea typeface="Arial"/>
                <a:cs typeface="Arial"/>
              </a:rPr>
              <a:t>Inspect the outcome.</a:t>
            </a:r>
          </a:p>
          <a:p xmlns:a="http://schemas.openxmlformats.org/drawingml/2006/main">
            <a:pPr>
              <a:buNone/>
              <a:defRPr sz="1950" b="0">
                <a:solidFill>
                  <a:srgbClr val="122442"/>
                </a:solidFill>
                <a:latin typeface="Arial"/>
                <a:ea typeface="Arial"/>
                <a:cs typeface="Arial"/>
              </a:defRPr>
            </a:pPr>
            <a:r>
              <a:rPr sz="1950" b="0">
                <a:solidFill>
                  <a:srgbClr val="122442"/>
                </a:solidFill>
                <a:latin typeface="Arial"/>
                <a:ea typeface="Arial"/>
                <a:cs typeface="Arial"/>
              </a:rPr>
              <a:t>Run repeated trials.</a:t>
            </a:r>
          </a:p>
          <a:p xmlns:a="http://schemas.openxmlformats.org/drawingml/2006/main">
            <a:pPr>
              <a:buNone/>
              <a:defRPr sz="1950" b="0">
                <a:solidFill>
                  <a:srgbClr val="122442"/>
                </a:solidFill>
                <a:latin typeface="Arial"/>
                <a:ea typeface="Arial"/>
                <a:cs typeface="Arial"/>
              </a:defRPr>
            </a:pPr>
            <a:r>
              <a:rPr sz="1950" b="0">
                <a:solidFill>
                  <a:srgbClr val="122442"/>
                </a:solidFill>
                <a:latin typeface="Arial"/>
                <a:ea typeface="Arial"/>
                <a:cs typeface="Arial"/>
              </a:rPr>
              <a:t>Compare with and</a:t>
            </a:r>
          </a:p>
          <a:p xmlns:a="http://schemas.openxmlformats.org/drawingml/2006/main">
            <a:pPr>
              <a:buNone/>
              <a:defRPr sz="1950" b="0">
                <a:solidFill>
                  <a:srgbClr val="122442"/>
                </a:solidFill>
                <a:latin typeface="Arial"/>
                <a:ea typeface="Arial"/>
                <a:cs typeface="Arial"/>
              </a:defRPr>
            </a:pPr>
            <a:r>
              <a:rPr sz="1950" b="0">
                <a:solidFill>
                  <a:srgbClr val="122442"/>
                </a:solidFill>
                <a:latin typeface="Arial"/>
                <a:ea typeface="Arial"/>
                <a:cs typeface="Arial"/>
              </a:rPr>
              <a:t>without the skill.</a:t>
            </a:r>
          </a:p>
        </p:txBody>
      </p:sp>
      <p:sp>
        <p:nvSpPr>
          <p:cNvPr id="14" name="">
            <a:extLst xmlns:a="http://schemas.openxmlformats.org/drawingml/2006/main">
              <a:ext uri="{FF2B5EF4-FFF2-40B4-BE49-F238E27FC236}">
                <a16:creationId xmlns:a16="http://schemas.microsoft.com/office/drawing/2014/main" id="{D5B4971A-F023-4907-95DC-2CD05835A27B}"/>
              </a:ext>
            </a:extLst>
          </p:cNvPr>
          <p:cNvSpPr>
            <a:spLocks xmlns:a="http://schemas.openxmlformats.org/drawingml/2006/main" noGrp="1"/>
          </p:cNvSpPr>
          <p:nvPr/>
        </p:nvSpPr>
        <p:spPr>
          <a:xfrm xmlns:a="http://schemas.openxmlformats.org/drawingml/2006/main">
            <a:off x="685800" y="55626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2447A6"/>
                </a:solidFill>
                <a:latin typeface="Arial"/>
                <a:ea typeface="Arial"/>
                <a:cs typeface="Arial"/>
              </a:defRPr>
            </a:defPPr>
          </a:lstStyle>
          <a:p xmlns:a="http://schemas.openxmlformats.org/drawingml/2006/main">
            <a:pPr>
              <a:buNone/>
              <a:defRPr sz="2100" b="1">
                <a:solidFill>
                  <a:srgbClr val="2447A6"/>
                </a:solidFill>
                <a:latin typeface="Arial"/>
                <a:ea typeface="Arial"/>
                <a:cs typeface="Arial"/>
              </a:defRPr>
            </a:pPr>
            <a:r>
              <a:rPr sz="2100" b="1">
                <a:solidFill>
                  <a:srgbClr val="2447A6"/>
                </a:solidFill>
                <a:latin typeface="Arial"/>
                <a:ea typeface="Arial"/>
                <a:cs typeface="Arial"/>
              </a:rPr>
              <a:t>Rerun evals when the model, agent or skill changes.</a:t>
            </a:r>
          </a:p>
        </p:txBody>
      </p:sp>
      <p:sp>
        <p:nvSpPr>
          <p:cNvPr id="15" name="">
            <a:extLst xmlns:a="http://schemas.openxmlformats.org/drawingml/2006/main">
              <a:ext uri="{FF2B5EF4-FFF2-40B4-BE49-F238E27FC236}">
                <a16:creationId xmlns:a16="http://schemas.microsoft.com/office/drawing/2014/main" id="{52075321-AB5C-4991-99A8-17092C6605B5}"/>
              </a:ext>
            </a:extLst>
          </p:cNvPr>
          <p:cNvSpPr>
            <a:spLocks xmlns:a="http://schemas.openxmlformats.org/drawingml/2006/main" noGrp="1"/>
          </p:cNvSpPr>
          <p:nvPr/>
        </p:nvSpPr>
        <p:spPr>
          <a:xfrm xmlns:a="http://schemas.openxmlformats.org/drawingml/2006/main">
            <a:off x="685800" y="61722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D5C74"/>
                </a:solidFill>
                <a:latin typeface="Arial"/>
                <a:ea typeface="Arial"/>
                <a:cs typeface="Arial"/>
              </a:defRPr>
            </a:defPPr>
          </a:lstStyle>
          <a:p xmlns:a="http://schemas.openxmlformats.org/drawingml/2006/main">
            <a:pPr>
              <a:buNone/>
              <a:defRPr sz="1725" b="0">
                <a:solidFill>
                  <a:srgbClr val="4D5C74"/>
                </a:solidFill>
                <a:latin typeface="Arial"/>
                <a:ea typeface="Arial"/>
                <a:cs typeface="Arial"/>
              </a:defRPr>
            </a:pPr>
            <a:r>
              <a:rPr sz="1725" b="0">
                <a:solidFill>
                  <a:srgbClr val="4D5C74"/>
                </a:solidFill>
                <a:latin typeface="Arial"/>
                <a:ea typeface="Arial"/>
                <a:cs typeface="Arial"/>
              </a:rPr>
              <a:t>Automated graders and human judgment show whether the change helps.</a:t>
            </a:r>
          </a:p>
        </p:txBody>
      </p:sp>
      <p:sp>
        <p:nvSpPr>
          <p:cNvPr id="16" name="">
            <a:extLst xmlns:a="http://schemas.openxmlformats.org/drawingml/2006/main">
              <a:ext uri="{FF2B5EF4-FFF2-40B4-BE49-F238E27FC236}">
                <a16:creationId xmlns:a16="http://schemas.microsoft.com/office/drawing/2014/main" id="{0BFEFF29-F0DD-4B18-A749-1C969FD87BFB}"/>
              </a:ext>
            </a:extLst>
          </p:cNvPr>
          <p:cNvSpPr>
            <a:spLocks xmlns:a="http://schemas.openxmlformats.org/drawingml/2006/main" noGrp="1"/>
          </p:cNvSpPr>
          <p:nvPr/>
        </p:nvSpPr>
        <p:spPr>
          <a:xfrm xmlns:a="http://schemas.openxmlformats.org/drawingml/2006/main">
            <a:off x="11049000" y="64008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4D5C74"/>
                </a:solidFill>
                <a:latin typeface="Arial"/>
                <a:ea typeface="Arial"/>
                <a:cs typeface="Arial"/>
              </a:defRPr>
            </a:defPPr>
          </a:lstStyle>
          <a:p xmlns:a="http://schemas.openxmlformats.org/drawingml/2006/main">
            <a:pPr>
              <a:buNone/>
              <a:defRPr sz="1275" b="0">
                <a:solidFill>
                  <a:srgbClr val="4D5C74"/>
                </a:solidFill>
                <a:latin typeface="Arial"/>
                <a:ea typeface="Arial"/>
                <a:cs typeface="Arial"/>
              </a:defRPr>
            </a:pPr>
            <a:r>
              <a:rPr sz="1275" b="0">
                <a:solidFill>
                  <a:srgbClr val="4D5C74"/>
                </a:solidFill>
                <a:latin typeface="Arial"/>
                <a:ea typeface="Arial"/>
                <a:cs typeface="Arial"/>
              </a:rPr>
              <a:t>13</a:t>
            </a:r>
          </a:p>
        </p:txBody>
      </p:sp>
    </p:spTree>
    <p:extLst>
      <p:ext uri="{BB962C8B-B14F-4D97-AF65-F5344CB8AC3E}">
        <p14:creationId xmlns:p14="http://schemas.microsoft.com/office/powerpoint/2010/main" val="682065380"/>
      </p:ext>
    </p:extLst>
  </p:cSld>
</p:sld>
</file>

<file path=ppt/slides/slide14.xml><?xml version="1.0" encoding="utf-8"?>
<p:sld xmlns:p="http://schemas.openxmlformats.org/presentationml/2006/main">
  <p:cSld>
    <p:bg>
      <p:bgPr>
        <a:gradFill xmlns:a="http://schemas.openxmlformats.org/drawingml/2006/main">
          <a:gsLst>
            <a:gs pos="0">
              <a:srgbClr val="FFFFFF"/>
            </a:gs>
            <a:gs pos="60000">
              <a:srgbClr val="EDF4FF"/>
            </a:gs>
            <a:gs pos="100000">
              <a:srgbClr val="E5DAFA"/>
            </a:gs>
          </a:gsLst>
          <a:lin ang="1500000"/>
        </a:gra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A0D9B18A-C17B-44C0-9EF6-74929DDE6B27}"/>
              </a:ext>
            </a:extLst>
          </p:cNvPr>
          <p:cNvCxnSpPr>
            <a:stCxn xmlns:a="http://schemas.openxmlformats.org/drawingml/2006/main" id="7" idx="3"/>
            <a:endCxn xmlns:a="http://schemas.openxmlformats.org/drawingml/2006/main" id="9" idx="1"/>
          </p:cNvCxnSpPr>
          <p:nvPr/>
        </p:nvCxnSpPr>
        <p:spPr>
          <a:xfrm xmlns:a="http://schemas.openxmlformats.org/drawingml/2006/main" flipV="1">
            <a:off x="7410450" y="3895725"/>
            <a:ext cx="1685925" cy="733425"/>
          </a:xfrm>
          <a:prstGeom xmlns:a="http://schemas.openxmlformats.org/drawingml/2006/main" prst="bentConnector3">
            <a:avLst>
              <a:gd name="adj1" fmla="val 50000"/>
            </a:avLst>
          </a:prstGeom>
          <a:ln xmlns:a="http://schemas.openxmlformats.org/drawingml/2006/main" w="28575">
            <a:solidFill>
              <a:srgbClr val="067E96"/>
            </a:solidFill>
            <a:tailEnd type="triangle" w="med" len="med"/>
          </a:ln>
        </p:spPr>
      </p:cxnSp>
      <p:cxnSp>
        <p:nvCxnSpPr>
          <p:cNvPr id="13" name="">
            <a:extLst xmlns:a="http://schemas.openxmlformats.org/drawingml/2006/main">
              <a:ext uri="{FF2B5EF4-FFF2-40B4-BE49-F238E27FC236}">
                <a16:creationId xmlns:a16="http://schemas.microsoft.com/office/drawing/2014/main" id="{901A9688-1631-4E62-8743-587D94A778CF}"/>
              </a:ext>
            </a:extLst>
          </p:cNvPr>
          <p:cNvCxnSpPr>
            <a:stCxn xmlns:a="http://schemas.openxmlformats.org/drawingml/2006/main" id="5" idx="3"/>
            <a:endCxn xmlns:a="http://schemas.openxmlformats.org/drawingml/2006/main" id="9" idx="1"/>
          </p:cNvCxnSpPr>
          <p:nvPr/>
        </p:nvCxnSpPr>
        <p:spPr>
          <a:xfrm xmlns:a="http://schemas.openxmlformats.org/drawingml/2006/main">
            <a:off x="7410450" y="3038475"/>
            <a:ext cx="1685925" cy="857250"/>
          </a:xfrm>
          <a:prstGeom xmlns:a="http://schemas.openxmlformats.org/drawingml/2006/main" prst="bentConnector3">
            <a:avLst>
              <a:gd name="adj1" fmla="val 50000"/>
            </a:avLst>
          </a:prstGeom>
          <a:ln xmlns:a="http://schemas.openxmlformats.org/drawingml/2006/main" w="28575">
            <a:solidFill>
              <a:srgbClr val="7041B9"/>
            </a:solidFill>
            <a:tailEnd type="triangle" w="med" len="med"/>
          </a:ln>
        </p:spPr>
      </p:cxnSp>
      <p:cxnSp>
        <p:nvCxnSpPr>
          <p:cNvPr id="12" name="">
            <a:extLst xmlns:a="http://schemas.openxmlformats.org/drawingml/2006/main">
              <a:ext uri="{FF2B5EF4-FFF2-40B4-BE49-F238E27FC236}">
                <a16:creationId xmlns:a16="http://schemas.microsoft.com/office/drawing/2014/main" id="{FEDD996E-346C-4872-A076-4AF21E7F5960}"/>
              </a:ext>
            </a:extLst>
          </p:cNvPr>
          <p:cNvCxnSpPr>
            <a:stCxn xmlns:a="http://schemas.openxmlformats.org/drawingml/2006/main" id="3" idx="3"/>
            <a:endCxn xmlns:a="http://schemas.openxmlformats.org/drawingml/2006/main" id="7" idx="1"/>
          </p:cNvCxnSpPr>
          <p:nvPr/>
        </p:nvCxnSpPr>
        <p:spPr>
          <a:xfrm xmlns:a="http://schemas.openxmlformats.org/drawingml/2006/main">
            <a:off x="3067050" y="3895725"/>
            <a:ext cx="1200150" cy="733425"/>
          </a:xfrm>
          <a:prstGeom xmlns:a="http://schemas.openxmlformats.org/drawingml/2006/main" prst="bentConnector3">
            <a:avLst>
              <a:gd name="adj1" fmla="val 50000"/>
            </a:avLst>
          </a:prstGeom>
          <a:ln xmlns:a="http://schemas.openxmlformats.org/drawingml/2006/main" w="28575">
            <a:solidFill>
              <a:srgbClr val="067E96"/>
            </a:solidFill>
            <a:tailEnd type="triangle" w="med" len="med"/>
          </a:ln>
        </p:spPr>
      </p:cxnSp>
      <p:cxnSp>
        <p:nvCxnSpPr>
          <p:cNvPr id="11" name="">
            <a:extLst xmlns:a="http://schemas.openxmlformats.org/drawingml/2006/main">
              <a:ext uri="{FF2B5EF4-FFF2-40B4-BE49-F238E27FC236}">
                <a16:creationId xmlns:a16="http://schemas.microsoft.com/office/drawing/2014/main" id="{C46A4A00-A6A0-4177-8F94-098550170014}"/>
              </a:ext>
            </a:extLst>
          </p:cNvPr>
          <p:cNvCxnSpPr>
            <a:stCxn xmlns:a="http://schemas.openxmlformats.org/drawingml/2006/main" id="3" idx="3"/>
            <a:endCxn xmlns:a="http://schemas.openxmlformats.org/drawingml/2006/main" id="5" idx="1"/>
          </p:cNvCxnSpPr>
          <p:nvPr/>
        </p:nvCxnSpPr>
        <p:spPr>
          <a:xfrm xmlns:a="http://schemas.openxmlformats.org/drawingml/2006/main" flipV="1">
            <a:off x="3067050" y="3038475"/>
            <a:ext cx="1200150" cy="857250"/>
          </a:xfrm>
          <a:prstGeom xmlns:a="http://schemas.openxmlformats.org/drawingml/2006/main" prst="bentConnector3">
            <a:avLst>
              <a:gd name="adj1" fmla="val 50000"/>
            </a:avLst>
          </a:prstGeom>
          <a:ln xmlns:a="http://schemas.openxmlformats.org/drawingml/2006/main" w="28575">
            <a:solidFill>
              <a:srgbClr val="7041B9"/>
            </a:solidFill>
            <a:tailEnd type="triangle" w="med" len="med"/>
          </a:ln>
        </p:spPr>
      </p:cxnSp>
      <p:sp>
        <p:nvSpPr>
          <p:cNvPr id="20" name="">
            <a:extLst xmlns:a="http://schemas.openxmlformats.org/drawingml/2006/main">
              <a:ext uri="{FF2B5EF4-FFF2-40B4-BE49-F238E27FC236}">
                <a16:creationId xmlns:a16="http://schemas.microsoft.com/office/drawing/2014/main" id="{850CE1AB-4F8C-45F1-ABD3-312A15413219}"/>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442"/>
                </a:solidFill>
                <a:latin typeface="Arial"/>
                <a:ea typeface="Arial"/>
                <a:cs typeface="Arial"/>
              </a:defRPr>
            </a:defPPr>
          </a:lstStyle>
          <a:p xmlns:a="http://schemas.openxmlformats.org/drawingml/2006/main">
            <a:pPr>
              <a:buNone/>
              <a:defRPr sz="3300" b="1">
                <a:solidFill>
                  <a:srgbClr val="122442"/>
                </a:solidFill>
                <a:latin typeface="Arial"/>
                <a:ea typeface="Arial"/>
                <a:cs typeface="Arial"/>
              </a:defRPr>
            </a:pPr>
            <a:r>
              <a:rPr sz="3300" b="1">
                <a:solidFill>
                  <a:srgbClr val="122442"/>
                </a:solidFill>
                <a:latin typeface="Arial"/>
                <a:ea typeface="Arial"/>
                <a:cs typeface="Arial"/>
              </a:rPr>
              <a:t>Does this skill still earn its keep?</a:t>
            </a:r>
          </a:p>
        </p:txBody>
      </p:sp>
      <p:sp>
        <p:nvSpPr>
          <p:cNvPr id="2" name="">
            <a:extLst xmlns:a="http://schemas.openxmlformats.org/drawingml/2006/main">
              <a:ext uri="{FF2B5EF4-FFF2-40B4-BE49-F238E27FC236}">
                <a16:creationId xmlns:a16="http://schemas.microsoft.com/office/drawing/2014/main" id="{C7180136-2C7E-4F78-979D-335D6827CF09}"/>
              </a:ext>
            </a:extLst>
          </p:cNvPr>
          <p:cNvSpPr>
            <a:spLocks xmlns:a="http://schemas.openxmlformats.org/drawingml/2006/main" noGrp="1"/>
          </p:cNvSpPr>
          <p:nvPr/>
        </p:nvSpPr>
        <p:spPr>
          <a:xfrm xmlns:a="http://schemas.openxmlformats.org/drawingml/2006/main">
            <a:off x="685800" y="1581150"/>
            <a:ext cx="108204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2447A6"/>
                </a:solidFill>
                <a:latin typeface="Arial"/>
                <a:ea typeface="Arial"/>
                <a:cs typeface="Arial"/>
              </a:defRPr>
            </a:defPPr>
          </a:lstStyle>
          <a:p xmlns:a="http://schemas.openxmlformats.org/drawingml/2006/main">
            <a:pPr>
              <a:buNone/>
              <a:defRPr sz="2325" b="1">
                <a:solidFill>
                  <a:srgbClr val="2447A6"/>
                </a:solidFill>
                <a:latin typeface="Arial"/>
                <a:ea typeface="Arial"/>
                <a:cs typeface="Arial"/>
              </a:defRPr>
            </a:pPr>
            <a:r>
              <a:rPr sz="2325" b="1">
                <a:solidFill>
                  <a:srgbClr val="2447A6"/>
                </a:solidFill>
                <a:latin typeface="Arial"/>
                <a:ea typeface="Arial"/>
                <a:cs typeface="Arial"/>
              </a:rPr>
              <a:t>Models improve. Some skills may stop adding value.</a:t>
            </a:r>
          </a:p>
        </p:txBody>
      </p:sp>
      <p:sp>
        <p:nvSpPr>
          <p:cNvPr id="3" name="">
            <a:extLst xmlns:a="http://schemas.openxmlformats.org/drawingml/2006/main">
              <a:ext uri="{FF2B5EF4-FFF2-40B4-BE49-F238E27FC236}">
                <a16:creationId xmlns:a16="http://schemas.microsoft.com/office/drawing/2014/main" id="{E7D74DAF-1552-4FFF-878F-66FCDE235FB3}"/>
              </a:ext>
            </a:extLst>
          </p:cNvPr>
          <p:cNvSpPr>
            <a:spLocks xmlns:a="http://schemas.openxmlformats.org/drawingml/2006/main" noGrp="1"/>
          </p:cNvSpPr>
          <p:nvPr/>
        </p:nvSpPr>
        <p:spPr>
          <a:xfrm xmlns:a="http://schemas.openxmlformats.org/drawingml/2006/main">
            <a:off x="685800" y="3381375"/>
            <a:ext cx="2381250" cy="1028700"/>
          </a:xfrm>
          <a:prstGeom xmlns:a="http://schemas.openxmlformats.org/drawingml/2006/main" prst="roundRect">
            <a:avLst>
              <a:gd name="adj" fmla="val 14815"/>
            </a:avLst>
          </a:prstGeom>
          <a:solidFill xmlns:a="http://schemas.openxmlformats.org/drawingml/2006/main">
            <a:srgbClr val="2447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1A2705E-66EB-424B-9017-EDBC42A50C6B}"/>
              </a:ext>
            </a:extLst>
          </p:cNvPr>
          <p:cNvSpPr>
            <a:spLocks xmlns:a="http://schemas.openxmlformats.org/drawingml/2006/main" noGrp="1"/>
          </p:cNvSpPr>
          <p:nvPr/>
        </p:nvSpPr>
        <p:spPr>
          <a:xfrm xmlns:a="http://schemas.openxmlformats.org/drawingml/2006/main">
            <a:off x="857250" y="3543300"/>
            <a:ext cx="20383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Same</a:t>
            </a:r>
          </a:p>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tasks</a:t>
            </a:r>
          </a:p>
        </p:txBody>
      </p:sp>
      <p:sp>
        <p:nvSpPr>
          <p:cNvPr id="5" name="">
            <a:extLst xmlns:a="http://schemas.openxmlformats.org/drawingml/2006/main">
              <a:ext uri="{FF2B5EF4-FFF2-40B4-BE49-F238E27FC236}">
                <a16:creationId xmlns:a16="http://schemas.microsoft.com/office/drawing/2014/main" id="{9B8A3A32-EAB5-498C-A05F-CD711AE02E7D}"/>
              </a:ext>
            </a:extLst>
          </p:cNvPr>
          <p:cNvSpPr>
            <a:spLocks xmlns:a="http://schemas.openxmlformats.org/drawingml/2006/main" noGrp="1"/>
          </p:cNvSpPr>
          <p:nvPr/>
        </p:nvSpPr>
        <p:spPr>
          <a:xfrm xmlns:a="http://schemas.openxmlformats.org/drawingml/2006/main">
            <a:off x="4267200" y="2609850"/>
            <a:ext cx="3143250" cy="857250"/>
          </a:xfrm>
          <a:prstGeom xmlns:a="http://schemas.openxmlformats.org/drawingml/2006/main" prst="roundRect">
            <a:avLst>
              <a:gd name="adj" fmla="val 17778"/>
            </a:avLst>
          </a:prstGeom>
          <a:solidFill xmlns:a="http://schemas.openxmlformats.org/drawingml/2006/main">
            <a:srgbClr val="7041B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EE63FF6-97FF-4AEF-9CD5-C68CBF0A9209}"/>
              </a:ext>
            </a:extLst>
          </p:cNvPr>
          <p:cNvSpPr>
            <a:spLocks xmlns:a="http://schemas.openxmlformats.org/drawingml/2006/main" noGrp="1"/>
          </p:cNvSpPr>
          <p:nvPr/>
        </p:nvSpPr>
        <p:spPr>
          <a:xfrm xmlns:a="http://schemas.openxmlformats.org/drawingml/2006/main">
            <a:off x="4438650" y="2771775"/>
            <a:ext cx="2800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Model + skill</a:t>
            </a:r>
          </a:p>
        </p:txBody>
      </p:sp>
      <p:sp>
        <p:nvSpPr>
          <p:cNvPr id="7" name="">
            <a:extLst xmlns:a="http://schemas.openxmlformats.org/drawingml/2006/main">
              <a:ext uri="{FF2B5EF4-FFF2-40B4-BE49-F238E27FC236}">
                <a16:creationId xmlns:a16="http://schemas.microsoft.com/office/drawing/2014/main" id="{40327DA2-926A-4F77-BE70-8FC3B4CC9DAE}"/>
              </a:ext>
            </a:extLst>
          </p:cNvPr>
          <p:cNvSpPr>
            <a:spLocks xmlns:a="http://schemas.openxmlformats.org/drawingml/2006/main" noGrp="1"/>
          </p:cNvSpPr>
          <p:nvPr/>
        </p:nvSpPr>
        <p:spPr>
          <a:xfrm xmlns:a="http://schemas.openxmlformats.org/drawingml/2006/main">
            <a:off x="4267200" y="4200525"/>
            <a:ext cx="3143250" cy="857250"/>
          </a:xfrm>
          <a:prstGeom xmlns:a="http://schemas.openxmlformats.org/drawingml/2006/main" prst="roundRect">
            <a:avLst>
              <a:gd name="adj" fmla="val 17778"/>
            </a:avLst>
          </a:prstGeom>
          <a:solidFill xmlns:a="http://schemas.openxmlformats.org/drawingml/2006/main">
            <a:srgbClr val="067E9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BC94460-013B-4B36-A8A7-0AD5BA901D18}"/>
              </a:ext>
            </a:extLst>
          </p:cNvPr>
          <p:cNvSpPr>
            <a:spLocks xmlns:a="http://schemas.openxmlformats.org/drawingml/2006/main" noGrp="1"/>
          </p:cNvSpPr>
          <p:nvPr/>
        </p:nvSpPr>
        <p:spPr>
          <a:xfrm xmlns:a="http://schemas.openxmlformats.org/drawingml/2006/main">
            <a:off x="4438650" y="4362450"/>
            <a:ext cx="2800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Model without skill</a:t>
            </a:r>
          </a:p>
        </p:txBody>
      </p:sp>
      <p:sp>
        <p:nvSpPr>
          <p:cNvPr id="9" name="">
            <a:extLst xmlns:a="http://schemas.openxmlformats.org/drawingml/2006/main">
              <a:ext uri="{FF2B5EF4-FFF2-40B4-BE49-F238E27FC236}">
                <a16:creationId xmlns:a16="http://schemas.microsoft.com/office/drawing/2014/main" id="{431A826E-BD6F-498A-AE39-454E5935ACB1}"/>
              </a:ext>
            </a:extLst>
          </p:cNvPr>
          <p:cNvSpPr>
            <a:spLocks xmlns:a="http://schemas.openxmlformats.org/drawingml/2006/main" noGrp="1"/>
          </p:cNvSpPr>
          <p:nvPr/>
        </p:nvSpPr>
        <p:spPr>
          <a:xfrm xmlns:a="http://schemas.openxmlformats.org/drawingml/2006/main">
            <a:off x="9096375" y="3381375"/>
            <a:ext cx="2409825" cy="1028700"/>
          </a:xfrm>
          <a:prstGeom xmlns:a="http://schemas.openxmlformats.org/drawingml/2006/main" prst="roundRect">
            <a:avLst>
              <a:gd name="adj" fmla="val 14815"/>
            </a:avLst>
          </a:prstGeom>
          <a:solidFill xmlns:a="http://schemas.openxmlformats.org/drawingml/2006/main">
            <a:srgbClr val="2447A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16E99B3-E0A6-463F-9993-B26DF93037E5}"/>
              </a:ext>
            </a:extLst>
          </p:cNvPr>
          <p:cNvSpPr>
            <a:spLocks xmlns:a="http://schemas.openxmlformats.org/drawingml/2006/main" noGrp="1"/>
          </p:cNvSpPr>
          <p:nvPr/>
        </p:nvSpPr>
        <p:spPr>
          <a:xfrm xmlns:a="http://schemas.openxmlformats.org/drawingml/2006/main">
            <a:off x="9267825" y="3543300"/>
            <a:ext cx="20669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Comparison</a:t>
            </a:r>
          </a:p>
        </p:txBody>
      </p:sp>
      <p:sp>
        <p:nvSpPr>
          <p:cNvPr id="15" name="">
            <a:extLst xmlns:a="http://schemas.openxmlformats.org/drawingml/2006/main">
              <a:ext uri="{FF2B5EF4-FFF2-40B4-BE49-F238E27FC236}">
                <a16:creationId xmlns:a16="http://schemas.microsoft.com/office/drawing/2014/main" id="{A9389078-BA4B-473D-A0BA-593CA075FCF8}"/>
              </a:ext>
            </a:extLst>
          </p:cNvPr>
          <p:cNvSpPr>
            <a:spLocks xmlns:a="http://schemas.openxmlformats.org/drawingml/2006/main" noGrp="1"/>
          </p:cNvSpPr>
          <p:nvPr/>
        </p:nvSpPr>
        <p:spPr>
          <a:xfrm xmlns:a="http://schemas.openxmlformats.org/drawingml/2006/main">
            <a:off x="4267200" y="5286375"/>
            <a:ext cx="3619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4D5C74"/>
                </a:solidFill>
                <a:latin typeface="Arial"/>
                <a:ea typeface="Arial"/>
                <a:cs typeface="Arial"/>
              </a:defRPr>
            </a:defPPr>
          </a:lstStyle>
          <a:p xmlns:a="http://schemas.openxmlformats.org/drawingml/2006/main">
            <a:pPr>
              <a:buNone/>
              <a:defRPr sz="1800" b="0">
                <a:solidFill>
                  <a:srgbClr val="4D5C74"/>
                </a:solidFill>
                <a:latin typeface="Arial"/>
                <a:ea typeface="Arial"/>
                <a:cs typeface="Arial"/>
              </a:defRPr>
            </a:pPr>
            <a:r>
              <a:rPr sz="1800" b="0">
                <a:solidFill>
                  <a:srgbClr val="4D5C74"/>
                </a:solidFill>
                <a:latin typeface="Arial"/>
                <a:ea typeface="Arial"/>
                <a:cs typeface="Arial"/>
              </a:rPr>
              <a:t>Repeat trials</a:t>
            </a:r>
          </a:p>
          <a:p xmlns:a="http://schemas.openxmlformats.org/drawingml/2006/main">
            <a:pPr>
              <a:buNone/>
              <a:defRPr sz="1800" b="0">
                <a:solidFill>
                  <a:srgbClr val="4D5C74"/>
                </a:solidFill>
                <a:latin typeface="Arial"/>
                <a:ea typeface="Arial"/>
                <a:cs typeface="Arial"/>
              </a:defRPr>
            </a:pPr>
            <a:r>
              <a:rPr sz="1800" b="0">
                <a:solidFill>
                  <a:srgbClr val="4D5C74"/>
                </a:solidFill>
                <a:latin typeface="Arial"/>
                <a:ea typeface="Arial"/>
                <a:cs typeface="Arial"/>
              </a:rPr>
              <a:t>under the same conditions.</a:t>
            </a:r>
          </a:p>
        </p:txBody>
      </p:sp>
      <p:sp>
        <p:nvSpPr>
          <p:cNvPr id="16" name="">
            <a:extLst xmlns:a="http://schemas.openxmlformats.org/drawingml/2006/main">
              <a:ext uri="{FF2B5EF4-FFF2-40B4-BE49-F238E27FC236}">
                <a16:creationId xmlns:a16="http://schemas.microsoft.com/office/drawing/2014/main" id="{1E7668EA-1B86-42F9-AB8A-B10537B011D9}"/>
              </a:ext>
            </a:extLst>
          </p:cNvPr>
          <p:cNvSpPr>
            <a:spLocks xmlns:a="http://schemas.openxmlformats.org/drawingml/2006/main" noGrp="1"/>
          </p:cNvSpPr>
          <p:nvPr/>
        </p:nvSpPr>
        <p:spPr>
          <a:xfrm xmlns:a="http://schemas.openxmlformats.org/drawingml/2006/main">
            <a:off x="9096375" y="4695825"/>
            <a:ext cx="24098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122442"/>
                </a:solidFill>
                <a:latin typeface="Arial"/>
                <a:ea typeface="Arial"/>
                <a:cs typeface="Arial"/>
              </a:defRPr>
            </a:defPPr>
          </a:lstStyle>
          <a:p xmlns:a="http://schemas.openxmlformats.org/drawingml/2006/main">
            <a:pPr>
              <a:buNone/>
              <a:defRPr sz="1875" b="0">
                <a:solidFill>
                  <a:srgbClr val="122442"/>
                </a:solidFill>
                <a:latin typeface="Arial"/>
                <a:ea typeface="Arial"/>
                <a:cs typeface="Arial"/>
              </a:defRPr>
            </a:pPr>
            <a:r>
              <a:rPr sz="1875" b="0">
                <a:solidFill>
                  <a:srgbClr val="122442"/>
                </a:solidFill>
                <a:latin typeface="Arial"/>
                <a:ea typeface="Arial"/>
                <a:cs typeface="Arial"/>
              </a:rPr>
              <a:t>Quality.</a:t>
            </a:r>
          </a:p>
          <a:p xmlns:a="http://schemas.openxmlformats.org/drawingml/2006/main">
            <a:pPr>
              <a:buNone/>
              <a:defRPr sz="1875" b="0">
                <a:solidFill>
                  <a:srgbClr val="122442"/>
                </a:solidFill>
                <a:latin typeface="Arial"/>
                <a:ea typeface="Arial"/>
                <a:cs typeface="Arial"/>
              </a:defRPr>
            </a:pPr>
            <a:r>
              <a:rPr sz="1875" b="0">
                <a:solidFill>
                  <a:srgbClr val="122442"/>
                </a:solidFill>
                <a:latin typeface="Arial"/>
                <a:ea typeface="Arial"/>
                <a:cs typeface="Arial"/>
              </a:rPr>
              <a:t>Consistency.</a:t>
            </a:r>
          </a:p>
          <a:p xmlns:a="http://schemas.openxmlformats.org/drawingml/2006/main">
            <a:pPr>
              <a:buNone/>
              <a:defRPr sz="1875" b="0">
                <a:solidFill>
                  <a:srgbClr val="122442"/>
                </a:solidFill>
                <a:latin typeface="Arial"/>
                <a:ea typeface="Arial"/>
                <a:cs typeface="Arial"/>
              </a:defRPr>
            </a:pPr>
            <a:r>
              <a:rPr sz="1875" b="0">
                <a:solidFill>
                  <a:srgbClr val="122442"/>
                </a:solidFill>
                <a:latin typeface="Arial"/>
                <a:ea typeface="Arial"/>
                <a:cs typeface="Arial"/>
              </a:rPr>
              <a:t>Latency and cost.</a:t>
            </a:r>
          </a:p>
        </p:txBody>
      </p:sp>
      <p:sp>
        <p:nvSpPr>
          <p:cNvPr id="17" name="">
            <a:extLst xmlns:a="http://schemas.openxmlformats.org/drawingml/2006/main">
              <a:ext uri="{FF2B5EF4-FFF2-40B4-BE49-F238E27FC236}">
                <a16:creationId xmlns:a16="http://schemas.microsoft.com/office/drawing/2014/main" id="{325319BB-A3B1-4DF7-9AF2-A6F9D31EA48B}"/>
              </a:ext>
            </a:extLst>
          </p:cNvPr>
          <p:cNvSpPr>
            <a:spLocks xmlns:a="http://schemas.openxmlformats.org/drawingml/2006/main" noGrp="1"/>
          </p:cNvSpPr>
          <p:nvPr/>
        </p:nvSpPr>
        <p:spPr>
          <a:xfrm xmlns:a="http://schemas.openxmlformats.org/drawingml/2006/main">
            <a:off x="685800" y="592455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2447A6"/>
                </a:solidFill>
                <a:latin typeface="Arial"/>
                <a:ea typeface="Arial"/>
                <a:cs typeface="Arial"/>
              </a:defRPr>
            </a:defPPr>
          </a:lstStyle>
          <a:p xmlns:a="http://schemas.openxmlformats.org/drawingml/2006/main">
            <a:pPr>
              <a:buNone/>
              <a:defRPr sz="1950" b="1">
                <a:solidFill>
                  <a:srgbClr val="2447A6"/>
                </a:solidFill>
                <a:latin typeface="Arial"/>
                <a:ea typeface="Arial"/>
                <a:cs typeface="Arial"/>
              </a:defRPr>
            </a:pPr>
            <a:r>
              <a:rPr sz="1950" b="1">
                <a:solidFill>
                  <a:srgbClr val="2447A6"/>
                </a:solidFill>
                <a:latin typeface="Arial"/>
                <a:ea typeface="Arial"/>
                <a:cs typeface="Arial"/>
              </a:rPr>
              <a:t>If the model performs just as well without the skill, it may be time to retire it.</a:t>
            </a:r>
          </a:p>
        </p:txBody>
      </p:sp>
      <p:sp>
        <p:nvSpPr>
          <p:cNvPr id="18" name="">
            <a:extLst xmlns:a="http://schemas.openxmlformats.org/drawingml/2006/main">
              <a:ext uri="{FF2B5EF4-FFF2-40B4-BE49-F238E27FC236}">
                <a16:creationId xmlns:a16="http://schemas.microsoft.com/office/drawing/2014/main" id="{FB9C72CE-A70C-4E47-B713-28738EED8043}"/>
              </a:ext>
            </a:extLst>
          </p:cNvPr>
          <p:cNvSpPr>
            <a:spLocks xmlns:a="http://schemas.openxmlformats.org/drawingml/2006/main" noGrp="1"/>
          </p:cNvSpPr>
          <p:nvPr/>
        </p:nvSpPr>
        <p:spPr>
          <a:xfrm xmlns:a="http://schemas.openxmlformats.org/drawingml/2006/main">
            <a:off x="685800" y="63436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4D5C74"/>
                </a:solidFill>
                <a:latin typeface="Arial"/>
                <a:ea typeface="Arial"/>
                <a:cs typeface="Arial"/>
              </a:defRPr>
            </a:defPPr>
          </a:lstStyle>
          <a:p xmlns:a="http://schemas.openxmlformats.org/drawingml/2006/main">
            <a:pPr>
              <a:buNone/>
              <a:defRPr sz="1575" b="0">
                <a:solidFill>
                  <a:srgbClr val="4D5C74"/>
                </a:solidFill>
                <a:latin typeface="Arial"/>
                <a:ea typeface="Arial"/>
                <a:cs typeface="Arial"/>
              </a:defRPr>
            </a:pPr>
            <a:r>
              <a:rPr sz="1575" b="0">
                <a:solidFill>
                  <a:srgbClr val="4D5C74"/>
                </a:solidFill>
                <a:latin typeface="Arial"/>
                <a:ea typeface="Arial"/>
                <a:cs typeface="Arial"/>
              </a:rPr>
              <a:t>Skills that encode company policies or specific workflows may still be essential.</a:t>
            </a:r>
          </a:p>
        </p:txBody>
      </p:sp>
      <p:sp>
        <p:nvSpPr>
          <p:cNvPr id="19" name="">
            <a:extLst xmlns:a="http://schemas.openxmlformats.org/drawingml/2006/main">
              <a:ext uri="{FF2B5EF4-FFF2-40B4-BE49-F238E27FC236}">
                <a16:creationId xmlns:a16="http://schemas.microsoft.com/office/drawing/2014/main" id="{53D55C1E-F13B-4757-8744-76FCD1D7E43F}"/>
              </a:ext>
            </a:extLst>
          </p:cNvPr>
          <p:cNvSpPr>
            <a:spLocks xmlns:a="http://schemas.openxmlformats.org/drawingml/2006/main" noGrp="1"/>
          </p:cNvSpPr>
          <p:nvPr/>
        </p:nvSpPr>
        <p:spPr>
          <a:xfrm xmlns:a="http://schemas.openxmlformats.org/drawingml/2006/main">
            <a:off x="11049000" y="64008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4D5C74"/>
                </a:solidFill>
                <a:latin typeface="Arial"/>
                <a:ea typeface="Arial"/>
                <a:cs typeface="Arial"/>
              </a:defRPr>
            </a:defPPr>
          </a:lstStyle>
          <a:p xmlns:a="http://schemas.openxmlformats.org/drawingml/2006/main">
            <a:pPr>
              <a:buNone/>
              <a:defRPr sz="1275" b="0">
                <a:solidFill>
                  <a:srgbClr val="4D5C74"/>
                </a:solidFill>
                <a:latin typeface="Arial"/>
                <a:ea typeface="Arial"/>
                <a:cs typeface="Arial"/>
              </a:defRPr>
            </a:pPr>
            <a:r>
              <a:rPr sz="1275" b="0">
                <a:solidFill>
                  <a:srgbClr val="4D5C74"/>
                </a:solidFill>
                <a:latin typeface="Arial"/>
                <a:ea typeface="Arial"/>
                <a:cs typeface="Arial"/>
              </a:rPr>
              <a:t>14</a:t>
            </a:r>
          </a:p>
        </p:txBody>
      </p:sp>
    </p:spTree>
    <p:extLst>
      <p:ext uri="{BB962C8B-B14F-4D97-AF65-F5344CB8AC3E}">
        <p14:creationId xmlns:p14="http://schemas.microsoft.com/office/powerpoint/2010/main" val="1867293627"/>
      </p:ext>
    </p:extLst>
  </p:cSld>
</p:sld>
</file>

<file path=ppt/slides/slide15.xml><?xml version="1.0" encoding="utf-8"?>
<p:sld xmlns:p="http://schemas.openxmlformats.org/presentationml/2006/main">
  <p:cSld>
    <p:bg>
      <p:bgPr>
        <a:gradFill xmlns:a="http://schemas.openxmlformats.org/drawingml/2006/main">
          <a:gsLst>
            <a:gs pos="0">
              <a:srgbClr val="FFFFFF"/>
            </a:gs>
            <a:gs pos="60000">
              <a:srgbClr val="EDF4FF"/>
            </a:gs>
            <a:gs pos="100000">
              <a:srgbClr val="E5DAFA"/>
            </a:gs>
          </a:gsLst>
          <a:lin ang="1500000"/>
        </a:gradFill>
      </p:bgPr>
    </p:bg>
    <p:spTree>
      <p:nvGrpSpPr>
        <p:cNvPr id="1" name=""/>
        <p:cNvGrpSpPr/>
        <p:nvPr/>
      </p:nvGrpSpPr>
      <p:grpSpPr>
        <a:xfrm xmlns:a="http://schemas.openxmlformats.org/drawingml/2006/main"/>
      </p:grpSpPr>
      <p:cxnSp>
        <p:nvCxnSpPr>
          <p:cNvPr id="22" name="">
            <a:extLst xmlns:a="http://schemas.openxmlformats.org/drawingml/2006/main">
              <a:ext uri="{FF2B5EF4-FFF2-40B4-BE49-F238E27FC236}">
                <a16:creationId xmlns:a16="http://schemas.microsoft.com/office/drawing/2014/main" id="{DFBCEFA9-90F4-4834-BAEB-1F4FE5C52C53}"/>
              </a:ext>
            </a:extLst>
          </p:cNvPr>
          <p:cNvCxnSpPr>
            <a:stCxn xmlns:a="http://schemas.openxmlformats.org/drawingml/2006/main" id="12" idx="3"/>
            <a:endCxn xmlns:a="http://schemas.openxmlformats.org/drawingml/2006/main" id="15" idx="1"/>
          </p:cNvCxnSpPr>
          <p:nvPr/>
        </p:nvCxnSpPr>
        <p:spPr>
          <a:xfrm xmlns:a="http://schemas.openxmlformats.org/drawingml/2006/main" flipV="1">
            <a:off x="7639050" y="4090988"/>
            <a:ext cx="1457325" cy="1128713"/>
          </a:xfrm>
          <a:prstGeom xmlns:a="http://schemas.openxmlformats.org/drawingml/2006/main" prst="bentConnector3">
            <a:avLst>
              <a:gd name="adj1" fmla="val 50000"/>
            </a:avLst>
          </a:prstGeom>
          <a:ln xmlns:a="http://schemas.openxmlformats.org/drawingml/2006/main" w="28575">
            <a:solidFill>
              <a:srgbClr val="2447A6"/>
            </a:solidFill>
            <a:tailEnd type="triangle" w="med" len="med"/>
          </a:ln>
        </p:spPr>
      </p:cxnSp>
      <p:cxnSp>
        <p:nvCxnSpPr>
          <p:cNvPr id="21" name="">
            <a:extLst xmlns:a="http://schemas.openxmlformats.org/drawingml/2006/main">
              <a:ext uri="{FF2B5EF4-FFF2-40B4-BE49-F238E27FC236}">
                <a16:creationId xmlns:a16="http://schemas.microsoft.com/office/drawing/2014/main" id="{6F18B6FC-F768-4268-8EC1-C5344C0B07CB}"/>
              </a:ext>
            </a:extLst>
          </p:cNvPr>
          <p:cNvCxnSpPr>
            <a:stCxn xmlns:a="http://schemas.openxmlformats.org/drawingml/2006/main" id="3" idx="3"/>
            <a:endCxn xmlns:a="http://schemas.openxmlformats.org/drawingml/2006/main" id="12" idx="1"/>
          </p:cNvCxnSpPr>
          <p:nvPr/>
        </p:nvCxnSpPr>
        <p:spPr>
          <a:xfrm xmlns:a="http://schemas.openxmlformats.org/drawingml/2006/main">
            <a:off x="3067050" y="4048125"/>
            <a:ext cx="1095375" cy="1171575"/>
          </a:xfrm>
          <a:prstGeom xmlns:a="http://schemas.openxmlformats.org/drawingml/2006/main" prst="bentConnector3">
            <a:avLst>
              <a:gd name="adj1" fmla="val 50000"/>
            </a:avLst>
          </a:prstGeom>
          <a:ln xmlns:a="http://schemas.openxmlformats.org/drawingml/2006/main" w="28575">
            <a:solidFill>
              <a:srgbClr val="7041B9"/>
            </a:solidFill>
            <a:tailEnd type="triangle" w="med" len="med"/>
          </a:ln>
        </p:spPr>
      </p:cxnSp>
      <p:cxnSp>
        <p:nvCxnSpPr>
          <p:cNvPr id="20" name="">
            <a:extLst xmlns:a="http://schemas.openxmlformats.org/drawingml/2006/main">
              <a:ext uri="{FF2B5EF4-FFF2-40B4-BE49-F238E27FC236}">
                <a16:creationId xmlns:a16="http://schemas.microsoft.com/office/drawing/2014/main" id="{705F5CA3-04A4-4A08-BF8F-3E9D4B1157D5}"/>
              </a:ext>
            </a:extLst>
          </p:cNvPr>
          <p:cNvCxnSpPr>
            <a:stCxn xmlns:a="http://schemas.openxmlformats.org/drawingml/2006/main" id="9" idx="3"/>
            <a:endCxn xmlns:a="http://schemas.openxmlformats.org/drawingml/2006/main" id="15" idx="1"/>
          </p:cNvCxnSpPr>
          <p:nvPr/>
        </p:nvCxnSpPr>
        <p:spPr>
          <a:xfrm xmlns:a="http://schemas.openxmlformats.org/drawingml/2006/main" flipV="1">
            <a:off x="7639050" y="4090988"/>
            <a:ext cx="1457325" cy="61913"/>
          </a:xfrm>
          <a:prstGeom xmlns:a="http://schemas.openxmlformats.org/drawingml/2006/main" prst="bentConnector3">
            <a:avLst>
              <a:gd name="adj1" fmla="val 50000"/>
            </a:avLst>
          </a:prstGeom>
          <a:ln xmlns:a="http://schemas.openxmlformats.org/drawingml/2006/main" w="28575">
            <a:solidFill>
              <a:srgbClr val="2447A6"/>
            </a:solidFill>
            <a:tailEnd type="triangle" w="med" len="med"/>
          </a:ln>
        </p:spPr>
      </p:cxnSp>
      <p:cxnSp>
        <p:nvCxnSpPr>
          <p:cNvPr id="19" name="">
            <a:extLst xmlns:a="http://schemas.openxmlformats.org/drawingml/2006/main">
              <a:ext uri="{FF2B5EF4-FFF2-40B4-BE49-F238E27FC236}">
                <a16:creationId xmlns:a16="http://schemas.microsoft.com/office/drawing/2014/main" id="{C9BED491-A580-44C4-832D-A156192EBD9A}"/>
              </a:ext>
            </a:extLst>
          </p:cNvPr>
          <p:cNvCxnSpPr>
            <a:stCxn xmlns:a="http://schemas.openxmlformats.org/drawingml/2006/main" id="3" idx="3"/>
            <a:endCxn xmlns:a="http://schemas.openxmlformats.org/drawingml/2006/main" id="9" idx="1"/>
          </p:cNvCxnSpPr>
          <p:nvPr/>
        </p:nvCxnSpPr>
        <p:spPr>
          <a:xfrm xmlns:a="http://schemas.openxmlformats.org/drawingml/2006/main">
            <a:off x="3067050" y="4048125"/>
            <a:ext cx="1095375" cy="104775"/>
          </a:xfrm>
          <a:prstGeom xmlns:a="http://schemas.openxmlformats.org/drawingml/2006/main" prst="bentConnector3">
            <a:avLst>
              <a:gd name="adj1" fmla="val 50000"/>
            </a:avLst>
          </a:prstGeom>
          <a:ln xmlns:a="http://schemas.openxmlformats.org/drawingml/2006/main" w="28575">
            <a:solidFill>
              <a:srgbClr val="7041B9"/>
            </a:solidFill>
            <a:tailEnd type="triangle" w="med" len="med"/>
          </a:ln>
        </p:spPr>
      </p:cxnSp>
      <p:cxnSp>
        <p:nvCxnSpPr>
          <p:cNvPr id="18" name="">
            <a:extLst xmlns:a="http://schemas.openxmlformats.org/drawingml/2006/main">
              <a:ext uri="{FF2B5EF4-FFF2-40B4-BE49-F238E27FC236}">
                <a16:creationId xmlns:a16="http://schemas.microsoft.com/office/drawing/2014/main" id="{9854BE74-C139-4E5E-9A0F-D45AF4EFDF9D}"/>
              </a:ext>
            </a:extLst>
          </p:cNvPr>
          <p:cNvCxnSpPr>
            <a:stCxn xmlns:a="http://schemas.openxmlformats.org/drawingml/2006/main" id="6" idx="3"/>
            <a:endCxn xmlns:a="http://schemas.openxmlformats.org/drawingml/2006/main" id="15" idx="1"/>
          </p:cNvCxnSpPr>
          <p:nvPr/>
        </p:nvCxnSpPr>
        <p:spPr>
          <a:xfrm xmlns:a="http://schemas.openxmlformats.org/drawingml/2006/main">
            <a:off x="7639050" y="3086100"/>
            <a:ext cx="1457325" cy="1004888"/>
          </a:xfrm>
          <a:prstGeom xmlns:a="http://schemas.openxmlformats.org/drawingml/2006/main" prst="bentConnector3">
            <a:avLst>
              <a:gd name="adj1" fmla="val 50000"/>
            </a:avLst>
          </a:prstGeom>
          <a:ln xmlns:a="http://schemas.openxmlformats.org/drawingml/2006/main" w="28575">
            <a:solidFill>
              <a:srgbClr val="2447A6"/>
            </a:solidFill>
            <a:tailEnd type="triangle" w="med" len="med"/>
          </a:ln>
        </p:spPr>
      </p:cxnSp>
      <p:cxnSp>
        <p:nvCxnSpPr>
          <p:cNvPr id="17" name="">
            <a:extLst xmlns:a="http://schemas.openxmlformats.org/drawingml/2006/main">
              <a:ext uri="{FF2B5EF4-FFF2-40B4-BE49-F238E27FC236}">
                <a16:creationId xmlns:a16="http://schemas.microsoft.com/office/drawing/2014/main" id="{2DC0CDE4-F3B5-41BD-83A7-A23C97290EE8}"/>
              </a:ext>
            </a:extLst>
          </p:cNvPr>
          <p:cNvCxnSpPr>
            <a:stCxn xmlns:a="http://schemas.openxmlformats.org/drawingml/2006/main" id="3" idx="3"/>
            <a:endCxn xmlns:a="http://schemas.openxmlformats.org/drawingml/2006/main" id="6" idx="1"/>
          </p:cNvCxnSpPr>
          <p:nvPr/>
        </p:nvCxnSpPr>
        <p:spPr>
          <a:xfrm xmlns:a="http://schemas.openxmlformats.org/drawingml/2006/main" flipV="1">
            <a:off x="3067050" y="3086100"/>
            <a:ext cx="1095375" cy="962025"/>
          </a:xfrm>
          <a:prstGeom xmlns:a="http://schemas.openxmlformats.org/drawingml/2006/main" prst="bentConnector3">
            <a:avLst>
              <a:gd name="adj1" fmla="val 50000"/>
            </a:avLst>
          </a:prstGeom>
          <a:ln xmlns:a="http://schemas.openxmlformats.org/drawingml/2006/main" w="28575">
            <a:solidFill>
              <a:srgbClr val="7041B9"/>
            </a:solidFill>
            <a:tailEnd type="triangle" w="med" len="med"/>
          </a:ln>
        </p:spPr>
      </p:cxnSp>
      <p:sp>
        <p:nvSpPr>
          <p:cNvPr id="27" name="">
            <a:extLst xmlns:a="http://schemas.openxmlformats.org/drawingml/2006/main">
              <a:ext uri="{FF2B5EF4-FFF2-40B4-BE49-F238E27FC236}">
                <a16:creationId xmlns:a16="http://schemas.microsoft.com/office/drawing/2014/main" id="{6D7BE99E-4469-4498-826E-BF66726F29D9}"/>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442"/>
                </a:solidFill>
                <a:latin typeface="Arial"/>
                <a:ea typeface="Arial"/>
                <a:cs typeface="Arial"/>
              </a:defRPr>
            </a:defPPr>
          </a:lstStyle>
          <a:p xmlns:a="http://schemas.openxmlformats.org/drawingml/2006/main">
            <a:pPr>
              <a:buNone/>
              <a:defRPr sz="3300" b="1">
                <a:solidFill>
                  <a:srgbClr val="122442"/>
                </a:solidFill>
                <a:latin typeface="Arial"/>
                <a:ea typeface="Arial"/>
                <a:cs typeface="Arial"/>
              </a:defRPr>
            </a:pPr>
            <a:r>
              <a:rPr sz="3300" b="1">
                <a:solidFill>
                  <a:srgbClr val="122442"/>
                </a:solidFill>
                <a:latin typeface="Arial"/>
                <a:ea typeface="Arial"/>
                <a:cs typeface="Arial"/>
              </a:rPr>
              <a:t>Specs evolve with the product</a:t>
            </a:r>
          </a:p>
        </p:txBody>
      </p:sp>
      <p:sp>
        <p:nvSpPr>
          <p:cNvPr id="2" name="">
            <a:extLst xmlns:a="http://schemas.openxmlformats.org/drawingml/2006/main">
              <a:ext uri="{FF2B5EF4-FFF2-40B4-BE49-F238E27FC236}">
                <a16:creationId xmlns:a16="http://schemas.microsoft.com/office/drawing/2014/main" id="{CDF1AFDC-FDB8-4D7F-9812-44A4F256159E}"/>
              </a:ext>
            </a:extLst>
          </p:cNvPr>
          <p:cNvSpPr>
            <a:spLocks xmlns:a="http://schemas.openxmlformats.org/drawingml/2006/main" noGrp="1"/>
          </p:cNvSpPr>
          <p:nvPr/>
        </p:nvSpPr>
        <p:spPr>
          <a:xfrm xmlns:a="http://schemas.openxmlformats.org/drawingml/2006/main">
            <a:off x="685800" y="15621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2447A6"/>
                </a:solidFill>
                <a:latin typeface="Arial"/>
                <a:ea typeface="Arial"/>
                <a:cs typeface="Arial"/>
              </a:defRPr>
            </a:defPPr>
          </a:lstStyle>
          <a:p xmlns:a="http://schemas.openxmlformats.org/drawingml/2006/main">
            <a:pPr>
              <a:buNone/>
              <a:defRPr sz="2325" b="1">
                <a:solidFill>
                  <a:srgbClr val="2447A6"/>
                </a:solidFill>
                <a:latin typeface="Arial"/>
                <a:ea typeface="Arial"/>
                <a:cs typeface="Arial"/>
              </a:defRPr>
            </a:pPr>
            <a:r>
              <a:rPr sz="2325" b="1">
                <a:solidFill>
                  <a:srgbClr val="2447A6"/>
                </a:solidFill>
                <a:latin typeface="Arial"/>
                <a:ea typeface="Arial"/>
                <a:cs typeface="Arial"/>
              </a:rPr>
              <a:t>Keep the spec, code and tests in sync</a:t>
            </a:r>
          </a:p>
          <a:p xmlns:a="http://schemas.openxmlformats.org/drawingml/2006/main">
            <a:pPr>
              <a:buNone/>
              <a:defRPr sz="2325" b="1">
                <a:solidFill>
                  <a:srgbClr val="2447A6"/>
                </a:solidFill>
                <a:latin typeface="Arial"/>
                <a:ea typeface="Arial"/>
                <a:cs typeface="Arial"/>
              </a:defRPr>
            </a:pPr>
            <a:r>
              <a:rPr sz="2325" b="1">
                <a:solidFill>
                  <a:srgbClr val="2447A6"/>
                </a:solidFill>
                <a:latin typeface="Arial"/>
                <a:ea typeface="Arial"/>
                <a:cs typeface="Arial"/>
              </a:rPr>
              <a:t>with every change.</a:t>
            </a:r>
          </a:p>
        </p:txBody>
      </p:sp>
      <p:sp>
        <p:nvSpPr>
          <p:cNvPr id="3" name="">
            <a:extLst xmlns:a="http://schemas.openxmlformats.org/drawingml/2006/main">
              <a:ext uri="{FF2B5EF4-FFF2-40B4-BE49-F238E27FC236}">
                <a16:creationId xmlns:a16="http://schemas.microsoft.com/office/drawing/2014/main" id="{C3B1D534-DB5C-42E1-A5BF-969582603E8D}"/>
              </a:ext>
            </a:extLst>
          </p:cNvPr>
          <p:cNvSpPr>
            <a:spLocks xmlns:a="http://schemas.openxmlformats.org/drawingml/2006/main" noGrp="1"/>
          </p:cNvSpPr>
          <p:nvPr/>
        </p:nvSpPr>
        <p:spPr>
          <a:xfrm xmlns:a="http://schemas.openxmlformats.org/drawingml/2006/main">
            <a:off x="685800" y="3600450"/>
            <a:ext cx="2381250" cy="895350"/>
          </a:xfrm>
          <a:prstGeom xmlns:a="http://schemas.openxmlformats.org/drawingml/2006/main" prst="roundRect">
            <a:avLst>
              <a:gd name="adj" fmla="val 17021"/>
            </a:avLst>
          </a:prstGeom>
          <a:solidFill xmlns:a="http://schemas.openxmlformats.org/drawingml/2006/main">
            <a:srgbClr val="7041B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0FE9A89-21F6-4C94-AF5D-ECC902DFB348}"/>
              </a:ext>
            </a:extLst>
          </p:cNvPr>
          <p:cNvSpPr>
            <a:spLocks xmlns:a="http://schemas.openxmlformats.org/drawingml/2006/main" noGrp="1"/>
          </p:cNvSpPr>
          <p:nvPr/>
        </p:nvSpPr>
        <p:spPr>
          <a:xfrm xmlns:a="http://schemas.openxmlformats.org/drawingml/2006/main">
            <a:off x="857250" y="3762375"/>
            <a:ext cx="20383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Every change</a:t>
            </a:r>
          </a:p>
        </p:txBody>
      </p:sp>
      <p:sp>
        <p:nvSpPr>
          <p:cNvPr id="5" name="">
            <a:extLst xmlns:a="http://schemas.openxmlformats.org/drawingml/2006/main">
              <a:ext uri="{FF2B5EF4-FFF2-40B4-BE49-F238E27FC236}">
                <a16:creationId xmlns:a16="http://schemas.microsoft.com/office/drawing/2014/main" id="{4CE0C376-9E7C-4926-AF1B-67E75AFFF77C}"/>
              </a:ext>
            </a:extLst>
          </p:cNvPr>
          <p:cNvSpPr>
            <a:spLocks xmlns:a="http://schemas.openxmlformats.org/drawingml/2006/main" noGrp="1"/>
          </p:cNvSpPr>
          <p:nvPr/>
        </p:nvSpPr>
        <p:spPr>
          <a:xfrm xmlns:a="http://schemas.openxmlformats.org/drawingml/2006/main">
            <a:off x="4162425" y="2324100"/>
            <a:ext cx="3476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7041B9"/>
                </a:solidFill>
                <a:latin typeface="Arial"/>
                <a:ea typeface="Arial"/>
                <a:cs typeface="Arial"/>
              </a:defRPr>
            </a:defPPr>
          </a:lstStyle>
          <a:p xmlns:a="http://schemas.openxmlformats.org/drawingml/2006/main">
            <a:pPr>
              <a:buNone/>
              <a:defRPr sz="1725" b="1">
                <a:solidFill>
                  <a:srgbClr val="7041B9"/>
                </a:solidFill>
                <a:latin typeface="Arial"/>
                <a:ea typeface="Arial"/>
                <a:cs typeface="Arial"/>
              </a:defRPr>
            </a:pPr>
            <a:r>
              <a:rPr sz="1725" b="1">
                <a:solidFill>
                  <a:srgbClr val="7041B9"/>
                </a:solidFill>
                <a:latin typeface="Arial"/>
                <a:ea typeface="Arial"/>
                <a:cs typeface="Arial"/>
              </a:rPr>
              <a:t>Agent updates all three</a:t>
            </a:r>
          </a:p>
        </p:txBody>
      </p:sp>
      <p:sp>
        <p:nvSpPr>
          <p:cNvPr id="6" name="">
            <a:extLst xmlns:a="http://schemas.openxmlformats.org/drawingml/2006/main">
              <a:ext uri="{FF2B5EF4-FFF2-40B4-BE49-F238E27FC236}">
                <a16:creationId xmlns:a16="http://schemas.microsoft.com/office/drawing/2014/main" id="{1C5CFEB0-FC62-44B3-9179-40973F2FA402}"/>
              </a:ext>
            </a:extLst>
          </p:cNvPr>
          <p:cNvSpPr>
            <a:spLocks xmlns:a="http://schemas.openxmlformats.org/drawingml/2006/main" noGrp="1"/>
          </p:cNvSpPr>
          <p:nvPr/>
        </p:nvSpPr>
        <p:spPr>
          <a:xfrm xmlns:a="http://schemas.openxmlformats.org/drawingml/2006/main">
            <a:off x="4162425" y="2638425"/>
            <a:ext cx="3476625" cy="895350"/>
          </a:xfrm>
          <a:prstGeom xmlns:a="http://schemas.openxmlformats.org/drawingml/2006/main" prst="roundRect">
            <a:avLst>
              <a:gd name="adj" fmla="val 17021"/>
            </a:avLst>
          </a:prstGeom>
          <a:solidFill xmlns:a="http://schemas.openxmlformats.org/drawingml/2006/main">
            <a:srgbClr val="2447A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444732E-017E-420D-946B-1BA50AE66E04}"/>
              </a:ext>
            </a:extLst>
          </p:cNvPr>
          <p:cNvSpPr>
            <a:spLocks xmlns:a="http://schemas.openxmlformats.org/drawingml/2006/main" noGrp="1"/>
          </p:cNvSpPr>
          <p:nvPr/>
        </p:nvSpPr>
        <p:spPr>
          <a:xfrm xmlns:a="http://schemas.openxmlformats.org/drawingml/2006/main">
            <a:off x="4352925" y="2752725"/>
            <a:ext cx="3095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FFFFFF"/>
                </a:solidFill>
                <a:latin typeface="Arial"/>
                <a:ea typeface="Arial"/>
                <a:cs typeface="Arial"/>
              </a:defRPr>
            </a:defPPr>
          </a:lstStyle>
          <a:p xmlns:a="http://schemas.openxmlformats.org/drawingml/2006/main">
            <a:pPr>
              <a:buNone/>
              <a:defRPr sz="2100" b="1">
                <a:solidFill>
                  <a:srgbClr val="FFFFFF"/>
                </a:solidFill>
                <a:latin typeface="Arial"/>
                <a:ea typeface="Arial"/>
                <a:cs typeface="Arial"/>
              </a:defRPr>
            </a:pPr>
            <a:r>
              <a:rPr sz="2100" b="1">
                <a:solidFill>
                  <a:srgbClr val="FFFFFF"/>
                </a:solidFill>
                <a:latin typeface="Arial"/>
                <a:ea typeface="Arial"/>
                <a:cs typeface="Arial"/>
              </a:rPr>
              <a:t>Spec</a:t>
            </a:r>
          </a:p>
        </p:txBody>
      </p:sp>
      <p:sp>
        <p:nvSpPr>
          <p:cNvPr id="8" name="">
            <a:extLst xmlns:a="http://schemas.openxmlformats.org/drawingml/2006/main">
              <a:ext uri="{FF2B5EF4-FFF2-40B4-BE49-F238E27FC236}">
                <a16:creationId xmlns:a16="http://schemas.microsoft.com/office/drawing/2014/main" id="{4419A2BF-3D89-41D0-8B2F-B00C0A1AEF10}"/>
              </a:ext>
            </a:extLst>
          </p:cNvPr>
          <p:cNvSpPr>
            <a:spLocks xmlns:a="http://schemas.openxmlformats.org/drawingml/2006/main" noGrp="1"/>
          </p:cNvSpPr>
          <p:nvPr/>
        </p:nvSpPr>
        <p:spPr>
          <a:xfrm xmlns:a="http://schemas.openxmlformats.org/drawingml/2006/main">
            <a:off x="4352925" y="3152775"/>
            <a:ext cx="3095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FFFFFF"/>
                </a:solidFill>
                <a:latin typeface="Arial"/>
                <a:ea typeface="Arial"/>
                <a:cs typeface="Arial"/>
              </a:defRPr>
            </a:defPPr>
          </a:lstStyle>
          <a:p xmlns:a="http://schemas.openxmlformats.org/drawingml/2006/main">
            <a:pPr>
              <a:buNone/>
              <a:defRPr sz="1725" b="0">
                <a:solidFill>
                  <a:srgbClr val="FFFFFF"/>
                </a:solidFill>
                <a:latin typeface="Arial"/>
                <a:ea typeface="Arial"/>
                <a:cs typeface="Arial"/>
              </a:defRPr>
            </a:pPr>
            <a:r>
              <a:rPr sz="1725" b="0">
                <a:solidFill>
                  <a:srgbClr val="FFFFFF"/>
                </a:solidFill>
                <a:latin typeface="Arial"/>
                <a:ea typeface="Arial"/>
                <a:cs typeface="Arial"/>
              </a:rPr>
              <a:t>The requirements</a:t>
            </a:r>
          </a:p>
        </p:txBody>
      </p:sp>
      <p:sp>
        <p:nvSpPr>
          <p:cNvPr id="9" name="">
            <a:extLst xmlns:a="http://schemas.openxmlformats.org/drawingml/2006/main">
              <a:ext uri="{FF2B5EF4-FFF2-40B4-BE49-F238E27FC236}">
                <a16:creationId xmlns:a16="http://schemas.microsoft.com/office/drawing/2014/main" id="{34442FA7-7163-404F-A81C-66911EC01015}"/>
              </a:ext>
            </a:extLst>
          </p:cNvPr>
          <p:cNvSpPr>
            <a:spLocks xmlns:a="http://schemas.openxmlformats.org/drawingml/2006/main" noGrp="1"/>
          </p:cNvSpPr>
          <p:nvPr/>
        </p:nvSpPr>
        <p:spPr>
          <a:xfrm xmlns:a="http://schemas.openxmlformats.org/drawingml/2006/main">
            <a:off x="4162425" y="3705225"/>
            <a:ext cx="3476625" cy="895350"/>
          </a:xfrm>
          <a:prstGeom xmlns:a="http://schemas.openxmlformats.org/drawingml/2006/main" prst="roundRect">
            <a:avLst>
              <a:gd name="adj" fmla="val 17021"/>
            </a:avLst>
          </a:prstGeom>
          <a:solidFill xmlns:a="http://schemas.openxmlformats.org/drawingml/2006/main">
            <a:srgbClr val="7041B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2056E6D-B6B1-40CC-9193-1A83E65776CB}"/>
              </a:ext>
            </a:extLst>
          </p:cNvPr>
          <p:cNvSpPr>
            <a:spLocks xmlns:a="http://schemas.openxmlformats.org/drawingml/2006/main" noGrp="1"/>
          </p:cNvSpPr>
          <p:nvPr/>
        </p:nvSpPr>
        <p:spPr>
          <a:xfrm xmlns:a="http://schemas.openxmlformats.org/drawingml/2006/main">
            <a:off x="4352925" y="3819525"/>
            <a:ext cx="3095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FFFFFF"/>
                </a:solidFill>
                <a:latin typeface="Arial"/>
                <a:ea typeface="Arial"/>
                <a:cs typeface="Arial"/>
              </a:defRPr>
            </a:defPPr>
          </a:lstStyle>
          <a:p xmlns:a="http://schemas.openxmlformats.org/drawingml/2006/main">
            <a:pPr>
              <a:buNone/>
              <a:defRPr sz="2100" b="1">
                <a:solidFill>
                  <a:srgbClr val="FFFFFF"/>
                </a:solidFill>
                <a:latin typeface="Arial"/>
                <a:ea typeface="Arial"/>
                <a:cs typeface="Arial"/>
              </a:defRPr>
            </a:pPr>
            <a:r>
              <a:rPr sz="2100" b="1">
                <a:solidFill>
                  <a:srgbClr val="FFFFFF"/>
                </a:solidFill>
                <a:latin typeface="Arial"/>
                <a:ea typeface="Arial"/>
                <a:cs typeface="Arial"/>
              </a:rPr>
              <a:t>Code</a:t>
            </a:r>
          </a:p>
        </p:txBody>
      </p:sp>
      <p:sp>
        <p:nvSpPr>
          <p:cNvPr id="11" name="">
            <a:extLst xmlns:a="http://schemas.openxmlformats.org/drawingml/2006/main">
              <a:ext uri="{FF2B5EF4-FFF2-40B4-BE49-F238E27FC236}">
                <a16:creationId xmlns:a16="http://schemas.microsoft.com/office/drawing/2014/main" id="{31BCDCB9-226A-4C25-8823-4CACA5F6DF44}"/>
              </a:ext>
            </a:extLst>
          </p:cNvPr>
          <p:cNvSpPr>
            <a:spLocks xmlns:a="http://schemas.openxmlformats.org/drawingml/2006/main" noGrp="1"/>
          </p:cNvSpPr>
          <p:nvPr/>
        </p:nvSpPr>
        <p:spPr>
          <a:xfrm xmlns:a="http://schemas.openxmlformats.org/drawingml/2006/main">
            <a:off x="4352925" y="4219575"/>
            <a:ext cx="3095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FFFFFF"/>
                </a:solidFill>
                <a:latin typeface="Arial"/>
                <a:ea typeface="Arial"/>
                <a:cs typeface="Arial"/>
              </a:defRPr>
            </a:defPPr>
          </a:lstStyle>
          <a:p xmlns:a="http://schemas.openxmlformats.org/drawingml/2006/main">
            <a:pPr>
              <a:buNone/>
              <a:defRPr sz="1725" b="0">
                <a:solidFill>
                  <a:srgbClr val="FFFFFF"/>
                </a:solidFill>
                <a:latin typeface="Arial"/>
                <a:ea typeface="Arial"/>
                <a:cs typeface="Arial"/>
              </a:defRPr>
            </a:pPr>
            <a:r>
              <a:rPr sz="1725" b="0">
                <a:solidFill>
                  <a:srgbClr val="FFFFFF"/>
                </a:solidFill>
                <a:latin typeface="Arial"/>
                <a:ea typeface="Arial"/>
                <a:cs typeface="Arial"/>
              </a:rPr>
              <a:t>The implementation</a:t>
            </a:r>
          </a:p>
        </p:txBody>
      </p:sp>
      <p:sp>
        <p:nvSpPr>
          <p:cNvPr id="12" name="">
            <a:extLst xmlns:a="http://schemas.openxmlformats.org/drawingml/2006/main">
              <a:ext uri="{FF2B5EF4-FFF2-40B4-BE49-F238E27FC236}">
                <a16:creationId xmlns:a16="http://schemas.microsoft.com/office/drawing/2014/main" id="{D81B8312-C93F-425D-ACD9-C3A2658A92E1}"/>
              </a:ext>
            </a:extLst>
          </p:cNvPr>
          <p:cNvSpPr>
            <a:spLocks xmlns:a="http://schemas.openxmlformats.org/drawingml/2006/main" noGrp="1"/>
          </p:cNvSpPr>
          <p:nvPr/>
        </p:nvSpPr>
        <p:spPr>
          <a:xfrm xmlns:a="http://schemas.openxmlformats.org/drawingml/2006/main">
            <a:off x="4162425" y="4772025"/>
            <a:ext cx="3476625" cy="895350"/>
          </a:xfrm>
          <a:prstGeom xmlns:a="http://schemas.openxmlformats.org/drawingml/2006/main" prst="roundRect">
            <a:avLst>
              <a:gd name="adj" fmla="val 17021"/>
            </a:avLst>
          </a:prstGeom>
          <a:solidFill xmlns:a="http://schemas.openxmlformats.org/drawingml/2006/main">
            <a:srgbClr val="067E96"/>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E898F83-CA16-40BC-BE70-AAA958A7D653}"/>
              </a:ext>
            </a:extLst>
          </p:cNvPr>
          <p:cNvSpPr>
            <a:spLocks xmlns:a="http://schemas.openxmlformats.org/drawingml/2006/main" noGrp="1"/>
          </p:cNvSpPr>
          <p:nvPr/>
        </p:nvSpPr>
        <p:spPr>
          <a:xfrm xmlns:a="http://schemas.openxmlformats.org/drawingml/2006/main">
            <a:off x="4352925" y="4886325"/>
            <a:ext cx="3095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FFFFFF"/>
                </a:solidFill>
                <a:latin typeface="Arial"/>
                <a:ea typeface="Arial"/>
                <a:cs typeface="Arial"/>
              </a:defRPr>
            </a:defPPr>
          </a:lstStyle>
          <a:p xmlns:a="http://schemas.openxmlformats.org/drawingml/2006/main">
            <a:pPr>
              <a:buNone/>
              <a:defRPr sz="2100" b="1">
                <a:solidFill>
                  <a:srgbClr val="FFFFFF"/>
                </a:solidFill>
                <a:latin typeface="Arial"/>
                <a:ea typeface="Arial"/>
                <a:cs typeface="Arial"/>
              </a:defRPr>
            </a:pPr>
            <a:r>
              <a:rPr sz="2100" b="1">
                <a:solidFill>
                  <a:srgbClr val="FFFFFF"/>
                </a:solidFill>
                <a:latin typeface="Arial"/>
                <a:ea typeface="Arial"/>
                <a:cs typeface="Arial"/>
              </a:rPr>
              <a:t>Tests</a:t>
            </a:r>
          </a:p>
        </p:txBody>
      </p:sp>
      <p:sp>
        <p:nvSpPr>
          <p:cNvPr id="14" name="">
            <a:extLst xmlns:a="http://schemas.openxmlformats.org/drawingml/2006/main">
              <a:ext uri="{FF2B5EF4-FFF2-40B4-BE49-F238E27FC236}">
                <a16:creationId xmlns:a16="http://schemas.microsoft.com/office/drawing/2014/main" id="{A99543E5-15E0-4B4C-AE28-8E99BC22AF0F}"/>
              </a:ext>
            </a:extLst>
          </p:cNvPr>
          <p:cNvSpPr>
            <a:spLocks xmlns:a="http://schemas.openxmlformats.org/drawingml/2006/main" noGrp="1"/>
          </p:cNvSpPr>
          <p:nvPr/>
        </p:nvSpPr>
        <p:spPr>
          <a:xfrm xmlns:a="http://schemas.openxmlformats.org/drawingml/2006/main">
            <a:off x="4352925" y="5286375"/>
            <a:ext cx="3095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FFFFFF"/>
                </a:solidFill>
                <a:latin typeface="Arial"/>
                <a:ea typeface="Arial"/>
                <a:cs typeface="Arial"/>
              </a:defRPr>
            </a:defPPr>
          </a:lstStyle>
          <a:p xmlns:a="http://schemas.openxmlformats.org/drawingml/2006/main">
            <a:pPr>
              <a:buNone/>
              <a:defRPr sz="1725" b="0">
                <a:solidFill>
                  <a:srgbClr val="FFFFFF"/>
                </a:solidFill>
                <a:latin typeface="Arial"/>
                <a:ea typeface="Arial"/>
                <a:cs typeface="Arial"/>
              </a:defRPr>
            </a:pPr>
            <a:r>
              <a:rPr sz="1725" b="0">
                <a:solidFill>
                  <a:srgbClr val="FFFFFF"/>
                </a:solidFill>
                <a:latin typeface="Arial"/>
                <a:ea typeface="Arial"/>
                <a:cs typeface="Arial"/>
              </a:rPr>
              <a:t>Check expected behavior</a:t>
            </a:r>
          </a:p>
        </p:txBody>
      </p:sp>
      <p:sp>
        <p:nvSpPr>
          <p:cNvPr id="15" name="">
            <a:extLst xmlns:a="http://schemas.openxmlformats.org/drawingml/2006/main">
              <a:ext uri="{FF2B5EF4-FFF2-40B4-BE49-F238E27FC236}">
                <a16:creationId xmlns:a16="http://schemas.microsoft.com/office/drawing/2014/main" id="{873F644C-BB34-4508-A0F9-2CA8F66BB43C}"/>
              </a:ext>
            </a:extLst>
          </p:cNvPr>
          <p:cNvSpPr>
            <a:spLocks xmlns:a="http://schemas.openxmlformats.org/drawingml/2006/main" noGrp="1"/>
          </p:cNvSpPr>
          <p:nvPr/>
        </p:nvSpPr>
        <p:spPr>
          <a:xfrm xmlns:a="http://schemas.openxmlformats.org/drawingml/2006/main">
            <a:off x="9096375" y="3600450"/>
            <a:ext cx="2409825" cy="981075"/>
          </a:xfrm>
          <a:prstGeom xmlns:a="http://schemas.openxmlformats.org/drawingml/2006/main" prst="roundRect">
            <a:avLst>
              <a:gd name="adj" fmla="val 15534"/>
            </a:avLst>
          </a:prstGeom>
          <a:solidFill xmlns:a="http://schemas.openxmlformats.org/drawingml/2006/main">
            <a:srgbClr val="2447A6"/>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AA26070-1C85-4931-9207-3E57DE74DDE6}"/>
              </a:ext>
            </a:extLst>
          </p:cNvPr>
          <p:cNvSpPr>
            <a:spLocks xmlns:a="http://schemas.openxmlformats.org/drawingml/2006/main" noGrp="1"/>
          </p:cNvSpPr>
          <p:nvPr/>
        </p:nvSpPr>
        <p:spPr>
          <a:xfrm xmlns:a="http://schemas.openxmlformats.org/drawingml/2006/main">
            <a:off x="9267825" y="3762375"/>
            <a:ext cx="20669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Human</a:t>
            </a:r>
          </a:p>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review</a:t>
            </a:r>
          </a:p>
        </p:txBody>
      </p:sp>
      <p:sp>
        <p:nvSpPr>
          <p:cNvPr id="23" name="">
            <a:extLst xmlns:a="http://schemas.openxmlformats.org/drawingml/2006/main">
              <a:ext uri="{FF2B5EF4-FFF2-40B4-BE49-F238E27FC236}">
                <a16:creationId xmlns:a16="http://schemas.microsoft.com/office/drawing/2014/main" id="{A36A2251-7265-43B3-81EA-05BA239B6BC6}"/>
              </a:ext>
            </a:extLst>
          </p:cNvPr>
          <p:cNvSpPr>
            <a:spLocks xmlns:a="http://schemas.openxmlformats.org/drawingml/2006/main" noGrp="1"/>
          </p:cNvSpPr>
          <p:nvPr/>
        </p:nvSpPr>
        <p:spPr>
          <a:xfrm xmlns:a="http://schemas.openxmlformats.org/drawingml/2006/main">
            <a:off x="685800" y="4781550"/>
            <a:ext cx="23812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22442"/>
                </a:solidFill>
                <a:latin typeface="Arial"/>
                <a:ea typeface="Arial"/>
                <a:cs typeface="Arial"/>
              </a:defRPr>
            </a:defPPr>
          </a:lstStyle>
          <a:p xmlns:a="http://schemas.openxmlformats.org/drawingml/2006/main">
            <a:pPr>
              <a:buNone/>
              <a:defRPr sz="1950" b="0">
                <a:solidFill>
                  <a:srgbClr val="122442"/>
                </a:solidFill>
                <a:latin typeface="Arial"/>
                <a:ea typeface="Arial"/>
                <a:cs typeface="Arial"/>
              </a:defRPr>
            </a:pPr>
            <a:r>
              <a:rPr sz="1950" b="0">
                <a:solidFill>
                  <a:srgbClr val="122442"/>
                </a:solidFill>
                <a:latin typeface="Arial"/>
                <a:ea typeface="Arial"/>
                <a:cs typeface="Arial"/>
              </a:rPr>
              <a:t>A new feature,</a:t>
            </a:r>
          </a:p>
          <a:p xmlns:a="http://schemas.openxmlformats.org/drawingml/2006/main">
            <a:pPr>
              <a:buNone/>
              <a:defRPr sz="1950" b="0">
                <a:solidFill>
                  <a:srgbClr val="122442"/>
                </a:solidFill>
                <a:latin typeface="Arial"/>
                <a:ea typeface="Arial"/>
                <a:cs typeface="Arial"/>
              </a:defRPr>
            </a:pPr>
            <a:r>
              <a:rPr sz="1950" b="0">
                <a:solidFill>
                  <a:srgbClr val="122442"/>
                </a:solidFill>
                <a:latin typeface="Arial"/>
                <a:ea typeface="Arial"/>
                <a:cs typeface="Arial"/>
              </a:rPr>
              <a:t>bug fix or</a:t>
            </a:r>
          </a:p>
          <a:p xmlns:a="http://schemas.openxmlformats.org/drawingml/2006/main">
            <a:pPr>
              <a:buNone/>
              <a:defRPr sz="1950" b="0">
                <a:solidFill>
                  <a:srgbClr val="122442"/>
                </a:solidFill>
                <a:latin typeface="Arial"/>
                <a:ea typeface="Arial"/>
                <a:cs typeface="Arial"/>
              </a:defRPr>
            </a:pPr>
            <a:r>
              <a:rPr sz="1950" b="0">
                <a:solidFill>
                  <a:srgbClr val="122442"/>
                </a:solidFill>
                <a:latin typeface="Arial"/>
                <a:ea typeface="Arial"/>
                <a:cs typeface="Arial"/>
              </a:rPr>
              <a:t>business rule.</a:t>
            </a:r>
          </a:p>
        </p:txBody>
      </p:sp>
      <p:sp>
        <p:nvSpPr>
          <p:cNvPr id="24" name="">
            <a:extLst xmlns:a="http://schemas.openxmlformats.org/drawingml/2006/main">
              <a:ext uri="{FF2B5EF4-FFF2-40B4-BE49-F238E27FC236}">
                <a16:creationId xmlns:a16="http://schemas.microsoft.com/office/drawing/2014/main" id="{4227E083-C81C-4A14-BD4F-154FC3556222}"/>
              </a:ext>
            </a:extLst>
          </p:cNvPr>
          <p:cNvSpPr>
            <a:spLocks xmlns:a="http://schemas.openxmlformats.org/drawingml/2006/main" noGrp="1"/>
          </p:cNvSpPr>
          <p:nvPr/>
        </p:nvSpPr>
        <p:spPr>
          <a:xfrm xmlns:a="http://schemas.openxmlformats.org/drawingml/2006/main">
            <a:off x="9096375" y="4867275"/>
            <a:ext cx="24098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122442"/>
                </a:solidFill>
                <a:latin typeface="Arial"/>
                <a:ea typeface="Arial"/>
                <a:cs typeface="Arial"/>
              </a:defRPr>
            </a:defPPr>
          </a:lstStyle>
          <a:p xmlns:a="http://schemas.openxmlformats.org/drawingml/2006/main">
            <a:pPr>
              <a:buNone/>
              <a:defRPr sz="1875" b="0">
                <a:solidFill>
                  <a:srgbClr val="122442"/>
                </a:solidFill>
                <a:latin typeface="Arial"/>
                <a:ea typeface="Arial"/>
                <a:cs typeface="Arial"/>
              </a:defRPr>
            </a:pPr>
            <a:r>
              <a:rPr sz="1875" b="0">
                <a:solidFill>
                  <a:srgbClr val="122442"/>
                </a:solidFill>
                <a:latin typeface="Arial"/>
                <a:ea typeface="Arial"/>
                <a:cs typeface="Arial"/>
              </a:rPr>
              <a:t>The spec must</a:t>
            </a:r>
          </a:p>
          <a:p xmlns:a="http://schemas.openxmlformats.org/drawingml/2006/main">
            <a:pPr>
              <a:buNone/>
              <a:defRPr sz="1875" b="0">
                <a:solidFill>
                  <a:srgbClr val="122442"/>
                </a:solidFill>
                <a:latin typeface="Arial"/>
                <a:ea typeface="Arial"/>
                <a:cs typeface="Arial"/>
              </a:defRPr>
            </a:pPr>
            <a:r>
              <a:rPr sz="1875" b="0">
                <a:solidFill>
                  <a:srgbClr val="122442"/>
                </a:solidFill>
                <a:latin typeface="Arial"/>
                <a:ea typeface="Arial"/>
                <a:cs typeface="Arial"/>
              </a:rPr>
              <a:t>still describe the</a:t>
            </a:r>
          </a:p>
          <a:p xmlns:a="http://schemas.openxmlformats.org/drawingml/2006/main">
            <a:pPr>
              <a:buNone/>
              <a:defRPr sz="1875" b="0">
                <a:solidFill>
                  <a:srgbClr val="122442"/>
                </a:solidFill>
                <a:latin typeface="Arial"/>
                <a:ea typeface="Arial"/>
                <a:cs typeface="Arial"/>
              </a:defRPr>
            </a:pPr>
            <a:r>
              <a:rPr sz="1875" b="0">
                <a:solidFill>
                  <a:srgbClr val="122442"/>
                </a:solidFill>
                <a:latin typeface="Arial"/>
                <a:ea typeface="Arial"/>
                <a:cs typeface="Arial"/>
              </a:rPr>
              <a:t>updated behavior.</a:t>
            </a:r>
          </a:p>
        </p:txBody>
      </p:sp>
      <p:sp>
        <p:nvSpPr>
          <p:cNvPr id="25" name="">
            <a:extLst xmlns:a="http://schemas.openxmlformats.org/drawingml/2006/main">
              <a:ext uri="{FF2B5EF4-FFF2-40B4-BE49-F238E27FC236}">
                <a16:creationId xmlns:a16="http://schemas.microsoft.com/office/drawing/2014/main" id="{B76505E8-AFB9-40E1-AD84-F84F427AAB42}"/>
              </a:ext>
            </a:extLst>
          </p:cNvPr>
          <p:cNvSpPr>
            <a:spLocks xmlns:a="http://schemas.openxmlformats.org/drawingml/2006/main" noGrp="1"/>
          </p:cNvSpPr>
          <p:nvPr/>
        </p:nvSpPr>
        <p:spPr>
          <a:xfrm xmlns:a="http://schemas.openxmlformats.org/drawingml/2006/main">
            <a:off x="685800" y="610552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2447A6"/>
                </a:solidFill>
                <a:latin typeface="Arial"/>
                <a:ea typeface="Arial"/>
                <a:cs typeface="Arial"/>
              </a:defRPr>
            </a:defPPr>
          </a:lstStyle>
          <a:p xmlns:a="http://schemas.openxmlformats.org/drawingml/2006/main">
            <a:pPr>
              <a:buNone/>
              <a:defRPr sz="2025" b="1">
                <a:solidFill>
                  <a:srgbClr val="2447A6"/>
                </a:solidFill>
                <a:latin typeface="Arial"/>
                <a:ea typeface="Arial"/>
                <a:cs typeface="Arial"/>
              </a:defRPr>
            </a:pPr>
            <a:r>
              <a:rPr sz="2025" b="1">
                <a:solidFill>
                  <a:srgbClr val="2447A6"/>
                </a:solidFill>
                <a:latin typeface="Arial"/>
                <a:ea typeface="Arial"/>
                <a:cs typeface="Arial"/>
              </a:rPr>
              <a:t>Keeping the spec current is part of the definition of done.</a:t>
            </a:r>
          </a:p>
        </p:txBody>
      </p:sp>
      <p:sp>
        <p:nvSpPr>
          <p:cNvPr id="26" name="">
            <a:extLst xmlns:a="http://schemas.openxmlformats.org/drawingml/2006/main">
              <a:ext uri="{FF2B5EF4-FFF2-40B4-BE49-F238E27FC236}">
                <a16:creationId xmlns:a16="http://schemas.microsoft.com/office/drawing/2014/main" id="{49574B7B-94F7-478D-AA4E-92E2D0FE1C5A}"/>
              </a:ext>
            </a:extLst>
          </p:cNvPr>
          <p:cNvSpPr>
            <a:spLocks xmlns:a="http://schemas.openxmlformats.org/drawingml/2006/main" noGrp="1"/>
          </p:cNvSpPr>
          <p:nvPr/>
        </p:nvSpPr>
        <p:spPr>
          <a:xfrm xmlns:a="http://schemas.openxmlformats.org/drawingml/2006/main">
            <a:off x="11049000" y="64008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4D5C74"/>
                </a:solidFill>
                <a:latin typeface="Arial"/>
                <a:ea typeface="Arial"/>
                <a:cs typeface="Arial"/>
              </a:defRPr>
            </a:defPPr>
          </a:lstStyle>
          <a:p xmlns:a="http://schemas.openxmlformats.org/drawingml/2006/main">
            <a:pPr>
              <a:buNone/>
              <a:defRPr sz="1275" b="0">
                <a:solidFill>
                  <a:srgbClr val="4D5C74"/>
                </a:solidFill>
                <a:latin typeface="Arial"/>
                <a:ea typeface="Arial"/>
                <a:cs typeface="Arial"/>
              </a:defRPr>
            </a:pPr>
            <a:r>
              <a:rPr sz="1275" b="0">
                <a:solidFill>
                  <a:srgbClr val="4D5C74"/>
                </a:solidFill>
                <a:latin typeface="Arial"/>
                <a:ea typeface="Arial"/>
                <a:cs typeface="Arial"/>
              </a:rPr>
              <a:t>15</a:t>
            </a:r>
          </a:p>
        </p:txBody>
      </p:sp>
    </p:spTree>
    <p:extLst>
      <p:ext uri="{BB962C8B-B14F-4D97-AF65-F5344CB8AC3E}">
        <p14:creationId xmlns:p14="http://schemas.microsoft.com/office/powerpoint/2010/main" val="665432256"/>
      </p:ext>
    </p:extLst>
  </p:cSld>
</p:sld>
</file>

<file path=ppt/slides/slide16.xml><?xml version="1.0" encoding="utf-8"?>
<p:sld xmlns:p="http://schemas.openxmlformats.org/presentationml/2006/main">
  <p:cSld>
    <p:bg>
      <p:bgPr>
        <a:gradFill xmlns:a="http://schemas.openxmlformats.org/drawingml/2006/main">
          <a:gsLst>
            <a:gs pos="0">
              <a:srgbClr val="101F52"/>
            </a:gs>
            <a:gs pos="53000">
              <a:srgbClr val="2447A6"/>
            </a:gs>
            <a:gs pos="100000">
              <a:srgbClr val="7041B9"/>
            </a:gs>
          </a:gsLst>
          <a:lin ang="1500000"/>
        </a:gra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35E89D75-F8F7-4B74-892B-BC8D2F036812}"/>
              </a:ext>
            </a:extLst>
          </p:cNvPr>
          <p:cNvCxnSpPr>
            <a:stCxn xmlns:a="http://schemas.openxmlformats.org/drawingml/2006/main" id="5" idx="3"/>
            <a:endCxn xmlns:a="http://schemas.openxmlformats.org/drawingml/2006/main" id="7" idx="1"/>
          </p:cNvCxnSpPr>
          <p:nvPr/>
        </p:nvCxnSpPr>
        <p:spPr>
          <a:xfrm xmlns:a="http://schemas.openxmlformats.org/drawingml/2006/main">
            <a:off x="7667625" y="3133725"/>
            <a:ext cx="695325" cy="0"/>
          </a:xfrm>
          <a:prstGeom xmlns:a="http://schemas.openxmlformats.org/drawingml/2006/main" prst="straightConnector1">
            <a:avLst/>
          </a:prstGeom>
          <a:ln xmlns:a="http://schemas.openxmlformats.org/drawingml/2006/main" w="28575">
            <a:solidFill>
              <a:srgbClr val="A8D7FA"/>
            </a:solidFill>
            <a:tailEnd type="triangle" w="med" len="med"/>
          </a:ln>
        </p:spPr>
      </p:cxnSp>
      <p:cxnSp>
        <p:nvCxnSpPr>
          <p:cNvPr id="9" name="">
            <a:extLst xmlns:a="http://schemas.openxmlformats.org/drawingml/2006/main">
              <a:ext uri="{FF2B5EF4-FFF2-40B4-BE49-F238E27FC236}">
                <a16:creationId xmlns:a16="http://schemas.microsoft.com/office/drawing/2014/main" id="{746BCC11-437D-4B72-9F76-C4CD5C2A0657}"/>
              </a:ext>
            </a:extLst>
          </p:cNvPr>
          <p:cNvCxnSpPr>
            <a:stCxn xmlns:a="http://schemas.openxmlformats.org/drawingml/2006/main" id="3" idx="3"/>
            <a:endCxn xmlns:a="http://schemas.openxmlformats.org/drawingml/2006/main" id="5" idx="1"/>
          </p:cNvCxnSpPr>
          <p:nvPr/>
        </p:nvCxnSpPr>
        <p:spPr>
          <a:xfrm xmlns:a="http://schemas.openxmlformats.org/drawingml/2006/main">
            <a:off x="3829050" y="3133725"/>
            <a:ext cx="695325" cy="0"/>
          </a:xfrm>
          <a:prstGeom xmlns:a="http://schemas.openxmlformats.org/drawingml/2006/main" prst="straightConnector1">
            <a:avLst/>
          </a:prstGeom>
          <a:ln xmlns:a="http://schemas.openxmlformats.org/drawingml/2006/main" w="28575">
            <a:solidFill>
              <a:srgbClr val="A8D7FA"/>
            </a:solidFill>
            <a:tailEnd type="triangle" w="med" len="med"/>
          </a:ln>
        </p:spPr>
      </p:cxnSp>
      <p:sp>
        <p:nvSpPr>
          <p:cNvPr id="17" name="">
            <a:extLst xmlns:a="http://schemas.openxmlformats.org/drawingml/2006/main">
              <a:ext uri="{FF2B5EF4-FFF2-40B4-BE49-F238E27FC236}">
                <a16:creationId xmlns:a16="http://schemas.microsoft.com/office/drawing/2014/main" id="{BA3D8EEB-111F-4DCF-BFFC-E509F0BBDAB1}"/>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FFFFFF"/>
                </a:solidFill>
                <a:latin typeface="Arial"/>
                <a:ea typeface="Arial"/>
                <a:cs typeface="Arial"/>
              </a:defRPr>
            </a:defPPr>
          </a:lstStyle>
          <a:p xmlns:a="http://schemas.openxmlformats.org/drawingml/2006/main">
            <a:pPr>
              <a:buNone/>
              <a:defRPr sz="3300" b="1">
                <a:solidFill>
                  <a:srgbClr val="FFFFFF"/>
                </a:solidFill>
                <a:latin typeface="Arial"/>
                <a:ea typeface="Arial"/>
                <a:cs typeface="Arial"/>
              </a:defRPr>
            </a:pPr>
            <a:r>
              <a:rPr sz="3300" b="1">
                <a:solidFill>
                  <a:srgbClr val="FFFFFF"/>
                </a:solidFill>
                <a:latin typeface="Arial"/>
                <a:ea typeface="Arial"/>
                <a:cs typeface="Arial"/>
              </a:rPr>
              <a:t>What SDD gives the team</a:t>
            </a:r>
          </a:p>
        </p:txBody>
      </p:sp>
      <p:sp>
        <p:nvSpPr>
          <p:cNvPr id="2" name="">
            <a:extLst xmlns:a="http://schemas.openxmlformats.org/drawingml/2006/main">
              <a:ext uri="{FF2B5EF4-FFF2-40B4-BE49-F238E27FC236}">
                <a16:creationId xmlns:a16="http://schemas.microsoft.com/office/drawing/2014/main" id="{AA170865-5AF8-45D8-834F-421A57D9D535}"/>
              </a:ext>
            </a:extLst>
          </p:cNvPr>
          <p:cNvSpPr>
            <a:spLocks xmlns:a="http://schemas.openxmlformats.org/drawingml/2006/main" noGrp="1"/>
          </p:cNvSpPr>
          <p:nvPr/>
        </p:nvSpPr>
        <p:spPr>
          <a:xfrm xmlns:a="http://schemas.openxmlformats.org/drawingml/2006/main">
            <a:off x="685800" y="152400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FFFFF"/>
                </a:solidFill>
                <a:latin typeface="Arial"/>
                <a:ea typeface="Arial"/>
                <a:cs typeface="Arial"/>
              </a:defRPr>
            </a:defPPr>
          </a:lstStyle>
          <a:p xmlns:a="http://schemas.openxmlformats.org/drawingml/2006/main">
            <a:pPr>
              <a:buNone/>
              <a:defRPr sz="2175" b="0">
                <a:solidFill>
                  <a:srgbClr val="FFFFFF"/>
                </a:solidFill>
                <a:latin typeface="Arial"/>
                <a:ea typeface="Arial"/>
                <a:cs typeface="Arial"/>
              </a:defRPr>
            </a:pPr>
            <a:r>
              <a:rPr sz="2175" b="0">
                <a:solidFill>
                  <a:srgbClr val="FFFFFF"/>
                </a:solidFill>
                <a:latin typeface="Arial"/>
                <a:ea typeface="Arial"/>
                <a:cs typeface="Arial"/>
              </a:rPr>
              <a:t>Domain experts define what the software should do.</a:t>
            </a:r>
          </a:p>
          <a:p xmlns:a="http://schemas.openxmlformats.org/drawingml/2006/main">
            <a:pPr>
              <a:buNone/>
              <a:defRPr sz="2175" b="0">
                <a:solidFill>
                  <a:srgbClr val="FFFFFF"/>
                </a:solidFill>
                <a:latin typeface="Arial"/>
                <a:ea typeface="Arial"/>
                <a:cs typeface="Arial"/>
              </a:defRPr>
            </a:pPr>
            <a:r>
              <a:rPr sz="2175" b="0">
                <a:solidFill>
                  <a:srgbClr val="FFFFFF"/>
                </a:solidFill>
                <a:latin typeface="Arial"/>
                <a:ea typeface="Arial"/>
                <a:cs typeface="Arial"/>
              </a:rPr>
              <a:t>Agents help implement it. This is software engineering with AI.</a:t>
            </a:r>
          </a:p>
        </p:txBody>
      </p:sp>
      <p:sp>
        <p:nvSpPr>
          <p:cNvPr id="3" name="">
            <a:extLst xmlns:a="http://schemas.openxmlformats.org/drawingml/2006/main">
              <a:ext uri="{FF2B5EF4-FFF2-40B4-BE49-F238E27FC236}">
                <a16:creationId xmlns:a16="http://schemas.microsoft.com/office/drawing/2014/main" id="{38FA1E6A-0E40-4310-83E8-74ED3D1D8FC7}"/>
              </a:ext>
            </a:extLst>
          </p:cNvPr>
          <p:cNvSpPr>
            <a:spLocks xmlns:a="http://schemas.openxmlformats.org/drawingml/2006/main" noGrp="1"/>
          </p:cNvSpPr>
          <p:nvPr/>
        </p:nvSpPr>
        <p:spPr>
          <a:xfrm xmlns:a="http://schemas.openxmlformats.org/drawingml/2006/main">
            <a:off x="685800" y="2686050"/>
            <a:ext cx="3143250" cy="895350"/>
          </a:xfrm>
          <a:prstGeom xmlns:a="http://schemas.openxmlformats.org/drawingml/2006/main" prst="roundRect">
            <a:avLst>
              <a:gd name="adj" fmla="val 17021"/>
            </a:avLst>
          </a:prstGeom>
          <a:solidFill xmlns:a="http://schemas.openxmlformats.org/drawingml/2006/main">
            <a:srgbClr val="2447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ECB27AA-0C32-4CF8-B47C-88A18191D26E}"/>
              </a:ext>
            </a:extLst>
          </p:cNvPr>
          <p:cNvSpPr>
            <a:spLocks xmlns:a="http://schemas.openxmlformats.org/drawingml/2006/main" noGrp="1"/>
          </p:cNvSpPr>
          <p:nvPr/>
        </p:nvSpPr>
        <p:spPr>
          <a:xfrm xmlns:a="http://schemas.openxmlformats.org/drawingml/2006/main">
            <a:off x="857250" y="2847975"/>
            <a:ext cx="28003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Structure and guardrails</a:t>
            </a:r>
          </a:p>
        </p:txBody>
      </p:sp>
      <p:sp>
        <p:nvSpPr>
          <p:cNvPr id="5" name="">
            <a:extLst xmlns:a="http://schemas.openxmlformats.org/drawingml/2006/main">
              <a:ext uri="{FF2B5EF4-FFF2-40B4-BE49-F238E27FC236}">
                <a16:creationId xmlns:a16="http://schemas.microsoft.com/office/drawing/2014/main" id="{4096ADF7-7AFB-4217-942C-E1021EBC2295}"/>
              </a:ext>
            </a:extLst>
          </p:cNvPr>
          <p:cNvSpPr>
            <a:spLocks xmlns:a="http://schemas.openxmlformats.org/drawingml/2006/main" noGrp="1"/>
          </p:cNvSpPr>
          <p:nvPr/>
        </p:nvSpPr>
        <p:spPr>
          <a:xfrm xmlns:a="http://schemas.openxmlformats.org/drawingml/2006/main">
            <a:off x="4524375" y="2686050"/>
            <a:ext cx="3143250" cy="895350"/>
          </a:xfrm>
          <a:prstGeom xmlns:a="http://schemas.openxmlformats.org/drawingml/2006/main" prst="roundRect">
            <a:avLst>
              <a:gd name="adj" fmla="val 17021"/>
            </a:avLst>
          </a:prstGeom>
          <a:solidFill xmlns:a="http://schemas.openxmlformats.org/drawingml/2006/main">
            <a:srgbClr val="7041B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5B6650B-CCD3-4F4D-A8AA-F9C080843BB2}"/>
              </a:ext>
            </a:extLst>
          </p:cNvPr>
          <p:cNvSpPr>
            <a:spLocks xmlns:a="http://schemas.openxmlformats.org/drawingml/2006/main" noGrp="1"/>
          </p:cNvSpPr>
          <p:nvPr/>
        </p:nvSpPr>
        <p:spPr>
          <a:xfrm xmlns:a="http://schemas.openxmlformats.org/drawingml/2006/main">
            <a:off x="4695825" y="2847975"/>
            <a:ext cx="28003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Verifiable behavior</a:t>
            </a:r>
          </a:p>
        </p:txBody>
      </p:sp>
      <p:sp>
        <p:nvSpPr>
          <p:cNvPr id="7" name="">
            <a:extLst xmlns:a="http://schemas.openxmlformats.org/drawingml/2006/main">
              <a:ext uri="{FF2B5EF4-FFF2-40B4-BE49-F238E27FC236}">
                <a16:creationId xmlns:a16="http://schemas.microsoft.com/office/drawing/2014/main" id="{344F0260-5248-4556-B9AD-7A4551030CAA}"/>
              </a:ext>
            </a:extLst>
          </p:cNvPr>
          <p:cNvSpPr>
            <a:spLocks xmlns:a="http://schemas.openxmlformats.org/drawingml/2006/main" noGrp="1"/>
          </p:cNvSpPr>
          <p:nvPr/>
        </p:nvSpPr>
        <p:spPr>
          <a:xfrm xmlns:a="http://schemas.openxmlformats.org/drawingml/2006/main">
            <a:off x="8362950" y="2686050"/>
            <a:ext cx="3143250" cy="895350"/>
          </a:xfrm>
          <a:prstGeom xmlns:a="http://schemas.openxmlformats.org/drawingml/2006/main" prst="roundRect">
            <a:avLst>
              <a:gd name="adj" fmla="val 17021"/>
            </a:avLst>
          </a:prstGeom>
          <a:solidFill xmlns:a="http://schemas.openxmlformats.org/drawingml/2006/main">
            <a:srgbClr val="067E9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783E8C9-9A2A-475E-82E9-4C0B4FD52CA6}"/>
              </a:ext>
            </a:extLst>
          </p:cNvPr>
          <p:cNvSpPr>
            <a:spLocks xmlns:a="http://schemas.openxmlformats.org/drawingml/2006/main" noGrp="1"/>
          </p:cNvSpPr>
          <p:nvPr/>
        </p:nvSpPr>
        <p:spPr>
          <a:xfrm xmlns:a="http://schemas.openxmlformats.org/drawingml/2006/main">
            <a:off x="8534400" y="2847975"/>
            <a:ext cx="28003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Easier maintenance</a:t>
            </a:r>
          </a:p>
        </p:txBody>
      </p:sp>
      <p:sp>
        <p:nvSpPr>
          <p:cNvPr id="11" name="">
            <a:extLst xmlns:a="http://schemas.openxmlformats.org/drawingml/2006/main">
              <a:ext uri="{FF2B5EF4-FFF2-40B4-BE49-F238E27FC236}">
                <a16:creationId xmlns:a16="http://schemas.microsoft.com/office/drawing/2014/main" id="{5E22ECFB-B881-4C95-9270-1AA23FD6C0DB}"/>
              </a:ext>
            </a:extLst>
          </p:cNvPr>
          <p:cNvSpPr>
            <a:spLocks xmlns:a="http://schemas.openxmlformats.org/drawingml/2006/main" noGrp="1"/>
          </p:cNvSpPr>
          <p:nvPr/>
        </p:nvSpPr>
        <p:spPr>
          <a:xfrm xmlns:a="http://schemas.openxmlformats.org/drawingml/2006/main">
            <a:off x="685800" y="3876675"/>
            <a:ext cx="3143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FFFFF"/>
                </a:solidFill>
                <a:latin typeface="Arial"/>
                <a:ea typeface="Arial"/>
                <a:cs typeface="Arial"/>
              </a:defRPr>
            </a:defPPr>
          </a:lstStyle>
          <a:p xmlns:a="http://schemas.openxmlformats.org/drawingml/2006/main">
            <a:pPr>
              <a:buNone/>
              <a:defRPr sz="1875" b="0">
                <a:solidFill>
                  <a:srgbClr val="FFFFFF"/>
                </a:solidFill>
                <a:latin typeface="Arial"/>
                <a:ea typeface="Arial"/>
                <a:cs typeface="Arial"/>
              </a:defRPr>
            </a:pPr>
            <a:r>
              <a:rPr sz="1875" b="0">
                <a:solidFill>
                  <a:srgbClr val="FFFFFF"/>
                </a:solidFill>
                <a:latin typeface="Arial"/>
                <a:ea typeface="Arial"/>
                <a:cs typeface="Arial"/>
              </a:rPr>
              <a:t>Explicit rules, small tasks</a:t>
            </a:r>
          </a:p>
          <a:p xmlns:a="http://schemas.openxmlformats.org/drawingml/2006/main">
            <a:pPr>
              <a:buNone/>
              <a:defRPr sz="1875" b="0">
                <a:solidFill>
                  <a:srgbClr val="FFFFFF"/>
                </a:solidFill>
                <a:latin typeface="Arial"/>
                <a:ea typeface="Arial"/>
                <a:cs typeface="Arial"/>
              </a:defRPr>
            </a:pPr>
            <a:r>
              <a:rPr sz="1875" b="0">
                <a:solidFill>
                  <a:srgbClr val="FFFFFF"/>
                </a:solidFill>
                <a:latin typeface="Arial"/>
                <a:ea typeface="Arial"/>
                <a:cs typeface="Arial"/>
              </a:rPr>
              <a:t>and sound engineering</a:t>
            </a:r>
          </a:p>
          <a:p xmlns:a="http://schemas.openxmlformats.org/drawingml/2006/main">
            <a:pPr>
              <a:buNone/>
              <a:defRPr sz="1875" b="0">
                <a:solidFill>
                  <a:srgbClr val="FFFFFF"/>
                </a:solidFill>
                <a:latin typeface="Arial"/>
                <a:ea typeface="Arial"/>
                <a:cs typeface="Arial"/>
              </a:defRPr>
            </a:pPr>
            <a:r>
              <a:rPr sz="1875" b="0">
                <a:solidFill>
                  <a:srgbClr val="FFFFFF"/>
                </a:solidFill>
                <a:latin typeface="Arial"/>
                <a:ea typeface="Arial"/>
                <a:cs typeface="Arial"/>
              </a:rPr>
              <a:t>practices keep</a:t>
            </a:r>
          </a:p>
          <a:p xmlns:a="http://schemas.openxmlformats.org/drawingml/2006/main">
            <a:pPr>
              <a:buNone/>
              <a:defRPr sz="1875" b="0">
                <a:solidFill>
                  <a:srgbClr val="FFFFFF"/>
                </a:solidFill>
                <a:latin typeface="Arial"/>
                <a:ea typeface="Arial"/>
                <a:cs typeface="Arial"/>
              </a:defRPr>
            </a:pPr>
            <a:r>
              <a:rPr sz="1875" b="0">
                <a:solidFill>
                  <a:srgbClr val="FFFFFF"/>
                </a:solidFill>
                <a:latin typeface="Arial"/>
                <a:ea typeface="Arial"/>
                <a:cs typeface="Arial"/>
              </a:rPr>
              <a:t>vibe coding in check.</a:t>
            </a:r>
          </a:p>
        </p:txBody>
      </p:sp>
      <p:sp>
        <p:nvSpPr>
          <p:cNvPr id="12" name="">
            <a:extLst xmlns:a="http://schemas.openxmlformats.org/drawingml/2006/main">
              <a:ext uri="{FF2B5EF4-FFF2-40B4-BE49-F238E27FC236}">
                <a16:creationId xmlns:a16="http://schemas.microsoft.com/office/drawing/2014/main" id="{9D8B127B-18AA-4A74-A866-2006010FF645}"/>
              </a:ext>
            </a:extLst>
          </p:cNvPr>
          <p:cNvSpPr>
            <a:spLocks xmlns:a="http://schemas.openxmlformats.org/drawingml/2006/main" noGrp="1"/>
          </p:cNvSpPr>
          <p:nvPr/>
        </p:nvSpPr>
        <p:spPr>
          <a:xfrm xmlns:a="http://schemas.openxmlformats.org/drawingml/2006/main">
            <a:off x="4524375" y="3876675"/>
            <a:ext cx="3143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FFFFF"/>
                </a:solidFill>
                <a:latin typeface="Arial"/>
                <a:ea typeface="Arial"/>
                <a:cs typeface="Arial"/>
              </a:defRPr>
            </a:defPPr>
          </a:lstStyle>
          <a:p xmlns:a="http://schemas.openxmlformats.org/drawingml/2006/main">
            <a:pPr>
              <a:buNone/>
              <a:defRPr sz="1875" b="0">
                <a:solidFill>
                  <a:srgbClr val="FFFFFF"/>
                </a:solidFill>
                <a:latin typeface="Arial"/>
                <a:ea typeface="Arial"/>
                <a:cs typeface="Arial"/>
              </a:defRPr>
            </a:pPr>
            <a:r>
              <a:rPr sz="1875" b="0">
                <a:solidFill>
                  <a:srgbClr val="FFFFFF"/>
                </a:solidFill>
                <a:latin typeface="Arial"/>
                <a:ea typeface="Arial"/>
                <a:cs typeface="Arial"/>
              </a:rPr>
              <a:t>The agent writes code.</a:t>
            </a:r>
          </a:p>
          <a:p xmlns:a="http://schemas.openxmlformats.org/drawingml/2006/main">
            <a:pPr>
              <a:buNone/>
              <a:defRPr sz="1875" b="0">
                <a:solidFill>
                  <a:srgbClr val="FFFFFF"/>
                </a:solidFill>
                <a:latin typeface="Arial"/>
                <a:ea typeface="Arial"/>
                <a:cs typeface="Arial"/>
              </a:defRPr>
            </a:pPr>
            <a:r>
              <a:rPr sz="1875" b="0">
                <a:solidFill>
                  <a:srgbClr val="FFFFFF"/>
                </a:solidFill>
                <a:latin typeface="Arial"/>
                <a:ea typeface="Arial"/>
                <a:cs typeface="Arial"/>
              </a:rPr>
              <a:t>Tests check key rules.</a:t>
            </a:r>
          </a:p>
          <a:p xmlns:a="http://schemas.openxmlformats.org/drawingml/2006/main">
            <a:pPr>
              <a:buNone/>
              <a:defRPr sz="1875" b="0">
                <a:solidFill>
                  <a:srgbClr val="FFFFFF"/>
                </a:solidFill>
                <a:latin typeface="Arial"/>
                <a:ea typeface="Arial"/>
                <a:cs typeface="Arial"/>
              </a:defRPr>
            </a:pPr>
            <a:r>
              <a:rPr sz="1875" b="0">
                <a:solidFill>
                  <a:srgbClr val="FFFFFF"/>
                </a:solidFill>
                <a:latin typeface="Arial"/>
                <a:ea typeface="Arial"/>
                <a:cs typeface="Arial"/>
              </a:rPr>
              <a:t>People assess</a:t>
            </a:r>
          </a:p>
          <a:p xmlns:a="http://schemas.openxmlformats.org/drawingml/2006/main">
            <a:pPr>
              <a:buNone/>
              <a:defRPr sz="1875" b="0">
                <a:solidFill>
                  <a:srgbClr val="FFFFFF"/>
                </a:solidFill>
                <a:latin typeface="Arial"/>
                <a:ea typeface="Arial"/>
                <a:cs typeface="Arial"/>
              </a:defRPr>
            </a:pPr>
            <a:r>
              <a:rPr sz="1875" b="0">
                <a:solidFill>
                  <a:srgbClr val="FFFFFF"/>
                </a:solidFill>
                <a:latin typeface="Arial"/>
                <a:ea typeface="Arial"/>
                <a:cs typeface="Arial"/>
              </a:rPr>
              <a:t>the result.</a:t>
            </a:r>
          </a:p>
        </p:txBody>
      </p:sp>
      <p:sp>
        <p:nvSpPr>
          <p:cNvPr id="13" name="">
            <a:extLst xmlns:a="http://schemas.openxmlformats.org/drawingml/2006/main">
              <a:ext uri="{FF2B5EF4-FFF2-40B4-BE49-F238E27FC236}">
                <a16:creationId xmlns:a16="http://schemas.microsoft.com/office/drawing/2014/main" id="{098AFDE3-3A56-4599-A44F-8B63705EC4F7}"/>
              </a:ext>
            </a:extLst>
          </p:cNvPr>
          <p:cNvSpPr>
            <a:spLocks xmlns:a="http://schemas.openxmlformats.org/drawingml/2006/main" noGrp="1"/>
          </p:cNvSpPr>
          <p:nvPr/>
        </p:nvSpPr>
        <p:spPr>
          <a:xfrm xmlns:a="http://schemas.openxmlformats.org/drawingml/2006/main">
            <a:off x="8362950" y="3876675"/>
            <a:ext cx="3143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FFFFF"/>
                </a:solidFill>
                <a:latin typeface="Arial"/>
                <a:ea typeface="Arial"/>
                <a:cs typeface="Arial"/>
              </a:defRPr>
            </a:defPPr>
          </a:lstStyle>
          <a:p xmlns:a="http://schemas.openxmlformats.org/drawingml/2006/main">
            <a:pPr>
              <a:buNone/>
              <a:defRPr sz="1875" b="0">
                <a:solidFill>
                  <a:srgbClr val="FFFFFF"/>
                </a:solidFill>
                <a:latin typeface="Arial"/>
                <a:ea typeface="Arial"/>
                <a:cs typeface="Arial"/>
              </a:defRPr>
            </a:pPr>
            <a:r>
              <a:rPr sz="1875" b="0">
                <a:solidFill>
                  <a:srgbClr val="FFFFFF"/>
                </a:solidFill>
                <a:latin typeface="Arial"/>
                <a:ea typeface="Arial"/>
                <a:cs typeface="Arial"/>
              </a:rPr>
              <a:t>The next developer</a:t>
            </a:r>
          </a:p>
          <a:p xmlns:a="http://schemas.openxmlformats.org/drawingml/2006/main">
            <a:pPr>
              <a:buNone/>
              <a:defRPr sz="1875" b="0">
                <a:solidFill>
                  <a:srgbClr val="FFFFFF"/>
                </a:solidFill>
                <a:latin typeface="Arial"/>
                <a:ea typeface="Arial"/>
                <a:cs typeface="Arial"/>
              </a:defRPr>
            </a:pPr>
            <a:r>
              <a:rPr sz="1875" b="0">
                <a:solidFill>
                  <a:srgbClr val="FFFFFF"/>
                </a:solidFill>
                <a:latin typeface="Arial"/>
                <a:ea typeface="Arial"/>
                <a:cs typeface="Arial"/>
              </a:rPr>
              <a:t>or agent understands</a:t>
            </a:r>
          </a:p>
          <a:p xmlns:a="http://schemas.openxmlformats.org/drawingml/2006/main">
            <a:pPr>
              <a:buNone/>
              <a:defRPr sz="1875" b="0">
                <a:solidFill>
                  <a:srgbClr val="FFFFFF"/>
                </a:solidFill>
                <a:latin typeface="Arial"/>
                <a:ea typeface="Arial"/>
                <a:cs typeface="Arial"/>
              </a:defRPr>
            </a:pPr>
            <a:r>
              <a:rPr sz="1875" b="0">
                <a:solidFill>
                  <a:srgbClr val="FFFFFF"/>
                </a:solidFill>
                <a:latin typeface="Arial"/>
                <a:ea typeface="Arial"/>
                <a:cs typeface="Arial"/>
              </a:rPr>
              <a:t>what the app does</a:t>
            </a:r>
          </a:p>
          <a:p xmlns:a="http://schemas.openxmlformats.org/drawingml/2006/main">
            <a:pPr>
              <a:buNone/>
              <a:defRPr sz="1875" b="0">
                <a:solidFill>
                  <a:srgbClr val="FFFFFF"/>
                </a:solidFill>
                <a:latin typeface="Arial"/>
                <a:ea typeface="Arial"/>
                <a:cs typeface="Arial"/>
              </a:defRPr>
            </a:pPr>
            <a:r>
              <a:rPr sz="1875" b="0">
                <a:solidFill>
                  <a:srgbClr val="FFFFFF"/>
                </a:solidFill>
                <a:latin typeface="Arial"/>
                <a:ea typeface="Arial"/>
                <a:cs typeface="Arial"/>
              </a:rPr>
              <a:t>and why.</a:t>
            </a:r>
          </a:p>
        </p:txBody>
      </p:sp>
      <p:sp>
        <p:nvSpPr>
          <p:cNvPr id="14" name="">
            <a:extLst xmlns:a="http://schemas.openxmlformats.org/drawingml/2006/main">
              <a:ext uri="{FF2B5EF4-FFF2-40B4-BE49-F238E27FC236}">
                <a16:creationId xmlns:a16="http://schemas.microsoft.com/office/drawing/2014/main" id="{53F9F99C-CA7C-4E12-95F1-D2CD595DAFAD}"/>
              </a:ext>
            </a:extLst>
          </p:cNvPr>
          <p:cNvSpPr>
            <a:spLocks xmlns:a="http://schemas.openxmlformats.org/drawingml/2006/main" noGrp="1"/>
          </p:cNvSpPr>
          <p:nvPr/>
        </p:nvSpPr>
        <p:spPr>
          <a:xfrm xmlns:a="http://schemas.openxmlformats.org/drawingml/2006/main">
            <a:off x="685800" y="5410200"/>
            <a:ext cx="108204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In principle: the same spec, a different stack</a:t>
            </a:r>
          </a:p>
        </p:txBody>
      </p:sp>
      <p:sp>
        <p:nvSpPr>
          <p:cNvPr id="15" name="">
            <a:extLst xmlns:a="http://schemas.openxmlformats.org/drawingml/2006/main">
              <a:ext uri="{FF2B5EF4-FFF2-40B4-BE49-F238E27FC236}">
                <a16:creationId xmlns:a16="http://schemas.microsoft.com/office/drawing/2014/main" id="{40A583E1-20FC-46C6-95D4-C83EADCDB997}"/>
              </a:ext>
            </a:extLst>
          </p:cNvPr>
          <p:cNvSpPr>
            <a:spLocks xmlns:a="http://schemas.openxmlformats.org/drawingml/2006/main" noGrp="1"/>
          </p:cNvSpPr>
          <p:nvPr/>
        </p:nvSpPr>
        <p:spPr>
          <a:xfrm xmlns:a="http://schemas.openxmlformats.org/drawingml/2006/main">
            <a:off x="685800" y="589597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FFFFFF"/>
                </a:solidFill>
                <a:latin typeface="Arial"/>
                <a:ea typeface="Arial"/>
                <a:cs typeface="Arial"/>
              </a:defRPr>
            </a:defPPr>
          </a:lstStyle>
          <a:p xmlns:a="http://schemas.openxmlformats.org/drawingml/2006/main">
            <a:pPr>
              <a:buNone/>
              <a:defRPr sz="1725" b="0">
                <a:solidFill>
                  <a:srgbClr val="FFFFFF"/>
                </a:solidFill>
                <a:latin typeface="Arial"/>
                <a:ea typeface="Arial"/>
                <a:cs typeface="Arial"/>
              </a:defRPr>
            </a:pPr>
            <a:r>
              <a:rPr sz="1725" b="0">
                <a:solidFill>
                  <a:srgbClr val="FFFFFF"/>
                </a:solidFill>
                <a:latin typeface="Arial"/>
                <a:ea typeface="Arial"/>
                <a:cs typeface="Arial"/>
              </a:rPr>
              <a:t>An agent could rebuild the app, for example from Python to JavaScript.</a:t>
            </a:r>
          </a:p>
          <a:p xmlns:a="http://schemas.openxmlformats.org/drawingml/2006/main">
            <a:pPr>
              <a:buNone/>
              <a:defRPr sz="1725" b="0">
                <a:solidFill>
                  <a:srgbClr val="FFFFFF"/>
                </a:solidFill>
                <a:latin typeface="Arial"/>
                <a:ea typeface="Arial"/>
                <a:cs typeface="Arial"/>
              </a:defRPr>
            </a:pPr>
            <a:r>
              <a:rPr sz="1725" b="0">
                <a:solidFill>
                  <a:srgbClr val="FFFFFF"/>
                </a:solidFill>
                <a:latin typeface="Arial"/>
                <a:ea typeface="Arial"/>
                <a:cs typeface="Arial"/>
              </a:rPr>
              <a:t>The new implementation still needs tests and human review.</a:t>
            </a:r>
          </a:p>
        </p:txBody>
      </p:sp>
      <p:sp>
        <p:nvSpPr>
          <p:cNvPr id="16" name="">
            <a:extLst xmlns:a="http://schemas.openxmlformats.org/drawingml/2006/main">
              <a:ext uri="{FF2B5EF4-FFF2-40B4-BE49-F238E27FC236}">
                <a16:creationId xmlns:a16="http://schemas.microsoft.com/office/drawing/2014/main" id="{67E7438F-5010-469F-9E9C-C53B061750A5}"/>
              </a:ext>
            </a:extLst>
          </p:cNvPr>
          <p:cNvSpPr>
            <a:spLocks xmlns:a="http://schemas.openxmlformats.org/drawingml/2006/main" noGrp="1"/>
          </p:cNvSpPr>
          <p:nvPr/>
        </p:nvSpPr>
        <p:spPr>
          <a:xfrm xmlns:a="http://schemas.openxmlformats.org/drawingml/2006/main">
            <a:off x="11049000" y="64008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CADCFC"/>
                </a:solidFill>
                <a:latin typeface="Arial"/>
                <a:ea typeface="Arial"/>
                <a:cs typeface="Arial"/>
              </a:defRPr>
            </a:defPPr>
          </a:lstStyle>
          <a:p xmlns:a="http://schemas.openxmlformats.org/drawingml/2006/main">
            <a:pPr>
              <a:buNone/>
              <a:defRPr sz="1275" b="0">
                <a:solidFill>
                  <a:srgbClr val="CADCFC"/>
                </a:solidFill>
                <a:latin typeface="Arial"/>
                <a:ea typeface="Arial"/>
                <a:cs typeface="Arial"/>
              </a:defRPr>
            </a:pPr>
            <a:r>
              <a:rPr sz="1275" b="0">
                <a:solidFill>
                  <a:srgbClr val="CADCFC"/>
                </a:solidFill>
                <a:latin typeface="Arial"/>
                <a:ea typeface="Arial"/>
                <a:cs typeface="Arial"/>
              </a:rPr>
              <a:t>16</a:t>
            </a:r>
          </a:p>
        </p:txBody>
      </p:sp>
    </p:spTree>
    <p:extLst>
      <p:ext uri="{BB962C8B-B14F-4D97-AF65-F5344CB8AC3E}">
        <p14:creationId xmlns:p14="http://schemas.microsoft.com/office/powerpoint/2010/main" val="727863494"/>
      </p:ext>
    </p:extLst>
  </p:cSld>
</p:sld>
</file>

<file path=ppt/slides/slide17.xml><?xml version="1.0" encoding="utf-8"?>
<p:sld xmlns:p="http://schemas.openxmlformats.org/presentationml/2006/main">
  <p:cSld>
    <p:bg>
      <p:bgPr>
        <a:gradFill xmlns:a="http://schemas.openxmlformats.org/drawingml/2006/main">
          <a:gsLst>
            <a:gs pos="0">
              <a:srgbClr val="101F52"/>
            </a:gs>
            <a:gs pos="53000">
              <a:srgbClr val="2447A6"/>
            </a:gs>
            <a:gs pos="100000">
              <a:srgbClr val="7041B9"/>
            </a:gs>
          </a:gsLst>
          <a:lin ang="1500000"/>
        </a:gra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E7EEDEC9-AF7E-4503-845F-57C674FFBAE4}"/>
              </a:ext>
            </a:extLst>
          </p:cNvPr>
          <p:cNvCxnSpPr>
            <a:stCxn xmlns:a="http://schemas.openxmlformats.org/drawingml/2006/main" id="5" idx="3"/>
            <a:endCxn xmlns:a="http://schemas.openxmlformats.org/drawingml/2006/main" id="7" idx="1"/>
          </p:cNvCxnSpPr>
          <p:nvPr/>
        </p:nvCxnSpPr>
        <p:spPr>
          <a:xfrm xmlns:a="http://schemas.openxmlformats.org/drawingml/2006/main">
            <a:off x="7667625" y="3019425"/>
            <a:ext cx="695325" cy="0"/>
          </a:xfrm>
          <a:prstGeom xmlns:a="http://schemas.openxmlformats.org/drawingml/2006/main" prst="straightConnector1">
            <a:avLst/>
          </a:prstGeom>
          <a:ln xmlns:a="http://schemas.openxmlformats.org/drawingml/2006/main" w="28575">
            <a:solidFill>
              <a:srgbClr val="A8D7FA"/>
            </a:solidFill>
            <a:headEnd type="triangle" w="med" len="med"/>
            <a:tailEnd type="triangle" w="med" len="med"/>
          </a:ln>
        </p:spPr>
      </p:cxnSp>
      <p:cxnSp>
        <p:nvCxnSpPr>
          <p:cNvPr id="9" name="">
            <a:extLst xmlns:a="http://schemas.openxmlformats.org/drawingml/2006/main">
              <a:ext uri="{FF2B5EF4-FFF2-40B4-BE49-F238E27FC236}">
                <a16:creationId xmlns:a16="http://schemas.microsoft.com/office/drawing/2014/main" id="{3F0A8139-9F3F-48F1-832D-25DE9ECA5B11}"/>
              </a:ext>
            </a:extLst>
          </p:cNvPr>
          <p:cNvCxnSpPr>
            <a:stCxn xmlns:a="http://schemas.openxmlformats.org/drawingml/2006/main" id="3" idx="3"/>
            <a:endCxn xmlns:a="http://schemas.openxmlformats.org/drawingml/2006/main" id="5" idx="1"/>
          </p:cNvCxnSpPr>
          <p:nvPr/>
        </p:nvCxnSpPr>
        <p:spPr>
          <a:xfrm xmlns:a="http://schemas.openxmlformats.org/drawingml/2006/main">
            <a:off x="3829050" y="3019425"/>
            <a:ext cx="695325" cy="0"/>
          </a:xfrm>
          <a:prstGeom xmlns:a="http://schemas.openxmlformats.org/drawingml/2006/main" prst="straightConnector1">
            <a:avLst/>
          </a:prstGeom>
          <a:ln xmlns:a="http://schemas.openxmlformats.org/drawingml/2006/main" w="28575">
            <a:solidFill>
              <a:srgbClr val="A8D7FA"/>
            </a:solidFill>
            <a:headEnd type="triangle" w="med" len="med"/>
            <a:tailEnd type="triangle" w="med" len="med"/>
          </a:ln>
        </p:spPr>
      </p:cxnSp>
      <p:sp>
        <p:nvSpPr>
          <p:cNvPr id="20" name="">
            <a:extLst xmlns:a="http://schemas.openxmlformats.org/drawingml/2006/main">
              <a:ext uri="{FF2B5EF4-FFF2-40B4-BE49-F238E27FC236}">
                <a16:creationId xmlns:a16="http://schemas.microsoft.com/office/drawing/2014/main" id="{C3897E33-CFD6-41E6-AEA5-2AC2AEA9776F}"/>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FFFFFF"/>
                </a:solidFill>
                <a:latin typeface="Arial"/>
                <a:ea typeface="Arial"/>
                <a:cs typeface="Arial"/>
              </a:defRPr>
            </a:defPPr>
          </a:lstStyle>
          <a:p xmlns:a="http://schemas.openxmlformats.org/drawingml/2006/main">
            <a:pPr>
              <a:buNone/>
              <a:defRPr sz="3300" b="1">
                <a:solidFill>
                  <a:srgbClr val="FFFFFF"/>
                </a:solidFill>
                <a:latin typeface="Arial"/>
                <a:ea typeface="Arial"/>
                <a:cs typeface="Arial"/>
              </a:defRPr>
            </a:pPr>
            <a:r>
              <a:rPr sz="3300" b="1">
                <a:solidFill>
                  <a:srgbClr val="FFFFFF"/>
                </a:solidFill>
                <a:latin typeface="Arial"/>
                <a:ea typeface="Arial"/>
                <a:cs typeface="Arial"/>
              </a:rPr>
              <a:t>The developer’s role in agentic coding</a:t>
            </a:r>
          </a:p>
        </p:txBody>
      </p:sp>
      <p:sp>
        <p:nvSpPr>
          <p:cNvPr id="2" name="">
            <a:extLst xmlns:a="http://schemas.openxmlformats.org/drawingml/2006/main">
              <a:ext uri="{FF2B5EF4-FFF2-40B4-BE49-F238E27FC236}">
                <a16:creationId xmlns:a16="http://schemas.microsoft.com/office/drawing/2014/main" id="{8B4C32FE-EFB7-4FB7-93E7-CE72E65822BC}"/>
              </a:ext>
            </a:extLst>
          </p:cNvPr>
          <p:cNvSpPr>
            <a:spLocks xmlns:a="http://schemas.openxmlformats.org/drawingml/2006/main" noGrp="1"/>
          </p:cNvSpPr>
          <p:nvPr/>
        </p:nvSpPr>
        <p:spPr>
          <a:xfrm xmlns:a="http://schemas.openxmlformats.org/drawingml/2006/main">
            <a:off x="685800" y="1552575"/>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FFFFF"/>
                </a:solidFill>
                <a:latin typeface="Arial"/>
                <a:ea typeface="Arial"/>
                <a:cs typeface="Arial"/>
              </a:defRPr>
            </a:defPPr>
          </a:lstStyle>
          <a:p xmlns:a="http://schemas.openxmlformats.org/drawingml/2006/main">
            <a:pPr>
              <a:buNone/>
              <a:defRPr sz="2175" b="0">
                <a:solidFill>
                  <a:srgbClr val="FFFFFF"/>
                </a:solidFill>
                <a:latin typeface="Arial"/>
                <a:ea typeface="Arial"/>
                <a:cs typeface="Arial"/>
              </a:defRPr>
            </a:pPr>
            <a:r>
              <a:rPr sz="2175" b="0">
                <a:solidFill>
                  <a:srgbClr val="FFFFFF"/>
                </a:solidFill>
                <a:latin typeface="Arial"/>
                <a:ea typeface="Arial"/>
                <a:cs typeface="Arial"/>
              </a:rPr>
              <a:t>People remain central. Domain expertise and engineering judgment still matter.</a:t>
            </a:r>
          </a:p>
        </p:txBody>
      </p:sp>
      <p:sp>
        <p:nvSpPr>
          <p:cNvPr id="3" name="">
            <a:extLst xmlns:a="http://schemas.openxmlformats.org/drawingml/2006/main">
              <a:ext uri="{FF2B5EF4-FFF2-40B4-BE49-F238E27FC236}">
                <a16:creationId xmlns:a16="http://schemas.microsoft.com/office/drawing/2014/main" id="{C7F8AF2B-C352-4E75-BD88-F4C6CF067162}"/>
              </a:ext>
            </a:extLst>
          </p:cNvPr>
          <p:cNvSpPr>
            <a:spLocks xmlns:a="http://schemas.openxmlformats.org/drawingml/2006/main" noGrp="1"/>
          </p:cNvSpPr>
          <p:nvPr/>
        </p:nvSpPr>
        <p:spPr>
          <a:xfrm xmlns:a="http://schemas.openxmlformats.org/drawingml/2006/main">
            <a:off x="685800" y="2543175"/>
            <a:ext cx="3143250" cy="952500"/>
          </a:xfrm>
          <a:prstGeom xmlns:a="http://schemas.openxmlformats.org/drawingml/2006/main" prst="roundRect">
            <a:avLst>
              <a:gd name="adj" fmla="val 16000"/>
            </a:avLst>
          </a:prstGeom>
          <a:solidFill xmlns:a="http://schemas.openxmlformats.org/drawingml/2006/main">
            <a:srgbClr val="2447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4AE19AA-191E-4039-BC1A-AE4E0C76E193}"/>
              </a:ext>
            </a:extLst>
          </p:cNvPr>
          <p:cNvSpPr>
            <a:spLocks xmlns:a="http://schemas.openxmlformats.org/drawingml/2006/main" noGrp="1"/>
          </p:cNvSpPr>
          <p:nvPr/>
        </p:nvSpPr>
        <p:spPr>
          <a:xfrm xmlns:a="http://schemas.openxmlformats.org/drawingml/2006/main">
            <a:off x="857250" y="2705100"/>
            <a:ext cx="28003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Business</a:t>
            </a:r>
          </a:p>
        </p:txBody>
      </p:sp>
      <p:sp>
        <p:nvSpPr>
          <p:cNvPr id="5" name="">
            <a:extLst xmlns:a="http://schemas.openxmlformats.org/drawingml/2006/main">
              <a:ext uri="{FF2B5EF4-FFF2-40B4-BE49-F238E27FC236}">
                <a16:creationId xmlns:a16="http://schemas.microsoft.com/office/drawing/2014/main" id="{E49124AD-DCAA-4C14-B8D0-310E3B36DA0C}"/>
              </a:ext>
            </a:extLst>
          </p:cNvPr>
          <p:cNvSpPr>
            <a:spLocks xmlns:a="http://schemas.openxmlformats.org/drawingml/2006/main" noGrp="1"/>
          </p:cNvSpPr>
          <p:nvPr/>
        </p:nvSpPr>
        <p:spPr>
          <a:xfrm xmlns:a="http://schemas.openxmlformats.org/drawingml/2006/main">
            <a:off x="4524375" y="2543175"/>
            <a:ext cx="3143250" cy="952500"/>
          </a:xfrm>
          <a:prstGeom xmlns:a="http://schemas.openxmlformats.org/drawingml/2006/main" prst="roundRect">
            <a:avLst>
              <a:gd name="adj" fmla="val 16000"/>
            </a:avLst>
          </a:prstGeom>
          <a:solidFill xmlns:a="http://schemas.openxmlformats.org/drawingml/2006/main">
            <a:srgbClr val="067E9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7C1D4C0-6DFA-4801-815F-E76B1E80060F}"/>
              </a:ext>
            </a:extLst>
          </p:cNvPr>
          <p:cNvSpPr>
            <a:spLocks xmlns:a="http://schemas.openxmlformats.org/drawingml/2006/main" noGrp="1"/>
          </p:cNvSpPr>
          <p:nvPr/>
        </p:nvSpPr>
        <p:spPr>
          <a:xfrm xmlns:a="http://schemas.openxmlformats.org/drawingml/2006/main">
            <a:off x="4695825" y="2705100"/>
            <a:ext cx="28003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Developer</a:t>
            </a:r>
          </a:p>
        </p:txBody>
      </p:sp>
      <p:sp>
        <p:nvSpPr>
          <p:cNvPr id="7" name="">
            <a:extLst xmlns:a="http://schemas.openxmlformats.org/drawingml/2006/main">
              <a:ext uri="{FF2B5EF4-FFF2-40B4-BE49-F238E27FC236}">
                <a16:creationId xmlns:a16="http://schemas.microsoft.com/office/drawing/2014/main" id="{E3BBBB87-FF2F-4ADE-AA7F-83C9121E7CB8}"/>
              </a:ext>
            </a:extLst>
          </p:cNvPr>
          <p:cNvSpPr>
            <a:spLocks xmlns:a="http://schemas.openxmlformats.org/drawingml/2006/main" noGrp="1"/>
          </p:cNvSpPr>
          <p:nvPr/>
        </p:nvSpPr>
        <p:spPr>
          <a:xfrm xmlns:a="http://schemas.openxmlformats.org/drawingml/2006/main">
            <a:off x="8362950" y="2543175"/>
            <a:ext cx="3143250" cy="952500"/>
          </a:xfrm>
          <a:prstGeom xmlns:a="http://schemas.openxmlformats.org/drawingml/2006/main" prst="roundRect">
            <a:avLst>
              <a:gd name="adj" fmla="val 16000"/>
            </a:avLst>
          </a:prstGeom>
          <a:solidFill xmlns:a="http://schemas.openxmlformats.org/drawingml/2006/main">
            <a:srgbClr val="7041B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A36EA84-5D98-4549-BD4D-EC33F2F1243F}"/>
              </a:ext>
            </a:extLst>
          </p:cNvPr>
          <p:cNvSpPr>
            <a:spLocks xmlns:a="http://schemas.openxmlformats.org/drawingml/2006/main" noGrp="1"/>
          </p:cNvSpPr>
          <p:nvPr/>
        </p:nvSpPr>
        <p:spPr>
          <a:xfrm xmlns:a="http://schemas.openxmlformats.org/drawingml/2006/main">
            <a:off x="8534400" y="2705100"/>
            <a:ext cx="28003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AI agent</a:t>
            </a:r>
          </a:p>
        </p:txBody>
      </p:sp>
      <p:sp>
        <p:nvSpPr>
          <p:cNvPr id="11" name="">
            <a:extLst xmlns:a="http://schemas.openxmlformats.org/drawingml/2006/main">
              <a:ext uri="{FF2B5EF4-FFF2-40B4-BE49-F238E27FC236}">
                <a16:creationId xmlns:a16="http://schemas.microsoft.com/office/drawing/2014/main" id="{A7C8C416-6979-44CE-A035-8C4D3A158413}"/>
              </a:ext>
            </a:extLst>
          </p:cNvPr>
          <p:cNvSpPr>
            <a:spLocks xmlns:a="http://schemas.openxmlformats.org/drawingml/2006/main" noGrp="1"/>
          </p:cNvSpPr>
          <p:nvPr/>
        </p:nvSpPr>
        <p:spPr>
          <a:xfrm xmlns:a="http://schemas.openxmlformats.org/drawingml/2006/main">
            <a:off x="685800" y="3762375"/>
            <a:ext cx="314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FFFFFF"/>
                </a:solidFill>
                <a:latin typeface="Arial"/>
                <a:ea typeface="Arial"/>
                <a:cs typeface="Arial"/>
              </a:defRPr>
            </a:defPPr>
          </a:lstStyle>
          <a:p xmlns:a="http://schemas.openxmlformats.org/drawingml/2006/main">
            <a:pPr>
              <a:buNone/>
              <a:defRPr sz="1800" b="0">
                <a:solidFill>
                  <a:srgbClr val="FFFFFF"/>
                </a:solidFill>
                <a:latin typeface="Arial"/>
                <a:ea typeface="Arial"/>
                <a:cs typeface="Arial"/>
              </a:defRPr>
            </a:pPr>
            <a:r>
              <a:rPr sz="1800" b="0">
                <a:solidFill>
                  <a:srgbClr val="FFFFFF"/>
                </a:solidFill>
                <a:latin typeface="Arial"/>
                <a:ea typeface="Arial"/>
                <a:cs typeface="Arial"/>
              </a:rPr>
              <a:t>Shares business needs.</a:t>
            </a:r>
          </a:p>
          <a:p xmlns:a="http://schemas.openxmlformats.org/drawingml/2006/main">
            <a:pPr>
              <a:buNone/>
              <a:defRPr sz="1800" b="0">
                <a:solidFill>
                  <a:srgbClr val="FFFFFF"/>
                </a:solidFill>
                <a:latin typeface="Arial"/>
                <a:ea typeface="Arial"/>
                <a:cs typeface="Arial"/>
              </a:defRPr>
            </a:pPr>
            <a:r>
              <a:rPr sz="1800" b="0">
                <a:solidFill>
                  <a:srgbClr val="FFFFFF"/>
                </a:solidFill>
                <a:latin typeface="Arial"/>
                <a:ea typeface="Arial"/>
                <a:cs typeface="Arial"/>
              </a:rPr>
              <a:t>Discusses requirements</a:t>
            </a:r>
          </a:p>
          <a:p xmlns:a="http://schemas.openxmlformats.org/drawingml/2006/main">
            <a:pPr>
              <a:buNone/>
              <a:defRPr sz="1800" b="0">
                <a:solidFill>
                  <a:srgbClr val="FFFFFF"/>
                </a:solidFill>
                <a:latin typeface="Arial"/>
                <a:ea typeface="Arial"/>
                <a:cs typeface="Arial"/>
              </a:defRPr>
            </a:pPr>
            <a:r>
              <a:rPr sz="1800" b="0">
                <a:solidFill>
                  <a:srgbClr val="FFFFFF"/>
                </a:solidFill>
                <a:latin typeface="Arial"/>
                <a:ea typeface="Arial"/>
                <a:cs typeface="Arial"/>
              </a:rPr>
              <a:t>and business rules.</a:t>
            </a:r>
          </a:p>
        </p:txBody>
      </p:sp>
      <p:sp>
        <p:nvSpPr>
          <p:cNvPr id="12" name="">
            <a:extLst xmlns:a="http://schemas.openxmlformats.org/drawingml/2006/main">
              <a:ext uri="{FF2B5EF4-FFF2-40B4-BE49-F238E27FC236}">
                <a16:creationId xmlns:a16="http://schemas.microsoft.com/office/drawing/2014/main" id="{080805E5-F534-4B2E-9239-C5217CB5E617}"/>
              </a:ext>
            </a:extLst>
          </p:cNvPr>
          <p:cNvSpPr>
            <a:spLocks xmlns:a="http://schemas.openxmlformats.org/drawingml/2006/main" noGrp="1"/>
          </p:cNvSpPr>
          <p:nvPr/>
        </p:nvSpPr>
        <p:spPr>
          <a:xfrm xmlns:a="http://schemas.openxmlformats.org/drawingml/2006/main">
            <a:off x="4524375" y="3762375"/>
            <a:ext cx="314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FFFFFF"/>
                </a:solidFill>
                <a:latin typeface="Arial"/>
                <a:ea typeface="Arial"/>
                <a:cs typeface="Arial"/>
              </a:defRPr>
            </a:defPPr>
          </a:lstStyle>
          <a:p xmlns:a="http://schemas.openxmlformats.org/drawingml/2006/main">
            <a:pPr>
              <a:buNone/>
              <a:defRPr sz="1725" b="0">
                <a:solidFill>
                  <a:srgbClr val="FFFFFF"/>
                </a:solidFill>
                <a:latin typeface="Arial"/>
                <a:ea typeface="Arial"/>
                <a:cs typeface="Arial"/>
              </a:defRPr>
            </a:pPr>
            <a:r>
              <a:rPr sz="1725" b="0">
                <a:solidFill>
                  <a:srgbClr val="FFFFFF"/>
                </a:solidFill>
                <a:latin typeface="Arial"/>
                <a:ea typeface="Arial"/>
                <a:cs typeface="Arial"/>
              </a:rPr>
              <a:t>Authors the spec.</a:t>
            </a:r>
          </a:p>
          <a:p xmlns:a="http://schemas.openxmlformats.org/drawingml/2006/main">
            <a:pPr>
              <a:buNone/>
              <a:defRPr sz="1725" b="0">
                <a:solidFill>
                  <a:srgbClr val="FFFFFF"/>
                </a:solidFill>
                <a:latin typeface="Arial"/>
                <a:ea typeface="Arial"/>
                <a:cs typeface="Arial"/>
              </a:defRPr>
            </a:pPr>
            <a:r>
              <a:rPr sz="1725" b="0">
                <a:solidFill>
                  <a:srgbClr val="FFFFFF"/>
                </a:solidFill>
                <a:latin typeface="Arial"/>
                <a:ea typeface="Arial"/>
                <a:cs typeface="Arial"/>
              </a:rPr>
              <a:t>Chooses the approach.</a:t>
            </a:r>
          </a:p>
          <a:p xmlns:a="http://schemas.openxmlformats.org/drawingml/2006/main">
            <a:pPr>
              <a:buNone/>
              <a:defRPr sz="1725" b="0">
                <a:solidFill>
                  <a:srgbClr val="FFFFFF"/>
                </a:solidFill>
                <a:latin typeface="Arial"/>
                <a:ea typeface="Arial"/>
                <a:cs typeface="Arial"/>
              </a:defRPr>
            </a:pPr>
            <a:r>
              <a:rPr sz="1725" b="0">
                <a:solidFill>
                  <a:srgbClr val="FFFFFF"/>
                </a:solidFill>
                <a:latin typeface="Arial"/>
                <a:ea typeface="Arial"/>
                <a:cs typeface="Arial"/>
              </a:rPr>
              <a:t>Directs the agent and</a:t>
            </a:r>
          </a:p>
          <a:p xmlns:a="http://schemas.openxmlformats.org/drawingml/2006/main">
            <a:pPr>
              <a:buNone/>
              <a:defRPr sz="1725" b="0">
                <a:solidFill>
                  <a:srgbClr val="FFFFFF"/>
                </a:solidFill>
                <a:latin typeface="Arial"/>
                <a:ea typeface="Arial"/>
                <a:cs typeface="Arial"/>
              </a:defRPr>
            </a:pPr>
            <a:r>
              <a:rPr sz="1725" b="0">
                <a:solidFill>
                  <a:srgbClr val="FFFFFF"/>
                </a:solidFill>
                <a:latin typeface="Arial"/>
                <a:ea typeface="Arial"/>
                <a:cs typeface="Arial"/>
              </a:rPr>
              <a:t>verifies the outcome.</a:t>
            </a:r>
          </a:p>
        </p:txBody>
      </p:sp>
      <p:sp>
        <p:nvSpPr>
          <p:cNvPr id="13" name="">
            <a:extLst xmlns:a="http://schemas.openxmlformats.org/drawingml/2006/main">
              <a:ext uri="{FF2B5EF4-FFF2-40B4-BE49-F238E27FC236}">
                <a16:creationId xmlns:a16="http://schemas.microsoft.com/office/drawing/2014/main" id="{A692C5C2-1AD1-4AF1-BBC6-6EA39834D879}"/>
              </a:ext>
            </a:extLst>
          </p:cNvPr>
          <p:cNvSpPr>
            <a:spLocks xmlns:a="http://schemas.openxmlformats.org/drawingml/2006/main" noGrp="1"/>
          </p:cNvSpPr>
          <p:nvPr/>
        </p:nvSpPr>
        <p:spPr>
          <a:xfrm xmlns:a="http://schemas.openxmlformats.org/drawingml/2006/main">
            <a:off x="8362950" y="3762375"/>
            <a:ext cx="314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FFFFFF"/>
                </a:solidFill>
                <a:latin typeface="Arial"/>
                <a:ea typeface="Arial"/>
                <a:cs typeface="Arial"/>
              </a:defRPr>
            </a:defPPr>
          </a:lstStyle>
          <a:p xmlns:a="http://schemas.openxmlformats.org/drawingml/2006/main">
            <a:pPr>
              <a:buNone/>
              <a:defRPr sz="1725" b="0">
                <a:solidFill>
                  <a:srgbClr val="FFFFFF"/>
                </a:solidFill>
                <a:latin typeface="Arial"/>
                <a:ea typeface="Arial"/>
                <a:cs typeface="Arial"/>
              </a:defRPr>
            </a:pPr>
            <a:r>
              <a:rPr sz="1725" b="0">
                <a:solidFill>
                  <a:srgbClr val="FFFFFF"/>
                </a:solidFill>
                <a:latin typeface="Arial"/>
                <a:ea typeface="Arial"/>
                <a:cs typeface="Arial"/>
              </a:rPr>
              <a:t>Writes code and tests</a:t>
            </a:r>
          </a:p>
          <a:p xmlns:a="http://schemas.openxmlformats.org/drawingml/2006/main">
            <a:pPr>
              <a:buNone/>
              <a:defRPr sz="1725" b="0">
                <a:solidFill>
                  <a:srgbClr val="FFFFFF"/>
                </a:solidFill>
                <a:latin typeface="Arial"/>
                <a:ea typeface="Arial"/>
                <a:cs typeface="Arial"/>
              </a:defRPr>
            </a:pPr>
            <a:r>
              <a:rPr sz="1725" b="0">
                <a:solidFill>
                  <a:srgbClr val="FFFFFF"/>
                </a:solidFill>
                <a:latin typeface="Arial"/>
                <a:ea typeface="Arial"/>
                <a:cs typeface="Arial"/>
              </a:rPr>
              <a:t>from the approved spec.</a:t>
            </a:r>
          </a:p>
          <a:p xmlns:a="http://schemas.openxmlformats.org/drawingml/2006/main">
            <a:pPr>
              <a:buNone/>
              <a:defRPr sz="1725" b="0">
                <a:solidFill>
                  <a:srgbClr val="FFFFFF"/>
                </a:solidFill>
                <a:latin typeface="Arial"/>
                <a:ea typeface="Arial"/>
                <a:cs typeface="Arial"/>
              </a:defRPr>
            </a:pPr>
            <a:r>
              <a:rPr sz="1725" b="0">
                <a:solidFill>
                  <a:srgbClr val="FFFFFF"/>
                </a:solidFill>
                <a:latin typeface="Arial"/>
                <a:ea typeface="Arial"/>
                <a:cs typeface="Arial"/>
              </a:rPr>
              <a:t>A person reviews</a:t>
            </a:r>
          </a:p>
          <a:p xmlns:a="http://schemas.openxmlformats.org/drawingml/2006/main">
            <a:pPr>
              <a:buNone/>
              <a:defRPr sz="1725" b="0">
                <a:solidFill>
                  <a:srgbClr val="FFFFFF"/>
                </a:solidFill>
                <a:latin typeface="Arial"/>
                <a:ea typeface="Arial"/>
                <a:cs typeface="Arial"/>
              </a:defRPr>
            </a:pPr>
            <a:r>
              <a:rPr sz="1725" b="0">
                <a:solidFill>
                  <a:srgbClr val="FFFFFF"/>
                </a:solidFill>
                <a:latin typeface="Arial"/>
                <a:ea typeface="Arial"/>
                <a:cs typeface="Arial"/>
              </a:rPr>
              <a:t>and accepts the result.</a:t>
            </a:r>
          </a:p>
        </p:txBody>
      </p:sp>
      <p:sp>
        <p:nvSpPr>
          <p:cNvPr id="14" name="">
            <a:extLst xmlns:a="http://schemas.openxmlformats.org/drawingml/2006/main">
              <a:ext uri="{FF2B5EF4-FFF2-40B4-BE49-F238E27FC236}">
                <a16:creationId xmlns:a16="http://schemas.microsoft.com/office/drawing/2014/main" id="{D918A1AD-F9C0-4238-89E9-CFE08F9A40FE}"/>
              </a:ext>
            </a:extLst>
          </p:cNvPr>
          <p:cNvSpPr>
            <a:spLocks xmlns:a="http://schemas.openxmlformats.org/drawingml/2006/main" noGrp="1"/>
          </p:cNvSpPr>
          <p:nvPr/>
        </p:nvSpPr>
        <p:spPr>
          <a:xfrm xmlns:a="http://schemas.openxmlformats.org/drawingml/2006/main">
            <a:off x="685800" y="5095875"/>
            <a:ext cx="5000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B9DFFF"/>
                </a:solidFill>
                <a:latin typeface="Arial"/>
                <a:ea typeface="Arial"/>
                <a:cs typeface="Arial"/>
              </a:defRPr>
            </a:defPPr>
          </a:lstStyle>
          <a:p xmlns:a="http://schemas.openxmlformats.org/drawingml/2006/main">
            <a:pPr>
              <a:buNone/>
              <a:defRPr sz="1950" b="1">
                <a:solidFill>
                  <a:srgbClr val="B9DFFF"/>
                </a:solidFill>
                <a:latin typeface="Arial"/>
                <a:ea typeface="Arial"/>
                <a:cs typeface="Arial"/>
              </a:defRPr>
            </a:pPr>
            <a:r>
              <a:rPr sz="1950" b="1">
                <a:solidFill>
                  <a:srgbClr val="B9DFFF"/>
                </a:solidFill>
                <a:latin typeface="Arial"/>
                <a:ea typeface="Arial"/>
                <a:cs typeface="Arial"/>
              </a:rPr>
              <a:t>Domain expertise</a:t>
            </a:r>
          </a:p>
        </p:txBody>
      </p:sp>
      <p:sp>
        <p:nvSpPr>
          <p:cNvPr id="15" name="">
            <a:extLst xmlns:a="http://schemas.openxmlformats.org/drawingml/2006/main">
              <a:ext uri="{FF2B5EF4-FFF2-40B4-BE49-F238E27FC236}">
                <a16:creationId xmlns:a16="http://schemas.microsoft.com/office/drawing/2014/main" id="{94AB7640-7928-45F0-919A-1E856C0FF917}"/>
              </a:ext>
            </a:extLst>
          </p:cNvPr>
          <p:cNvSpPr>
            <a:spLocks xmlns:a="http://schemas.openxmlformats.org/drawingml/2006/main" noGrp="1"/>
          </p:cNvSpPr>
          <p:nvPr/>
        </p:nvSpPr>
        <p:spPr>
          <a:xfrm xmlns:a="http://schemas.openxmlformats.org/drawingml/2006/main">
            <a:off x="685800" y="5543550"/>
            <a:ext cx="5000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FFFFFF"/>
                </a:solidFill>
                <a:latin typeface="Arial"/>
                <a:ea typeface="Arial"/>
                <a:cs typeface="Arial"/>
              </a:defRPr>
            </a:defPPr>
          </a:lstStyle>
          <a:p xmlns:a="http://schemas.openxmlformats.org/drawingml/2006/main">
            <a:pPr>
              <a:buNone/>
              <a:defRPr sz="1800" b="0">
                <a:solidFill>
                  <a:srgbClr val="FFFFFF"/>
                </a:solidFill>
                <a:latin typeface="Arial"/>
                <a:ea typeface="Arial"/>
                <a:cs typeface="Arial"/>
              </a:defRPr>
            </a:pPr>
            <a:r>
              <a:rPr sz="1800" b="0">
                <a:solidFill>
                  <a:srgbClr val="FFFFFF"/>
                </a:solidFill>
                <a:latin typeface="Arial"/>
                <a:ea typeface="Arial"/>
                <a:cs typeface="Arial"/>
              </a:rPr>
              <a:t>Business conversations and experience</a:t>
            </a:r>
          </a:p>
          <a:p xmlns:a="http://schemas.openxmlformats.org/drawingml/2006/main">
            <a:pPr>
              <a:buNone/>
              <a:defRPr sz="1800" b="0">
                <a:solidFill>
                  <a:srgbClr val="FFFFFF"/>
                </a:solidFill>
                <a:latin typeface="Arial"/>
                <a:ea typeface="Arial"/>
                <a:cs typeface="Arial"/>
              </a:defRPr>
            </a:pPr>
            <a:r>
              <a:rPr sz="1800" b="0">
                <a:solidFill>
                  <a:srgbClr val="FFFFFF"/>
                </a:solidFill>
                <a:latin typeface="Arial"/>
                <a:ea typeface="Arial"/>
                <a:cs typeface="Arial"/>
              </a:rPr>
              <a:t>lead to a useful spec.</a:t>
            </a:r>
          </a:p>
        </p:txBody>
      </p:sp>
      <p:sp>
        <p:nvSpPr>
          <p:cNvPr id="16" name="">
            <a:extLst xmlns:a="http://schemas.openxmlformats.org/drawingml/2006/main">
              <a:ext uri="{FF2B5EF4-FFF2-40B4-BE49-F238E27FC236}">
                <a16:creationId xmlns:a16="http://schemas.microsoft.com/office/drawing/2014/main" id="{786D0917-CBA1-4D7F-A6D7-00A920881D98}"/>
              </a:ext>
            </a:extLst>
          </p:cNvPr>
          <p:cNvSpPr>
            <a:spLocks xmlns:a="http://schemas.openxmlformats.org/drawingml/2006/main" noGrp="1"/>
          </p:cNvSpPr>
          <p:nvPr/>
        </p:nvSpPr>
        <p:spPr>
          <a:xfrm xmlns:a="http://schemas.openxmlformats.org/drawingml/2006/main">
            <a:off x="6505575" y="5095875"/>
            <a:ext cx="5000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B9DFFF"/>
                </a:solidFill>
                <a:latin typeface="Arial"/>
                <a:ea typeface="Arial"/>
                <a:cs typeface="Arial"/>
              </a:defRPr>
            </a:defPPr>
          </a:lstStyle>
          <a:p xmlns:a="http://schemas.openxmlformats.org/drawingml/2006/main">
            <a:pPr>
              <a:buNone/>
              <a:defRPr sz="1950" b="1">
                <a:solidFill>
                  <a:srgbClr val="B9DFFF"/>
                </a:solidFill>
                <a:latin typeface="Arial"/>
                <a:ea typeface="Arial"/>
                <a:cs typeface="Arial"/>
              </a:defRPr>
            </a:pPr>
            <a:r>
              <a:rPr sz="1950" b="1">
                <a:solidFill>
                  <a:srgbClr val="B9DFFF"/>
                </a:solidFill>
                <a:latin typeface="Arial"/>
                <a:ea typeface="Arial"/>
                <a:cs typeface="Arial"/>
              </a:rPr>
              <a:t>Engineering judgment</a:t>
            </a:r>
          </a:p>
        </p:txBody>
      </p:sp>
      <p:sp>
        <p:nvSpPr>
          <p:cNvPr id="17" name="">
            <a:extLst xmlns:a="http://schemas.openxmlformats.org/drawingml/2006/main">
              <a:ext uri="{FF2B5EF4-FFF2-40B4-BE49-F238E27FC236}">
                <a16:creationId xmlns:a16="http://schemas.microsoft.com/office/drawing/2014/main" id="{A45726DE-E5BB-4788-A1F7-C994E85F9295}"/>
              </a:ext>
            </a:extLst>
          </p:cNvPr>
          <p:cNvSpPr>
            <a:spLocks xmlns:a="http://schemas.openxmlformats.org/drawingml/2006/main" noGrp="1"/>
          </p:cNvSpPr>
          <p:nvPr/>
        </p:nvSpPr>
        <p:spPr>
          <a:xfrm xmlns:a="http://schemas.openxmlformats.org/drawingml/2006/main">
            <a:off x="6505575" y="5543550"/>
            <a:ext cx="5000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FFFFFF"/>
                </a:solidFill>
                <a:latin typeface="Arial"/>
                <a:ea typeface="Arial"/>
                <a:cs typeface="Arial"/>
              </a:defRPr>
            </a:defPPr>
          </a:lstStyle>
          <a:p xmlns:a="http://schemas.openxmlformats.org/drawingml/2006/main">
            <a:pPr>
              <a:buNone/>
              <a:defRPr sz="1800" b="0">
                <a:solidFill>
                  <a:srgbClr val="FFFFFF"/>
                </a:solidFill>
                <a:latin typeface="Arial"/>
                <a:ea typeface="Arial"/>
                <a:cs typeface="Arial"/>
              </a:defRPr>
            </a:pPr>
            <a:r>
              <a:rPr sz="1800" b="0">
                <a:solidFill>
                  <a:srgbClr val="FFFFFF"/>
                </a:solidFill>
                <a:latin typeface="Arial"/>
                <a:ea typeface="Arial"/>
                <a:cs typeface="Arial"/>
              </a:rPr>
              <a:t>Knowing what to build, how to build it</a:t>
            </a:r>
          </a:p>
          <a:p xmlns:a="http://schemas.openxmlformats.org/drawingml/2006/main">
            <a:pPr>
              <a:buNone/>
              <a:defRPr sz="1800" b="0">
                <a:solidFill>
                  <a:srgbClr val="FFFFFF"/>
                </a:solidFill>
                <a:latin typeface="Arial"/>
                <a:ea typeface="Arial"/>
                <a:cs typeface="Arial"/>
              </a:defRPr>
            </a:pPr>
            <a:r>
              <a:rPr sz="1800" b="0">
                <a:solidFill>
                  <a:srgbClr val="FFFFFF"/>
                </a:solidFill>
                <a:latin typeface="Arial"/>
                <a:ea typeface="Arial"/>
                <a:cs typeface="Arial"/>
              </a:rPr>
              <a:t>and how to verify it.</a:t>
            </a:r>
          </a:p>
        </p:txBody>
      </p:sp>
      <p:sp>
        <p:nvSpPr>
          <p:cNvPr id="18" name="">
            <a:extLst xmlns:a="http://schemas.openxmlformats.org/drawingml/2006/main">
              <a:ext uri="{FF2B5EF4-FFF2-40B4-BE49-F238E27FC236}">
                <a16:creationId xmlns:a16="http://schemas.microsoft.com/office/drawing/2014/main" id="{C4C10401-B72E-4345-A14B-4C8463B43B3C}"/>
              </a:ext>
            </a:extLst>
          </p:cNvPr>
          <p:cNvSpPr>
            <a:spLocks xmlns:a="http://schemas.openxmlformats.org/drawingml/2006/main" noGrp="1"/>
          </p:cNvSpPr>
          <p:nvPr/>
        </p:nvSpPr>
        <p:spPr>
          <a:xfrm xmlns:a="http://schemas.openxmlformats.org/drawingml/2006/main">
            <a:off x="685800" y="6315075"/>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FFFFFF"/>
                </a:solidFill>
                <a:latin typeface="Arial"/>
                <a:ea typeface="Arial"/>
                <a:cs typeface="Arial"/>
              </a:defRPr>
            </a:defPPr>
          </a:lstStyle>
          <a:p xmlns:a="http://schemas.openxmlformats.org/drawingml/2006/main">
            <a:pPr>
              <a:buNone/>
              <a:defRPr sz="1650" b="1">
                <a:solidFill>
                  <a:srgbClr val="FFFFFF"/>
                </a:solidFill>
                <a:latin typeface="Arial"/>
                <a:ea typeface="Arial"/>
                <a:cs typeface="Arial"/>
              </a:defRPr>
            </a:pPr>
            <a:r>
              <a:rPr sz="1650" b="1">
                <a:solidFill>
                  <a:srgbClr val="FFFFFF"/>
                </a:solidFill>
                <a:latin typeface="Arial"/>
                <a:ea typeface="Arial"/>
                <a:cs typeface="Arial"/>
              </a:rPr>
              <a:t>AI supports implementation. People remain accountable for the decisions.</a:t>
            </a:r>
          </a:p>
        </p:txBody>
      </p:sp>
      <p:sp>
        <p:nvSpPr>
          <p:cNvPr id="19" name="">
            <a:extLst xmlns:a="http://schemas.openxmlformats.org/drawingml/2006/main">
              <a:ext uri="{FF2B5EF4-FFF2-40B4-BE49-F238E27FC236}">
                <a16:creationId xmlns:a16="http://schemas.microsoft.com/office/drawing/2014/main" id="{E764674A-EC4B-49B0-8ACD-967050BE2544}"/>
              </a:ext>
            </a:extLst>
          </p:cNvPr>
          <p:cNvSpPr>
            <a:spLocks xmlns:a="http://schemas.openxmlformats.org/drawingml/2006/main" noGrp="1"/>
          </p:cNvSpPr>
          <p:nvPr/>
        </p:nvSpPr>
        <p:spPr>
          <a:xfrm xmlns:a="http://schemas.openxmlformats.org/drawingml/2006/main">
            <a:off x="11049000" y="64008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CADCFC"/>
                </a:solidFill>
                <a:latin typeface="Arial"/>
                <a:ea typeface="Arial"/>
                <a:cs typeface="Arial"/>
              </a:defRPr>
            </a:defPPr>
          </a:lstStyle>
          <a:p xmlns:a="http://schemas.openxmlformats.org/drawingml/2006/main">
            <a:pPr>
              <a:buNone/>
              <a:defRPr sz="1275" b="0">
                <a:solidFill>
                  <a:srgbClr val="CADCFC"/>
                </a:solidFill>
                <a:latin typeface="Arial"/>
                <a:ea typeface="Arial"/>
                <a:cs typeface="Arial"/>
              </a:defRPr>
            </a:pPr>
            <a:r>
              <a:rPr sz="1275" b="0">
                <a:solidFill>
                  <a:srgbClr val="CADCFC"/>
                </a:solidFill>
                <a:latin typeface="Arial"/>
                <a:ea typeface="Arial"/>
                <a:cs typeface="Arial"/>
              </a:rPr>
              <a:t>17</a:t>
            </a:r>
          </a:p>
        </p:txBody>
      </p:sp>
    </p:spTree>
    <p:extLst>
      <p:ext uri="{BB962C8B-B14F-4D97-AF65-F5344CB8AC3E}">
        <p14:creationId xmlns:p14="http://schemas.microsoft.com/office/powerpoint/2010/main" val="28646008"/>
      </p:ext>
    </p:extLst>
  </p:cSld>
</p:sld>
</file>

<file path=ppt/slides/slide18.xml><?xml version="1.0" encoding="utf-8"?>
<p:sld xmlns:p="http://schemas.openxmlformats.org/presentationml/2006/main">
  <p:cSld>
    <p:bg>
      <p:bgPr>
        <a:gradFill xmlns:a="http://schemas.openxmlformats.org/drawingml/2006/main">
          <a:gsLst>
            <a:gs pos="0">
              <a:srgbClr val="101F52"/>
            </a:gs>
            <a:gs pos="53000">
              <a:srgbClr val="2447A6"/>
            </a:gs>
            <a:gs pos="100000">
              <a:srgbClr val="7041B9"/>
            </a:gs>
          </a:gsLst>
          <a:lin ang="1500000"/>
        </a:gradFill>
      </p:bgPr>
    </p:bg>
    <p:spTree>
      <p:nvGrpSpPr>
        <p:cNvPr id="1" name=""/>
        <p:cNvGrpSpPr/>
        <p:nvPr/>
      </p:nvGrpSpPr>
      <p:grpSpPr>
        <a:xfrm xmlns:a="http://schemas.openxmlformats.org/drawingml/2006/main"/>
      </p:grpSpPr>
      <p:cxnSp>
        <p:nvCxnSpPr>
          <p:cNvPr id="30" name="">
            <a:extLst xmlns:a="http://schemas.openxmlformats.org/drawingml/2006/main">
              <a:ext uri="{FF2B5EF4-FFF2-40B4-BE49-F238E27FC236}">
                <a16:creationId xmlns:a16="http://schemas.microsoft.com/office/drawing/2014/main" id="{A3B661F6-2CAA-49DB-922A-927D53CBD6C7}"/>
              </a:ext>
            </a:extLst>
          </p:cNvPr>
          <p:cNvCxnSpPr>
            <a:stCxn xmlns:a="http://schemas.openxmlformats.org/drawingml/2006/main" id="21" idx="1"/>
            <a:endCxn xmlns:a="http://schemas.openxmlformats.org/drawingml/2006/main" id="3" idx="1"/>
          </p:cNvCxnSpPr>
          <p:nvPr/>
        </p:nvCxnSpPr>
        <p:spPr>
          <a:xfrm xmlns:a="http://schemas.openxmlformats.org/drawingml/2006/main" flipV="1">
            <a:off x="457200" y="3095625"/>
            <a:ext cx="228600" cy="1957388"/>
          </a:xfrm>
          <a:prstGeom xmlns:a="http://schemas.openxmlformats.org/drawingml/2006/main" prst="bentConnector4">
            <a:avLst/>
          </a:prstGeom>
          <a:ln xmlns:a="http://schemas.openxmlformats.org/drawingml/2006/main" w="28575">
            <a:solidFill>
              <a:srgbClr val="A8D7FA"/>
            </a:solidFill>
            <a:tailEnd type="triangle" w="med" len="med"/>
          </a:ln>
        </p:spPr>
      </p:cxnSp>
      <p:cxnSp>
        <p:nvCxnSpPr>
          <p:cNvPr id="29" name="">
            <a:extLst xmlns:a="http://schemas.openxmlformats.org/drawingml/2006/main">
              <a:ext uri="{FF2B5EF4-FFF2-40B4-BE49-F238E27FC236}">
                <a16:creationId xmlns:a16="http://schemas.microsoft.com/office/drawing/2014/main" id="{C83F6BC3-134F-470E-87AB-F61DD48522FF}"/>
              </a:ext>
            </a:extLst>
          </p:cNvPr>
          <p:cNvCxnSpPr>
            <a:stCxn xmlns:a="http://schemas.openxmlformats.org/drawingml/2006/main" id="18" idx="1"/>
            <a:endCxn xmlns:a="http://schemas.openxmlformats.org/drawingml/2006/main" id="21" idx="3"/>
          </p:cNvCxnSpPr>
          <p:nvPr/>
        </p:nvCxnSpPr>
        <p:spPr>
          <a:xfrm xmlns:a="http://schemas.openxmlformats.org/drawingml/2006/main" flipH="1">
            <a:off x="3829050" y="5053013"/>
            <a:ext cx="695325" cy="0"/>
          </a:xfrm>
          <a:prstGeom xmlns:a="http://schemas.openxmlformats.org/drawingml/2006/main" prst="straightConnector1">
            <a:avLst/>
          </a:prstGeom>
          <a:ln xmlns:a="http://schemas.openxmlformats.org/drawingml/2006/main" w="28575">
            <a:solidFill>
              <a:srgbClr val="A8D7FA"/>
            </a:solidFill>
            <a:tailEnd type="triangle" w="med" len="med"/>
          </a:ln>
        </p:spPr>
      </p:cxnSp>
      <p:cxnSp>
        <p:nvCxnSpPr>
          <p:cNvPr id="28" name="">
            <a:extLst xmlns:a="http://schemas.openxmlformats.org/drawingml/2006/main">
              <a:ext uri="{FF2B5EF4-FFF2-40B4-BE49-F238E27FC236}">
                <a16:creationId xmlns:a16="http://schemas.microsoft.com/office/drawing/2014/main" id="{B3831C2B-705A-44C7-88CE-373156C63DDD}"/>
              </a:ext>
            </a:extLst>
          </p:cNvPr>
          <p:cNvCxnSpPr>
            <a:stCxn xmlns:a="http://schemas.openxmlformats.org/drawingml/2006/main" id="15" idx="1"/>
            <a:endCxn xmlns:a="http://schemas.openxmlformats.org/drawingml/2006/main" id="18" idx="3"/>
          </p:cNvCxnSpPr>
          <p:nvPr/>
        </p:nvCxnSpPr>
        <p:spPr>
          <a:xfrm xmlns:a="http://schemas.openxmlformats.org/drawingml/2006/main" flipH="1">
            <a:off x="7667625" y="5053013"/>
            <a:ext cx="695325" cy="0"/>
          </a:xfrm>
          <a:prstGeom xmlns:a="http://schemas.openxmlformats.org/drawingml/2006/main" prst="straightConnector1">
            <a:avLst/>
          </a:prstGeom>
          <a:ln xmlns:a="http://schemas.openxmlformats.org/drawingml/2006/main" w="28575">
            <a:solidFill>
              <a:srgbClr val="A8D7FA"/>
            </a:solidFill>
            <a:tailEnd type="triangle" w="med" len="med"/>
          </a:ln>
        </p:spPr>
      </p:cxnSp>
      <p:cxnSp>
        <p:nvCxnSpPr>
          <p:cNvPr id="27" name="">
            <a:extLst xmlns:a="http://schemas.openxmlformats.org/drawingml/2006/main">
              <a:ext uri="{FF2B5EF4-FFF2-40B4-BE49-F238E27FC236}">
                <a16:creationId xmlns:a16="http://schemas.microsoft.com/office/drawing/2014/main" id="{46A8A3F6-9315-4816-9B73-10CF206DC11D}"/>
              </a:ext>
            </a:extLst>
          </p:cNvPr>
          <p:cNvCxnSpPr>
            <a:stCxn xmlns:a="http://schemas.openxmlformats.org/drawingml/2006/main" id="12" idx="2"/>
            <a:endCxn xmlns:a="http://schemas.openxmlformats.org/drawingml/2006/main" id="15" idx="0"/>
          </p:cNvCxnSpPr>
          <p:nvPr/>
        </p:nvCxnSpPr>
        <p:spPr>
          <a:xfrm xmlns:a="http://schemas.openxmlformats.org/drawingml/2006/main" flipH="1">
            <a:off x="9934575" y="3933825"/>
            <a:ext cx="390525" cy="352425"/>
          </a:xfrm>
          <a:prstGeom xmlns:a="http://schemas.openxmlformats.org/drawingml/2006/main" prst="bentConnector4">
            <a:avLst>
              <a:gd name="adj1" fmla="val 0"/>
              <a:gd name="adj2" fmla="val 50000"/>
            </a:avLst>
          </a:prstGeom>
          <a:ln xmlns:a="http://schemas.openxmlformats.org/drawingml/2006/main" w="28575">
            <a:solidFill>
              <a:srgbClr val="A8D7FA"/>
            </a:solidFill>
            <a:tailEnd type="triangle" w="med" len="med"/>
          </a:ln>
        </p:spPr>
      </p:cxnSp>
      <p:cxnSp>
        <p:nvCxnSpPr>
          <p:cNvPr id="26" name="">
            <a:extLst xmlns:a="http://schemas.openxmlformats.org/drawingml/2006/main">
              <a:ext uri="{FF2B5EF4-FFF2-40B4-BE49-F238E27FC236}">
                <a16:creationId xmlns:a16="http://schemas.microsoft.com/office/drawing/2014/main" id="{0826DD2B-4FD9-4DC8-AFA3-C33819856E37}"/>
              </a:ext>
            </a:extLst>
          </p:cNvPr>
          <p:cNvCxnSpPr>
            <a:stCxn xmlns:a="http://schemas.openxmlformats.org/drawingml/2006/main" id="9" idx="3"/>
            <a:endCxn xmlns:a="http://schemas.openxmlformats.org/drawingml/2006/main" id="12" idx="1"/>
          </p:cNvCxnSpPr>
          <p:nvPr/>
        </p:nvCxnSpPr>
        <p:spPr>
          <a:xfrm xmlns:a="http://schemas.openxmlformats.org/drawingml/2006/main">
            <a:off x="8686800" y="3095625"/>
            <a:ext cx="457200" cy="0"/>
          </a:xfrm>
          <a:prstGeom xmlns:a="http://schemas.openxmlformats.org/drawingml/2006/main" prst="straightConnector1">
            <a:avLst/>
          </a:prstGeom>
          <a:ln xmlns:a="http://schemas.openxmlformats.org/drawingml/2006/main" w="28575">
            <a:solidFill>
              <a:srgbClr val="A8D7FA"/>
            </a:solidFill>
            <a:headEnd type="triangle" w="med" len="med"/>
            <a:tailEnd type="triangle" w="med" len="med"/>
          </a:ln>
        </p:spPr>
      </p:cxnSp>
      <p:cxnSp>
        <p:nvCxnSpPr>
          <p:cNvPr id="25" name="">
            <a:extLst xmlns:a="http://schemas.openxmlformats.org/drawingml/2006/main">
              <a:ext uri="{FF2B5EF4-FFF2-40B4-BE49-F238E27FC236}">
                <a16:creationId xmlns:a16="http://schemas.microsoft.com/office/drawing/2014/main" id="{B5A07757-256B-4D04-BB15-21EC14020CAF}"/>
              </a:ext>
            </a:extLst>
          </p:cNvPr>
          <p:cNvCxnSpPr>
            <a:stCxn xmlns:a="http://schemas.openxmlformats.org/drawingml/2006/main" id="6" idx="3"/>
            <a:endCxn xmlns:a="http://schemas.openxmlformats.org/drawingml/2006/main" id="9" idx="1"/>
          </p:cNvCxnSpPr>
          <p:nvPr/>
        </p:nvCxnSpPr>
        <p:spPr>
          <a:xfrm xmlns:a="http://schemas.openxmlformats.org/drawingml/2006/main">
            <a:off x="5867400" y="3095625"/>
            <a:ext cx="457200" cy="0"/>
          </a:xfrm>
          <a:prstGeom xmlns:a="http://schemas.openxmlformats.org/drawingml/2006/main" prst="straightConnector1">
            <a:avLst/>
          </a:prstGeom>
          <a:ln xmlns:a="http://schemas.openxmlformats.org/drawingml/2006/main" w="28575">
            <a:solidFill>
              <a:srgbClr val="A8D7FA"/>
            </a:solidFill>
            <a:tailEnd type="triangle" w="med" len="med"/>
          </a:ln>
        </p:spPr>
      </p:cxnSp>
      <p:cxnSp>
        <p:nvCxnSpPr>
          <p:cNvPr id="24" name="">
            <a:extLst xmlns:a="http://schemas.openxmlformats.org/drawingml/2006/main">
              <a:ext uri="{FF2B5EF4-FFF2-40B4-BE49-F238E27FC236}">
                <a16:creationId xmlns:a16="http://schemas.microsoft.com/office/drawing/2014/main" id="{07FA282F-6E67-495C-B86A-7380BDD1239E}"/>
              </a:ext>
            </a:extLst>
          </p:cNvPr>
          <p:cNvCxnSpPr>
            <a:stCxn xmlns:a="http://schemas.openxmlformats.org/drawingml/2006/main" id="3" idx="3"/>
            <a:endCxn xmlns:a="http://schemas.openxmlformats.org/drawingml/2006/main" id="6" idx="1"/>
          </p:cNvCxnSpPr>
          <p:nvPr/>
        </p:nvCxnSpPr>
        <p:spPr>
          <a:xfrm xmlns:a="http://schemas.openxmlformats.org/drawingml/2006/main">
            <a:off x="3048000" y="3095625"/>
            <a:ext cx="457200" cy="0"/>
          </a:xfrm>
          <a:prstGeom xmlns:a="http://schemas.openxmlformats.org/drawingml/2006/main" prst="straightConnector1">
            <a:avLst/>
          </a:prstGeom>
          <a:ln xmlns:a="http://schemas.openxmlformats.org/drawingml/2006/main" w="28575">
            <a:solidFill>
              <a:srgbClr val="A8D7FA"/>
            </a:solidFill>
            <a:tailEnd type="triangle" w="med" len="med"/>
          </a:ln>
        </p:spPr>
      </p:cxnSp>
      <p:sp>
        <p:nvSpPr>
          <p:cNvPr id="35" name="">
            <a:extLst xmlns:a="http://schemas.openxmlformats.org/drawingml/2006/main">
              <a:ext uri="{FF2B5EF4-FFF2-40B4-BE49-F238E27FC236}">
                <a16:creationId xmlns:a16="http://schemas.microsoft.com/office/drawing/2014/main" id="{1AD36CD4-D559-45B2-8F00-3E5876AE2348}"/>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FFFFFF"/>
                </a:solidFill>
                <a:latin typeface="Arial"/>
                <a:ea typeface="Arial"/>
                <a:cs typeface="Arial"/>
              </a:defRPr>
            </a:defPPr>
          </a:lstStyle>
          <a:p xmlns:a="http://schemas.openxmlformats.org/drawingml/2006/main">
            <a:pPr>
              <a:buNone/>
              <a:defRPr sz="3300" b="1">
                <a:solidFill>
                  <a:srgbClr val="FFFFFF"/>
                </a:solidFill>
                <a:latin typeface="Arial"/>
                <a:ea typeface="Arial"/>
                <a:cs typeface="Arial"/>
              </a:defRPr>
            </a:pPr>
            <a:r>
              <a:rPr sz="3300" b="1">
                <a:solidFill>
                  <a:srgbClr val="FFFFFF"/>
                </a:solidFill>
                <a:latin typeface="Arial"/>
                <a:ea typeface="Arial"/>
                <a:cs typeface="Arial"/>
              </a:rPr>
              <a:t>Agentic SDLC with GitHub and Azure</a:t>
            </a:r>
          </a:p>
        </p:txBody>
      </p:sp>
      <p:sp>
        <p:nvSpPr>
          <p:cNvPr id="2" name="">
            <a:extLst xmlns:a="http://schemas.openxmlformats.org/drawingml/2006/main">
              <a:ext uri="{FF2B5EF4-FFF2-40B4-BE49-F238E27FC236}">
                <a16:creationId xmlns:a16="http://schemas.microsoft.com/office/drawing/2014/main" id="{9A636269-EFFA-4925-981F-90E696631A6F}"/>
              </a:ext>
            </a:extLst>
          </p:cNvPr>
          <p:cNvSpPr>
            <a:spLocks xmlns:a="http://schemas.openxmlformats.org/drawingml/2006/main" noGrp="1"/>
          </p:cNvSpPr>
          <p:nvPr/>
        </p:nvSpPr>
        <p:spPr>
          <a:xfrm xmlns:a="http://schemas.openxmlformats.org/drawingml/2006/main">
            <a:off x="685800" y="151447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FFFFFF"/>
                </a:solidFill>
                <a:latin typeface="Arial"/>
                <a:ea typeface="Arial"/>
                <a:cs typeface="Arial"/>
              </a:defRPr>
            </a:defPPr>
          </a:lstStyle>
          <a:p xmlns:a="http://schemas.openxmlformats.org/drawingml/2006/main">
            <a:pPr>
              <a:buNone/>
              <a:defRPr sz="2025" b="0">
                <a:solidFill>
                  <a:srgbClr val="FFFFFF"/>
                </a:solidFill>
                <a:latin typeface="Arial"/>
                <a:ea typeface="Arial"/>
                <a:cs typeface="Arial"/>
              </a:defRPr>
            </a:pPr>
            <a:r>
              <a:rPr sz="2025" b="0">
                <a:solidFill>
                  <a:srgbClr val="FFFFFF"/>
                </a:solidFill>
                <a:latin typeface="Arial"/>
                <a:ea typeface="Arial"/>
                <a:cs typeface="Arial"/>
              </a:rPr>
              <a:t>An example workflow with SDD. People set the goal and control changes.</a:t>
            </a:r>
          </a:p>
        </p:txBody>
      </p:sp>
      <p:sp>
        <p:nvSpPr>
          <p:cNvPr id="3" name="">
            <a:extLst xmlns:a="http://schemas.openxmlformats.org/drawingml/2006/main">
              <a:ext uri="{FF2B5EF4-FFF2-40B4-BE49-F238E27FC236}">
                <a16:creationId xmlns:a16="http://schemas.microsoft.com/office/drawing/2014/main" id="{B4F55318-622E-4653-86E8-1B94220837F4}"/>
              </a:ext>
            </a:extLst>
          </p:cNvPr>
          <p:cNvSpPr>
            <a:spLocks xmlns:a="http://schemas.openxmlformats.org/drawingml/2006/main" noGrp="1"/>
          </p:cNvSpPr>
          <p:nvPr/>
        </p:nvSpPr>
        <p:spPr>
          <a:xfrm xmlns:a="http://schemas.openxmlformats.org/drawingml/2006/main">
            <a:off x="685800" y="2257425"/>
            <a:ext cx="2362200" cy="1676400"/>
          </a:xfrm>
          <a:prstGeom xmlns:a="http://schemas.openxmlformats.org/drawingml/2006/main" prst="roundRect">
            <a:avLst>
              <a:gd name="adj" fmla="val 9091"/>
            </a:avLst>
          </a:prstGeom>
          <a:solidFill xmlns:a="http://schemas.openxmlformats.org/drawingml/2006/main">
            <a:srgbClr val="2447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E51F831-C878-44F6-926D-F84CCB31C95F}"/>
              </a:ext>
            </a:extLst>
          </p:cNvPr>
          <p:cNvSpPr>
            <a:spLocks xmlns:a="http://schemas.openxmlformats.org/drawingml/2006/main" noGrp="1"/>
          </p:cNvSpPr>
          <p:nvPr/>
        </p:nvSpPr>
        <p:spPr>
          <a:xfrm xmlns:a="http://schemas.openxmlformats.org/drawingml/2006/main">
            <a:off x="857250" y="2390775"/>
            <a:ext cx="20193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FFFFFF"/>
                </a:solidFill>
                <a:latin typeface="Arial"/>
                <a:ea typeface="Arial"/>
                <a:cs typeface="Arial"/>
              </a:defRPr>
            </a:defPPr>
          </a:lstStyle>
          <a:p xmlns:a="http://schemas.openxmlformats.org/drawingml/2006/main">
            <a:pPr>
              <a:buNone/>
              <a:defRPr sz="1800" b="1">
                <a:solidFill>
                  <a:srgbClr val="FFFFFF"/>
                </a:solidFill>
                <a:latin typeface="Arial"/>
                <a:ea typeface="Arial"/>
                <a:cs typeface="Arial"/>
              </a:defRPr>
            </a:pPr>
            <a:r>
              <a:rPr sz="1800" b="1">
                <a:solidFill>
                  <a:srgbClr val="FFFFFF"/>
                </a:solidFill>
                <a:latin typeface="Arial"/>
                <a:ea typeface="Arial"/>
                <a:cs typeface="Arial"/>
              </a:rPr>
              <a:t>1. Business</a:t>
            </a:r>
          </a:p>
          <a:p xmlns:a="http://schemas.openxmlformats.org/drawingml/2006/main">
            <a:pPr>
              <a:buNone/>
              <a:defRPr sz="1800" b="1">
                <a:solidFill>
                  <a:srgbClr val="FFFFFF"/>
                </a:solidFill>
                <a:latin typeface="Arial"/>
                <a:ea typeface="Arial"/>
                <a:cs typeface="Arial"/>
              </a:defRPr>
            </a:pPr>
            <a:r>
              <a:rPr sz="1800" b="1">
                <a:solidFill>
                  <a:srgbClr val="FFFFFF"/>
                </a:solidFill>
                <a:latin typeface="Arial"/>
                <a:ea typeface="Arial"/>
                <a:cs typeface="Arial"/>
              </a:rPr>
              <a:t>requirements</a:t>
            </a:r>
          </a:p>
        </p:txBody>
      </p:sp>
      <p:sp>
        <p:nvSpPr>
          <p:cNvPr id="5" name="">
            <a:extLst xmlns:a="http://schemas.openxmlformats.org/drawingml/2006/main">
              <a:ext uri="{FF2B5EF4-FFF2-40B4-BE49-F238E27FC236}">
                <a16:creationId xmlns:a16="http://schemas.microsoft.com/office/drawing/2014/main" id="{CE09738D-6621-4DCC-800E-5A4425E53992}"/>
              </a:ext>
            </a:extLst>
          </p:cNvPr>
          <p:cNvSpPr>
            <a:spLocks xmlns:a="http://schemas.openxmlformats.org/drawingml/2006/main" noGrp="1"/>
          </p:cNvSpPr>
          <p:nvPr/>
        </p:nvSpPr>
        <p:spPr>
          <a:xfrm xmlns:a="http://schemas.openxmlformats.org/drawingml/2006/main">
            <a:off x="857250" y="3000375"/>
            <a:ext cx="20193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FFFFFF"/>
                </a:solidFill>
                <a:latin typeface="Arial"/>
                <a:ea typeface="Arial"/>
                <a:cs typeface="Arial"/>
              </a:defRPr>
            </a:defPPr>
          </a:lstStyle>
          <a:p xmlns:a="http://schemas.openxmlformats.org/drawingml/2006/main">
            <a:pPr>
              <a:buNone/>
              <a:defRPr sz="1500" b="0">
                <a:solidFill>
                  <a:srgbClr val="FFFFFF"/>
                </a:solidFill>
                <a:latin typeface="Arial"/>
                <a:ea typeface="Arial"/>
                <a:cs typeface="Arial"/>
              </a:defRPr>
            </a:pPr>
            <a:r>
              <a:rPr sz="1500" b="0">
                <a:solidFill>
                  <a:srgbClr val="FFFFFF"/>
                </a:solidFill>
                <a:latin typeface="Arial"/>
                <a:ea typeface="Arial"/>
                <a:cs typeface="Arial"/>
              </a:rPr>
              <a:t>A person defines</a:t>
            </a:r>
          </a:p>
          <a:p xmlns:a="http://schemas.openxmlformats.org/drawingml/2006/main">
            <a:pPr>
              <a:buNone/>
              <a:defRPr sz="1500" b="0">
                <a:solidFill>
                  <a:srgbClr val="FFFFFF"/>
                </a:solidFill>
                <a:latin typeface="Arial"/>
                <a:ea typeface="Arial"/>
                <a:cs typeface="Arial"/>
              </a:defRPr>
            </a:pPr>
            <a:r>
              <a:rPr sz="1500" b="0">
                <a:solidFill>
                  <a:srgbClr val="FFFFFF"/>
                </a:solidFill>
                <a:latin typeface="Arial"/>
                <a:ea typeface="Arial"/>
                <a:cs typeface="Arial"/>
              </a:rPr>
              <a:t>business rules</a:t>
            </a:r>
          </a:p>
          <a:p xmlns:a="http://schemas.openxmlformats.org/drawingml/2006/main">
            <a:pPr>
              <a:buNone/>
              <a:defRPr sz="1500" b="0">
                <a:solidFill>
                  <a:srgbClr val="FFFFFF"/>
                </a:solidFill>
                <a:latin typeface="Arial"/>
                <a:ea typeface="Arial"/>
                <a:cs typeface="Arial"/>
              </a:defRPr>
            </a:pPr>
            <a:r>
              <a:rPr sz="1500" b="0">
                <a:solidFill>
                  <a:srgbClr val="FFFFFF"/>
                </a:solidFill>
                <a:latin typeface="Arial"/>
                <a:ea typeface="Arial"/>
                <a:cs typeface="Arial"/>
              </a:rPr>
              <a:t>and expectations.</a:t>
            </a:r>
          </a:p>
        </p:txBody>
      </p:sp>
      <p:sp>
        <p:nvSpPr>
          <p:cNvPr id="6" name="">
            <a:extLst xmlns:a="http://schemas.openxmlformats.org/drawingml/2006/main">
              <a:ext uri="{FF2B5EF4-FFF2-40B4-BE49-F238E27FC236}">
                <a16:creationId xmlns:a16="http://schemas.microsoft.com/office/drawing/2014/main" id="{0265E469-654C-448D-8F22-8976AFF0F6E5}"/>
              </a:ext>
            </a:extLst>
          </p:cNvPr>
          <p:cNvSpPr>
            <a:spLocks xmlns:a="http://schemas.openxmlformats.org/drawingml/2006/main" noGrp="1"/>
          </p:cNvSpPr>
          <p:nvPr/>
        </p:nvSpPr>
        <p:spPr>
          <a:xfrm xmlns:a="http://schemas.openxmlformats.org/drawingml/2006/main">
            <a:off x="3505200" y="2257425"/>
            <a:ext cx="2362200" cy="1676400"/>
          </a:xfrm>
          <a:prstGeom xmlns:a="http://schemas.openxmlformats.org/drawingml/2006/main" prst="roundRect">
            <a:avLst>
              <a:gd name="adj" fmla="val 9091"/>
            </a:avLst>
          </a:prstGeom>
          <a:solidFill xmlns:a="http://schemas.openxmlformats.org/drawingml/2006/main">
            <a:srgbClr val="7041B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A8CC57A-EE7D-4622-A2BE-5FF159709EF6}"/>
              </a:ext>
            </a:extLst>
          </p:cNvPr>
          <p:cNvSpPr>
            <a:spLocks xmlns:a="http://schemas.openxmlformats.org/drawingml/2006/main" noGrp="1"/>
          </p:cNvSpPr>
          <p:nvPr/>
        </p:nvSpPr>
        <p:spPr>
          <a:xfrm xmlns:a="http://schemas.openxmlformats.org/drawingml/2006/main">
            <a:off x="3676650" y="2390775"/>
            <a:ext cx="20193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FFFFFF"/>
                </a:solidFill>
                <a:latin typeface="Arial"/>
                <a:ea typeface="Arial"/>
                <a:cs typeface="Arial"/>
              </a:defRPr>
            </a:defPPr>
          </a:lstStyle>
          <a:p xmlns:a="http://schemas.openxmlformats.org/drawingml/2006/main">
            <a:pPr>
              <a:buNone/>
              <a:defRPr sz="1800" b="1">
                <a:solidFill>
                  <a:srgbClr val="FFFFFF"/>
                </a:solidFill>
                <a:latin typeface="Arial"/>
                <a:ea typeface="Arial"/>
                <a:cs typeface="Arial"/>
              </a:defRPr>
            </a:pPr>
            <a:r>
              <a:rPr sz="1800" b="1">
                <a:solidFill>
                  <a:srgbClr val="FFFFFF"/>
                </a:solidFill>
                <a:latin typeface="Arial"/>
                <a:ea typeface="Arial"/>
                <a:cs typeface="Arial"/>
              </a:rPr>
              <a:t>2. spec.md</a:t>
            </a:r>
          </a:p>
        </p:txBody>
      </p:sp>
      <p:sp>
        <p:nvSpPr>
          <p:cNvPr id="8" name="">
            <a:extLst xmlns:a="http://schemas.openxmlformats.org/drawingml/2006/main">
              <a:ext uri="{FF2B5EF4-FFF2-40B4-BE49-F238E27FC236}">
                <a16:creationId xmlns:a16="http://schemas.microsoft.com/office/drawing/2014/main" id="{5B95D2AD-1DC5-486A-8FBF-AD0E097E0590}"/>
              </a:ext>
            </a:extLst>
          </p:cNvPr>
          <p:cNvSpPr>
            <a:spLocks xmlns:a="http://schemas.openxmlformats.org/drawingml/2006/main" noGrp="1"/>
          </p:cNvSpPr>
          <p:nvPr/>
        </p:nvSpPr>
        <p:spPr>
          <a:xfrm xmlns:a="http://schemas.openxmlformats.org/drawingml/2006/main">
            <a:off x="3676650" y="3000375"/>
            <a:ext cx="20193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FFFFFF"/>
                </a:solidFill>
                <a:latin typeface="Arial"/>
                <a:ea typeface="Arial"/>
                <a:cs typeface="Arial"/>
              </a:defRPr>
            </a:defPPr>
          </a:lstStyle>
          <a:p xmlns:a="http://schemas.openxmlformats.org/drawingml/2006/main">
            <a:pPr>
              <a:buNone/>
              <a:defRPr sz="1500" b="0">
                <a:solidFill>
                  <a:srgbClr val="FFFFFF"/>
                </a:solidFill>
                <a:latin typeface="Arial"/>
                <a:ea typeface="Arial"/>
                <a:cs typeface="Arial"/>
              </a:defRPr>
            </a:pPr>
            <a:r>
              <a:rPr sz="1500" b="0">
                <a:solidFill>
                  <a:srgbClr val="FFFFFF"/>
                </a:solidFill>
                <a:latin typeface="Arial"/>
                <a:ea typeface="Arial"/>
                <a:cs typeface="Arial"/>
              </a:rPr>
              <a:t>Requirements,</a:t>
            </a:r>
          </a:p>
          <a:p xmlns:a="http://schemas.openxmlformats.org/drawingml/2006/main">
            <a:pPr>
              <a:buNone/>
              <a:defRPr sz="1500" b="0">
                <a:solidFill>
                  <a:srgbClr val="FFFFFF"/>
                </a:solidFill>
                <a:latin typeface="Arial"/>
                <a:ea typeface="Arial"/>
                <a:cs typeface="Arial"/>
              </a:defRPr>
            </a:pPr>
            <a:r>
              <a:rPr sz="1500" b="0">
                <a:solidFill>
                  <a:srgbClr val="FFFFFF"/>
                </a:solidFill>
                <a:latin typeface="Arial"/>
                <a:ea typeface="Arial"/>
                <a:cs typeface="Arial"/>
              </a:rPr>
              <a:t>implementation plan</a:t>
            </a:r>
          </a:p>
          <a:p xmlns:a="http://schemas.openxmlformats.org/drawingml/2006/main">
            <a:pPr>
              <a:buNone/>
              <a:defRPr sz="1500" b="0">
                <a:solidFill>
                  <a:srgbClr val="FFFFFF"/>
                </a:solidFill>
                <a:latin typeface="Arial"/>
                <a:ea typeface="Arial"/>
                <a:cs typeface="Arial"/>
              </a:defRPr>
            </a:pPr>
            <a:r>
              <a:rPr sz="1500" b="0">
                <a:solidFill>
                  <a:srgbClr val="FFFFFF"/>
                </a:solidFill>
                <a:latin typeface="Arial"/>
                <a:ea typeface="Arial"/>
                <a:cs typeface="Arial"/>
              </a:rPr>
              <a:t>and agent tasks.</a:t>
            </a:r>
          </a:p>
        </p:txBody>
      </p:sp>
      <p:sp>
        <p:nvSpPr>
          <p:cNvPr id="9" name="">
            <a:extLst xmlns:a="http://schemas.openxmlformats.org/drawingml/2006/main">
              <a:ext uri="{FF2B5EF4-FFF2-40B4-BE49-F238E27FC236}">
                <a16:creationId xmlns:a16="http://schemas.microsoft.com/office/drawing/2014/main" id="{45EBC37E-EF73-471D-8CD4-0CCAF13C6366}"/>
              </a:ext>
            </a:extLst>
          </p:cNvPr>
          <p:cNvSpPr>
            <a:spLocks xmlns:a="http://schemas.openxmlformats.org/drawingml/2006/main" noGrp="1"/>
          </p:cNvSpPr>
          <p:nvPr/>
        </p:nvSpPr>
        <p:spPr>
          <a:xfrm xmlns:a="http://schemas.openxmlformats.org/drawingml/2006/main">
            <a:off x="6324600" y="2257425"/>
            <a:ext cx="2362200" cy="1676400"/>
          </a:xfrm>
          <a:prstGeom xmlns:a="http://schemas.openxmlformats.org/drawingml/2006/main" prst="roundRect">
            <a:avLst>
              <a:gd name="adj" fmla="val 9091"/>
            </a:avLst>
          </a:prstGeom>
          <a:solidFill xmlns:a="http://schemas.openxmlformats.org/drawingml/2006/main">
            <a:srgbClr val="067E9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0D50531-8F1C-4C44-AB0E-BC0C56E16566}"/>
              </a:ext>
            </a:extLst>
          </p:cNvPr>
          <p:cNvSpPr>
            <a:spLocks xmlns:a="http://schemas.openxmlformats.org/drawingml/2006/main" noGrp="1"/>
          </p:cNvSpPr>
          <p:nvPr/>
        </p:nvSpPr>
        <p:spPr>
          <a:xfrm xmlns:a="http://schemas.openxmlformats.org/drawingml/2006/main">
            <a:off x="6496050" y="2390775"/>
            <a:ext cx="20193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FFFFFF"/>
                </a:solidFill>
                <a:latin typeface="Arial"/>
                <a:ea typeface="Arial"/>
                <a:cs typeface="Arial"/>
              </a:defRPr>
            </a:defPPr>
          </a:lstStyle>
          <a:p xmlns:a="http://schemas.openxmlformats.org/drawingml/2006/main">
            <a:pPr>
              <a:buNone/>
              <a:defRPr sz="1800" b="1">
                <a:solidFill>
                  <a:srgbClr val="FFFFFF"/>
                </a:solidFill>
                <a:latin typeface="Arial"/>
                <a:ea typeface="Arial"/>
                <a:cs typeface="Arial"/>
              </a:defRPr>
            </a:pPr>
            <a:r>
              <a:rPr sz="1800" b="1">
                <a:solidFill>
                  <a:srgbClr val="FFFFFF"/>
                </a:solidFill>
                <a:latin typeface="Arial"/>
                <a:ea typeface="Arial"/>
                <a:cs typeface="Arial"/>
              </a:rPr>
              <a:t>3. Code + tests</a:t>
            </a:r>
          </a:p>
        </p:txBody>
      </p:sp>
      <p:sp>
        <p:nvSpPr>
          <p:cNvPr id="11" name="">
            <a:extLst xmlns:a="http://schemas.openxmlformats.org/drawingml/2006/main">
              <a:ext uri="{FF2B5EF4-FFF2-40B4-BE49-F238E27FC236}">
                <a16:creationId xmlns:a16="http://schemas.microsoft.com/office/drawing/2014/main" id="{5C118823-2EB8-4C88-8FEE-F3C173DFE0DB}"/>
              </a:ext>
            </a:extLst>
          </p:cNvPr>
          <p:cNvSpPr>
            <a:spLocks xmlns:a="http://schemas.openxmlformats.org/drawingml/2006/main" noGrp="1"/>
          </p:cNvSpPr>
          <p:nvPr/>
        </p:nvSpPr>
        <p:spPr>
          <a:xfrm xmlns:a="http://schemas.openxmlformats.org/drawingml/2006/main">
            <a:off x="6496050" y="3000375"/>
            <a:ext cx="20193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FFFFFF"/>
                </a:solidFill>
                <a:latin typeface="Arial"/>
                <a:ea typeface="Arial"/>
                <a:cs typeface="Arial"/>
              </a:defRPr>
            </a:defPPr>
          </a:lstStyle>
          <a:p xmlns:a="http://schemas.openxmlformats.org/drawingml/2006/main">
            <a:pPr>
              <a:buNone/>
              <a:defRPr sz="1500" b="0">
                <a:solidFill>
                  <a:srgbClr val="FFFFFF"/>
                </a:solidFill>
                <a:latin typeface="Arial"/>
                <a:ea typeface="Arial"/>
                <a:cs typeface="Arial"/>
              </a:defRPr>
            </a:pPr>
            <a:r>
              <a:rPr sz="1500" b="0">
                <a:solidFill>
                  <a:srgbClr val="FFFFFF"/>
                </a:solidFill>
                <a:latin typeface="Arial"/>
                <a:ea typeface="Arial"/>
                <a:cs typeface="Arial"/>
              </a:rPr>
              <a:t>Agent writes code</a:t>
            </a:r>
          </a:p>
          <a:p xmlns:a="http://schemas.openxmlformats.org/drawingml/2006/main">
            <a:pPr>
              <a:buNone/>
              <a:defRPr sz="1500" b="0">
                <a:solidFill>
                  <a:srgbClr val="FFFFFF"/>
                </a:solidFill>
                <a:latin typeface="Arial"/>
                <a:ea typeface="Arial"/>
                <a:cs typeface="Arial"/>
              </a:defRPr>
            </a:pPr>
            <a:r>
              <a:rPr sz="1500" b="0">
                <a:solidFill>
                  <a:srgbClr val="FFFFFF"/>
                </a:solidFill>
                <a:latin typeface="Arial"/>
                <a:ea typeface="Arial"/>
                <a:cs typeface="Arial"/>
              </a:rPr>
              <a:t>and tests.</a:t>
            </a:r>
          </a:p>
          <a:p xmlns:a="http://schemas.openxmlformats.org/drawingml/2006/main">
            <a:pPr>
              <a:buNone/>
              <a:defRPr sz="1500" b="0">
                <a:solidFill>
                  <a:srgbClr val="FFFFFF"/>
                </a:solidFill>
                <a:latin typeface="Arial"/>
                <a:ea typeface="Arial"/>
                <a:cs typeface="Arial"/>
              </a:defRPr>
            </a:pPr>
            <a:r>
              <a:rPr sz="1500" b="0">
                <a:solidFill>
                  <a:srgbClr val="FFFFFF"/>
                </a:solidFill>
                <a:latin typeface="Arial"/>
                <a:ea typeface="Arial"/>
                <a:cs typeface="Arial"/>
              </a:rPr>
              <a:t>Opens a PR.</a:t>
            </a:r>
          </a:p>
        </p:txBody>
      </p:sp>
      <p:sp>
        <p:nvSpPr>
          <p:cNvPr id="12" name="">
            <a:extLst xmlns:a="http://schemas.openxmlformats.org/drawingml/2006/main">
              <a:ext uri="{FF2B5EF4-FFF2-40B4-BE49-F238E27FC236}">
                <a16:creationId xmlns:a16="http://schemas.microsoft.com/office/drawing/2014/main" id="{6B810935-5C55-42A4-9344-F73D6293EF86}"/>
              </a:ext>
            </a:extLst>
          </p:cNvPr>
          <p:cNvSpPr>
            <a:spLocks xmlns:a="http://schemas.openxmlformats.org/drawingml/2006/main" noGrp="1"/>
          </p:cNvSpPr>
          <p:nvPr/>
        </p:nvSpPr>
        <p:spPr>
          <a:xfrm xmlns:a="http://schemas.openxmlformats.org/drawingml/2006/main">
            <a:off x="9144000" y="2257425"/>
            <a:ext cx="2362200" cy="1676400"/>
          </a:xfrm>
          <a:prstGeom xmlns:a="http://schemas.openxmlformats.org/drawingml/2006/main" prst="roundRect">
            <a:avLst>
              <a:gd name="adj" fmla="val 9091"/>
            </a:avLst>
          </a:prstGeom>
          <a:solidFill xmlns:a="http://schemas.openxmlformats.org/drawingml/2006/main">
            <a:srgbClr val="13795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E26F607-FBF8-4449-9826-B45DA4786047}"/>
              </a:ext>
            </a:extLst>
          </p:cNvPr>
          <p:cNvSpPr>
            <a:spLocks xmlns:a="http://schemas.openxmlformats.org/drawingml/2006/main" noGrp="1"/>
          </p:cNvSpPr>
          <p:nvPr/>
        </p:nvSpPr>
        <p:spPr>
          <a:xfrm xmlns:a="http://schemas.openxmlformats.org/drawingml/2006/main">
            <a:off x="9315450" y="2390775"/>
            <a:ext cx="20193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FFFFFF"/>
                </a:solidFill>
                <a:latin typeface="Arial"/>
                <a:ea typeface="Arial"/>
                <a:cs typeface="Arial"/>
              </a:defRPr>
            </a:defPPr>
          </a:lstStyle>
          <a:p xmlns:a="http://schemas.openxmlformats.org/drawingml/2006/main">
            <a:pPr>
              <a:buNone/>
              <a:defRPr sz="1800" b="1">
                <a:solidFill>
                  <a:srgbClr val="FFFFFF"/>
                </a:solidFill>
                <a:latin typeface="Arial"/>
                <a:ea typeface="Arial"/>
                <a:cs typeface="Arial"/>
              </a:defRPr>
            </a:pPr>
            <a:r>
              <a:rPr sz="1800" b="1">
                <a:solidFill>
                  <a:srgbClr val="FFFFFF"/>
                </a:solidFill>
                <a:latin typeface="Arial"/>
                <a:ea typeface="Arial"/>
                <a:cs typeface="Arial"/>
              </a:rPr>
              <a:t>4. Review</a:t>
            </a:r>
          </a:p>
        </p:txBody>
      </p:sp>
      <p:sp>
        <p:nvSpPr>
          <p:cNvPr id="14" name="">
            <a:extLst xmlns:a="http://schemas.openxmlformats.org/drawingml/2006/main">
              <a:ext uri="{FF2B5EF4-FFF2-40B4-BE49-F238E27FC236}">
                <a16:creationId xmlns:a16="http://schemas.microsoft.com/office/drawing/2014/main" id="{18919F1B-1F94-4EEA-9602-ECBD9390DDC7}"/>
              </a:ext>
            </a:extLst>
          </p:cNvPr>
          <p:cNvSpPr>
            <a:spLocks xmlns:a="http://schemas.openxmlformats.org/drawingml/2006/main" noGrp="1"/>
          </p:cNvSpPr>
          <p:nvPr/>
        </p:nvSpPr>
        <p:spPr>
          <a:xfrm xmlns:a="http://schemas.openxmlformats.org/drawingml/2006/main">
            <a:off x="9315450" y="3000375"/>
            <a:ext cx="20193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FFFFFF"/>
                </a:solidFill>
                <a:latin typeface="Arial"/>
                <a:ea typeface="Arial"/>
                <a:cs typeface="Arial"/>
              </a:defRPr>
            </a:defPPr>
          </a:lstStyle>
          <a:p xmlns:a="http://schemas.openxmlformats.org/drawingml/2006/main">
            <a:pPr>
              <a:buNone/>
              <a:defRPr sz="1500" b="0">
                <a:solidFill>
                  <a:srgbClr val="FFFFFF"/>
                </a:solidFill>
                <a:latin typeface="Arial"/>
                <a:ea typeface="Arial"/>
                <a:cs typeface="Arial"/>
              </a:defRPr>
            </a:pPr>
            <a:r>
              <a:rPr sz="1500" b="0">
                <a:solidFill>
                  <a:srgbClr val="FFFFFF"/>
                </a:solidFill>
                <a:latin typeface="Arial"/>
                <a:ea typeface="Arial"/>
                <a:cs typeface="Arial"/>
              </a:rPr>
              <a:t>Quality agent:</a:t>
            </a:r>
          </a:p>
          <a:p xmlns:a="http://schemas.openxmlformats.org/drawingml/2006/main">
            <a:pPr>
              <a:buNone/>
              <a:defRPr sz="1500" b="0">
                <a:solidFill>
                  <a:srgbClr val="FFFFFF"/>
                </a:solidFill>
                <a:latin typeface="Arial"/>
                <a:ea typeface="Arial"/>
                <a:cs typeface="Arial"/>
              </a:defRPr>
            </a:pPr>
            <a:r>
              <a:rPr sz="1500" b="0">
                <a:solidFill>
                  <a:srgbClr val="FFFFFF"/>
                </a:solidFill>
                <a:latin typeface="Arial"/>
                <a:ea typeface="Arial"/>
                <a:cs typeface="Arial"/>
              </a:rPr>
              <a:t>review and tests.</a:t>
            </a:r>
          </a:p>
          <a:p xmlns:a="http://schemas.openxmlformats.org/drawingml/2006/main">
            <a:pPr>
              <a:buNone/>
              <a:defRPr sz="1500" b="0">
                <a:solidFill>
                  <a:srgbClr val="FFFFFF"/>
                </a:solidFill>
                <a:latin typeface="Arial"/>
                <a:ea typeface="Arial"/>
                <a:cs typeface="Arial"/>
              </a:defRPr>
            </a:pPr>
            <a:r>
              <a:rPr sz="1500" b="0">
                <a:solidFill>
                  <a:srgbClr val="FFFFFF"/>
                </a:solidFill>
                <a:latin typeface="Arial"/>
                <a:ea typeface="Arial"/>
                <a:cs typeface="Arial"/>
              </a:rPr>
              <a:t>Human approval.</a:t>
            </a:r>
          </a:p>
        </p:txBody>
      </p:sp>
      <p:sp>
        <p:nvSpPr>
          <p:cNvPr id="15" name="">
            <a:extLst xmlns:a="http://schemas.openxmlformats.org/drawingml/2006/main">
              <a:ext uri="{FF2B5EF4-FFF2-40B4-BE49-F238E27FC236}">
                <a16:creationId xmlns:a16="http://schemas.microsoft.com/office/drawing/2014/main" id="{01674DFE-FF72-4165-9A22-B9204C8A0423}"/>
              </a:ext>
            </a:extLst>
          </p:cNvPr>
          <p:cNvSpPr>
            <a:spLocks xmlns:a="http://schemas.openxmlformats.org/drawingml/2006/main" noGrp="1"/>
          </p:cNvSpPr>
          <p:nvPr/>
        </p:nvSpPr>
        <p:spPr>
          <a:xfrm xmlns:a="http://schemas.openxmlformats.org/drawingml/2006/main">
            <a:off x="8362950" y="4286250"/>
            <a:ext cx="3143250" cy="1533525"/>
          </a:xfrm>
          <a:prstGeom xmlns:a="http://schemas.openxmlformats.org/drawingml/2006/main" prst="roundRect">
            <a:avLst>
              <a:gd name="adj" fmla="val 9938"/>
            </a:avLst>
          </a:prstGeom>
          <a:solidFill xmlns:a="http://schemas.openxmlformats.org/drawingml/2006/main">
            <a:srgbClr val="2447A6"/>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394A039-DE96-48AD-92C2-4D2AFF2AB147}"/>
              </a:ext>
            </a:extLst>
          </p:cNvPr>
          <p:cNvSpPr>
            <a:spLocks xmlns:a="http://schemas.openxmlformats.org/drawingml/2006/main" noGrp="1"/>
          </p:cNvSpPr>
          <p:nvPr/>
        </p:nvSpPr>
        <p:spPr>
          <a:xfrm xmlns:a="http://schemas.openxmlformats.org/drawingml/2006/main">
            <a:off x="8534400" y="4419600"/>
            <a:ext cx="2800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FFFFFF"/>
                </a:solidFill>
                <a:latin typeface="Arial"/>
                <a:ea typeface="Arial"/>
                <a:cs typeface="Arial"/>
              </a:defRPr>
            </a:defPPr>
          </a:lstStyle>
          <a:p xmlns:a="http://schemas.openxmlformats.org/drawingml/2006/main">
            <a:pPr>
              <a:buNone/>
              <a:defRPr sz="1800" b="1">
                <a:solidFill>
                  <a:srgbClr val="FFFFFF"/>
                </a:solidFill>
                <a:latin typeface="Arial"/>
                <a:ea typeface="Arial"/>
                <a:cs typeface="Arial"/>
              </a:defRPr>
            </a:pPr>
            <a:r>
              <a:rPr sz="1800" b="1">
                <a:solidFill>
                  <a:srgbClr val="FFFFFF"/>
                </a:solidFill>
                <a:latin typeface="Arial"/>
                <a:ea typeface="Arial"/>
                <a:cs typeface="Arial"/>
              </a:rPr>
              <a:t>5. GitHub Actions</a:t>
            </a:r>
          </a:p>
          <a:p xmlns:a="http://schemas.openxmlformats.org/drawingml/2006/main">
            <a:pPr>
              <a:buNone/>
              <a:defRPr sz="1800" b="1">
                <a:solidFill>
                  <a:srgbClr val="FFFFFF"/>
                </a:solidFill>
                <a:latin typeface="Arial"/>
                <a:ea typeface="Arial"/>
                <a:cs typeface="Arial"/>
              </a:defRPr>
            </a:pPr>
            <a:r>
              <a:rPr sz="1800" b="1">
                <a:solidFill>
                  <a:srgbClr val="FFFFFF"/>
                </a:solidFill>
                <a:latin typeface="Arial"/>
                <a:ea typeface="Arial"/>
                <a:cs typeface="Arial"/>
              </a:rPr>
              <a:t>CI/CD</a:t>
            </a:r>
          </a:p>
        </p:txBody>
      </p:sp>
      <p:sp>
        <p:nvSpPr>
          <p:cNvPr id="17" name="">
            <a:extLst xmlns:a="http://schemas.openxmlformats.org/drawingml/2006/main">
              <a:ext uri="{FF2B5EF4-FFF2-40B4-BE49-F238E27FC236}">
                <a16:creationId xmlns:a16="http://schemas.microsoft.com/office/drawing/2014/main" id="{786FF275-9CA8-402C-A19C-AAB6C12EEDA7}"/>
              </a:ext>
            </a:extLst>
          </p:cNvPr>
          <p:cNvSpPr>
            <a:spLocks xmlns:a="http://schemas.openxmlformats.org/drawingml/2006/main" noGrp="1"/>
          </p:cNvSpPr>
          <p:nvPr/>
        </p:nvSpPr>
        <p:spPr>
          <a:xfrm xmlns:a="http://schemas.openxmlformats.org/drawingml/2006/main">
            <a:off x="8534400" y="5029200"/>
            <a:ext cx="28003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FFFFFF"/>
                </a:solidFill>
                <a:latin typeface="Arial"/>
                <a:ea typeface="Arial"/>
                <a:cs typeface="Arial"/>
              </a:defRPr>
            </a:defPPr>
          </a:lstStyle>
          <a:p xmlns:a="http://schemas.openxmlformats.org/drawingml/2006/main">
            <a:pPr>
              <a:buNone/>
              <a:defRPr sz="1500" b="0">
                <a:solidFill>
                  <a:srgbClr val="FFFFFF"/>
                </a:solidFill>
                <a:latin typeface="Arial"/>
                <a:ea typeface="Arial"/>
                <a:cs typeface="Arial"/>
              </a:defRPr>
            </a:pPr>
            <a:r>
              <a:rPr sz="1500" b="0">
                <a:solidFill>
                  <a:srgbClr val="FFFFFF"/>
                </a:solidFill>
                <a:latin typeface="Arial"/>
                <a:ea typeface="Arial"/>
                <a:cs typeface="Arial"/>
              </a:rPr>
              <a:t>Build and deployment.</a:t>
            </a:r>
          </a:p>
        </p:txBody>
      </p:sp>
      <p:sp>
        <p:nvSpPr>
          <p:cNvPr id="18" name="">
            <a:extLst xmlns:a="http://schemas.openxmlformats.org/drawingml/2006/main">
              <a:ext uri="{FF2B5EF4-FFF2-40B4-BE49-F238E27FC236}">
                <a16:creationId xmlns:a16="http://schemas.microsoft.com/office/drawing/2014/main" id="{B11B0E6A-43A3-42C3-918B-45B8245D68C6}"/>
              </a:ext>
            </a:extLst>
          </p:cNvPr>
          <p:cNvSpPr>
            <a:spLocks xmlns:a="http://schemas.openxmlformats.org/drawingml/2006/main" noGrp="1"/>
          </p:cNvSpPr>
          <p:nvPr/>
        </p:nvSpPr>
        <p:spPr>
          <a:xfrm xmlns:a="http://schemas.openxmlformats.org/drawingml/2006/main">
            <a:off x="4524375" y="4286250"/>
            <a:ext cx="3143250" cy="1533525"/>
          </a:xfrm>
          <a:prstGeom xmlns:a="http://schemas.openxmlformats.org/drawingml/2006/main" prst="roundRect">
            <a:avLst>
              <a:gd name="adj" fmla="val 9938"/>
            </a:avLst>
          </a:prstGeom>
          <a:solidFill xmlns:a="http://schemas.openxmlformats.org/drawingml/2006/main">
            <a:srgbClr val="7041B9"/>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7BC2C9A-EFE4-480C-8C0B-25D281F14EDC}"/>
              </a:ext>
            </a:extLst>
          </p:cNvPr>
          <p:cNvSpPr>
            <a:spLocks xmlns:a="http://schemas.openxmlformats.org/drawingml/2006/main" noGrp="1"/>
          </p:cNvSpPr>
          <p:nvPr/>
        </p:nvSpPr>
        <p:spPr>
          <a:xfrm xmlns:a="http://schemas.openxmlformats.org/drawingml/2006/main">
            <a:off x="4695825" y="4419600"/>
            <a:ext cx="2800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FFFFFF"/>
                </a:solidFill>
                <a:latin typeface="Arial"/>
                <a:ea typeface="Arial"/>
                <a:cs typeface="Arial"/>
              </a:defRPr>
            </a:defPPr>
          </a:lstStyle>
          <a:p xmlns:a="http://schemas.openxmlformats.org/drawingml/2006/main">
            <a:pPr>
              <a:buNone/>
              <a:defRPr sz="1800" b="1">
                <a:solidFill>
                  <a:srgbClr val="FFFFFF"/>
                </a:solidFill>
                <a:latin typeface="Arial"/>
                <a:ea typeface="Arial"/>
                <a:cs typeface="Arial"/>
              </a:defRPr>
            </a:pPr>
            <a:r>
              <a:rPr sz="1800" b="1">
                <a:solidFill>
                  <a:srgbClr val="FFFFFF"/>
                </a:solidFill>
                <a:latin typeface="Arial"/>
                <a:ea typeface="Arial"/>
                <a:cs typeface="Arial"/>
              </a:rPr>
              <a:t>6. Observability</a:t>
            </a:r>
          </a:p>
        </p:txBody>
      </p:sp>
      <p:sp>
        <p:nvSpPr>
          <p:cNvPr id="20" name="">
            <a:extLst xmlns:a="http://schemas.openxmlformats.org/drawingml/2006/main">
              <a:ext uri="{FF2B5EF4-FFF2-40B4-BE49-F238E27FC236}">
                <a16:creationId xmlns:a16="http://schemas.microsoft.com/office/drawing/2014/main" id="{2314EEB6-E619-487A-8026-5B49480FFC35}"/>
              </a:ext>
            </a:extLst>
          </p:cNvPr>
          <p:cNvSpPr>
            <a:spLocks xmlns:a="http://schemas.openxmlformats.org/drawingml/2006/main" noGrp="1"/>
          </p:cNvSpPr>
          <p:nvPr/>
        </p:nvSpPr>
        <p:spPr>
          <a:xfrm xmlns:a="http://schemas.openxmlformats.org/drawingml/2006/main">
            <a:off x="4695825" y="5029200"/>
            <a:ext cx="28003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FFFFFF"/>
                </a:solidFill>
                <a:latin typeface="Arial"/>
                <a:ea typeface="Arial"/>
                <a:cs typeface="Arial"/>
              </a:defRPr>
            </a:defPPr>
          </a:lstStyle>
          <a:p xmlns:a="http://schemas.openxmlformats.org/drawingml/2006/main">
            <a:pPr>
              <a:buNone/>
              <a:defRPr sz="1500" b="0">
                <a:solidFill>
                  <a:srgbClr val="FFFFFF"/>
                </a:solidFill>
                <a:latin typeface="Arial"/>
                <a:ea typeface="Arial"/>
                <a:cs typeface="Arial"/>
              </a:defRPr>
            </a:pPr>
            <a:r>
              <a:rPr sz="1500" b="0">
                <a:solidFill>
                  <a:srgbClr val="FFFFFF"/>
                </a:solidFill>
                <a:latin typeface="Arial"/>
                <a:ea typeface="Arial"/>
                <a:cs typeface="Arial"/>
              </a:rPr>
              <a:t>Metrics, logs and traces</a:t>
            </a:r>
          </a:p>
          <a:p xmlns:a="http://schemas.openxmlformats.org/drawingml/2006/main">
            <a:pPr>
              <a:buNone/>
              <a:defRPr sz="1500" b="0">
                <a:solidFill>
                  <a:srgbClr val="FFFFFF"/>
                </a:solidFill>
                <a:latin typeface="Arial"/>
                <a:ea typeface="Arial"/>
                <a:cs typeface="Arial"/>
              </a:defRPr>
            </a:pPr>
            <a:r>
              <a:rPr sz="1500" b="0">
                <a:solidFill>
                  <a:srgbClr val="FFFFFF"/>
                </a:solidFill>
                <a:latin typeface="Arial"/>
                <a:ea typeface="Arial"/>
                <a:cs typeface="Arial"/>
              </a:rPr>
              <a:t>reveal production</a:t>
            </a:r>
          </a:p>
          <a:p xmlns:a="http://schemas.openxmlformats.org/drawingml/2006/main">
            <a:pPr>
              <a:buNone/>
              <a:defRPr sz="1500" b="0">
                <a:solidFill>
                  <a:srgbClr val="FFFFFF"/>
                </a:solidFill>
                <a:latin typeface="Arial"/>
                <a:ea typeface="Arial"/>
                <a:cs typeface="Arial"/>
              </a:defRPr>
            </a:pPr>
            <a:r>
              <a:rPr sz="1500" b="0">
                <a:solidFill>
                  <a:srgbClr val="FFFFFF"/>
                </a:solidFill>
                <a:latin typeface="Arial"/>
                <a:ea typeface="Arial"/>
                <a:cs typeface="Arial"/>
              </a:rPr>
              <a:t>issues.</a:t>
            </a:r>
          </a:p>
        </p:txBody>
      </p:sp>
      <p:sp>
        <p:nvSpPr>
          <p:cNvPr id="21" name="">
            <a:extLst xmlns:a="http://schemas.openxmlformats.org/drawingml/2006/main">
              <a:ext uri="{FF2B5EF4-FFF2-40B4-BE49-F238E27FC236}">
                <a16:creationId xmlns:a16="http://schemas.microsoft.com/office/drawing/2014/main" id="{CB112563-4106-4DD0-B674-FE8F0C28A336}"/>
              </a:ext>
            </a:extLst>
          </p:cNvPr>
          <p:cNvSpPr>
            <a:spLocks xmlns:a="http://schemas.openxmlformats.org/drawingml/2006/main" noGrp="1"/>
          </p:cNvSpPr>
          <p:nvPr/>
        </p:nvSpPr>
        <p:spPr>
          <a:xfrm xmlns:a="http://schemas.openxmlformats.org/drawingml/2006/main">
            <a:off x="685800" y="4286250"/>
            <a:ext cx="3143250" cy="1533525"/>
          </a:xfrm>
          <a:prstGeom xmlns:a="http://schemas.openxmlformats.org/drawingml/2006/main" prst="roundRect">
            <a:avLst>
              <a:gd name="adj" fmla="val 9938"/>
            </a:avLst>
          </a:prstGeom>
          <a:solidFill xmlns:a="http://schemas.openxmlformats.org/drawingml/2006/main">
            <a:srgbClr val="067E96"/>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682E8A3-1787-4509-BB22-0C6076070F4F}"/>
              </a:ext>
            </a:extLst>
          </p:cNvPr>
          <p:cNvSpPr>
            <a:spLocks xmlns:a="http://schemas.openxmlformats.org/drawingml/2006/main" noGrp="1"/>
          </p:cNvSpPr>
          <p:nvPr/>
        </p:nvSpPr>
        <p:spPr>
          <a:xfrm xmlns:a="http://schemas.openxmlformats.org/drawingml/2006/main">
            <a:off x="857250" y="4419600"/>
            <a:ext cx="2800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FFFFFF"/>
                </a:solidFill>
                <a:latin typeface="Arial"/>
                <a:ea typeface="Arial"/>
                <a:cs typeface="Arial"/>
              </a:defRPr>
            </a:defPPr>
          </a:lstStyle>
          <a:p xmlns:a="http://schemas.openxmlformats.org/drawingml/2006/main">
            <a:pPr>
              <a:buNone/>
              <a:defRPr sz="1800" b="1">
                <a:solidFill>
                  <a:srgbClr val="FFFFFF"/>
                </a:solidFill>
                <a:latin typeface="Arial"/>
                <a:ea typeface="Arial"/>
                <a:cs typeface="Arial"/>
              </a:defRPr>
            </a:pPr>
            <a:r>
              <a:rPr sz="1800" b="1">
                <a:solidFill>
                  <a:srgbClr val="FFFFFF"/>
                </a:solidFill>
                <a:latin typeface="Arial"/>
                <a:ea typeface="Arial"/>
                <a:cs typeface="Arial"/>
              </a:rPr>
              <a:t>7. Operations</a:t>
            </a:r>
          </a:p>
        </p:txBody>
      </p:sp>
      <p:sp>
        <p:nvSpPr>
          <p:cNvPr id="23" name="">
            <a:extLst xmlns:a="http://schemas.openxmlformats.org/drawingml/2006/main">
              <a:ext uri="{FF2B5EF4-FFF2-40B4-BE49-F238E27FC236}">
                <a16:creationId xmlns:a16="http://schemas.microsoft.com/office/drawing/2014/main" id="{48B10A08-6210-4BFB-9D03-D794A2C9DB97}"/>
              </a:ext>
            </a:extLst>
          </p:cNvPr>
          <p:cNvSpPr>
            <a:spLocks xmlns:a="http://schemas.openxmlformats.org/drawingml/2006/main" noGrp="1"/>
          </p:cNvSpPr>
          <p:nvPr/>
        </p:nvSpPr>
        <p:spPr>
          <a:xfrm xmlns:a="http://schemas.openxmlformats.org/drawingml/2006/main">
            <a:off x="857250" y="5029200"/>
            <a:ext cx="28003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FFFFFF"/>
                </a:solidFill>
                <a:latin typeface="Arial"/>
                <a:ea typeface="Arial"/>
                <a:cs typeface="Arial"/>
              </a:defRPr>
            </a:defPPr>
          </a:lstStyle>
          <a:p xmlns:a="http://schemas.openxmlformats.org/drawingml/2006/main">
            <a:pPr>
              <a:buNone/>
              <a:defRPr sz="1500" b="0">
                <a:solidFill>
                  <a:srgbClr val="FFFFFF"/>
                </a:solidFill>
                <a:latin typeface="Arial"/>
                <a:ea typeface="Arial"/>
                <a:cs typeface="Arial"/>
              </a:defRPr>
            </a:pPr>
            <a:r>
              <a:rPr sz="1500" b="0">
                <a:solidFill>
                  <a:srgbClr val="FFFFFF"/>
                </a:solidFill>
                <a:latin typeface="Arial"/>
                <a:ea typeface="Arial"/>
                <a:cs typeface="Arial"/>
              </a:rPr>
              <a:t>SRE agent* + engineer:</a:t>
            </a:r>
          </a:p>
          <a:p xmlns:a="http://schemas.openxmlformats.org/drawingml/2006/main">
            <a:pPr>
              <a:buNone/>
              <a:defRPr sz="1500" b="0">
                <a:solidFill>
                  <a:srgbClr val="FFFFFF"/>
                </a:solidFill>
                <a:latin typeface="Arial"/>
                <a:ea typeface="Arial"/>
                <a:cs typeface="Arial"/>
              </a:defRPr>
            </a:pPr>
            <a:r>
              <a:rPr sz="1500" b="0">
                <a:solidFill>
                  <a:srgbClr val="FFFFFF"/>
                </a:solidFill>
                <a:latin typeface="Arial"/>
                <a:ea typeface="Arial"/>
                <a:cs typeface="Arial"/>
              </a:rPr>
              <a:t>monitor, respond</a:t>
            </a:r>
          </a:p>
          <a:p xmlns:a="http://schemas.openxmlformats.org/drawingml/2006/main">
            <a:pPr>
              <a:buNone/>
              <a:defRPr sz="1500" b="0">
                <a:solidFill>
                  <a:srgbClr val="FFFFFF"/>
                </a:solidFill>
                <a:latin typeface="Arial"/>
                <a:ea typeface="Arial"/>
                <a:cs typeface="Arial"/>
              </a:defRPr>
            </a:pPr>
            <a:r>
              <a:rPr sz="1500" b="0">
                <a:solidFill>
                  <a:srgbClr val="FFFFFF"/>
                </a:solidFill>
                <a:latin typeface="Arial"/>
                <a:ea typeface="Arial"/>
                <a:cs typeface="Arial"/>
              </a:rPr>
              <a:t>and open new issues.</a:t>
            </a:r>
          </a:p>
        </p:txBody>
      </p:sp>
      <p:sp>
        <p:nvSpPr>
          <p:cNvPr id="31" name="">
            <a:extLst xmlns:a="http://schemas.openxmlformats.org/drawingml/2006/main">
              <a:ext uri="{FF2B5EF4-FFF2-40B4-BE49-F238E27FC236}">
                <a16:creationId xmlns:a16="http://schemas.microsoft.com/office/drawing/2014/main" id="{B38F0728-4586-4EE5-88E2-234681E16A11}"/>
              </a:ext>
            </a:extLst>
          </p:cNvPr>
          <p:cNvSpPr>
            <a:spLocks xmlns:a="http://schemas.openxmlformats.org/drawingml/2006/main" noGrp="1"/>
          </p:cNvSpPr>
          <p:nvPr/>
        </p:nvSpPr>
        <p:spPr>
          <a:xfrm xmlns:a="http://schemas.openxmlformats.org/drawingml/2006/main">
            <a:off x="5753100" y="396240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1">
                <a:solidFill>
                  <a:srgbClr val="B9DFFF"/>
                </a:solidFill>
                <a:latin typeface="Arial"/>
                <a:ea typeface="Arial"/>
                <a:cs typeface="Arial"/>
              </a:defRPr>
            </a:defPPr>
          </a:lstStyle>
          <a:p xmlns:a="http://schemas.openxmlformats.org/drawingml/2006/main">
            <a:pPr>
              <a:buNone/>
              <a:defRPr sz="1350" b="1">
                <a:solidFill>
                  <a:srgbClr val="B9DFFF"/>
                </a:solidFill>
                <a:latin typeface="Arial"/>
                <a:ea typeface="Arial"/>
                <a:cs typeface="Arial"/>
              </a:defRPr>
            </a:pPr>
            <a:r>
              <a:rPr sz="1350" b="1">
                <a:solidFill>
                  <a:srgbClr val="B9DFFF"/>
                </a:solidFill>
                <a:latin typeface="Arial"/>
                <a:ea typeface="Arial"/>
                <a:cs typeface="Arial"/>
              </a:rPr>
              <a:t>Review can send code back for changes.</a:t>
            </a:r>
          </a:p>
        </p:txBody>
      </p:sp>
      <p:sp>
        <p:nvSpPr>
          <p:cNvPr id="32" name="">
            <a:extLst xmlns:a="http://schemas.openxmlformats.org/drawingml/2006/main">
              <a:ext uri="{FF2B5EF4-FFF2-40B4-BE49-F238E27FC236}">
                <a16:creationId xmlns:a16="http://schemas.microsoft.com/office/drawing/2014/main" id="{9A5B30FF-2DB1-49AC-BD1D-204766B2CE85}"/>
              </a:ext>
            </a:extLst>
          </p:cNvPr>
          <p:cNvSpPr>
            <a:spLocks xmlns:a="http://schemas.openxmlformats.org/drawingml/2006/main" noGrp="1"/>
          </p:cNvSpPr>
          <p:nvPr/>
        </p:nvSpPr>
        <p:spPr>
          <a:xfrm xmlns:a="http://schemas.openxmlformats.org/drawingml/2006/main">
            <a:off x="685800" y="59817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FFFFFF"/>
                </a:solidFill>
                <a:latin typeface="Arial"/>
                <a:ea typeface="Arial"/>
                <a:cs typeface="Arial"/>
              </a:defRPr>
            </a:defPPr>
          </a:lstStyle>
          <a:p xmlns:a="http://schemas.openxmlformats.org/drawingml/2006/main">
            <a:pPr>
              <a:buNone/>
              <a:defRPr sz="1500" b="1">
                <a:solidFill>
                  <a:srgbClr val="FFFFFF"/>
                </a:solidFill>
                <a:latin typeface="Arial"/>
                <a:ea typeface="Arial"/>
                <a:cs typeface="Arial"/>
              </a:defRPr>
            </a:pPr>
            <a:r>
              <a:rPr sz="1500" b="1">
                <a:solidFill>
                  <a:srgbClr val="FFFFFF"/>
                </a:solidFill>
                <a:latin typeface="Arial"/>
                <a:ea typeface="Arial"/>
                <a:cs typeface="Arial"/>
              </a:rPr>
              <a:t>New requirements and production signals feed new tasks and an updated spec.md.</a:t>
            </a:r>
          </a:p>
        </p:txBody>
      </p:sp>
      <p:sp>
        <p:nvSpPr>
          <p:cNvPr id="33" name="">
            <a:extLst xmlns:a="http://schemas.openxmlformats.org/drawingml/2006/main">
              <a:ext uri="{FF2B5EF4-FFF2-40B4-BE49-F238E27FC236}">
                <a16:creationId xmlns:a16="http://schemas.microsoft.com/office/drawing/2014/main" id="{74DF1F58-7C9D-4AAB-8171-B0EEECA3791E}"/>
              </a:ext>
            </a:extLst>
          </p:cNvPr>
          <p:cNvSpPr>
            <a:spLocks xmlns:a="http://schemas.openxmlformats.org/drawingml/2006/main" noGrp="1"/>
          </p:cNvSpPr>
          <p:nvPr/>
        </p:nvSpPr>
        <p:spPr>
          <a:xfrm xmlns:a="http://schemas.openxmlformats.org/drawingml/2006/main">
            <a:off x="685800" y="6372225"/>
            <a:ext cx="10287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D5E4FA"/>
                </a:solidFill>
                <a:latin typeface="Arial"/>
                <a:ea typeface="Arial"/>
                <a:cs typeface="Arial"/>
              </a:defRPr>
            </a:defPPr>
          </a:lstStyle>
          <a:p xmlns:a="http://schemas.openxmlformats.org/drawingml/2006/main">
            <a:pPr>
              <a:buNone/>
              <a:defRPr sz="1275" b="0">
                <a:solidFill>
                  <a:srgbClr val="D5E4FA"/>
                </a:solidFill>
                <a:latin typeface="Arial"/>
                <a:ea typeface="Arial"/>
                <a:cs typeface="Arial"/>
              </a:defRPr>
            </a:pPr>
            <a:r>
              <a:rPr sz="1275" b="0">
                <a:solidFill>
                  <a:srgbClr val="D5E4FA"/>
                </a:solidFill>
                <a:latin typeface="Arial"/>
                <a:ea typeface="Arial"/>
                <a:cs typeface="Arial"/>
              </a:rPr>
              <a:t>* Azure SRE Agent investigates Azure incidents and suggests or takes corrective action,</a:t>
            </a:r>
          </a:p>
          <a:p xmlns:a="http://schemas.openxmlformats.org/drawingml/2006/main">
            <a:pPr>
              <a:buNone/>
              <a:defRPr sz="1275" b="0">
                <a:solidFill>
                  <a:srgbClr val="D5E4FA"/>
                </a:solidFill>
                <a:latin typeface="Arial"/>
                <a:ea typeface="Arial"/>
                <a:cs typeface="Arial"/>
              </a:defRPr>
            </a:pPr>
            <a:r>
              <a:rPr sz="1275" b="0">
                <a:solidFill>
                  <a:srgbClr val="D5E4FA"/>
                </a:solidFill>
                <a:latin typeface="Arial"/>
                <a:ea typeface="Arial"/>
                <a:cs typeface="Arial"/>
              </a:rPr>
              <a:t>subject to configured permissions and approval mode.</a:t>
            </a:r>
          </a:p>
        </p:txBody>
      </p:sp>
      <p:sp>
        <p:nvSpPr>
          <p:cNvPr id="34" name="">
            <a:extLst xmlns:a="http://schemas.openxmlformats.org/drawingml/2006/main">
              <a:ext uri="{FF2B5EF4-FFF2-40B4-BE49-F238E27FC236}">
                <a16:creationId xmlns:a16="http://schemas.microsoft.com/office/drawing/2014/main" id="{E158343D-1AFD-462A-B698-1D21B82766BA}"/>
              </a:ext>
            </a:extLst>
          </p:cNvPr>
          <p:cNvSpPr>
            <a:spLocks xmlns:a="http://schemas.openxmlformats.org/drawingml/2006/main" noGrp="1"/>
          </p:cNvSpPr>
          <p:nvPr/>
        </p:nvSpPr>
        <p:spPr>
          <a:xfrm xmlns:a="http://schemas.openxmlformats.org/drawingml/2006/main">
            <a:off x="11049000" y="64008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CADCFC"/>
                </a:solidFill>
                <a:latin typeface="Arial"/>
                <a:ea typeface="Arial"/>
                <a:cs typeface="Arial"/>
              </a:defRPr>
            </a:defPPr>
          </a:lstStyle>
          <a:p xmlns:a="http://schemas.openxmlformats.org/drawingml/2006/main">
            <a:pPr>
              <a:buNone/>
              <a:defRPr sz="1275" b="0">
                <a:solidFill>
                  <a:srgbClr val="CADCFC"/>
                </a:solidFill>
                <a:latin typeface="Arial"/>
                <a:ea typeface="Arial"/>
                <a:cs typeface="Arial"/>
              </a:defRPr>
            </a:pPr>
            <a:r>
              <a:rPr sz="1275" b="0">
                <a:solidFill>
                  <a:srgbClr val="CADCFC"/>
                </a:solidFill>
                <a:latin typeface="Arial"/>
                <a:ea typeface="Arial"/>
                <a:cs typeface="Arial"/>
              </a:rPr>
              <a:t>18</a:t>
            </a:r>
          </a:p>
        </p:txBody>
      </p:sp>
    </p:spTree>
    <p:extLst>
      <p:ext uri="{BB962C8B-B14F-4D97-AF65-F5344CB8AC3E}">
        <p14:creationId xmlns:p14="http://schemas.microsoft.com/office/powerpoint/2010/main" val="1194643239"/>
      </p:ext>
    </p:extLst>
  </p:cSld>
</p:sld>
</file>

<file path=ppt/slides/slide19.xml><?xml version="1.0" encoding="utf-8"?>
<p:sld xmlns:p="http://schemas.openxmlformats.org/presentationml/2006/main">
  <p:cSld>
    <p:bg>
      <p:bgPr>
        <a:gradFill xmlns:a="http://schemas.openxmlformats.org/drawingml/2006/main">
          <a:gsLst>
            <a:gs pos="0">
              <a:srgbClr val="101F52"/>
            </a:gs>
            <a:gs pos="53000">
              <a:srgbClr val="2447A6"/>
            </a:gs>
            <a:gs pos="100000">
              <a:srgbClr val="7041B9"/>
            </a:gs>
          </a:gsLst>
          <a:lin ang="1500000"/>
        </a:gra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9FB8E317-B2B8-4D21-A920-07563978EC89}"/>
              </a:ext>
            </a:extLst>
          </p:cNvPr>
          <p:cNvCxnSpPr>
            <a:stCxn xmlns:a="http://schemas.openxmlformats.org/drawingml/2006/main" id="14" idx="3"/>
            <a:endCxn xmlns:a="http://schemas.openxmlformats.org/drawingml/2006/main" id="11" idx="1"/>
          </p:cNvCxnSpPr>
          <p:nvPr/>
        </p:nvCxnSpPr>
        <p:spPr>
          <a:xfrm xmlns:a="http://schemas.openxmlformats.org/drawingml/2006/main">
            <a:off x="7515225" y="4357688"/>
            <a:ext cx="200025" cy="790575"/>
          </a:xfrm>
          <a:prstGeom xmlns:a="http://schemas.openxmlformats.org/drawingml/2006/main" prst="bentConnector3">
            <a:avLst>
              <a:gd name="adj1" fmla="val 50000"/>
            </a:avLst>
          </a:prstGeom>
          <a:ln xmlns:a="http://schemas.openxmlformats.org/drawingml/2006/main" w="28575">
            <a:solidFill>
              <a:srgbClr val="A8D7FA"/>
            </a:solidFill>
          </a:ln>
        </p:spPr>
      </p:cxnSp>
      <p:cxnSp>
        <p:nvCxnSpPr>
          <p:cNvPr id="19" name="">
            <a:extLst xmlns:a="http://schemas.openxmlformats.org/drawingml/2006/main">
              <a:ext uri="{FF2B5EF4-FFF2-40B4-BE49-F238E27FC236}">
                <a16:creationId xmlns:a16="http://schemas.microsoft.com/office/drawing/2014/main" id="{7EFFE9F0-A239-4D78-9B17-A75F6E2F44B2}"/>
              </a:ext>
            </a:extLst>
          </p:cNvPr>
          <p:cNvCxnSpPr>
            <a:stCxn xmlns:a="http://schemas.openxmlformats.org/drawingml/2006/main" id="14" idx="3"/>
            <a:endCxn xmlns:a="http://schemas.openxmlformats.org/drawingml/2006/main" id="5" idx="1"/>
          </p:cNvCxnSpPr>
          <p:nvPr/>
        </p:nvCxnSpPr>
        <p:spPr>
          <a:xfrm xmlns:a="http://schemas.openxmlformats.org/drawingml/2006/main" flipV="1">
            <a:off x="7515225" y="2681288"/>
            <a:ext cx="200025" cy="1676400"/>
          </a:xfrm>
          <a:prstGeom xmlns:a="http://schemas.openxmlformats.org/drawingml/2006/main" prst="bentConnector3">
            <a:avLst>
              <a:gd name="adj1" fmla="val 50000"/>
            </a:avLst>
          </a:prstGeom>
          <a:ln xmlns:a="http://schemas.openxmlformats.org/drawingml/2006/main" w="28575">
            <a:solidFill>
              <a:srgbClr val="A8D7FA"/>
            </a:solidFill>
          </a:ln>
        </p:spPr>
      </p:cxnSp>
      <p:cxnSp>
        <p:nvCxnSpPr>
          <p:cNvPr id="18" name="">
            <a:extLst xmlns:a="http://schemas.openxmlformats.org/drawingml/2006/main">
              <a:ext uri="{FF2B5EF4-FFF2-40B4-BE49-F238E27FC236}">
                <a16:creationId xmlns:a16="http://schemas.microsoft.com/office/drawing/2014/main" id="{3B43CCC5-81DA-4199-854D-A1DF88771D1C}"/>
              </a:ext>
            </a:extLst>
          </p:cNvPr>
          <p:cNvCxnSpPr>
            <a:stCxn xmlns:a="http://schemas.openxmlformats.org/drawingml/2006/main" id="14" idx="1"/>
            <a:endCxn xmlns:a="http://schemas.openxmlformats.org/drawingml/2006/main" id="8" idx="3"/>
          </p:cNvCxnSpPr>
          <p:nvPr/>
        </p:nvCxnSpPr>
        <p:spPr>
          <a:xfrm xmlns:a="http://schemas.openxmlformats.org/drawingml/2006/main" flipH="1">
            <a:off x="4476750" y="4357688"/>
            <a:ext cx="200025" cy="790575"/>
          </a:xfrm>
          <a:prstGeom xmlns:a="http://schemas.openxmlformats.org/drawingml/2006/main" prst="bentConnector3">
            <a:avLst>
              <a:gd name="adj1" fmla="val 50000"/>
            </a:avLst>
          </a:prstGeom>
          <a:ln xmlns:a="http://schemas.openxmlformats.org/drawingml/2006/main" w="28575">
            <a:solidFill>
              <a:srgbClr val="A8D7FA"/>
            </a:solidFill>
          </a:ln>
        </p:spPr>
      </p:cxnSp>
      <p:cxnSp>
        <p:nvCxnSpPr>
          <p:cNvPr id="17" name="">
            <a:extLst xmlns:a="http://schemas.openxmlformats.org/drawingml/2006/main">
              <a:ext uri="{FF2B5EF4-FFF2-40B4-BE49-F238E27FC236}">
                <a16:creationId xmlns:a16="http://schemas.microsoft.com/office/drawing/2014/main" id="{274C72E9-38E2-4E42-8788-F85CDF8DD3C8}"/>
              </a:ext>
            </a:extLst>
          </p:cNvPr>
          <p:cNvCxnSpPr>
            <a:stCxn xmlns:a="http://schemas.openxmlformats.org/drawingml/2006/main" id="14" idx="1"/>
            <a:endCxn xmlns:a="http://schemas.openxmlformats.org/drawingml/2006/main" id="2" idx="3"/>
          </p:cNvCxnSpPr>
          <p:nvPr/>
        </p:nvCxnSpPr>
        <p:spPr>
          <a:xfrm xmlns:a="http://schemas.openxmlformats.org/drawingml/2006/main" flipH="1" flipV="1">
            <a:off x="4476750" y="2681288"/>
            <a:ext cx="200025" cy="1676400"/>
          </a:xfrm>
          <a:prstGeom xmlns:a="http://schemas.openxmlformats.org/drawingml/2006/main" prst="bentConnector3">
            <a:avLst>
              <a:gd name="adj1" fmla="val 50000"/>
            </a:avLst>
          </a:prstGeom>
          <a:ln xmlns:a="http://schemas.openxmlformats.org/drawingml/2006/main" w="28575">
            <a:solidFill>
              <a:srgbClr val="A8D7FA"/>
            </a:solidFill>
          </a:ln>
        </p:spPr>
      </p:cxnSp>
      <p:sp>
        <p:nvSpPr>
          <p:cNvPr id="22" name="">
            <a:extLst xmlns:a="http://schemas.openxmlformats.org/drawingml/2006/main">
              <a:ext uri="{FF2B5EF4-FFF2-40B4-BE49-F238E27FC236}">
                <a16:creationId xmlns:a16="http://schemas.microsoft.com/office/drawing/2014/main" id="{15D22093-2502-43DF-9CB6-5DB7B3623C01}"/>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FFFFFF"/>
                </a:solidFill>
                <a:latin typeface="Arial"/>
                <a:ea typeface="Arial"/>
                <a:cs typeface="Arial"/>
              </a:defRPr>
            </a:defPPr>
          </a:lstStyle>
          <a:p xmlns:a="http://schemas.openxmlformats.org/drawingml/2006/main">
            <a:pPr>
              <a:buNone/>
              <a:defRPr sz="3300" b="1">
                <a:solidFill>
                  <a:srgbClr val="FFFFFF"/>
                </a:solidFill>
                <a:latin typeface="Arial"/>
                <a:ea typeface="Arial"/>
                <a:cs typeface="Arial"/>
              </a:defRPr>
            </a:pPr>
            <a:r>
              <a:rPr sz="3300" b="1">
                <a:solidFill>
                  <a:srgbClr val="FFFFFF"/>
                </a:solidFill>
                <a:latin typeface="Arial"/>
                <a:ea typeface="Arial"/>
                <a:cs typeface="Arial"/>
              </a:rPr>
              <a:t>Key takeaways</a:t>
            </a:r>
          </a:p>
        </p:txBody>
      </p:sp>
      <p:sp>
        <p:nvSpPr>
          <p:cNvPr id="2" name="">
            <a:extLst xmlns:a="http://schemas.openxmlformats.org/drawingml/2006/main">
              <a:ext uri="{FF2B5EF4-FFF2-40B4-BE49-F238E27FC236}">
                <a16:creationId xmlns:a16="http://schemas.microsoft.com/office/drawing/2014/main" id="{B66D5962-2B4B-4879-8719-AAB7272E0D1D}"/>
              </a:ext>
            </a:extLst>
          </p:cNvPr>
          <p:cNvSpPr>
            <a:spLocks xmlns:a="http://schemas.openxmlformats.org/drawingml/2006/main" noGrp="1"/>
          </p:cNvSpPr>
          <p:nvPr/>
        </p:nvSpPr>
        <p:spPr>
          <a:xfrm xmlns:a="http://schemas.openxmlformats.org/drawingml/2006/main">
            <a:off x="685800" y="1581150"/>
            <a:ext cx="3790950" cy="2200275"/>
          </a:xfrm>
          <a:prstGeom xmlns:a="http://schemas.openxmlformats.org/drawingml/2006/main" prst="roundRect">
            <a:avLst>
              <a:gd name="adj" fmla="val 7792"/>
            </a:avLst>
          </a:prstGeom>
          <a:solidFill xmlns:a="http://schemas.openxmlformats.org/drawingml/2006/main">
            <a:srgbClr val="2447A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F8C6D4F-C3E1-4253-B59A-53691382BCD7}"/>
              </a:ext>
            </a:extLst>
          </p:cNvPr>
          <p:cNvSpPr>
            <a:spLocks xmlns:a="http://schemas.openxmlformats.org/drawingml/2006/main" noGrp="1"/>
          </p:cNvSpPr>
          <p:nvPr/>
        </p:nvSpPr>
        <p:spPr>
          <a:xfrm xmlns:a="http://schemas.openxmlformats.org/drawingml/2006/main">
            <a:off x="876300" y="1733550"/>
            <a:ext cx="3409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FFFFFF"/>
                </a:solidFill>
                <a:latin typeface="Arial"/>
                <a:ea typeface="Arial"/>
                <a:cs typeface="Arial"/>
              </a:defRPr>
            </a:defPPr>
          </a:lstStyle>
          <a:p xmlns:a="http://schemas.openxmlformats.org/drawingml/2006/main">
            <a:pPr>
              <a:buNone/>
              <a:defRPr sz="2325" b="1">
                <a:solidFill>
                  <a:srgbClr val="FFFFFF"/>
                </a:solidFill>
                <a:latin typeface="Arial"/>
                <a:ea typeface="Arial"/>
                <a:cs typeface="Arial"/>
              </a:defRPr>
            </a:pPr>
            <a:r>
              <a:rPr sz="2325" b="1">
                <a:solidFill>
                  <a:srgbClr val="FFFFFF"/>
                </a:solidFill>
                <a:latin typeface="Arial"/>
                <a:ea typeface="Arial"/>
                <a:cs typeface="Arial"/>
              </a:rPr>
              <a:t>Specs</a:t>
            </a:r>
          </a:p>
        </p:txBody>
      </p:sp>
      <p:sp>
        <p:nvSpPr>
          <p:cNvPr id="4" name="">
            <a:extLst xmlns:a="http://schemas.openxmlformats.org/drawingml/2006/main">
              <a:ext uri="{FF2B5EF4-FFF2-40B4-BE49-F238E27FC236}">
                <a16:creationId xmlns:a16="http://schemas.microsoft.com/office/drawing/2014/main" id="{9529C3E4-BD74-4164-9B49-6081F57B421E}"/>
              </a:ext>
            </a:extLst>
          </p:cNvPr>
          <p:cNvSpPr>
            <a:spLocks xmlns:a="http://schemas.openxmlformats.org/drawingml/2006/main" noGrp="1"/>
          </p:cNvSpPr>
          <p:nvPr/>
        </p:nvSpPr>
        <p:spPr>
          <a:xfrm xmlns:a="http://schemas.openxmlformats.org/drawingml/2006/main">
            <a:off x="876300" y="2219325"/>
            <a:ext cx="34099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FFFFFF"/>
                </a:solidFill>
                <a:latin typeface="Arial"/>
                <a:ea typeface="Arial"/>
                <a:cs typeface="Arial"/>
              </a:defRPr>
            </a:defPPr>
          </a:lstStyle>
          <a:p xmlns:a="http://schemas.openxmlformats.org/drawingml/2006/main">
            <a:pPr>
              <a:buNone/>
              <a:defRPr sz="1575" b="0">
                <a:solidFill>
                  <a:srgbClr val="FFFFFF"/>
                </a:solidFill>
                <a:latin typeface="Arial"/>
                <a:ea typeface="Arial"/>
                <a:cs typeface="Arial"/>
              </a:defRPr>
            </a:pPr>
            <a:r>
              <a:rPr sz="1575" b="0">
                <a:solidFill>
                  <a:srgbClr val="FFFFFF"/>
                </a:solidFill>
                <a:latin typeface="Arial"/>
                <a:ea typeface="Arial"/>
                <a:cs typeface="Arial"/>
              </a:rPr>
              <a:t>Define what we build and why.</a:t>
            </a:r>
          </a:p>
          <a:p xmlns:a="http://schemas.openxmlformats.org/drawingml/2006/main">
            <a:pPr>
              <a:buNone/>
              <a:defRPr sz="1575" b="0">
                <a:solidFill>
                  <a:srgbClr val="FFFFFF"/>
                </a:solidFill>
                <a:latin typeface="Arial"/>
                <a:ea typeface="Arial"/>
                <a:cs typeface="Arial"/>
              </a:defRPr>
            </a:pPr>
            <a:r>
              <a:rPr sz="1575" b="0">
                <a:solidFill>
                  <a:srgbClr val="FFFFFF"/>
                </a:solidFill>
                <a:latin typeface="Arial"/>
                <a:ea typeface="Arial"/>
                <a:cs typeface="Arial"/>
              </a:rPr>
              <a:t>Set explicit acceptance criteria.</a:t>
            </a:r>
          </a:p>
          <a:p xmlns:a="http://schemas.openxmlformats.org/drawingml/2006/main">
            <a:pPr>
              <a:buNone/>
              <a:defRPr sz="1575" b="0">
                <a:solidFill>
                  <a:srgbClr val="FFFFFF"/>
                </a:solidFill>
                <a:latin typeface="Arial"/>
                <a:ea typeface="Arial"/>
                <a:cs typeface="Arial"/>
              </a:defRPr>
            </a:pPr>
            <a:r>
              <a:rPr sz="1575" b="0">
                <a:solidFill>
                  <a:srgbClr val="FFFFFF"/>
                </a:solidFill>
                <a:latin typeface="Arial"/>
                <a:ea typeface="Arial"/>
                <a:cs typeface="Arial"/>
              </a:rPr>
              <a:t>Keep them current as</a:t>
            </a:r>
          </a:p>
          <a:p xmlns:a="http://schemas.openxmlformats.org/drawingml/2006/main">
            <a:pPr>
              <a:buNone/>
              <a:defRPr sz="1575" b="0">
                <a:solidFill>
                  <a:srgbClr val="FFFFFF"/>
                </a:solidFill>
                <a:latin typeface="Arial"/>
                <a:ea typeface="Arial"/>
                <a:cs typeface="Arial"/>
              </a:defRPr>
            </a:pPr>
            <a:r>
              <a:rPr sz="1575" b="0">
                <a:solidFill>
                  <a:srgbClr val="FFFFFF"/>
                </a:solidFill>
                <a:latin typeface="Arial"/>
                <a:ea typeface="Arial"/>
                <a:cs typeface="Arial"/>
              </a:rPr>
              <a:t>requirements change.</a:t>
            </a:r>
          </a:p>
        </p:txBody>
      </p:sp>
      <p:sp>
        <p:nvSpPr>
          <p:cNvPr id="5" name="">
            <a:extLst xmlns:a="http://schemas.openxmlformats.org/drawingml/2006/main">
              <a:ext uri="{FF2B5EF4-FFF2-40B4-BE49-F238E27FC236}">
                <a16:creationId xmlns:a16="http://schemas.microsoft.com/office/drawing/2014/main" id="{C7EA058A-64EB-4FBD-9CBE-2F7AE2C4ABAF}"/>
              </a:ext>
            </a:extLst>
          </p:cNvPr>
          <p:cNvSpPr>
            <a:spLocks xmlns:a="http://schemas.openxmlformats.org/drawingml/2006/main" noGrp="1"/>
          </p:cNvSpPr>
          <p:nvPr/>
        </p:nvSpPr>
        <p:spPr>
          <a:xfrm xmlns:a="http://schemas.openxmlformats.org/drawingml/2006/main">
            <a:off x="7715250" y="1581150"/>
            <a:ext cx="3790950" cy="2200275"/>
          </a:xfrm>
          <a:prstGeom xmlns:a="http://schemas.openxmlformats.org/drawingml/2006/main" prst="roundRect">
            <a:avLst>
              <a:gd name="adj" fmla="val 7792"/>
            </a:avLst>
          </a:prstGeom>
          <a:solidFill xmlns:a="http://schemas.openxmlformats.org/drawingml/2006/main">
            <a:srgbClr val="13795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1D00317-F0D8-4F56-B888-277944A567C5}"/>
              </a:ext>
            </a:extLst>
          </p:cNvPr>
          <p:cNvSpPr>
            <a:spLocks xmlns:a="http://schemas.openxmlformats.org/drawingml/2006/main" noGrp="1"/>
          </p:cNvSpPr>
          <p:nvPr/>
        </p:nvSpPr>
        <p:spPr>
          <a:xfrm xmlns:a="http://schemas.openxmlformats.org/drawingml/2006/main">
            <a:off x="7905750" y="1733550"/>
            <a:ext cx="3409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FFFFFF"/>
                </a:solidFill>
                <a:latin typeface="Arial"/>
                <a:ea typeface="Arial"/>
                <a:cs typeface="Arial"/>
              </a:defRPr>
            </a:defPPr>
          </a:lstStyle>
          <a:p xmlns:a="http://schemas.openxmlformats.org/drawingml/2006/main">
            <a:pPr>
              <a:buNone/>
              <a:defRPr sz="2325" b="1">
                <a:solidFill>
                  <a:srgbClr val="FFFFFF"/>
                </a:solidFill>
                <a:latin typeface="Arial"/>
                <a:ea typeface="Arial"/>
                <a:cs typeface="Arial"/>
              </a:defRPr>
            </a:pPr>
            <a:r>
              <a:rPr sz="2325" b="1">
                <a:solidFill>
                  <a:srgbClr val="FFFFFF"/>
                </a:solidFill>
                <a:latin typeface="Arial"/>
                <a:ea typeface="Arial"/>
                <a:cs typeface="Arial"/>
              </a:rPr>
              <a:t>Tests</a:t>
            </a:r>
          </a:p>
        </p:txBody>
      </p:sp>
      <p:sp>
        <p:nvSpPr>
          <p:cNvPr id="7" name="">
            <a:extLst xmlns:a="http://schemas.openxmlformats.org/drawingml/2006/main">
              <a:ext uri="{FF2B5EF4-FFF2-40B4-BE49-F238E27FC236}">
                <a16:creationId xmlns:a16="http://schemas.microsoft.com/office/drawing/2014/main" id="{B13093C4-2825-4435-9A5C-2A376EAD486F}"/>
              </a:ext>
            </a:extLst>
          </p:cNvPr>
          <p:cNvSpPr>
            <a:spLocks xmlns:a="http://schemas.openxmlformats.org/drawingml/2006/main" noGrp="1"/>
          </p:cNvSpPr>
          <p:nvPr/>
        </p:nvSpPr>
        <p:spPr>
          <a:xfrm xmlns:a="http://schemas.openxmlformats.org/drawingml/2006/main">
            <a:off x="7905750" y="2219325"/>
            <a:ext cx="34099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FFFFFF"/>
                </a:solidFill>
                <a:latin typeface="Arial"/>
                <a:ea typeface="Arial"/>
                <a:cs typeface="Arial"/>
              </a:defRPr>
            </a:defPPr>
          </a:lstStyle>
          <a:p xmlns:a="http://schemas.openxmlformats.org/drawingml/2006/main">
            <a:pPr>
              <a:buNone/>
              <a:defRPr sz="1575" b="0">
                <a:solidFill>
                  <a:srgbClr val="FFFFFF"/>
                </a:solidFill>
                <a:latin typeface="Arial"/>
                <a:ea typeface="Arial"/>
                <a:cs typeface="Arial"/>
              </a:defRPr>
            </a:pPr>
            <a:r>
              <a:rPr sz="1575" b="0">
                <a:solidFill>
                  <a:srgbClr val="FFFFFF"/>
                </a:solidFill>
                <a:latin typeface="Arial"/>
                <a:ea typeface="Arial"/>
                <a:cs typeface="Arial"/>
              </a:rPr>
              <a:t>Check code behavior against</a:t>
            </a:r>
          </a:p>
          <a:p xmlns:a="http://schemas.openxmlformats.org/drawingml/2006/main">
            <a:pPr>
              <a:buNone/>
              <a:defRPr sz="1575" b="0">
                <a:solidFill>
                  <a:srgbClr val="FFFFFF"/>
                </a:solidFill>
                <a:latin typeface="Arial"/>
                <a:ea typeface="Arial"/>
                <a:cs typeface="Arial"/>
              </a:defRPr>
            </a:pPr>
            <a:r>
              <a:rPr sz="1575" b="0">
                <a:solidFill>
                  <a:srgbClr val="FFFFFF"/>
                </a:solidFill>
                <a:latin typeface="Arial"/>
                <a:ea typeface="Arial"/>
                <a:cs typeface="Arial"/>
              </a:rPr>
              <a:t>the agreed requirements.</a:t>
            </a:r>
          </a:p>
          <a:p xmlns:a="http://schemas.openxmlformats.org/drawingml/2006/main">
            <a:pPr>
              <a:buNone/>
              <a:defRPr sz="1575" b="0">
                <a:solidFill>
                  <a:srgbClr val="FFFFFF"/>
                </a:solidFill>
                <a:latin typeface="Arial"/>
                <a:ea typeface="Arial"/>
                <a:cs typeface="Arial"/>
              </a:defRPr>
            </a:pPr>
            <a:r>
              <a:rPr sz="1575" b="0">
                <a:solidFill>
                  <a:srgbClr val="FFFFFF"/>
                </a:solidFill>
                <a:latin typeface="Arial"/>
                <a:ea typeface="Arial"/>
                <a:cs typeface="Arial"/>
              </a:rPr>
              <a:t>Catch defects and regressions.</a:t>
            </a:r>
          </a:p>
        </p:txBody>
      </p:sp>
      <p:sp>
        <p:nvSpPr>
          <p:cNvPr id="8" name="">
            <a:extLst xmlns:a="http://schemas.openxmlformats.org/drawingml/2006/main">
              <a:ext uri="{FF2B5EF4-FFF2-40B4-BE49-F238E27FC236}">
                <a16:creationId xmlns:a16="http://schemas.microsoft.com/office/drawing/2014/main" id="{98A97FCA-9149-476A-B328-464B864BC92A}"/>
              </a:ext>
            </a:extLst>
          </p:cNvPr>
          <p:cNvSpPr>
            <a:spLocks xmlns:a="http://schemas.openxmlformats.org/drawingml/2006/main" noGrp="1"/>
          </p:cNvSpPr>
          <p:nvPr/>
        </p:nvSpPr>
        <p:spPr>
          <a:xfrm xmlns:a="http://schemas.openxmlformats.org/drawingml/2006/main">
            <a:off x="685800" y="4048125"/>
            <a:ext cx="3790950" cy="2200275"/>
          </a:xfrm>
          <a:prstGeom xmlns:a="http://schemas.openxmlformats.org/drawingml/2006/main" prst="roundRect">
            <a:avLst>
              <a:gd name="adj" fmla="val 7792"/>
            </a:avLst>
          </a:prstGeom>
          <a:solidFill xmlns:a="http://schemas.openxmlformats.org/drawingml/2006/main">
            <a:srgbClr val="7041B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10029FF-CC48-4AAE-A30C-A1253CE80CE2}"/>
              </a:ext>
            </a:extLst>
          </p:cNvPr>
          <p:cNvSpPr>
            <a:spLocks xmlns:a="http://schemas.openxmlformats.org/drawingml/2006/main" noGrp="1"/>
          </p:cNvSpPr>
          <p:nvPr/>
        </p:nvSpPr>
        <p:spPr>
          <a:xfrm xmlns:a="http://schemas.openxmlformats.org/drawingml/2006/main">
            <a:off x="876300" y="4200525"/>
            <a:ext cx="3409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FFFFFF"/>
                </a:solidFill>
                <a:latin typeface="Arial"/>
                <a:ea typeface="Arial"/>
                <a:cs typeface="Arial"/>
              </a:defRPr>
            </a:defPPr>
          </a:lstStyle>
          <a:p xmlns:a="http://schemas.openxmlformats.org/drawingml/2006/main">
            <a:pPr>
              <a:buNone/>
              <a:defRPr sz="2325" b="1">
                <a:solidFill>
                  <a:srgbClr val="FFFFFF"/>
                </a:solidFill>
                <a:latin typeface="Arial"/>
                <a:ea typeface="Arial"/>
                <a:cs typeface="Arial"/>
              </a:defRPr>
            </a:pPr>
            <a:r>
              <a:rPr sz="2325" b="1">
                <a:solidFill>
                  <a:srgbClr val="FFFFFF"/>
                </a:solidFill>
                <a:latin typeface="Arial"/>
                <a:ea typeface="Arial"/>
                <a:cs typeface="Arial"/>
              </a:rPr>
              <a:t>Evals</a:t>
            </a:r>
          </a:p>
        </p:txBody>
      </p:sp>
      <p:sp>
        <p:nvSpPr>
          <p:cNvPr id="10" name="">
            <a:extLst xmlns:a="http://schemas.openxmlformats.org/drawingml/2006/main">
              <a:ext uri="{FF2B5EF4-FFF2-40B4-BE49-F238E27FC236}">
                <a16:creationId xmlns:a16="http://schemas.microsoft.com/office/drawing/2014/main" id="{F4877D45-F316-425D-97B7-DE6213E23F61}"/>
              </a:ext>
            </a:extLst>
          </p:cNvPr>
          <p:cNvSpPr>
            <a:spLocks xmlns:a="http://schemas.openxmlformats.org/drawingml/2006/main" noGrp="1"/>
          </p:cNvSpPr>
          <p:nvPr/>
        </p:nvSpPr>
        <p:spPr>
          <a:xfrm xmlns:a="http://schemas.openxmlformats.org/drawingml/2006/main">
            <a:off x="876300" y="4686300"/>
            <a:ext cx="34099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FFFFFF"/>
                </a:solidFill>
                <a:latin typeface="Arial"/>
                <a:ea typeface="Arial"/>
                <a:cs typeface="Arial"/>
              </a:defRPr>
            </a:defPPr>
          </a:lstStyle>
          <a:p xmlns:a="http://schemas.openxmlformats.org/drawingml/2006/main">
            <a:pPr>
              <a:buNone/>
              <a:defRPr sz="1575" b="0">
                <a:solidFill>
                  <a:srgbClr val="FFFFFF"/>
                </a:solidFill>
                <a:latin typeface="Arial"/>
                <a:ea typeface="Arial"/>
                <a:cs typeface="Arial"/>
              </a:defRPr>
            </a:pPr>
            <a:r>
              <a:rPr sz="1575" b="0">
                <a:solidFill>
                  <a:srgbClr val="FFFFFF"/>
                </a:solidFill>
                <a:latin typeface="Arial"/>
                <a:ea typeface="Arial"/>
                <a:cs typeface="Arial"/>
              </a:rPr>
              <a:t>Measure agent and skill quality</a:t>
            </a:r>
          </a:p>
          <a:p xmlns:a="http://schemas.openxmlformats.org/drawingml/2006/main">
            <a:pPr>
              <a:buNone/>
              <a:defRPr sz="1575" b="0">
                <a:solidFill>
                  <a:srgbClr val="FFFFFF"/>
                </a:solidFill>
                <a:latin typeface="Arial"/>
                <a:ea typeface="Arial"/>
                <a:cs typeface="Arial"/>
              </a:defRPr>
            </a:pPr>
            <a:r>
              <a:rPr sz="1575" b="0">
                <a:solidFill>
                  <a:srgbClr val="FFFFFF"/>
                </a:solidFill>
                <a:latin typeface="Arial"/>
                <a:ea typeface="Arial"/>
                <a:cs typeface="Arial"/>
              </a:rPr>
              <a:t>and reliability with realistic</a:t>
            </a:r>
          </a:p>
          <a:p xmlns:a="http://schemas.openxmlformats.org/drawingml/2006/main">
            <a:pPr>
              <a:buNone/>
              <a:defRPr sz="1575" b="0">
                <a:solidFill>
                  <a:srgbClr val="FFFFFF"/>
                </a:solidFill>
                <a:latin typeface="Arial"/>
                <a:ea typeface="Arial"/>
                <a:cs typeface="Arial"/>
              </a:defRPr>
            </a:pPr>
            <a:r>
              <a:rPr sz="1575" b="0">
                <a:solidFill>
                  <a:srgbClr val="FFFFFF"/>
                </a:solidFill>
                <a:latin typeface="Arial"/>
                <a:ea typeface="Arial"/>
                <a:cs typeface="Arial"/>
              </a:rPr>
              <a:t>tasks and clear success criteria.</a:t>
            </a:r>
          </a:p>
        </p:txBody>
      </p:sp>
      <p:sp>
        <p:nvSpPr>
          <p:cNvPr id="11" name="">
            <a:extLst xmlns:a="http://schemas.openxmlformats.org/drawingml/2006/main">
              <a:ext uri="{FF2B5EF4-FFF2-40B4-BE49-F238E27FC236}">
                <a16:creationId xmlns:a16="http://schemas.microsoft.com/office/drawing/2014/main" id="{6A458C59-67AB-4D82-955C-A8B80AE4A076}"/>
              </a:ext>
            </a:extLst>
          </p:cNvPr>
          <p:cNvSpPr>
            <a:spLocks xmlns:a="http://schemas.openxmlformats.org/drawingml/2006/main" noGrp="1"/>
          </p:cNvSpPr>
          <p:nvPr/>
        </p:nvSpPr>
        <p:spPr>
          <a:xfrm xmlns:a="http://schemas.openxmlformats.org/drawingml/2006/main">
            <a:off x="7715250" y="4048125"/>
            <a:ext cx="3790950" cy="2200275"/>
          </a:xfrm>
          <a:prstGeom xmlns:a="http://schemas.openxmlformats.org/drawingml/2006/main" prst="roundRect">
            <a:avLst>
              <a:gd name="adj" fmla="val 7792"/>
            </a:avLst>
          </a:prstGeom>
          <a:solidFill xmlns:a="http://schemas.openxmlformats.org/drawingml/2006/main">
            <a:srgbClr val="067E9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5F3C9A3-A3C6-4EFC-A22B-A9C6B40B1537}"/>
              </a:ext>
            </a:extLst>
          </p:cNvPr>
          <p:cNvSpPr>
            <a:spLocks xmlns:a="http://schemas.openxmlformats.org/drawingml/2006/main" noGrp="1"/>
          </p:cNvSpPr>
          <p:nvPr/>
        </p:nvSpPr>
        <p:spPr>
          <a:xfrm xmlns:a="http://schemas.openxmlformats.org/drawingml/2006/main">
            <a:off x="7905750" y="4200525"/>
            <a:ext cx="3409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FFFFFF"/>
                </a:solidFill>
                <a:latin typeface="Arial"/>
                <a:ea typeface="Arial"/>
                <a:cs typeface="Arial"/>
              </a:defRPr>
            </a:defPPr>
          </a:lstStyle>
          <a:p xmlns:a="http://schemas.openxmlformats.org/drawingml/2006/main">
            <a:pPr>
              <a:buNone/>
              <a:defRPr sz="2325" b="1">
                <a:solidFill>
                  <a:srgbClr val="FFFFFF"/>
                </a:solidFill>
                <a:latin typeface="Arial"/>
                <a:ea typeface="Arial"/>
                <a:cs typeface="Arial"/>
              </a:defRPr>
            </a:pPr>
            <a:r>
              <a:rPr sz="2325" b="1">
                <a:solidFill>
                  <a:srgbClr val="FFFFFF"/>
                </a:solidFill>
                <a:latin typeface="Arial"/>
                <a:ea typeface="Arial"/>
                <a:cs typeface="Arial"/>
              </a:rPr>
              <a:t>Observability</a:t>
            </a:r>
          </a:p>
        </p:txBody>
      </p:sp>
      <p:sp>
        <p:nvSpPr>
          <p:cNvPr id="13" name="">
            <a:extLst xmlns:a="http://schemas.openxmlformats.org/drawingml/2006/main">
              <a:ext uri="{FF2B5EF4-FFF2-40B4-BE49-F238E27FC236}">
                <a16:creationId xmlns:a16="http://schemas.microsoft.com/office/drawing/2014/main" id="{668BEEC8-E188-45EC-A5F3-E9DB6FCEDB26}"/>
              </a:ext>
            </a:extLst>
          </p:cNvPr>
          <p:cNvSpPr>
            <a:spLocks xmlns:a="http://schemas.openxmlformats.org/drawingml/2006/main" noGrp="1"/>
          </p:cNvSpPr>
          <p:nvPr/>
        </p:nvSpPr>
        <p:spPr>
          <a:xfrm xmlns:a="http://schemas.openxmlformats.org/drawingml/2006/main">
            <a:off x="7905750" y="4686300"/>
            <a:ext cx="34099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FFFFFF"/>
                </a:solidFill>
                <a:latin typeface="Arial"/>
                <a:ea typeface="Arial"/>
                <a:cs typeface="Arial"/>
              </a:defRPr>
            </a:defPPr>
          </a:lstStyle>
          <a:p xmlns:a="http://schemas.openxmlformats.org/drawingml/2006/main">
            <a:pPr>
              <a:buNone/>
              <a:defRPr sz="1575" b="0">
                <a:solidFill>
                  <a:srgbClr val="FFFFFF"/>
                </a:solidFill>
                <a:latin typeface="Arial"/>
                <a:ea typeface="Arial"/>
                <a:cs typeface="Arial"/>
              </a:defRPr>
            </a:pPr>
            <a:r>
              <a:rPr sz="1575" b="0">
                <a:solidFill>
                  <a:srgbClr val="FFFFFF"/>
                </a:solidFill>
                <a:latin typeface="Arial"/>
                <a:ea typeface="Arial"/>
                <a:cs typeface="Arial"/>
              </a:rPr>
              <a:t>Metrics, logs and traces show</a:t>
            </a:r>
          </a:p>
          <a:p xmlns:a="http://schemas.openxmlformats.org/drawingml/2006/main">
            <a:pPr>
              <a:buNone/>
              <a:defRPr sz="1575" b="0">
                <a:solidFill>
                  <a:srgbClr val="FFFFFF"/>
                </a:solidFill>
                <a:latin typeface="Arial"/>
                <a:ea typeface="Arial"/>
                <a:cs typeface="Arial"/>
              </a:defRPr>
            </a:pPr>
            <a:r>
              <a:rPr sz="1575" b="0">
                <a:solidFill>
                  <a:srgbClr val="FFFFFF"/>
                </a:solidFill>
                <a:latin typeface="Arial"/>
                <a:ea typeface="Arial"/>
                <a:cs typeface="Arial"/>
              </a:rPr>
              <a:t>how the system behaves in production.</a:t>
            </a:r>
          </a:p>
          <a:p xmlns:a="http://schemas.openxmlformats.org/drawingml/2006/main">
            <a:pPr>
              <a:buNone/>
              <a:defRPr sz="1575" b="0">
                <a:solidFill>
                  <a:srgbClr val="FFFFFF"/>
                </a:solidFill>
                <a:latin typeface="Arial"/>
                <a:ea typeface="Arial"/>
                <a:cs typeface="Arial"/>
              </a:defRPr>
            </a:pPr>
            <a:r>
              <a:rPr sz="1575" b="0">
                <a:solidFill>
                  <a:srgbClr val="FFFFFF"/>
                </a:solidFill>
                <a:latin typeface="Arial"/>
                <a:ea typeface="Arial"/>
                <a:cs typeface="Arial"/>
              </a:rPr>
              <a:t>Help diagnose failures</a:t>
            </a:r>
          </a:p>
          <a:p xmlns:a="http://schemas.openxmlformats.org/drawingml/2006/main">
            <a:pPr>
              <a:buNone/>
              <a:defRPr sz="1575" b="0">
                <a:solidFill>
                  <a:srgbClr val="FFFFFF"/>
                </a:solidFill>
                <a:latin typeface="Arial"/>
                <a:ea typeface="Arial"/>
                <a:cs typeface="Arial"/>
              </a:defRPr>
            </a:pPr>
            <a:r>
              <a:rPr sz="1575" b="0">
                <a:solidFill>
                  <a:srgbClr val="FFFFFF"/>
                </a:solidFill>
                <a:latin typeface="Arial"/>
                <a:ea typeface="Arial"/>
                <a:cs typeface="Arial"/>
              </a:rPr>
              <a:t>and their causes.</a:t>
            </a:r>
          </a:p>
        </p:txBody>
      </p:sp>
      <p:sp>
        <p:nvSpPr>
          <p:cNvPr id="14" name="">
            <a:extLst xmlns:a="http://schemas.openxmlformats.org/drawingml/2006/main">
              <a:ext uri="{FF2B5EF4-FFF2-40B4-BE49-F238E27FC236}">
                <a16:creationId xmlns:a16="http://schemas.microsoft.com/office/drawing/2014/main" id="{32B4B405-6D48-4255-AD91-CDACBBDA3E72}"/>
              </a:ext>
            </a:extLst>
          </p:cNvPr>
          <p:cNvSpPr>
            <a:spLocks xmlns:a="http://schemas.openxmlformats.org/drawingml/2006/main" noGrp="1"/>
          </p:cNvSpPr>
          <p:nvPr/>
        </p:nvSpPr>
        <p:spPr>
          <a:xfrm xmlns:a="http://schemas.openxmlformats.org/drawingml/2006/main">
            <a:off x="4676775" y="2952750"/>
            <a:ext cx="2838450" cy="2809875"/>
          </a:xfrm>
          <a:prstGeom xmlns:a="http://schemas.openxmlformats.org/drawingml/2006/main" prst="roundRect">
            <a:avLst>
              <a:gd name="adj" fmla="val 6102"/>
            </a:avLst>
          </a:prstGeom>
          <a:solidFill xmlns:a="http://schemas.openxmlformats.org/drawingml/2006/main">
            <a:srgbClr val="EAF5FF"/>
          </a:solidFill>
          <a:ln xmlns:a="http://schemas.openxmlformats.org/drawingml/2006/main" w="19050">
            <a:solidFill>
              <a:srgbClr val="A8D7FA"/>
            </a:solidFill>
          </a:ln>
        </p:spPr>
      </p:sp>
      <p:sp>
        <p:nvSpPr>
          <p:cNvPr id="15" name="">
            <a:extLst xmlns:a="http://schemas.openxmlformats.org/drawingml/2006/main">
              <a:ext uri="{FF2B5EF4-FFF2-40B4-BE49-F238E27FC236}">
                <a16:creationId xmlns:a16="http://schemas.microsoft.com/office/drawing/2014/main" id="{37B11A8B-1EBB-48BE-A015-B6B01C4AA761}"/>
              </a:ext>
            </a:extLst>
          </p:cNvPr>
          <p:cNvSpPr>
            <a:spLocks xmlns:a="http://schemas.openxmlformats.org/drawingml/2006/main" noGrp="1"/>
          </p:cNvSpPr>
          <p:nvPr/>
        </p:nvSpPr>
        <p:spPr>
          <a:xfrm xmlns:a="http://schemas.openxmlformats.org/drawingml/2006/main">
            <a:off x="4867275" y="3143250"/>
            <a:ext cx="2457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122442"/>
                </a:solidFill>
                <a:latin typeface="Arial"/>
                <a:ea typeface="Arial"/>
                <a:cs typeface="Arial"/>
              </a:defRPr>
            </a:defPPr>
          </a:lstStyle>
          <a:p xmlns:a="http://schemas.openxmlformats.org/drawingml/2006/main">
            <a:pPr>
              <a:buNone/>
              <a:defRPr sz="2550" b="1">
                <a:solidFill>
                  <a:srgbClr val="122442"/>
                </a:solidFill>
                <a:latin typeface="Arial"/>
                <a:ea typeface="Arial"/>
                <a:cs typeface="Arial"/>
              </a:defRPr>
            </a:pPr>
            <a:r>
              <a:rPr sz="2550" b="1">
                <a:solidFill>
                  <a:srgbClr val="122442"/>
                </a:solidFill>
                <a:latin typeface="Arial"/>
                <a:ea typeface="Arial"/>
                <a:cs typeface="Arial"/>
              </a:rPr>
              <a:t>Human</a:t>
            </a:r>
          </a:p>
        </p:txBody>
      </p:sp>
      <p:sp>
        <p:nvSpPr>
          <p:cNvPr id="16" name="">
            <a:extLst xmlns:a="http://schemas.openxmlformats.org/drawingml/2006/main">
              <a:ext uri="{FF2B5EF4-FFF2-40B4-BE49-F238E27FC236}">
                <a16:creationId xmlns:a16="http://schemas.microsoft.com/office/drawing/2014/main" id="{C1D81A18-58A8-42A6-8ED2-3801D7116589}"/>
              </a:ext>
            </a:extLst>
          </p:cNvPr>
          <p:cNvSpPr>
            <a:spLocks xmlns:a="http://schemas.openxmlformats.org/drawingml/2006/main" noGrp="1"/>
          </p:cNvSpPr>
          <p:nvPr/>
        </p:nvSpPr>
        <p:spPr>
          <a:xfrm xmlns:a="http://schemas.openxmlformats.org/drawingml/2006/main">
            <a:off x="4867275" y="3790950"/>
            <a:ext cx="2457450" cy="187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22442"/>
                </a:solidFill>
                <a:latin typeface="Arial"/>
                <a:ea typeface="Arial"/>
                <a:cs typeface="Arial"/>
              </a:defRPr>
            </a:defPPr>
          </a:lstStyle>
          <a:p xmlns:a="http://schemas.openxmlformats.org/drawingml/2006/main">
            <a:pPr>
              <a:buNone/>
              <a:defRPr sz="1500" b="0">
                <a:solidFill>
                  <a:srgbClr val="122442"/>
                </a:solidFill>
                <a:latin typeface="Arial"/>
                <a:ea typeface="Arial"/>
                <a:cs typeface="Arial"/>
              </a:defRPr>
            </a:pPr>
            <a:r>
              <a:rPr sz="1500" b="0">
                <a:solidFill>
                  <a:srgbClr val="122442"/>
                </a:solidFill>
                <a:latin typeface="Arial"/>
                <a:ea typeface="Arial"/>
                <a:cs typeface="Arial"/>
              </a:rPr>
              <a:t>Sets the direction.</a:t>
            </a:r>
          </a:p>
          <a:p xmlns:a="http://schemas.openxmlformats.org/drawingml/2006/main">
            <a:pPr>
              <a:buNone/>
              <a:defRPr sz="1500" b="0">
                <a:solidFill>
                  <a:srgbClr val="122442"/>
                </a:solidFill>
                <a:latin typeface="Arial"/>
                <a:ea typeface="Arial"/>
                <a:cs typeface="Arial"/>
              </a:defRPr>
            </a:pPr>
            <a:r>
              <a:rPr sz="1500" b="0">
                <a:solidFill>
                  <a:srgbClr val="122442"/>
                </a:solidFill>
                <a:latin typeface="Arial"/>
                <a:ea typeface="Arial"/>
                <a:cs typeface="Arial"/>
              </a:rPr>
              <a:t>Makes key decisions.</a:t>
            </a:r>
          </a:p>
          <a:p xmlns:a="http://schemas.openxmlformats.org/drawingml/2006/main">
            <a:pPr>
              <a:buNone/>
              <a:defRPr sz="1500" b="0">
                <a:solidFill>
                  <a:srgbClr val="122442"/>
                </a:solidFill>
                <a:latin typeface="Arial"/>
                <a:ea typeface="Arial"/>
                <a:cs typeface="Arial"/>
              </a:defRPr>
            </a:pPr>
            <a:r>
              <a:rPr sz="1500" b="0">
                <a:solidFill>
                  <a:srgbClr val="122442"/>
                </a:solidFill>
                <a:latin typeface="Arial"/>
                <a:ea typeface="Arial"/>
                <a:cs typeface="Arial"/>
              </a:rPr>
              <a:t>Approves the result</a:t>
            </a:r>
          </a:p>
          <a:p xmlns:a="http://schemas.openxmlformats.org/drawingml/2006/main">
            <a:pPr>
              <a:buNone/>
              <a:defRPr sz="1500" b="0">
                <a:solidFill>
                  <a:srgbClr val="122442"/>
                </a:solidFill>
                <a:latin typeface="Arial"/>
                <a:ea typeface="Arial"/>
                <a:cs typeface="Arial"/>
              </a:defRPr>
            </a:pPr>
            <a:r>
              <a:rPr sz="1500" b="0">
                <a:solidFill>
                  <a:srgbClr val="122442"/>
                </a:solidFill>
                <a:latin typeface="Arial"/>
                <a:ea typeface="Arial"/>
                <a:cs typeface="Arial"/>
              </a:rPr>
              <a:t>and owns the outcome.</a:t>
            </a:r>
          </a:p>
          <a:p xmlns:a="http://schemas.openxmlformats.org/drawingml/2006/main">
            <a:pPr>
              <a:buNone/>
              <a:defRPr sz="1500" b="0">
                <a:solidFill>
                  <a:srgbClr val="122442"/>
                </a:solidFill>
                <a:latin typeface="Arial"/>
                <a:ea typeface="Arial"/>
                <a:cs typeface="Arial"/>
              </a:defRPr>
            </a:pPr>
            <a:r>
              <a:rPr sz="1500" b="0">
                <a:solidFill>
                  <a:srgbClr val="122442"/>
                </a:solidFill>
                <a:latin typeface="Arial"/>
                <a:ea typeface="Arial"/>
                <a:cs typeface="Arial"/>
              </a:rPr>
              <a:t>Human judgment</a:t>
            </a:r>
          </a:p>
          <a:p xmlns:a="http://schemas.openxmlformats.org/drawingml/2006/main">
            <a:pPr>
              <a:buNone/>
              <a:defRPr sz="1500" b="0">
                <a:solidFill>
                  <a:srgbClr val="122442"/>
                </a:solidFill>
                <a:latin typeface="Arial"/>
                <a:ea typeface="Arial"/>
                <a:cs typeface="Arial"/>
              </a:defRPr>
            </a:pPr>
            <a:r>
              <a:rPr sz="1500" b="0">
                <a:solidFill>
                  <a:srgbClr val="122442"/>
                </a:solidFill>
                <a:latin typeface="Arial"/>
                <a:ea typeface="Arial"/>
                <a:cs typeface="Arial"/>
              </a:rPr>
              <a:t>remains essential.</a:t>
            </a:r>
          </a:p>
        </p:txBody>
      </p:sp>
      <p:sp>
        <p:nvSpPr>
          <p:cNvPr id="21" name="">
            <a:extLst xmlns:a="http://schemas.openxmlformats.org/drawingml/2006/main">
              <a:ext uri="{FF2B5EF4-FFF2-40B4-BE49-F238E27FC236}">
                <a16:creationId xmlns:a16="http://schemas.microsoft.com/office/drawing/2014/main" id="{5D4BDACC-04B1-45B1-AF7A-F4D2505779CC}"/>
              </a:ext>
            </a:extLst>
          </p:cNvPr>
          <p:cNvSpPr>
            <a:spLocks xmlns:a="http://schemas.openxmlformats.org/drawingml/2006/main" noGrp="1"/>
          </p:cNvSpPr>
          <p:nvPr/>
        </p:nvSpPr>
        <p:spPr>
          <a:xfrm xmlns:a="http://schemas.openxmlformats.org/drawingml/2006/main">
            <a:off x="11049000" y="64008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CADCFC"/>
                </a:solidFill>
                <a:latin typeface="Arial"/>
                <a:ea typeface="Arial"/>
                <a:cs typeface="Arial"/>
              </a:defRPr>
            </a:defPPr>
          </a:lstStyle>
          <a:p xmlns:a="http://schemas.openxmlformats.org/drawingml/2006/main">
            <a:pPr>
              <a:buNone/>
              <a:defRPr sz="1275" b="0">
                <a:solidFill>
                  <a:srgbClr val="CADCFC"/>
                </a:solidFill>
                <a:latin typeface="Arial"/>
                <a:ea typeface="Arial"/>
                <a:cs typeface="Arial"/>
              </a:defRPr>
            </a:pPr>
            <a:r>
              <a:rPr sz="1275" b="0">
                <a:solidFill>
                  <a:srgbClr val="CADCFC"/>
                </a:solidFill>
                <a:latin typeface="Arial"/>
                <a:ea typeface="Arial"/>
                <a:cs typeface="Arial"/>
              </a:rPr>
              <a:t>19</a:t>
            </a:r>
          </a:p>
        </p:txBody>
      </p:sp>
    </p:spTree>
    <p:extLst>
      <p:ext uri="{BB962C8B-B14F-4D97-AF65-F5344CB8AC3E}">
        <p14:creationId xmlns:p14="http://schemas.microsoft.com/office/powerpoint/2010/main" val="762248407"/>
      </p:ext>
    </p:extLst>
  </p:cSld>
</p:sld>
</file>

<file path=ppt/slides/slide20.xml><?xml version="1.0" encoding="utf-8"?>
<p:sld xmlns:p="http://schemas.openxmlformats.org/presentationml/2006/main">
  <p:cSld>
    <p:bg>
      <p:bgPr>
        <a:gradFill xmlns:a="http://schemas.openxmlformats.org/drawingml/2006/main">
          <a:gsLst>
            <a:gs pos="0">
              <a:srgbClr val="101F52"/>
            </a:gs>
            <a:gs pos="53000">
              <a:srgbClr val="2447A6"/>
            </a:gs>
            <a:gs pos="100000">
              <a:srgbClr val="7041B9"/>
            </a:gs>
          </a:gsLst>
          <a:lin ang="1500000"/>
        </a:gra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436F594-1045-4E6B-B5EA-857B61FC9279}"/>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FFFFFF"/>
                </a:solidFill>
                <a:latin typeface="Arial"/>
                <a:ea typeface="Arial"/>
                <a:cs typeface="Arial"/>
              </a:defRPr>
            </a:defPPr>
          </a:lstStyle>
          <a:p xmlns:a="http://schemas.openxmlformats.org/drawingml/2006/main">
            <a:pPr>
              <a:buNone/>
              <a:defRPr sz="3300" b="1">
                <a:solidFill>
                  <a:srgbClr val="FFFFFF"/>
                </a:solidFill>
                <a:latin typeface="Arial"/>
                <a:ea typeface="Arial"/>
                <a:cs typeface="Arial"/>
              </a:defRPr>
            </a:pPr>
            <a:r>
              <a:rPr sz="3300" b="1">
                <a:solidFill>
                  <a:srgbClr val="FFFFFF"/>
                </a:solidFill>
                <a:latin typeface="Arial"/>
                <a:ea typeface="Arial"/>
                <a:cs typeface="Arial"/>
              </a:rPr>
              <a:t>Resources</a:t>
            </a:r>
          </a:p>
        </p:txBody>
      </p:sp>
      <p:sp>
        <p:nvSpPr>
          <p:cNvPr id="2" name="">
            <a:extLst xmlns:a="http://schemas.openxmlformats.org/drawingml/2006/main">
              <a:ext uri="{FF2B5EF4-FFF2-40B4-BE49-F238E27FC236}">
                <a16:creationId xmlns:a16="http://schemas.microsoft.com/office/drawing/2014/main" id="{08FF4FB4-54DA-45AC-80AE-F14A9B1E39FD}"/>
              </a:ext>
            </a:extLst>
          </p:cNvPr>
          <p:cNvSpPr>
            <a:spLocks xmlns:a="http://schemas.openxmlformats.org/drawingml/2006/main" noGrp="1"/>
          </p:cNvSpPr>
          <p:nvPr/>
        </p:nvSpPr>
        <p:spPr>
          <a:xfrm xmlns:a="http://schemas.openxmlformats.org/drawingml/2006/main">
            <a:off x="685800" y="1524000"/>
            <a:ext cx="5000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FFFFFF"/>
                </a:solidFill>
                <a:latin typeface="Arial"/>
                <a:ea typeface="Arial"/>
                <a:cs typeface="Arial"/>
              </a:defRPr>
            </a:defPPr>
          </a:lstStyle>
          <a:p xmlns:a="http://schemas.openxmlformats.org/drawingml/2006/main">
            <a:pPr>
              <a:buNone/>
              <a:defRPr sz="1950" b="1">
                <a:solidFill>
                  <a:srgbClr val="FFFFFF"/>
                </a:solidFill>
                <a:latin typeface="Arial"/>
                <a:ea typeface="Arial"/>
                <a:cs typeface="Arial"/>
              </a:defRPr>
            </a:pPr>
            <a:r>
              <a:rPr sz="1950" b="1">
                <a:solidFill>
                  <a:srgbClr val="FFFFFF"/>
                </a:solidFill>
                <a:latin typeface="Arial"/>
                <a:ea typeface="Arial"/>
                <a:cs typeface="Arial"/>
              </a:rPr>
              <a:t>AWS re:Invent 2025: AI-DLC</a:t>
            </a:r>
          </a:p>
        </p:txBody>
      </p:sp>
      <p:sp>
        <p:nvSpPr>
          <p:cNvPr id="3" name="">
            <a:extLst xmlns:a="http://schemas.openxmlformats.org/drawingml/2006/main">
              <a:ext uri="{FF2B5EF4-FFF2-40B4-BE49-F238E27FC236}">
                <a16:creationId xmlns:a16="http://schemas.microsoft.com/office/drawing/2014/main" id="{0EA3EA63-90C7-4DEC-98ED-F669E7A2EEE8}"/>
              </a:ext>
            </a:extLst>
          </p:cNvPr>
          <p:cNvSpPr>
            <a:spLocks xmlns:a="http://schemas.openxmlformats.org/drawingml/2006/main" noGrp="1"/>
          </p:cNvSpPr>
          <p:nvPr/>
        </p:nvSpPr>
        <p:spPr>
          <a:xfrm xmlns:a="http://schemas.openxmlformats.org/drawingml/2006/main">
            <a:off x="685800" y="1952625"/>
            <a:ext cx="500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FFFFFF"/>
                </a:solidFill>
                <a:latin typeface="Arial"/>
                <a:ea typeface="Arial"/>
                <a:cs typeface="Arial"/>
              </a:defRPr>
            </a:defPPr>
          </a:lstStyle>
          <a:p xmlns:a="http://schemas.openxmlformats.org/drawingml/2006/main">
            <a:pPr>
              <a:buNone/>
              <a:defRPr sz="1575" b="0">
                <a:solidFill>
                  <a:srgbClr val="FFFFFF"/>
                </a:solidFill>
                <a:latin typeface="Arial"/>
                <a:ea typeface="Arial"/>
                <a:cs typeface="Arial"/>
              </a:defRPr>
            </a:pPr>
            <a:r>
              <a:rPr sz="1575" b="0">
                <a:solidFill>
                  <a:srgbClr val="FFFFFF"/>
                </a:solidFill>
                <a:latin typeface="Arial"/>
                <a:ea typeface="Arial"/>
                <a:cs typeface="Arial"/>
              </a:rPr>
              <a:t>Video: AI-Driven Development Lifecycle.</a:t>
            </a:r>
          </a:p>
        </p:txBody>
      </p:sp>
      <p:sp>
        <p:nvSpPr>
          <p:cNvPr id="4" name="">
            <a:extLst xmlns:a="http://schemas.openxmlformats.org/drawingml/2006/main">
              <a:ext uri="{FF2B5EF4-FFF2-40B4-BE49-F238E27FC236}">
                <a16:creationId xmlns:a16="http://schemas.microsoft.com/office/drawing/2014/main" id="{E2FF0701-3C2C-4610-86CD-AE3331B88796}"/>
              </a:ext>
            </a:extLst>
          </p:cNvPr>
          <p:cNvSpPr>
            <a:spLocks xmlns:a="http://schemas.openxmlformats.org/drawingml/2006/main" noGrp="1"/>
          </p:cNvSpPr>
          <p:nvPr/>
        </p:nvSpPr>
        <p:spPr>
          <a:xfrm xmlns:a="http://schemas.openxmlformats.org/drawingml/2006/main">
            <a:off x="685800" y="2333625"/>
            <a:ext cx="5000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B9DFFF"/>
                </a:solidFill>
                <a:latin typeface="Arial"/>
                <a:ea typeface="Arial"/>
                <a:cs typeface="Arial"/>
              </a:defRPr>
            </a:defPPr>
          </a:lstStyle>
          <a:p xmlns:a="http://schemas.openxmlformats.org/drawingml/2006/main">
            <a:pPr>
              <a:buNone/>
              <a:defRPr sz="1350" b="0">
                <a:solidFill>
                  <a:srgbClr val="B9DFFF"/>
                </a:solidFill>
                <a:latin typeface="Arial"/>
                <a:ea typeface="Arial"/>
                <a:cs typeface="Arial"/>
              </a:defRPr>
            </a:pPr>
            <a:r>
              <a:rPr u="sng">
                <a:solidFill>
                  <a:srgbClr val="B9DFFF"/>
                </a:solidFill>
                <a:hlinkClick xmlns:r="http://schemas.openxmlformats.org/officeDocument/2006/relationships" r:id="Rd9f3c2fd57b94a62"/>
              </a:rPr>
              <a:t>youtube.com/watch?v=1HNUH6j5t4A</a:t>
            </a:r>
          </a:p>
        </p:txBody>
      </p:sp>
      <p:sp>
        <p:nvSpPr>
          <p:cNvPr id="5" name="">
            <a:extLst xmlns:a="http://schemas.openxmlformats.org/drawingml/2006/main">
              <a:ext uri="{FF2B5EF4-FFF2-40B4-BE49-F238E27FC236}">
                <a16:creationId xmlns:a16="http://schemas.microsoft.com/office/drawing/2014/main" id="{BA98B0FC-D798-4E85-B59F-A9DB481E4E2A}"/>
              </a:ext>
            </a:extLst>
          </p:cNvPr>
          <p:cNvSpPr>
            <a:spLocks xmlns:a="http://schemas.openxmlformats.org/drawingml/2006/main" noGrp="1"/>
          </p:cNvSpPr>
          <p:nvPr/>
        </p:nvSpPr>
        <p:spPr>
          <a:xfrm xmlns:a="http://schemas.openxmlformats.org/drawingml/2006/main">
            <a:off x="685800" y="2743200"/>
            <a:ext cx="5000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FFFFFF"/>
                </a:solidFill>
                <a:latin typeface="Arial"/>
                <a:ea typeface="Arial"/>
                <a:cs typeface="Arial"/>
              </a:defRPr>
            </a:defPPr>
          </a:lstStyle>
          <a:p xmlns:a="http://schemas.openxmlformats.org/drawingml/2006/main">
            <a:pPr>
              <a:buNone/>
              <a:defRPr sz="1950" b="1">
                <a:solidFill>
                  <a:srgbClr val="FFFFFF"/>
                </a:solidFill>
                <a:latin typeface="Arial"/>
                <a:ea typeface="Arial"/>
                <a:cs typeface="Arial"/>
              </a:defRPr>
            </a:pPr>
            <a:r>
              <a:rPr sz="1950" b="1">
                <a:solidFill>
                  <a:srgbClr val="FFFFFF"/>
                </a:solidFill>
                <a:latin typeface="Arial"/>
                <a:ea typeface="Arial"/>
                <a:cs typeface="Arial"/>
              </a:rPr>
              <a:t>GitHub Spec Kit</a:t>
            </a:r>
          </a:p>
        </p:txBody>
      </p:sp>
      <p:sp>
        <p:nvSpPr>
          <p:cNvPr id="6" name="">
            <a:extLst xmlns:a="http://schemas.openxmlformats.org/drawingml/2006/main">
              <a:ext uri="{FF2B5EF4-FFF2-40B4-BE49-F238E27FC236}">
                <a16:creationId xmlns:a16="http://schemas.microsoft.com/office/drawing/2014/main" id="{F2A01A06-B2D9-43DB-9DF2-90AB2F2A1387}"/>
              </a:ext>
            </a:extLst>
          </p:cNvPr>
          <p:cNvSpPr>
            <a:spLocks xmlns:a="http://schemas.openxmlformats.org/drawingml/2006/main" noGrp="1"/>
          </p:cNvSpPr>
          <p:nvPr/>
        </p:nvSpPr>
        <p:spPr>
          <a:xfrm xmlns:a="http://schemas.openxmlformats.org/drawingml/2006/main">
            <a:off x="685800" y="3171825"/>
            <a:ext cx="500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FFFFFF"/>
                </a:solidFill>
                <a:latin typeface="Arial"/>
                <a:ea typeface="Arial"/>
                <a:cs typeface="Arial"/>
              </a:defRPr>
            </a:defPPr>
          </a:lstStyle>
          <a:p xmlns:a="http://schemas.openxmlformats.org/drawingml/2006/main">
            <a:pPr>
              <a:buNone/>
              <a:defRPr sz="1575" b="0">
                <a:solidFill>
                  <a:srgbClr val="FFFFFF"/>
                </a:solidFill>
                <a:latin typeface="Arial"/>
                <a:ea typeface="Arial"/>
                <a:cs typeface="Arial"/>
              </a:defRPr>
            </a:pPr>
            <a:r>
              <a:rPr sz="1575" b="0">
                <a:solidFill>
                  <a:srgbClr val="FFFFFF"/>
                </a:solidFill>
                <a:latin typeface="Arial"/>
                <a:ea typeface="Arial"/>
                <a:cs typeface="Arial"/>
              </a:rPr>
              <a:t>Open source toolkit for SDD.</a:t>
            </a:r>
          </a:p>
        </p:txBody>
      </p:sp>
      <p:sp>
        <p:nvSpPr>
          <p:cNvPr id="7" name="">
            <a:extLst xmlns:a="http://schemas.openxmlformats.org/drawingml/2006/main">
              <a:ext uri="{FF2B5EF4-FFF2-40B4-BE49-F238E27FC236}">
                <a16:creationId xmlns:a16="http://schemas.microsoft.com/office/drawing/2014/main" id="{A5443C5B-881B-457A-B2E3-9F83DD206179}"/>
              </a:ext>
            </a:extLst>
          </p:cNvPr>
          <p:cNvSpPr>
            <a:spLocks xmlns:a="http://schemas.openxmlformats.org/drawingml/2006/main" noGrp="1"/>
          </p:cNvSpPr>
          <p:nvPr/>
        </p:nvSpPr>
        <p:spPr>
          <a:xfrm xmlns:a="http://schemas.openxmlformats.org/drawingml/2006/main">
            <a:off x="685800" y="3552825"/>
            <a:ext cx="5000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B9DFFF"/>
                </a:solidFill>
                <a:latin typeface="Arial"/>
                <a:ea typeface="Arial"/>
                <a:cs typeface="Arial"/>
              </a:defRPr>
            </a:defPPr>
          </a:lstStyle>
          <a:p xmlns:a="http://schemas.openxmlformats.org/drawingml/2006/main">
            <a:pPr>
              <a:buNone/>
              <a:defRPr sz="1350" b="0">
                <a:solidFill>
                  <a:srgbClr val="B9DFFF"/>
                </a:solidFill>
                <a:latin typeface="Arial"/>
                <a:ea typeface="Arial"/>
                <a:cs typeface="Arial"/>
              </a:defRPr>
            </a:pPr>
            <a:r>
              <a:rPr u="sng">
                <a:solidFill>
                  <a:srgbClr val="B9DFFF"/>
                </a:solidFill>
                <a:hlinkClick xmlns:r="http://schemas.openxmlformats.org/officeDocument/2006/relationships" r:id="R73fa21e2f8534b7e"/>
              </a:rPr>
              <a:t>github.com/github/spec-kit</a:t>
            </a:r>
          </a:p>
        </p:txBody>
      </p:sp>
      <p:sp>
        <p:nvSpPr>
          <p:cNvPr id="8" name="">
            <a:extLst xmlns:a="http://schemas.openxmlformats.org/drawingml/2006/main">
              <a:ext uri="{FF2B5EF4-FFF2-40B4-BE49-F238E27FC236}">
                <a16:creationId xmlns:a16="http://schemas.microsoft.com/office/drawing/2014/main" id="{D149AC07-CF5F-4ED9-8DD4-DC3D32307B91}"/>
              </a:ext>
            </a:extLst>
          </p:cNvPr>
          <p:cNvSpPr>
            <a:spLocks xmlns:a="http://schemas.openxmlformats.org/drawingml/2006/main" noGrp="1"/>
          </p:cNvSpPr>
          <p:nvPr/>
        </p:nvSpPr>
        <p:spPr>
          <a:xfrm xmlns:a="http://schemas.openxmlformats.org/drawingml/2006/main">
            <a:off x="685800" y="3962400"/>
            <a:ext cx="5000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FFFFFF"/>
                </a:solidFill>
                <a:latin typeface="Arial"/>
                <a:ea typeface="Arial"/>
                <a:cs typeface="Arial"/>
              </a:defRPr>
            </a:defPPr>
          </a:lstStyle>
          <a:p xmlns:a="http://schemas.openxmlformats.org/drawingml/2006/main">
            <a:pPr>
              <a:buNone/>
              <a:defRPr sz="1950" b="1">
                <a:solidFill>
                  <a:srgbClr val="FFFFFF"/>
                </a:solidFill>
                <a:latin typeface="Arial"/>
                <a:ea typeface="Arial"/>
                <a:cs typeface="Arial"/>
              </a:defRPr>
            </a:pPr>
            <a:r>
              <a:rPr sz="1950" b="1">
                <a:solidFill>
                  <a:srgbClr val="FFFFFF"/>
                </a:solidFill>
                <a:latin typeface="Arial"/>
                <a:ea typeface="Arial"/>
                <a:cs typeface="Arial"/>
              </a:rPr>
              <a:t>Kiro</a:t>
            </a:r>
          </a:p>
        </p:txBody>
      </p:sp>
      <p:sp>
        <p:nvSpPr>
          <p:cNvPr id="9" name="">
            <a:extLst xmlns:a="http://schemas.openxmlformats.org/drawingml/2006/main">
              <a:ext uri="{FF2B5EF4-FFF2-40B4-BE49-F238E27FC236}">
                <a16:creationId xmlns:a16="http://schemas.microsoft.com/office/drawing/2014/main" id="{CE2A36B6-736E-4062-B410-5FDF472457A4}"/>
              </a:ext>
            </a:extLst>
          </p:cNvPr>
          <p:cNvSpPr>
            <a:spLocks xmlns:a="http://schemas.openxmlformats.org/drawingml/2006/main" noGrp="1"/>
          </p:cNvSpPr>
          <p:nvPr/>
        </p:nvSpPr>
        <p:spPr>
          <a:xfrm xmlns:a="http://schemas.openxmlformats.org/drawingml/2006/main">
            <a:off x="685800" y="4391025"/>
            <a:ext cx="500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FFFFFF"/>
                </a:solidFill>
                <a:latin typeface="Arial"/>
                <a:ea typeface="Arial"/>
                <a:cs typeface="Arial"/>
              </a:defRPr>
            </a:defPPr>
          </a:lstStyle>
          <a:p xmlns:a="http://schemas.openxmlformats.org/drawingml/2006/main">
            <a:pPr>
              <a:buNone/>
              <a:defRPr sz="1575" b="0">
                <a:solidFill>
                  <a:srgbClr val="FFFFFF"/>
                </a:solidFill>
                <a:latin typeface="Arial"/>
                <a:ea typeface="Arial"/>
                <a:cs typeface="Arial"/>
              </a:defRPr>
            </a:pPr>
            <a:r>
              <a:rPr sz="1575" b="0">
                <a:solidFill>
                  <a:srgbClr val="FFFFFF"/>
                </a:solidFill>
                <a:latin typeface="Arial"/>
                <a:ea typeface="Arial"/>
                <a:cs typeface="Arial"/>
              </a:rPr>
              <a:t>AI IDE for spec-driven development.</a:t>
            </a:r>
          </a:p>
        </p:txBody>
      </p:sp>
      <p:sp>
        <p:nvSpPr>
          <p:cNvPr id="10" name="">
            <a:extLst xmlns:a="http://schemas.openxmlformats.org/drawingml/2006/main">
              <a:ext uri="{FF2B5EF4-FFF2-40B4-BE49-F238E27FC236}">
                <a16:creationId xmlns:a16="http://schemas.microsoft.com/office/drawing/2014/main" id="{C618D80E-1CE9-4BD5-A1B3-8EE128C4DD35}"/>
              </a:ext>
            </a:extLst>
          </p:cNvPr>
          <p:cNvSpPr>
            <a:spLocks xmlns:a="http://schemas.openxmlformats.org/drawingml/2006/main" noGrp="1"/>
          </p:cNvSpPr>
          <p:nvPr/>
        </p:nvSpPr>
        <p:spPr>
          <a:xfrm xmlns:a="http://schemas.openxmlformats.org/drawingml/2006/main">
            <a:off x="685800" y="4772025"/>
            <a:ext cx="5000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B9DFFF"/>
                </a:solidFill>
                <a:latin typeface="Arial"/>
                <a:ea typeface="Arial"/>
                <a:cs typeface="Arial"/>
              </a:defRPr>
            </a:defPPr>
          </a:lstStyle>
          <a:p xmlns:a="http://schemas.openxmlformats.org/drawingml/2006/main">
            <a:pPr>
              <a:buNone/>
              <a:defRPr sz="1350" b="0">
                <a:solidFill>
                  <a:srgbClr val="B9DFFF"/>
                </a:solidFill>
                <a:latin typeface="Arial"/>
                <a:ea typeface="Arial"/>
                <a:cs typeface="Arial"/>
              </a:defRPr>
            </a:pPr>
            <a:r>
              <a:rPr u="sng">
                <a:solidFill>
                  <a:srgbClr val="B9DFFF"/>
                </a:solidFill>
                <a:hlinkClick xmlns:r="http://schemas.openxmlformats.org/officeDocument/2006/relationships" r:id="Rc6c0e183a4e04946"/>
              </a:rPr>
              <a:t>kiro.dev</a:t>
            </a:r>
          </a:p>
        </p:txBody>
      </p:sp>
      <p:sp>
        <p:nvSpPr>
          <p:cNvPr id="11" name="">
            <a:extLst xmlns:a="http://schemas.openxmlformats.org/drawingml/2006/main">
              <a:ext uri="{FF2B5EF4-FFF2-40B4-BE49-F238E27FC236}">
                <a16:creationId xmlns:a16="http://schemas.microsoft.com/office/drawing/2014/main" id="{8F8FC49E-6E5B-4154-BBF7-D560C8EB4DF4}"/>
              </a:ext>
            </a:extLst>
          </p:cNvPr>
          <p:cNvSpPr>
            <a:spLocks xmlns:a="http://schemas.openxmlformats.org/drawingml/2006/main" noGrp="1"/>
          </p:cNvSpPr>
          <p:nvPr/>
        </p:nvSpPr>
        <p:spPr>
          <a:xfrm xmlns:a="http://schemas.openxmlformats.org/drawingml/2006/main">
            <a:off x="685800" y="5181600"/>
            <a:ext cx="5000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FFFFFF"/>
                </a:solidFill>
                <a:latin typeface="Arial"/>
                <a:ea typeface="Arial"/>
                <a:cs typeface="Arial"/>
              </a:defRPr>
            </a:defPPr>
          </a:lstStyle>
          <a:p xmlns:a="http://schemas.openxmlformats.org/drawingml/2006/main">
            <a:pPr>
              <a:buNone/>
              <a:defRPr sz="1950" b="1">
                <a:solidFill>
                  <a:srgbClr val="FFFFFF"/>
                </a:solidFill>
                <a:latin typeface="Arial"/>
                <a:ea typeface="Arial"/>
                <a:cs typeface="Arial"/>
              </a:defRPr>
            </a:pPr>
            <a:r>
              <a:rPr sz="1950" b="1">
                <a:solidFill>
                  <a:srgbClr val="FFFFFF"/>
                </a:solidFill>
                <a:latin typeface="Arial"/>
                <a:ea typeface="Arial"/>
                <a:cs typeface="Arial"/>
              </a:rPr>
              <a:t>Spec-Driven Development (PDF)</a:t>
            </a:r>
          </a:p>
        </p:txBody>
      </p:sp>
      <p:sp>
        <p:nvSpPr>
          <p:cNvPr id="12" name="">
            <a:extLst xmlns:a="http://schemas.openxmlformats.org/drawingml/2006/main">
              <a:ext uri="{FF2B5EF4-FFF2-40B4-BE49-F238E27FC236}">
                <a16:creationId xmlns:a16="http://schemas.microsoft.com/office/drawing/2014/main" id="{866C2219-D1DA-47C0-AB91-EECDBE7759B8}"/>
              </a:ext>
            </a:extLst>
          </p:cNvPr>
          <p:cNvSpPr>
            <a:spLocks xmlns:a="http://schemas.openxmlformats.org/drawingml/2006/main" noGrp="1"/>
          </p:cNvSpPr>
          <p:nvPr/>
        </p:nvSpPr>
        <p:spPr>
          <a:xfrm xmlns:a="http://schemas.openxmlformats.org/drawingml/2006/main">
            <a:off x="685800" y="5610225"/>
            <a:ext cx="500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FFFFFF"/>
                </a:solidFill>
                <a:latin typeface="Arial"/>
                <a:ea typeface="Arial"/>
                <a:cs typeface="Arial"/>
              </a:defRPr>
            </a:defPPr>
          </a:lstStyle>
          <a:p xmlns:a="http://schemas.openxmlformats.org/drawingml/2006/main">
            <a:pPr>
              <a:buNone/>
              <a:defRPr sz="1575" b="0">
                <a:solidFill>
                  <a:srgbClr val="FFFFFF"/>
                </a:solidFill>
                <a:latin typeface="Arial"/>
                <a:ea typeface="Arial"/>
                <a:cs typeface="Arial"/>
              </a:defRPr>
            </a:pPr>
            <a:r>
              <a:rPr sz="1575" b="0">
                <a:solidFill>
                  <a:srgbClr val="FFFFFF"/>
                </a:solidFill>
                <a:latin typeface="Arial"/>
                <a:ea typeface="Arial"/>
                <a:cs typeface="Arial"/>
              </a:rPr>
              <a:t>Paper: code and contracts in the age of AI.</a:t>
            </a:r>
          </a:p>
        </p:txBody>
      </p:sp>
      <p:sp>
        <p:nvSpPr>
          <p:cNvPr id="13" name="">
            <a:extLst xmlns:a="http://schemas.openxmlformats.org/drawingml/2006/main">
              <a:ext uri="{FF2B5EF4-FFF2-40B4-BE49-F238E27FC236}">
                <a16:creationId xmlns:a16="http://schemas.microsoft.com/office/drawing/2014/main" id="{01B5DBE5-2F27-4446-97EF-07AC275AC64D}"/>
              </a:ext>
            </a:extLst>
          </p:cNvPr>
          <p:cNvSpPr>
            <a:spLocks xmlns:a="http://schemas.openxmlformats.org/drawingml/2006/main" noGrp="1"/>
          </p:cNvSpPr>
          <p:nvPr/>
        </p:nvSpPr>
        <p:spPr>
          <a:xfrm xmlns:a="http://schemas.openxmlformats.org/drawingml/2006/main">
            <a:off x="685800" y="5991225"/>
            <a:ext cx="5000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B9DFFF"/>
                </a:solidFill>
                <a:latin typeface="Arial"/>
                <a:ea typeface="Arial"/>
                <a:cs typeface="Arial"/>
              </a:defRPr>
            </a:defPPr>
          </a:lstStyle>
          <a:p xmlns:a="http://schemas.openxmlformats.org/drawingml/2006/main">
            <a:pPr>
              <a:buNone/>
              <a:defRPr sz="1350" b="0">
                <a:solidFill>
                  <a:srgbClr val="B9DFFF"/>
                </a:solidFill>
                <a:latin typeface="Arial"/>
                <a:ea typeface="Arial"/>
                <a:cs typeface="Arial"/>
              </a:defRPr>
            </a:pPr>
            <a:r>
              <a:rPr u="sng">
                <a:solidFill>
                  <a:srgbClr val="B9DFFF"/>
                </a:solidFill>
                <a:hlinkClick xmlns:r="http://schemas.openxmlformats.org/officeDocument/2006/relationships" r:id="R075736041c574202"/>
              </a:rPr>
              <a:t>arxiv.org/pdf/2602.00180</a:t>
            </a:r>
          </a:p>
        </p:txBody>
      </p:sp>
      <p:sp>
        <p:nvSpPr>
          <p:cNvPr id="14" name="">
            <a:extLst xmlns:a="http://schemas.openxmlformats.org/drawingml/2006/main">
              <a:ext uri="{FF2B5EF4-FFF2-40B4-BE49-F238E27FC236}">
                <a16:creationId xmlns:a16="http://schemas.microsoft.com/office/drawing/2014/main" id="{268A9252-BA0B-43CC-95B7-1B99D5258CFB}"/>
              </a:ext>
            </a:extLst>
          </p:cNvPr>
          <p:cNvSpPr>
            <a:spLocks xmlns:a="http://schemas.openxmlformats.org/drawingml/2006/main" noGrp="1"/>
          </p:cNvSpPr>
          <p:nvPr/>
        </p:nvSpPr>
        <p:spPr>
          <a:xfrm xmlns:a="http://schemas.openxmlformats.org/drawingml/2006/main">
            <a:off x="6505575" y="1524000"/>
            <a:ext cx="5000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FFFFFF"/>
                </a:solidFill>
                <a:latin typeface="Arial"/>
                <a:ea typeface="Arial"/>
                <a:cs typeface="Arial"/>
              </a:defRPr>
            </a:defPPr>
          </a:lstStyle>
          <a:p xmlns:a="http://schemas.openxmlformats.org/drawingml/2006/main">
            <a:pPr>
              <a:buNone/>
              <a:defRPr sz="1950" b="1">
                <a:solidFill>
                  <a:srgbClr val="FFFFFF"/>
                </a:solidFill>
                <a:latin typeface="Arial"/>
                <a:ea typeface="Arial"/>
                <a:cs typeface="Arial"/>
              </a:defRPr>
            </a:pPr>
            <a:r>
              <a:rPr sz="1950" b="1">
                <a:solidFill>
                  <a:srgbClr val="FFFFFF"/>
                </a:solidFill>
                <a:latin typeface="Arial"/>
                <a:ea typeface="Arial"/>
                <a:cs typeface="Arial"/>
              </a:rPr>
              <a:t>An AI-led SDLC</a:t>
            </a:r>
          </a:p>
        </p:txBody>
      </p:sp>
      <p:sp>
        <p:nvSpPr>
          <p:cNvPr id="15" name="">
            <a:extLst xmlns:a="http://schemas.openxmlformats.org/drawingml/2006/main">
              <a:ext uri="{FF2B5EF4-FFF2-40B4-BE49-F238E27FC236}">
                <a16:creationId xmlns:a16="http://schemas.microsoft.com/office/drawing/2014/main" id="{01FC9B7F-8409-446A-9F7F-A057C7C9D6C1}"/>
              </a:ext>
            </a:extLst>
          </p:cNvPr>
          <p:cNvSpPr>
            <a:spLocks xmlns:a="http://schemas.openxmlformats.org/drawingml/2006/main" noGrp="1"/>
          </p:cNvSpPr>
          <p:nvPr/>
        </p:nvSpPr>
        <p:spPr>
          <a:xfrm xmlns:a="http://schemas.openxmlformats.org/drawingml/2006/main">
            <a:off x="6505575" y="1952625"/>
            <a:ext cx="500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FFFFFF"/>
                </a:solidFill>
                <a:latin typeface="Arial"/>
                <a:ea typeface="Arial"/>
                <a:cs typeface="Arial"/>
              </a:defRPr>
            </a:defPPr>
          </a:lstStyle>
          <a:p xmlns:a="http://schemas.openxmlformats.org/drawingml/2006/main">
            <a:pPr>
              <a:buNone/>
              <a:defRPr sz="1575" b="0">
                <a:solidFill>
                  <a:srgbClr val="FFFFFF"/>
                </a:solidFill>
                <a:latin typeface="Arial"/>
                <a:ea typeface="Arial"/>
                <a:cs typeface="Arial"/>
              </a:defRPr>
            </a:pPr>
            <a:r>
              <a:rPr sz="1575" b="0">
                <a:solidFill>
                  <a:srgbClr val="FFFFFF"/>
                </a:solidFill>
                <a:latin typeface="Arial"/>
                <a:ea typeface="Arial"/>
                <a:cs typeface="Arial"/>
              </a:rPr>
              <a:t>Article: agentic SDLC with Azure and GitHub.</a:t>
            </a:r>
          </a:p>
        </p:txBody>
      </p:sp>
      <p:sp>
        <p:nvSpPr>
          <p:cNvPr id="16" name="">
            <a:extLst xmlns:a="http://schemas.openxmlformats.org/drawingml/2006/main">
              <a:ext uri="{FF2B5EF4-FFF2-40B4-BE49-F238E27FC236}">
                <a16:creationId xmlns:a16="http://schemas.microsoft.com/office/drawing/2014/main" id="{4705487B-A4B0-4017-891B-4CF7727B8249}"/>
              </a:ext>
            </a:extLst>
          </p:cNvPr>
          <p:cNvSpPr>
            <a:spLocks xmlns:a="http://schemas.openxmlformats.org/drawingml/2006/main" noGrp="1"/>
          </p:cNvSpPr>
          <p:nvPr/>
        </p:nvSpPr>
        <p:spPr>
          <a:xfrm xmlns:a="http://schemas.openxmlformats.org/drawingml/2006/main">
            <a:off x="6505575" y="2333625"/>
            <a:ext cx="5000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B9DFFF"/>
                </a:solidFill>
                <a:latin typeface="Arial"/>
                <a:ea typeface="Arial"/>
                <a:cs typeface="Arial"/>
              </a:defRPr>
            </a:defPPr>
          </a:lstStyle>
          <a:p xmlns:a="http://schemas.openxmlformats.org/drawingml/2006/main">
            <a:pPr>
              <a:buNone/>
              <a:defRPr sz="1350" b="0">
                <a:solidFill>
                  <a:srgbClr val="B9DFFF"/>
                </a:solidFill>
                <a:latin typeface="Arial"/>
                <a:ea typeface="Arial"/>
                <a:cs typeface="Arial"/>
              </a:defRPr>
            </a:pPr>
            <a:r>
              <a:rPr u="sng">
                <a:solidFill>
                  <a:srgbClr val="B9DFFF"/>
                </a:solidFill>
                <a:hlinkClick xmlns:r="http://schemas.openxmlformats.org/officeDocument/2006/relationships" r:id="Ra79718a29a1d4486"/>
              </a:rPr>
              <a:t>techcommunity.microsoft.com (article)</a:t>
            </a:r>
          </a:p>
        </p:txBody>
      </p:sp>
      <p:sp>
        <p:nvSpPr>
          <p:cNvPr id="17" name="">
            <a:extLst xmlns:a="http://schemas.openxmlformats.org/drawingml/2006/main">
              <a:ext uri="{FF2B5EF4-FFF2-40B4-BE49-F238E27FC236}">
                <a16:creationId xmlns:a16="http://schemas.microsoft.com/office/drawing/2014/main" id="{7A1C57F5-BED5-461B-93A0-5CD40A460877}"/>
              </a:ext>
            </a:extLst>
          </p:cNvPr>
          <p:cNvSpPr>
            <a:spLocks xmlns:a="http://schemas.openxmlformats.org/drawingml/2006/main" noGrp="1"/>
          </p:cNvSpPr>
          <p:nvPr/>
        </p:nvSpPr>
        <p:spPr>
          <a:xfrm xmlns:a="http://schemas.openxmlformats.org/drawingml/2006/main">
            <a:off x="6505575" y="2743200"/>
            <a:ext cx="5000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FFFFFF"/>
                </a:solidFill>
                <a:latin typeface="Arial"/>
                <a:ea typeface="Arial"/>
                <a:cs typeface="Arial"/>
              </a:defRPr>
            </a:defPPr>
          </a:lstStyle>
          <a:p xmlns:a="http://schemas.openxmlformats.org/drawingml/2006/main">
            <a:pPr>
              <a:buNone/>
              <a:defRPr sz="1950" b="1">
                <a:solidFill>
                  <a:srgbClr val="FFFFFF"/>
                </a:solidFill>
                <a:latin typeface="Arial"/>
                <a:ea typeface="Arial"/>
                <a:cs typeface="Arial"/>
              </a:defRPr>
            </a:pPr>
            <a:r>
              <a:rPr sz="1950" b="1">
                <a:solidFill>
                  <a:srgbClr val="FFFFFF"/>
                </a:solidFill>
                <a:latin typeface="Arial"/>
                <a:ea typeface="Arial"/>
                <a:cs typeface="Arial"/>
              </a:rPr>
              <a:t>OpenAI Evals</a:t>
            </a:r>
          </a:p>
        </p:txBody>
      </p:sp>
      <p:sp>
        <p:nvSpPr>
          <p:cNvPr id="18" name="">
            <a:extLst xmlns:a="http://schemas.openxmlformats.org/drawingml/2006/main">
              <a:ext uri="{FF2B5EF4-FFF2-40B4-BE49-F238E27FC236}">
                <a16:creationId xmlns:a16="http://schemas.microsoft.com/office/drawing/2014/main" id="{4359554B-42A7-4791-9A13-1AE2755B6A43}"/>
              </a:ext>
            </a:extLst>
          </p:cNvPr>
          <p:cNvSpPr>
            <a:spLocks xmlns:a="http://schemas.openxmlformats.org/drawingml/2006/main" noGrp="1"/>
          </p:cNvSpPr>
          <p:nvPr/>
        </p:nvSpPr>
        <p:spPr>
          <a:xfrm xmlns:a="http://schemas.openxmlformats.org/drawingml/2006/main">
            <a:off x="6505575" y="3171825"/>
            <a:ext cx="500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FFFFFF"/>
                </a:solidFill>
                <a:latin typeface="Arial"/>
                <a:ea typeface="Arial"/>
                <a:cs typeface="Arial"/>
              </a:defRPr>
            </a:defPPr>
          </a:lstStyle>
          <a:p xmlns:a="http://schemas.openxmlformats.org/drawingml/2006/main">
            <a:pPr>
              <a:buNone/>
              <a:defRPr sz="1575" b="0">
                <a:solidFill>
                  <a:srgbClr val="FFFFFF"/>
                </a:solidFill>
                <a:latin typeface="Arial"/>
                <a:ea typeface="Arial"/>
                <a:cs typeface="Arial"/>
              </a:defRPr>
            </a:pPr>
            <a:r>
              <a:rPr sz="1575" b="0">
                <a:solidFill>
                  <a:srgbClr val="FFFFFF"/>
                </a:solidFill>
                <a:latin typeface="Arial"/>
                <a:ea typeface="Arial"/>
                <a:cs typeface="Arial"/>
              </a:rPr>
              <a:t>Open source framework for LLM evals.</a:t>
            </a:r>
          </a:p>
        </p:txBody>
      </p:sp>
      <p:sp>
        <p:nvSpPr>
          <p:cNvPr id="19" name="">
            <a:extLst xmlns:a="http://schemas.openxmlformats.org/drawingml/2006/main">
              <a:ext uri="{FF2B5EF4-FFF2-40B4-BE49-F238E27FC236}">
                <a16:creationId xmlns:a16="http://schemas.microsoft.com/office/drawing/2014/main" id="{F2942427-523A-45D9-AD9E-4B8619C53662}"/>
              </a:ext>
            </a:extLst>
          </p:cNvPr>
          <p:cNvSpPr>
            <a:spLocks xmlns:a="http://schemas.openxmlformats.org/drawingml/2006/main" noGrp="1"/>
          </p:cNvSpPr>
          <p:nvPr/>
        </p:nvSpPr>
        <p:spPr>
          <a:xfrm xmlns:a="http://schemas.openxmlformats.org/drawingml/2006/main">
            <a:off x="6505575" y="3552825"/>
            <a:ext cx="5000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B9DFFF"/>
                </a:solidFill>
                <a:latin typeface="Arial"/>
                <a:ea typeface="Arial"/>
                <a:cs typeface="Arial"/>
              </a:defRPr>
            </a:defPPr>
          </a:lstStyle>
          <a:p xmlns:a="http://schemas.openxmlformats.org/drawingml/2006/main">
            <a:pPr>
              <a:buNone/>
              <a:defRPr sz="1350" b="0">
                <a:solidFill>
                  <a:srgbClr val="B9DFFF"/>
                </a:solidFill>
                <a:latin typeface="Arial"/>
                <a:ea typeface="Arial"/>
                <a:cs typeface="Arial"/>
              </a:defRPr>
            </a:pPr>
            <a:r>
              <a:rPr u="sng">
                <a:solidFill>
                  <a:srgbClr val="B9DFFF"/>
                </a:solidFill>
                <a:hlinkClick xmlns:r="http://schemas.openxmlformats.org/officeDocument/2006/relationships" r:id="R7f0095170bb44fab"/>
              </a:rPr>
              <a:t>github.com/openai/evals</a:t>
            </a:r>
          </a:p>
        </p:txBody>
      </p:sp>
      <p:sp>
        <p:nvSpPr>
          <p:cNvPr id="20" name="">
            <a:extLst xmlns:a="http://schemas.openxmlformats.org/drawingml/2006/main">
              <a:ext uri="{FF2B5EF4-FFF2-40B4-BE49-F238E27FC236}">
                <a16:creationId xmlns:a16="http://schemas.microsoft.com/office/drawing/2014/main" id="{D74D970D-BE70-4342-B72D-293911930A12}"/>
              </a:ext>
            </a:extLst>
          </p:cNvPr>
          <p:cNvSpPr>
            <a:spLocks xmlns:a="http://schemas.openxmlformats.org/drawingml/2006/main" noGrp="1"/>
          </p:cNvSpPr>
          <p:nvPr/>
        </p:nvSpPr>
        <p:spPr>
          <a:xfrm xmlns:a="http://schemas.openxmlformats.org/drawingml/2006/main">
            <a:off x="6505575" y="3962400"/>
            <a:ext cx="5000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FFFFFF"/>
                </a:solidFill>
                <a:latin typeface="Arial"/>
                <a:ea typeface="Arial"/>
                <a:cs typeface="Arial"/>
              </a:defRPr>
            </a:defPPr>
          </a:lstStyle>
          <a:p xmlns:a="http://schemas.openxmlformats.org/drawingml/2006/main">
            <a:pPr>
              <a:buNone/>
              <a:defRPr sz="1950" b="1">
                <a:solidFill>
                  <a:srgbClr val="FFFFFF"/>
                </a:solidFill>
                <a:latin typeface="Arial"/>
                <a:ea typeface="Arial"/>
                <a:cs typeface="Arial"/>
              </a:defRPr>
            </a:pPr>
            <a:r>
              <a:rPr sz="1950" b="1">
                <a:solidFill>
                  <a:srgbClr val="FFFFFF"/>
                </a:solidFill>
                <a:latin typeface="Arial"/>
                <a:ea typeface="Arial"/>
                <a:cs typeface="Arial"/>
              </a:rPr>
              <a:t>DeepEval</a:t>
            </a:r>
          </a:p>
        </p:txBody>
      </p:sp>
      <p:sp>
        <p:nvSpPr>
          <p:cNvPr id="21" name="">
            <a:extLst xmlns:a="http://schemas.openxmlformats.org/drawingml/2006/main">
              <a:ext uri="{FF2B5EF4-FFF2-40B4-BE49-F238E27FC236}">
                <a16:creationId xmlns:a16="http://schemas.microsoft.com/office/drawing/2014/main" id="{FD2C26C4-7513-4054-BA12-36B67F382FD4}"/>
              </a:ext>
            </a:extLst>
          </p:cNvPr>
          <p:cNvSpPr>
            <a:spLocks xmlns:a="http://schemas.openxmlformats.org/drawingml/2006/main" noGrp="1"/>
          </p:cNvSpPr>
          <p:nvPr/>
        </p:nvSpPr>
        <p:spPr>
          <a:xfrm xmlns:a="http://schemas.openxmlformats.org/drawingml/2006/main">
            <a:off x="6505575" y="4391025"/>
            <a:ext cx="500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FFFFFF"/>
                </a:solidFill>
                <a:latin typeface="Arial"/>
                <a:ea typeface="Arial"/>
                <a:cs typeface="Arial"/>
              </a:defRPr>
            </a:defPPr>
          </a:lstStyle>
          <a:p xmlns:a="http://schemas.openxmlformats.org/drawingml/2006/main">
            <a:pPr>
              <a:buNone/>
              <a:defRPr sz="1575" b="0">
                <a:solidFill>
                  <a:srgbClr val="FFFFFF"/>
                </a:solidFill>
                <a:latin typeface="Arial"/>
                <a:ea typeface="Arial"/>
                <a:cs typeface="Arial"/>
              </a:defRPr>
            </a:pPr>
            <a:r>
              <a:rPr sz="1575" b="0">
                <a:solidFill>
                  <a:srgbClr val="FFFFFF"/>
                </a:solidFill>
                <a:latin typeface="Arial"/>
                <a:ea typeface="Arial"/>
                <a:cs typeface="Arial"/>
              </a:rPr>
              <a:t>Open source framework for testing LLM apps.</a:t>
            </a:r>
          </a:p>
        </p:txBody>
      </p:sp>
      <p:sp>
        <p:nvSpPr>
          <p:cNvPr id="22" name="">
            <a:extLst xmlns:a="http://schemas.openxmlformats.org/drawingml/2006/main">
              <a:ext uri="{FF2B5EF4-FFF2-40B4-BE49-F238E27FC236}">
                <a16:creationId xmlns:a16="http://schemas.microsoft.com/office/drawing/2014/main" id="{1E28B2A8-9D39-4B7B-A242-1328B4ABA8DC}"/>
              </a:ext>
            </a:extLst>
          </p:cNvPr>
          <p:cNvSpPr>
            <a:spLocks xmlns:a="http://schemas.openxmlformats.org/drawingml/2006/main" noGrp="1"/>
          </p:cNvSpPr>
          <p:nvPr/>
        </p:nvSpPr>
        <p:spPr>
          <a:xfrm xmlns:a="http://schemas.openxmlformats.org/drawingml/2006/main">
            <a:off x="6505575" y="4772025"/>
            <a:ext cx="5000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B9DFFF"/>
                </a:solidFill>
                <a:latin typeface="Arial"/>
                <a:ea typeface="Arial"/>
                <a:cs typeface="Arial"/>
              </a:defRPr>
            </a:defPPr>
          </a:lstStyle>
          <a:p xmlns:a="http://schemas.openxmlformats.org/drawingml/2006/main">
            <a:pPr>
              <a:buNone/>
              <a:defRPr sz="1350" b="0">
                <a:solidFill>
                  <a:srgbClr val="B9DFFF"/>
                </a:solidFill>
                <a:latin typeface="Arial"/>
                <a:ea typeface="Arial"/>
                <a:cs typeface="Arial"/>
              </a:defRPr>
            </a:pPr>
            <a:r>
              <a:rPr u="sng">
                <a:solidFill>
                  <a:srgbClr val="B9DFFF"/>
                </a:solidFill>
                <a:hlinkClick xmlns:r="http://schemas.openxmlformats.org/officeDocument/2006/relationships" r:id="R8bd495730b264c6d"/>
              </a:rPr>
              <a:t>deepeval.com</a:t>
            </a:r>
          </a:p>
        </p:txBody>
      </p:sp>
      <p:sp>
        <p:nvSpPr>
          <p:cNvPr id="23" name="">
            <a:extLst xmlns:a="http://schemas.openxmlformats.org/drawingml/2006/main">
              <a:ext uri="{FF2B5EF4-FFF2-40B4-BE49-F238E27FC236}">
                <a16:creationId xmlns:a16="http://schemas.microsoft.com/office/drawing/2014/main" id="{1F858D9B-7533-4712-945E-A7F1F185DCFC}"/>
              </a:ext>
            </a:extLst>
          </p:cNvPr>
          <p:cNvSpPr>
            <a:spLocks xmlns:a="http://schemas.openxmlformats.org/drawingml/2006/main" noGrp="1"/>
          </p:cNvSpPr>
          <p:nvPr/>
        </p:nvSpPr>
        <p:spPr>
          <a:xfrm xmlns:a="http://schemas.openxmlformats.org/drawingml/2006/main">
            <a:off x="11049000" y="64008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CADCFC"/>
                </a:solidFill>
                <a:latin typeface="Arial"/>
                <a:ea typeface="Arial"/>
                <a:cs typeface="Arial"/>
              </a:defRPr>
            </a:defPPr>
          </a:lstStyle>
          <a:p xmlns:a="http://schemas.openxmlformats.org/drawingml/2006/main">
            <a:pPr>
              <a:buNone/>
              <a:defRPr sz="1275" b="0">
                <a:solidFill>
                  <a:srgbClr val="CADCFC"/>
                </a:solidFill>
                <a:latin typeface="Arial"/>
                <a:ea typeface="Arial"/>
                <a:cs typeface="Arial"/>
              </a:defRPr>
            </a:pPr>
            <a:r>
              <a:rPr sz="1275" b="0">
                <a:solidFill>
                  <a:srgbClr val="CADCFC"/>
                </a:solidFill>
                <a:latin typeface="Arial"/>
                <a:ea typeface="Arial"/>
                <a:cs typeface="Arial"/>
              </a:rPr>
              <a:t>20</a:t>
            </a:r>
          </a:p>
        </p:txBody>
      </p:sp>
    </p:spTree>
    <p:extLst>
      <p:ext uri="{BB962C8B-B14F-4D97-AF65-F5344CB8AC3E}">
        <p14:creationId xmlns:p14="http://schemas.microsoft.com/office/powerpoint/2010/main" val="16680955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2026-10-10T04:35:50.9370000Z</dcterms:created>
  <dcterms:modified xsi:type="dcterms:W3CDTF">2026-10-10T04:35:50.9370000Z</dcterms:modified>
</coreProperties>
</file>